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23"/>
    <p:sldId id="266" r:id="rId12"/>
    <p:sldId id="267" r:id="rId13"/>
    <p:sldId id="366" r:id="rId14"/>
  </p:sldIdLst>
  <p:sldSz cx="12192000" cy="6858000"/>
  <p:notesSz cx="6858000" cy="9144000"/>
  <p:embeddedFontLst>
    <p:embeddedFont>
      <p:font typeface="思源宋体 CN" panose="0201060003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建议用时：10秒</a:t>
            </a:r>
          </a:p>
          <a:p>
            <a:endParaRPr/>
          </a:p>
          <a:p>
            <a:r>
              <a:t>大家好，本次汇报介绍X射线衍射，也就是XRD。我们从基本原理、测试与分析方法出发，结合MOF和COF论文中的图谱，讨论XRD能够提供哪些结构信息。</a:t>
            </a:r>
          </a:p>
          <a:p>
            <a:endParaRPr/>
          </a:p>
          <a:p>
            <a:r>
              <a:t>来源：</a:t>
            </a:r>
          </a:p>
          <a:p>
            <a:r>
              <a:t>课程汇报要求图片：8分钟，4至5人小组，围绕课题组研究方向及材料表征方法。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XRD利用晶体内部的周期排列产生衍射信号。满足布拉格条件时，在特定角度出现衍射峰。峰位与晶面间距相关，横轴通常表示2θ。本次以粉末XRD为主。MOF和COF分别是金属有机框架与共价有机框架，常具有较大的结构周期，因此低角区对其结构分析尤其重要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可靠结果首先依赖规范制样。粉末应温和研磨、铺平，并控制样品高度。薄膜可以采用掠入射方式，减少基底信号的影响。表中扫描参数仅为起始参考，实际需要按仪器和样品优化。比较不同样品时，应尽量保持测试条件和样品状态一致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建议用时：25秒</a:t>
            </a:r>
          </a:p>
          <a:p>
            <a:endParaRPr/>
          </a:p>
          <a:p>
            <a:r>
              <a:t>常用软件可以按功能划分。Jade和Match用于寻峰及物相鉴定，Materials Studio用于结构模拟，GSAS-II和TOPAS用于全谱拟合与进一步的结构分析，Origin用于图谱整理及峰形分析。全谱拟合是让计算曲线在整个角度范围内接近实验数据。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图谱分析主要包括峰位、峰宽、相对峰强和全谱匹配。峰位提供晶面间距及物相信息，峰宽与有序区域尺度及结构畸变有关，相对峰强也受晶粒取向和制样影响。分析时应综合多个峰，不能仅凭单个强峰判断结晶度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不同表征方法提供的信息相互补充。XRD反映样品的平均晶体结构，电子显微镜提供形貌及局部晶格信息。能谱分析元素组成与分布，红外和拉曼反映化学键，XPS提供表面化学态，气体吸附评价比表面积和孔隙可达性。因此，结构与性能结论通常需要多种方法共同支持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建议用时：55秒</a:t>
            </a:r>
          </a:p>
          <a:p>
            <a:endParaRPr/>
          </a:p>
          <a:p>
            <a:r>
              <a:t>第一张图来自参考PPT，图旁保留了英文图例的中文说明。实验数据与Pawley全谱拟合线基本吻合，模拟峰位与主要实验峰也能够对应。Rwp为5.28%，用于评价实验与拟合的偏差。全谱拟合可检验候选晶胞与实验图谱的一致性，层间堆积仍需模型和其他表征支持。不过，拟合良好不能证明模型唯一，也不能由峰强直接定量判断结晶度。</a:t>
            </a:r>
          </a:p>
          <a:p>
            <a:endParaRPr/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文献题录已由出版社页面及Crossref核实。公开图注将TT-TPDA-COF列为Fig. 1a，但本次未取得论文原始图像，不宣称已独立完成图像核对。请取得原文Fig. 1后再确认图形、Rp=3.86%、Rwp=5.28%及AA模型。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对照材料Np-TPDA-COF同样具有明显的低角衍射峰，较弱峰也与理论位置对应。其Rwp为4.98%，说明在本组数据条件下拟合较好。这个数值略低于上一材料，但不同样品的统计误差和背景等因素也会影响拟合指标，因此不能据此比较结晶度。电池性能差异还需结合电化学和导电性测试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文献题录已由出版社页面及Crossref核实。公开图注将Np-TPDA-COF列为Fig. 1b，但本次未取得论文原始图像，不宣称已独立完成图像核对。请取得原文Fig. 1后再确认图形、Rp=3.47%、Rwp=4.98%及模型。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endParaRPr/>
          </a:p>
          <a:p>
            <a:r>
              <a:t>UiO-66案例展示了尺寸变化与峰展宽的关系。随着合成时乙醇用量增加，峰逐渐展宽，相邻峰出现重叠。TEM统计颗粒尺寸依次约为40、14、9和5纳米，超小颗粒中仍可观察到局部晶格。因此，峰展宽与有序区域尺度减小相一致，仅凭宽峰不能认定样品完全无定形。峰宽分析还需考虑仪器贡献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已直接对照出版社完整Fig. 2：所用图为Fig. 2b；乙醇体积10/20/40/80 mL、彩色曲线、峰标记、模拟曲线及横轴一致。TEM平均粒径40/14/9/5 nm来自Fig. 2c，不能写成由本页PXRD图直接测得。图片裁剪，适用CC BY 4.0：https://creativecommons.org/licenses/by/4.0/ 。</a:t>
            </a:r>
          </a:p>
          <a:p>
            <a:r>
              <a:t>[2] DAI S, SIMMS C, PATRIARCHE G, et al. Highly defective ultra-small tetravalent MOF nanocrystals[J]. Nature Communications, 2024, 15(1): 3434. DOI: 10.1038/s41467-024-47426-x.</a:t>
            </a:r>
          </a:p>
          <a:p>
            <a:r>
              <a:t>出版社：https://www.nature.com/articles/s41467-024-47426-x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endParaRPr/>
          </a:p>
          <a:p>
            <a:r>
              <a:t>ACOF-1的多个低角峰与作者提出的结构模型相符，括号内的数字表示晶面编号。Pawley拟合的Rwp为5.71%。作者结合X射线散射、高分辨TEM和结构计算，支持反平行AA堆积。这里的反平行AA可以理解为相邻层方向相反、位置大致上下对应。多种证据共同约束结构，比单独比较拟合残差更有说服力。</a:t>
            </a:r>
          </a:p>
          <a:p>
            <a:endParaRPr/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已直接对照出版社完整Fig. 2及正文：所用图为Fig. 2d，实验黑色、Pawley拟合红色、模拟蓝色、Bragg位置绿色、差值灰色，与原图一致。2.5/4.2/4.9/6.5/8.4度与(100)/(110)/(200)/(210)/(310)对应。Rp=3.89%、Rwp=5.71%见正文；SAXS及HRTEM辅助证据见Fig. 2f-h。拟合良好不能单独证明模型唯一。图片裁剪，适用CC BY 4.0：https://creativecommons.org/licenses/by/4.0/ 。</a:t>
            </a:r>
          </a:p>
          <a:p>
            <a:r>
              <a:t>[3] XIE Y, RONG Q, MAO F, et al. Engineering the pore environment of antiparallel stacked covalent organic frameworks for capture of iodine pollutants[J]. Nature Communications, 2024, 15(1): 2671. DOI: 10.1038/s41467-024-46942-0.</a:t>
            </a:r>
          </a:p>
          <a:p>
            <a:r>
              <a:t>出版社：https://www.nature.com/articles/s41467-024-46942-0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三个案例分别说明结构匹配、峰宽变化和层间堆积分析。XRD提供晶体结构证据，性能解释还需要专门测试。对于MOF和COF，即使处理后衍射峰保留，也需要通过吸附测试确认孔道是否仍然开放。结构保持、孔隙可达性和性能变化应分别验证，再讨论它们之间的联系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最后把XRD分析归纳为四部分：先保证数据质量，再选择软件完成比对与拟合；读图时区分实验、拟合和模拟曲线；公式用于理解晶面间距和晶畴尺度。这里的d不能直接当作孔径，D也不一定等于颗粒尺寸。最终结论仍应结合全谱和其他表征。谢谢大家。</a:t>
            </a:r>
          </a:p>
          <a:p>
            <a:endParaRPr/>
          </a:p>
          <a:p>
            <a:r>
              <a:t>补充理解：Scherrer公式的简化估算假设尺寸展宽占主导，需考虑仪器展宽、微应变和峰重叠。β在本页取校正后的半高宽，计算时使用弧度。Pawley拟合不直接验证原子位置，Rp/Rwp不能代表结晶度。</a:t>
            </a:r>
          </a:p>
          <a:p>
            <a:endParaRPr/>
          </a:p>
          <a:p>
            <a:r>
              <a:t>补充学习资料（由原附录整合，供课后参考）：</a:t>
            </a:r>
          </a:p>
          <a:p>
            <a:endParaRPr/>
          </a:p>
          <a:p>
            <a:r>
              <a:t>【数据流程】</a:t>
            </a:r>
          </a:p>
          <a:p>
            <a:r>
              <a:t>原始数据应始终保留。平滑、背景扣除和归一化需要可追溯，过度平滑会改变峰宽并掩盖弱峰。数据库匹配只是候选筛选，需要化学组成和全谱验证。对活化前后样品应记录溶剂状态、空气暴露及测试几何。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【公式示例】</a:t>
            </a:r>
          </a:p>
          <a:p>
            <a:r>
              <a:t>这里的峰宽为教学设定值，不能当作UiO-66原始数据的重分析。若采用高斯展宽近似，可使用β样品平方约等于β实测平方减β仪器平方，但Voigt等峰形应使用适当卷积方法。对于高度重叠、极小晶畴和强无序体系，简单Scherrer估算的不确定性更高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  <a:p>
            <a:endParaRPr/>
          </a:p>
          <a:p>
            <a:r>
              <a:t>【图例释义】</a:t>
            </a:r>
          </a:p>
          <a:p>
            <a:r>
              <a:t>拟合可以先理解为：用软件调整一条计算曲线，使它尽量贴近实验数据。Pawley是其中一种方法的名称。本次理解图例和基本含义即可。误差较小通常说明曲线较接近，但不能仅凭这一点判断材料更好。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【方法与软件】</a:t>
            </a:r>
          </a:p>
          <a:p>
            <a:r>
              <a:t>访问日期：2026-10-15。Bruker软件总览：https://www.bruker.com/en/products-and-solutions/diffractometers-and-x-ray-microscopes/x-ray-diffraction-software.html。其余功能依据见页内与上述各页备注。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r>
              <a:t/>
            </a:r>
          </a:p>
          <a:p>
            <a:r>
              <a:t>分析过程：先锁定ZIF-8的(110)特征峰，观察不同pH和浸泡时间下峰位、峰强和峰是否消失，再比较酸碱条件下的保留时间。</a:t>
            </a:r>
          </a:p>
          <a:p>
            <a:r>
              <a:t/>
            </a:r>
          </a:p>
          <a:p>
            <a:r>
              <a:t>得到的信息：pH 2下1 min即失去衍射峰；pH 4和pH 7下峰逐渐减弱并消失；pH 11下20 min仍保持晶体性，60 min后消失。XRD说明薄膜晶体性变化，膜是否脱落还需结合SEM。</a:t>
            </a:r>
          </a:p>
          <a:p>
            <a:r>
              <a:t/>
            </a:r>
          </a:p>
          <a:p>
            <a:r>
              <a:t>文献与图源：文献[4]图2，裁剪，CC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6">
            <a:extLst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75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1139131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6856"/>
            <a:ext cx="9144000" cy="602342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>
            <a:extLst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noGrp="1"/>
          </p:cNvSpPr>
          <p:nvPr/>
        </p:nvSpPr>
        <p:spPr>
          <a:xfrm>
            <a:off x="0" y="4235772"/>
            <a:ext cx="12192000" cy="2622227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60+">
            <a:extLst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noGrp="1"/>
          </p:cNvSpPr>
          <p:nvPr/>
        </p:nvSpPr>
        <p:spPr>
          <a:xfrm>
            <a:off x="-10161" y="4630994"/>
            <a:ext cx="12192000" cy="222700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noGrp="1"/>
          </p:cNvSpPr>
          <p:nvPr/>
        </p:nvSpPr>
        <p:spPr>
          <a:xfrm>
            <a:off x="0" y="1435311"/>
            <a:ext cx="12192000" cy="319568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2441695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形 6">
            <a:extLst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178685"/>
            <a:ext cx="7843520" cy="2764790"/>
          </a:xfr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>
            <a:extLst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4366" y="3560774"/>
            <a:ext cx="7319035" cy="3297226"/>
          </a:xfrm>
          <a:prstGeom prst="rect">
            <a:avLst/>
          </a:prstGeom>
        </p:spPr>
      </p:pic>
      <p:sp>
        <p:nvSpPr>
          <p:cNvPr id="8" name="图形 6">
            <a:extLst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图形 7">
            <a:extLst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noGrp="1"/>
          </p:cNvSpPr>
          <p:nvPr/>
        </p:nvSpPr>
        <p:spPr>
          <a:xfrm>
            <a:off x="10375900" y="6312472"/>
            <a:ext cx="1425635" cy="42011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>
            <a:schemeClr val="accent1"/>
          </a:soli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noGrp="1"/>
          </p:cNvSpPr>
          <p:nvPr/>
        </p:nvSpPr>
        <p:spPr>
          <a:xfrm>
            <a:off x="0" y="6721475"/>
            <a:ext cx="12192000" cy="13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31517" y="6465093"/>
            <a:ext cx="914400" cy="365125"/>
          </a:xfrm>
        </p:spPr>
        <p:txBody>
          <a:bodyPr/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noGrp="1"/>
          </p:cNvSpPr>
          <p:nvPr/>
        </p:nvSpPr>
        <p:spPr>
          <a:xfrm>
            <a:off x="-5080" y="0"/>
            <a:ext cx="12197080" cy="897351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7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278" y="0"/>
            <a:ext cx="2452843" cy="864627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2531" y="155112"/>
            <a:ext cx="2989004" cy="5871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0" y="38368"/>
            <a:ext cx="10515600" cy="820614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在此处添加标题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522" y="3598450"/>
            <a:ext cx="3972009" cy="3259549"/>
          </a:xfrm>
          <a:prstGeom prst="rect">
            <a:avLst/>
          </a:prstGeom>
        </p:spPr>
      </p:pic>
      <p:sp>
        <p:nvSpPr>
          <p:cNvPr id="6" name="图形 6">
            <a:extLst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noGrp="1"/>
          </p:cNvSpPr>
          <p:nvPr/>
        </p:nvSpPr>
        <p:spPr>
          <a:xfrm>
            <a:off x="0" y="-2"/>
            <a:ext cx="3962399" cy="6858002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noGrp="1"/>
          </p:cNvSpPr>
          <p:nvPr/>
        </p:nvSpPr>
        <p:spPr>
          <a:xfrm rot="16200000">
            <a:off x="604839" y="3357560"/>
            <a:ext cx="6857999" cy="142878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noGrp="1"/>
          </p:cNvSpPr>
          <p:nvPr/>
        </p:nvSpPr>
        <p:spPr>
          <a:xfrm>
            <a:off x="433068" y="2790199"/>
            <a:ext cx="3096260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lIns="91416" tIns="45708" rIns="91416" bIns="45708" anchor="t">
            <a:sp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129" y="1090159"/>
            <a:ext cx="1478138" cy="14781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>
            <a:extLst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-282978"/>
            <a:ext cx="2345858" cy="16607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90000"/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080" y="517525"/>
            <a:ext cx="2399937" cy="799325"/>
          </a:xfrm>
          <a:prstGeom prst="rect">
            <a:avLst/>
          </a:prstGeom>
        </p:spPr>
      </p:pic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noGrp="1"/>
          </p:cNvSpPr>
          <p:nvPr/>
        </p:nvSpPr>
        <p:spPr>
          <a:xfrm>
            <a:off x="1219200" y="2364969"/>
            <a:ext cx="9753600" cy="0"/>
          </a:xfrm>
          <a:prstGeom prst="line">
            <a:avLst/>
          </a:prstGeom>
          <a:ln>
            <a:solidFill>
              <a:schemeClr val="bg1">
                <a:alpha val="6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976" y="412321"/>
            <a:ext cx="3758048" cy="73818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7492">
            <a:off x="269790" y="3492587"/>
            <a:ext cx="368435" cy="43875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00000">
            <a:off x="696040" y="3008919"/>
            <a:ext cx="322120" cy="38360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742">
            <a:off x="1098759" y="3046579"/>
            <a:ext cx="192257" cy="228953"/>
          </a:xfrm>
          <a:prstGeom prst="rect">
            <a:avLst/>
          </a:prstGeom>
        </p:spPr>
      </p:pic>
      <p:pic>
        <p:nvPicPr>
          <p:cNvPr id="1025" name="图形 1024">
            <a:extLst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080" y="3919696"/>
            <a:ext cx="4305076" cy="993479"/>
          </a:xfrm>
          <a:prstGeom prst="rect">
            <a:avLst/>
          </a:prstGeom>
        </p:spPr>
      </p:pic>
      <p:pic>
        <p:nvPicPr>
          <p:cNvPr id="1027" name="图形 1026">
            <a:extLst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" y="3921179"/>
            <a:ext cx="4196899" cy="991994"/>
          </a:xfrm>
          <a:prstGeom prst="rect">
            <a:avLst/>
          </a:prstGeom>
        </p:spPr>
      </p:pic>
      <p:sp>
        <p:nvSpPr>
          <p:cNvPr id="1029" name="图形 46">
            <a:extLst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noGrp="1"/>
          </p:cNvSpPr>
          <p:nvPr/>
        </p:nvSpPr>
        <p:spPr>
          <a:xfrm>
            <a:off x="7464842" y="3763145"/>
            <a:ext cx="6160427" cy="1150836"/>
          </a:xfrm>
          <a:custGeom>
            <a:avLst/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ahLst/>
            <a:cxnLst/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50149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0" name="图形 1029">
            <a:extLst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64842" y="3794503"/>
            <a:ext cx="6156744" cy="1177809"/>
          </a:xfrm>
          <a:prstGeom prst="rect">
            <a:avLst/>
          </a:prstGeom>
        </p:spPr>
      </p:pic>
      <p:sp>
        <p:nvSpPr>
          <p:cNvPr id="1032" name="图形 7">
            <a:extLst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noGrp="1"/>
          </p:cNvSpPr>
          <p:nvPr/>
        </p:nvSpPr>
        <p:spPr>
          <a:xfrm>
            <a:off x="2968817" y="3070101"/>
            <a:ext cx="6254365" cy="184307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3" name="图形 1032">
            <a:extLst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8817" y="3117113"/>
            <a:ext cx="6254365" cy="1847496"/>
          </a:xfrm>
          <a:prstGeom prst="rect">
            <a:avLst/>
          </a:prstGeom>
        </p:spPr>
      </p:pic>
      <p:sp>
        <p:nvSpPr>
          <p:cNvPr id="4" name="图形 6">
            <a:extLst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1034" name="text-4">
            <a:extLst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noGrp="1"/>
          </p:cNvSpPr>
          <p:nvPr/>
        </p:nvSpPr>
        <p:spPr>
          <a:xfrm>
            <a:off x="952500" y="1343025"/>
            <a:ext cx="7429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XRD表征技术</a:t>
            </a:r>
          </a:p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及MOF/COF图谱解析</a:t>
            </a:r>
          </a:p>
        </p:txBody>
      </p:sp>
      <p:pic>
        <p:nvPicPr>
          <p:cNvPr id="1035" name="图片 1034">
            <a:extLst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82000" y="1306513"/>
            <a:ext cx="3381375" cy="2254250"/>
          </a:xfrm>
          <a:prstGeom prst="rect">
            <a:avLst/>
          </a:prstGeom>
        </p:spPr>
      </p:pic>
      <p:sp>
        <p:nvSpPr>
          <p:cNvPr id="1036" name="text-5">
            <a:extLst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noGrp="1"/>
          </p:cNvSpPr>
          <p:nvPr/>
        </p:nvSpPr>
        <p:spPr>
          <a:xfrm>
            <a:off x="8401050" y="3486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</a:t>
            </a:r>
            <a:r>
              <a:rPr sz="1875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材料与化工现代研究方法》小组汇报</a:t>
            </a:r>
            <a:endParaRPr sz="187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8" name="text-7">
            <a:extLst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noGrp="1"/>
          </p:cNvSpPr>
          <p:nvPr/>
        </p:nvSpPr>
        <p:spPr>
          <a:xfrm>
            <a:off x="1066800" y="530542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化学与工程技术专业 · 硕士一年级</a:t>
            </a:r>
          </a:p>
        </p:txBody>
      </p:sp>
      <p:sp>
        <p:nvSpPr>
          <p:cNvPr id="1039" name="text-8">
            <a:extLst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noGrp="1"/>
          </p:cNvSpPr>
          <p:nvPr/>
        </p:nvSpPr>
        <p:spPr>
          <a:xfrm>
            <a:off x="1066800" y="585787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组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成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员：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陶宇 陈增威 金敬东 孙宗瀚 徐天缘</a:t>
            </a:r>
            <a:endParaRPr sz="1600" b="1" dirty="0">
              <a:solidFill>
                <a:srgbClr val="52636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5FD20F-1364-4CDC-B3FE-8F45A8E92E9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477375" y="2419350"/>
            <a:ext cx="619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534360-4356-41C2-B947-15603577CE98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96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C17842-E25D-4577-86A3-054633BBED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667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9" name="text-0">
            <a:extLst>
              <a:ext uri="{FF2B5EF4-FFF2-40B4-BE49-F238E27FC236}">
                <a16:creationId xmlns:a16="http://schemas.microsoft.com/office/drawing/2014/main" id="{3B0A1B7F-3270-4F71-8A01-33841F7FE8A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01  XRD基本原理与表征信息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15CE421-993A-474E-B805-D010F962F65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96F8BAC-CF80-48B2-ABA4-3B0A428D01C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1EF3B60-7822-4068-A31E-0421EB1744D3}"/>
              </a:ext>
            </a:extLst>
          </p:cNvPr>
          <p:cNvSpPr>
            <a:spLocks noGrp="1"/>
          </p:cNvSpPr>
          <p:nvPr/>
        </p:nvSpPr>
        <p:spPr>
          <a:xfrm>
            <a:off x="523875" y="1104900"/>
            <a:ext cx="1114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X射线与晶体周期排列相互作用，产生可用于结构分析的衍射信号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C98FFB97-8ADD-4E1D-AFFB-DD7570E8709F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入射X射线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0D342F8-C62B-4430-8CDC-BAC75554D88B}"/>
              </a:ext>
            </a:extLst>
          </p:cNvPr>
          <p:cNvSpPr>
            <a:spLocks noGrp="1"/>
          </p:cNvSpPr>
          <p:nvPr/>
        </p:nvSpPr>
        <p:spPr>
          <a:xfrm>
            <a:off x="3667125" y="1981200"/>
            <a:ext cx="2428875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晶体粉末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原子周期排列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7511316F-72D4-4818-9C18-A5547BD8A320}"/>
              </a:ext>
            </a:extLst>
          </p:cNvPr>
          <p:cNvSpPr>
            <a:spLocks noGrp="1"/>
          </p:cNvSpPr>
          <p:nvPr/>
        </p:nvSpPr>
        <p:spPr>
          <a:xfrm>
            <a:off x="7096125" y="19812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衍射信号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强度随2θ变化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CBA24E0B-8532-4D4C-9803-D58583173C59}"/>
              </a:ext>
            </a:extLst>
          </p:cNvPr>
          <p:cNvSpPr>
            <a:spLocks noGrp="1"/>
          </p:cNvSpPr>
          <p:nvPr/>
        </p:nvSpPr>
        <p:spPr>
          <a:xfrm>
            <a:off x="10096500" y="198120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结构分析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9CDB1BE-E93B-495A-BB0A-554EF9D34D8E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布拉格关系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5A379CB-7D33-4014-B03C-7A79648203FB}"/>
              </a:ext>
            </a:extLst>
          </p:cNvPr>
          <p:cNvSpPr>
            <a:spLocks noGrp="1"/>
          </p:cNvSpPr>
          <p:nvPr/>
        </p:nvSpPr>
        <p:spPr>
          <a:xfrm>
            <a:off x="619125" y="401002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C6396B7-0F61-465D-8D4C-AB7A4A1A09D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5905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λ：波长；d：晶面间距；n：衍射级数</a:t>
            </a:r>
          </a:p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θ：射线与晶面的夹角；图谱横轴通常为2θ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7E9324A-3F65-4243-98F0-12560FD5AB58}"/>
              </a:ext>
            </a:extLst>
          </p:cNvPr>
          <p:cNvSpPr>
            <a:spLocks noGrp="1"/>
          </p:cNvSpPr>
          <p:nvPr/>
        </p:nvSpPr>
        <p:spPr>
          <a:xfrm>
            <a:off x="7096125" y="34766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MOF/COF中的典型用途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71AE2D67-AC24-4AA1-B4B2-75C2857AC685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物相鉴定：目标结构是否形成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结构稳定性：处理后周期结构是否保留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结晶特征：峰位和峰形如何变化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87DE89F2-EEA7-46F0-A0B7-5B23F219402D}"/>
              </a:ext>
            </a:extLst>
          </p:cNvPr>
          <p:cNvSpPr>
            <a:spLocks noGrp="1"/>
          </p:cNvSpPr>
          <p:nvPr/>
        </p:nvSpPr>
        <p:spPr>
          <a:xfrm>
            <a:off x="6961239" y="5248275"/>
            <a:ext cx="4706886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MOF：金属有机框架；COF：共价有机框架</a:t>
            </a:r>
            <a:endParaRPr sz="1600" b="1" dirty="0">
              <a:solidFill>
                <a:srgbClr val="B37328"/>
              </a:solidFill>
              <a:latin typeface="+mj-lt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DC40CF4-090B-4765-A8AF-5818F524240B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02  测试方法与MOF/COF样品制备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6A6DB55-F5EB-4D5D-8AB5-8A3347D4A235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F09BA5C-B72A-4158-AFE8-77EBAD900A09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38FFB9C-DE2E-4E06-B05F-AA7130B45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401256"/>
              </p:ext>
            </p:extLst>
          </p:nvPr>
        </p:nvGraphicFramePr>
        <p:xfrm>
          <a:off x="466725" y="1333500"/>
          <a:ext cx="11239500" cy="41719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建议操作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注意事项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模式选择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粉末：常规粉末衍射（PXRD）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薄膜：掠入射XRD，以较小角度入射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本次以MOF/COF粉末样品为主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样品制备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温和研磨、铺平，控制样品高度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易失溶剂样品可密封或用毛细管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过度研磨可能损伤结构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压实可能改变相对峰强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扫描设置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常用铜靶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低角峰接近起始角时，应进一步扩展范围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质量控制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适当延长计数时间，提高信噪比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使用标准样品校准衍射角度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注意样品架背景和仪器引起的峰形变化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192CAAD7-4344-41DE-AF12-94509A3190C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03  常用分析软件及功能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0B24AFD-AE7E-43A8-942B-D52E0192D8C1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A0AA2-054A-42B9-90C5-5B6D924B0E50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AA9BB0-5FF0-42C7-BD84-C6C6D6C04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7328"/>
              </p:ext>
            </p:extLst>
          </p:nvPr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常用软件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输出与注意点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寻峰与物相鉴定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JADE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与标准图谱或论文参考图进行匹配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结构模拟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Materials Studio（Reflex）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根据结构模型，计算理论衍射图谱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全谱拟合与分析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GSAS-II、TOPAS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调整模型参数，评价计算与实验的一致性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图谱整理与峰形分析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整理图谱、分析峰宽，保留原始数据</a:t>
                      </a:r>
                      <a:endParaRPr sz="1725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E1DEE3C-DB60-453C-87EE-393117AA39B7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基本分析流程：数据导入、峰位比较、结构模拟与全谱拟合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98BF0A8-D1D8-4442-AE4F-5D470338F81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04  XRD图谱的主要分析要点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935E0FE-BC2F-47E5-8D70-E112802FCACD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1BB8CCB-9856-43AE-A77C-E332A8FCAF3C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8F51DF-4766-4990-A269-DEFB3C95EB29}"/>
              </a:ext>
            </a:extLst>
          </p:cNvPr>
          <p:cNvGraphicFramePr/>
          <p:nvPr/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分析要素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能够获得的信息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需要注意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峰位（2θ）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反映晶面间距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用于物相鉴定与结构比较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解释峰位偏移前，应排除仪器和装样误差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峰宽（半高宽）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与有序区域尺度、局部畸变等有关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需考虑仪器展宽，晶畴尺寸不等于颗粒尺寸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相对峰强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与原子排列和晶粒取向等因素有关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样品用量及归一化处理也会影响峰强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全谱匹配与差值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与参考图谱进行全谱比对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检查一致性和有无杂峰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结合多个衍射峰及差值曲线进行判断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15F4FB90-0D74-43DB-A904-82712E52DC53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0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综合峰位、峰宽与相对峰强，评价图谱与目标结构的一致性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DBB1099E-E37C-40C0-940C-0B505BFB2A4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05  XRD与其他常用表征技术的互补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08741BD-4EBA-4E2F-BD3D-2A1BB01A5839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8F4E47D-3118-433F-89C7-6AC71D09D8A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6B392-77A6-4081-84C7-6A880DA1E27F}"/>
              </a:ext>
            </a:extLst>
          </p:cNvPr>
          <p:cNvGraphicFramePr/>
          <p:nvPr/>
        </p:nvGraphicFramePr>
        <p:xfrm>
          <a:off x="466725" y="1333500"/>
          <a:ext cx="11239500" cy="4267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主要回答的问题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与XRD结合的价值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XRD / PXRD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平均晶体结构与物相组成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提供整体结构信息，适合处理前后比较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 / TEM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电子显微镜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颗粒形貌与尺寸，TEM可提供局部晶格信息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补充局部结构与形貌信息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EDS（能谱）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元素种类及空间分布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检查组成和分布，通常不能判断价态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红外 / 拉曼光谱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化学键及官能团信息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验证合成反应及官能团变化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XPS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X射线光电子能谱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表面元素组成与化学态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帮助判断元素的价态和化学环境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气体吸附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BET比表面积分析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孔隙可达性与比表面积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检验孔道是否仍然开放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noGrp="1"/>
          </p:cNvSpPr>
          <p:nvPr/>
        </p:nvSpPr>
        <p:spPr>
          <a:xfrm>
            <a:off x="466725" y="5772150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[1]图1(a)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81859" y="1395412"/>
            <a:ext cx="4009292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noGrp="1"/>
          </p:cNvSpPr>
          <p:nvPr/>
        </p:nvSpPr>
        <p:spPr>
          <a:xfrm>
            <a:off x="571500" y="481965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低角衍射峰与结构特征</a:t>
            </a:r>
            <a:endParaRPr sz="1950" b="1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主峰位于2θ &lt; 5°的低角区域。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实验数据与Pawley全谱拟合线基本吻合。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Rp = 3.86%，Rwp = 5.28%（拟合残差）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模拟峰位与实验特征峰总体对应。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拟合支持候选晶胞与实验图谱相容。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堆积模型仍需联合其他表征判断。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noGrp="1"/>
          </p:cNvSpPr>
          <p:nvPr/>
        </p:nvSpPr>
        <p:spPr>
          <a:xfrm>
            <a:off x="466725" y="6438900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noGrp="1"/>
          </p:cNvSpPr>
          <p:nvPr/>
        </p:nvSpPr>
        <p:spPr>
          <a:xfrm>
            <a:off x="485775" y="5862638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[1]图1(b)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15915" y="1352550"/>
            <a:ext cx="4035669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对照样品的衍射特征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实验曲线与拟合曲线基本吻合，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较弱衍射峰也与理论峰位相对应。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Rp = 3.47%，Rwp = 4.98%（拟合残差）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两种COF的峰位与各自模型对应。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对照分析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拟合残差较低，不代表结晶度更高。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性能差异还需结合电化学测试解释。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noGrp="1"/>
          </p:cNvSpPr>
          <p:nvPr/>
        </p:nvSpPr>
        <p:spPr>
          <a:xfrm>
            <a:off x="485775" y="5886450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[2] DAI S, SIMMS C, PATRIARCHE G, et al. Highly defective ultra-small tetravalent MOF nanocrystals[J]. Nature Communications, 2024, 15(1): 3434.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10.1038/s41467-024-47426-x. 图源：文献[2]图2(b)，裁剪，CC BY 4.0；TEM粒径数据见图2(c)。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689135" y="1352550"/>
            <a:ext cx="3289231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Simulated：UiO-66模拟图谱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10–80 mL：合成时的乙醇用量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（111）、（200）等：晶面编号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2θ / °：衍射角，单位为度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衍射峰展宽现象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随着乙醇用量增加，衍射峰逐渐展宽。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80 mL样品的相邻峰明显重叠。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透射电子显微镜（TEM）验证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TEM平均粒径：40、14、9、5 nm。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超小颗粒中仍可观察到局部晶格。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峰展宽与有序区域尺度减小相一致。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仅凭宽峰不能判定样品完全无定形。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noGrp="1"/>
          </p:cNvSpPr>
          <p:nvPr/>
        </p:nvSpPr>
        <p:spPr>
          <a:xfrm>
            <a:off x="485775" y="5914103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 XIE Y, RONG Q, MAO F, et al. Engineering the pore environment of antiparallel stacked covalent organic frameworks for capture of iodine pollutants[J]. Nature Communications, 2024, 15(1): 2671.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DOI: 10.1038/s41467-024-46942-0. </a:t>
            </a: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[3]图2(d)，</a:t>
            </a: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裁剪，CC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 BY 4.0。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</a:t>
            </a:r>
            <a:r>
              <a:rPr sz="1500" b="0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：反平行堆积COF的孔道调控及碘污染物捕获</a:t>
            </a:r>
            <a:endParaRPr sz="1500" b="0" dirty="0">
              <a:solidFill>
                <a:srgbClr val="B37328"/>
              </a:solidFill>
              <a:latin typeface="+mj-lt"/>
              <a:ea typeface="微软雅黑"/>
              <a:cs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20878" y="1352550"/>
            <a:ext cx="3825744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noGrp="1"/>
          </p:cNvSpPr>
          <p:nvPr/>
        </p:nvSpPr>
        <p:spPr>
          <a:xfrm>
            <a:off x="752475" y="4782472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antiparallel AA </a:t>
            </a: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stacking：反平行AA堆积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相邻层方向相反，位置大致上下对应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黑：实验；红：拟合；蓝：模拟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绿：理论峰位；灰：实验与拟合差值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（100）等为晶面编号；2θ为衍射角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峰位与晶面归属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2θ约2.5°、4.2°、4.9°、6.5°、8.4°。</a:t>
            </a:r>
          </a:p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对应(100)、(110)、(200)、(210)、(310)。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结构拟合与辅助表征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Rwp = 5.71%（Pawley全谱拟合）。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X射线散射及高分辨TEM提供补充证据。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多种证据支持反平行AA堆积模型。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拟合良好并不代表结构模型唯一。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21A523-0B1E-4A03-9A29-7828748BF34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286125" y="458628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E48DA7E-A6A2-4187-A376-F4B95609F2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286125" y="3433763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1807909-994B-47D3-8D14-97EB4BD11E2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86125" y="228123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24" name="text-0">
            <a:extLst>
              <a:ext uri="{FF2B5EF4-FFF2-40B4-BE49-F238E27FC236}">
                <a16:creationId xmlns:a16="http://schemas.microsoft.com/office/drawing/2014/main" id="{ABE0ABB7-A26D-463C-9A20-3F31F5DBC73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11  案例归纳与结构—性能关系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6DCBEFD-3963-4352-8236-E4D75A89D5F4}"/>
              </a:ext>
            </a:extLst>
          </p:cNvPr>
          <p:cNvSpPr>
            <a:spLocks noGrp="1"/>
          </p:cNvSpPr>
          <p:nvPr/>
        </p:nvSpPr>
        <p:spPr>
          <a:xfrm>
            <a:off x="466725" y="6443662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DE42812-3682-4773-B80D-E340DA97D1CB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E212D72-EE62-4D42-9BCD-572D711FB88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研究对象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5F5F998-BAA6-4381-AF8F-1CC1DDD7B016}"/>
              </a:ext>
            </a:extLst>
          </p:cNvPr>
          <p:cNvSpPr>
            <a:spLocks noGrp="1"/>
          </p:cNvSpPr>
          <p:nvPr/>
        </p:nvSpPr>
        <p:spPr>
          <a:xfrm>
            <a:off x="4029075" y="12192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XRD结构证据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C80E760-6610-4655-A4F8-192BFDE257F9}"/>
              </a:ext>
            </a:extLst>
          </p:cNvPr>
          <p:cNvSpPr>
            <a:spLocks noGrp="1"/>
          </p:cNvSpPr>
          <p:nvPr/>
        </p:nvSpPr>
        <p:spPr>
          <a:xfrm>
            <a:off x="8477250" y="1219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辅助表征与性能验证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5AF734DB-A395-465B-9590-8B72F3472763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COF电池正极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TT / Np-TPDA-COF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E9ABC748-A816-4303-BD5C-6F8D1320D83E}"/>
              </a:ext>
            </a:extLst>
          </p:cNvPr>
          <p:cNvSpPr>
            <a:spLocks noGrp="1"/>
          </p:cNvSpPr>
          <p:nvPr/>
        </p:nvSpPr>
        <p:spPr>
          <a:xfrm>
            <a:off x="4029075" y="183832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实验与模拟图谱匹配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10" name="concept-9">
            <a:extLst>
              <a:ext uri="{FF2B5EF4-FFF2-40B4-BE49-F238E27FC236}">
                <a16:creationId xmlns:a16="http://schemas.microsoft.com/office/drawing/2014/main" id="{764F1E6B-E6B6-4E90-91E9-F70E3F66E1C7}"/>
              </a:ext>
            </a:extLst>
          </p:cNvPr>
          <p:cNvSpPr>
            <a:spLocks noGrp="1"/>
          </p:cNvSpPr>
          <p:nvPr/>
        </p:nvSpPr>
        <p:spPr>
          <a:xfrm>
            <a:off x="8477250" y="183832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LSV,CV,RIS</a:t>
            </a:r>
            <a:r>
              <a:rPr lang="zh-CN" alt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等电化学测试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dirty="0" err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分析电池储能性能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1A3293F-A9CD-4DEE-BC67-116BE327185A}"/>
              </a:ext>
            </a:extLst>
          </p:cNvPr>
          <p:cNvSpPr>
            <a:spLocks noGrp="1"/>
          </p:cNvSpPr>
          <p:nvPr/>
        </p:nvSpPr>
        <p:spPr>
          <a:xfrm>
            <a:off x="7677150" y="20764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3" name="concept-12">
            <a:extLst>
              <a:ext uri="{FF2B5EF4-FFF2-40B4-BE49-F238E27FC236}">
                <a16:creationId xmlns:a16="http://schemas.microsoft.com/office/drawing/2014/main" id="{B0AD07AE-F47C-4F75-99C5-3C7F3C99963F}"/>
              </a:ext>
            </a:extLst>
          </p:cNvPr>
          <p:cNvSpPr>
            <a:spLocks noGrp="1"/>
          </p:cNvSpPr>
          <p:nvPr/>
        </p:nvSpPr>
        <p:spPr>
          <a:xfrm>
            <a:off x="619125" y="2990850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超小UiO-66纳米晶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MOF催化材料</a:t>
            </a:r>
          </a:p>
        </p:txBody>
      </p:sp>
      <p:sp>
        <p:nvSpPr>
          <p:cNvPr id="14" name="concept-13">
            <a:extLst>
              <a:ext uri="{FF2B5EF4-FFF2-40B4-BE49-F238E27FC236}">
                <a16:creationId xmlns:a16="http://schemas.microsoft.com/office/drawing/2014/main" id="{71CD243B-2DED-4756-AE63-61E23A26984D}"/>
              </a:ext>
            </a:extLst>
          </p:cNvPr>
          <p:cNvSpPr>
            <a:spLocks noGrp="1"/>
          </p:cNvSpPr>
          <p:nvPr/>
        </p:nvSpPr>
        <p:spPr>
          <a:xfrm>
            <a:off x="4029075" y="2990850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衍射峰展宽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结合TEM分析尺寸变化</a:t>
            </a:r>
          </a:p>
        </p:txBody>
      </p:sp>
      <p:sp>
        <p:nvSpPr>
          <p:cNvPr id="15" name="concept-14">
            <a:extLst>
              <a:ext uri="{FF2B5EF4-FFF2-40B4-BE49-F238E27FC236}">
                <a16:creationId xmlns:a16="http://schemas.microsoft.com/office/drawing/2014/main" id="{9E021AD7-3397-42B4-B6F4-738F0FCB5D60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热分析及组成表征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催化性能测试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F18B9AD-1B52-4E9A-B0A4-9E58F85A75F8}"/>
              </a:ext>
            </a:extLst>
          </p:cNvPr>
          <p:cNvSpPr>
            <a:spLocks noGrp="1"/>
          </p:cNvSpPr>
          <p:nvPr/>
        </p:nvSpPr>
        <p:spPr>
          <a:xfrm>
            <a:off x="7677150" y="3228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8" name="concept-17">
            <a:extLst>
              <a:ext uri="{FF2B5EF4-FFF2-40B4-BE49-F238E27FC236}">
                <a16:creationId xmlns:a16="http://schemas.microsoft.com/office/drawing/2014/main" id="{F8866126-7CCA-4A06-AD61-F9C3A3FE71AA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反平行堆积ACOF-1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COF碘吸附材料</a:t>
            </a:r>
          </a:p>
        </p:txBody>
      </p:sp>
      <p:sp>
        <p:nvSpPr>
          <p:cNvPr id="19" name="concept-18">
            <a:extLst>
              <a:ext uri="{FF2B5EF4-FFF2-40B4-BE49-F238E27FC236}">
                <a16:creationId xmlns:a16="http://schemas.microsoft.com/office/drawing/2014/main" id="{939A51C0-D841-457A-91D3-4A7BEE6F377A}"/>
              </a:ext>
            </a:extLst>
          </p:cNvPr>
          <p:cNvSpPr>
            <a:spLocks noGrp="1"/>
          </p:cNvSpPr>
          <p:nvPr/>
        </p:nvSpPr>
        <p:spPr>
          <a:xfrm>
            <a:off x="4029075" y="414337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多峰匹配与全谱拟合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20" name="concept-19">
            <a:extLst>
              <a:ext uri="{FF2B5EF4-FFF2-40B4-BE49-F238E27FC236}">
                <a16:creationId xmlns:a16="http://schemas.microsoft.com/office/drawing/2014/main" id="{BBBDF2C2-97BA-4983-93C4-14F8A956B463}"/>
              </a:ext>
            </a:extLst>
          </p:cNvPr>
          <p:cNvSpPr>
            <a:spLocks noGrp="1"/>
          </p:cNvSpPr>
          <p:nvPr/>
        </p:nvSpPr>
        <p:spPr>
          <a:xfrm>
            <a:off x="8477250" y="414337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光谱、显微和吸附测试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评价碘捕获能力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B94C823-7387-48FC-8935-FF08F7A4314D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6C9778EB-A313-4EEE-A492-3B9388F8B90C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结构证据与功能测试相互印证，建立材料结构与性能的联系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31E2CD4-F291-46BC-ABC3-BB85471F7B51}"/>
              </a:ext>
            </a:extLst>
          </p:cNvPr>
          <p:cNvCxnSpPr>
            <a:stCxn id="9" idx="1"/>
            <a:endCxn id="5" idx="2"/>
          </p:cNvCxnSpPr>
          <p:nvPr/>
        </p:nvCxnSpPr>
        <p:spPr>
          <a:xfrm flipH="1" flipV="1">
            <a:off x="6096000" y="4000500"/>
            <a:ext cx="2276475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C0D1F93-7215-412B-9873-A73065E46BE7}"/>
              </a:ext>
            </a:extLst>
          </p:cNvPr>
          <p:cNvCxnSpPr>
            <a:stCxn id="8" idx="3"/>
            <a:endCxn id="5" idx="2"/>
          </p:cNvCxnSpPr>
          <p:nvPr/>
        </p:nvCxnSpPr>
        <p:spPr>
          <a:xfrm flipV="1">
            <a:off x="3810000" y="4000500"/>
            <a:ext cx="2286000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A2D5A19-4744-4678-B9AA-FA6DD092E60C}"/>
              </a:ext>
            </a:extLst>
          </p:cNvPr>
          <p:cNvCxnSpPr>
            <a:stCxn id="7" idx="1"/>
            <a:endCxn id="5" idx="0"/>
          </p:cNvCxnSpPr>
          <p:nvPr/>
        </p:nvCxnSpPr>
        <p:spPr>
          <a:xfrm flipH="1">
            <a:off x="6096000" y="1952625"/>
            <a:ext cx="2276475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E50AAC55-EBD9-4207-A991-8ED1CED0207B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3810000" y="1952625"/>
            <a:ext cx="2286000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5" name="text-0">
            <a:extLst>
              <a:ext uri="{FF2B5EF4-FFF2-40B4-BE49-F238E27FC236}">
                <a16:creationId xmlns:a16="http://schemas.microsoft.com/office/drawing/2014/main" id="{052FEEC2-52AC-4DE5-A3F4-53AF568D81A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12  总结：XRD分析与读图速查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53AD045-03E3-408F-85E7-E65FEBBA8A0F}"/>
              </a:ext>
            </a:extLst>
          </p:cNvPr>
          <p:cNvSpPr>
            <a:spLocks noGrp="1"/>
          </p:cNvSpPr>
          <p:nvPr/>
        </p:nvSpPr>
        <p:spPr>
          <a:xfrm>
            <a:off x="466725" y="6449347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A22C5F-EE77-4D45-B16F-0CF09028D663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13</a:t>
            </a:r>
          </a:p>
        </p:txBody>
      </p:sp>
      <p:sp>
        <p:nvSpPr>
          <p:cNvPr id="5" name="concept-4">
            <a:extLst>
              <a:ext uri="{FF2B5EF4-FFF2-40B4-BE49-F238E27FC236}">
                <a16:creationId xmlns:a16="http://schemas.microsoft.com/office/drawing/2014/main" id="{0EEE02C6-370C-4974-9755-D031B030D17D}"/>
              </a:ext>
            </a:extLst>
          </p:cNvPr>
          <p:cNvSpPr>
            <a:spLocks noGrp="1"/>
          </p:cNvSpPr>
          <p:nvPr/>
        </p:nvSpPr>
        <p:spPr>
          <a:xfrm>
            <a:off x="4543425" y="2743200"/>
            <a:ext cx="3105150" cy="1257300"/>
          </a:xfrm>
          <a:prstGeom prst="roundRect">
            <a:avLst>
              <a:gd name="adj" fmla="val 6061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XRD图谱解析</a:t>
            </a:r>
          </a:p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结构证据的综合判断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3FA1D567-0F37-4372-9DAA-DD2117F67E1C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数据分析流程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原始数据保存与质量检查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寻峰、全谱比对与模型检验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联合表征，保留分析记录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1942F1F-D81F-42B1-A3A7-C35259D7AE68}"/>
              </a:ext>
            </a:extLst>
          </p:cNvPr>
          <p:cNvSpPr>
            <a:spLocks noGrp="1"/>
          </p:cNvSpPr>
          <p:nvPr/>
        </p:nvSpPr>
        <p:spPr>
          <a:xfrm>
            <a:off x="7943850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软件分工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检索：JADE / Match!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模拟：Materials Studio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拟合：GSAS-II / TOPAS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绘图：Origin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90C04F17-D9BA-4A84-82DD-AECE191BF07F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公式速查</a:t>
            </a:r>
          </a:p>
          <a:p>
            <a:pPr algn="ctr">
              <a:defRPr sz="18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  <a:p>
            <a:pPr algn="ctr">
              <a:defRPr sz="17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 = Kλ / (β cosθ)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d：晶面间距；D：晶畴尺度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β：校正峰宽，须用弧度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7069829F-98FB-409A-A1E8-0DC6CC4AA102}"/>
              </a:ext>
            </a:extLst>
          </p:cNvPr>
          <p:cNvSpPr>
            <a:spLocks noGrp="1"/>
          </p:cNvSpPr>
          <p:nvPr/>
        </p:nvSpPr>
        <p:spPr>
          <a:xfrm>
            <a:off x="7943850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拟合图例</a:t>
            </a:r>
            <a:endParaRPr sz="1950" b="1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Observed：实验数据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Fitting：全谱拟合曲线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Simulated：模型模拟图谱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Bragg </a:t>
            </a: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09FC85C-4754-4DE7-A136-CD071AFD3277}"/>
              </a:ext>
            </a:extLst>
          </p:cNvPr>
          <p:cNvSpPr>
            <a:spLocks noGrp="1"/>
          </p:cNvSpPr>
          <p:nvPr/>
        </p:nvSpPr>
        <p:spPr>
          <a:xfrm>
            <a:off x="466725" y="5867399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 err="1">
                <a:solidFill>
                  <a:srgbClr val="B37328"/>
                </a:solidFill>
                <a:latin typeface="+mn-ea"/>
                <a:ea typeface="+mn-ea"/>
                <a:cs typeface="微软雅黑"/>
              </a:rPr>
              <a:t>分析原则：全谱比对、联合验证，结论与证据范围对应</a:t>
            </a:r>
            <a:endParaRPr b="1" dirty="0">
              <a:solidFill>
                <a:srgbClr val="B37328"/>
              </a:solidFill>
              <a:latin typeface="+mn-ea"/>
              <a:ea typeface="+mn-ea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C4CB-73A6-55BD-458F-7D0171FC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14">
            <a:extLst>
              <a:ext uri="{FF2B5EF4-FFF2-40B4-BE49-F238E27FC236}">
                <a16:creationId xmlns:a16="http://schemas.microsoft.com/office/drawing/2014/main" id="{BE95E236-1F0D-4997-EE4D-26151132F8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9792" y="252095"/>
            <a:ext cx="2812415" cy="2818716"/>
          </a:xfrm>
          <a:prstGeom prst="rect">
            <a:avLst/>
          </a:prstGeom>
          <a:effectLst>
            <a:outerShdw blurRad="127000" sx="101000" sy="101000" algn="ctr" rotWithShape="0">
              <a:prstClr val="black">
                <a:alpha val="51000"/>
              </a:prstClr>
            </a:outerShdw>
          </a:effectLst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24BCAAAA-96C6-D514-5511-F11FB3C34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1995566"/>
            <a:ext cx="2345858" cy="1660785"/>
          </a:xfrm>
          <a:prstGeom prst="rect">
            <a:avLst/>
          </a:prstGeom>
        </p:spPr>
      </p:pic>
      <p:pic>
        <p:nvPicPr>
          <p:cNvPr id="25" name="Picture 22">
            <a:extLst>
              <a:ext uri="{FF2B5EF4-FFF2-40B4-BE49-F238E27FC236}">
                <a16:creationId xmlns:a16="http://schemas.microsoft.com/office/drawing/2014/main" id="{D917DA3F-08EE-5D59-270D-CBB37AB0A8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1547747"/>
            <a:ext cx="3346880" cy="303536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642519A-A3DF-B1E8-F875-19821CB1E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3195732"/>
            <a:ext cx="10014858" cy="1182916"/>
          </a:xfrm>
        </p:spPr>
        <p:txBody>
          <a:bodyPr>
            <a:normAutofit/>
          </a:bodyPr>
          <a:lstStyle/>
          <a:p>
            <a:r>
              <a:rPr lang="zh-CN" altLang="en-US" sz="7200" b="1" kern="2000" spc="209">
                <a:solidFill>
                  <a:schemeClr val="bg1"/>
                </a:solidFill>
                <a:uFillTx/>
              </a:rPr>
              <a:t>请</a:t>
            </a:r>
            <a:r>
              <a:rPr lang="zh-CN" altLang="en-US" sz="7200" b="1" kern="2000" spc="209" dirty="0">
                <a:solidFill>
                  <a:schemeClr val="bg1"/>
                </a:solidFill>
                <a:uFillTx/>
              </a:rPr>
              <a:t>各位批评指正</a:t>
            </a:r>
          </a:p>
        </p:txBody>
      </p:sp>
    </p:spTree>
    <p:extLst>
      <p:ext uri="{BB962C8B-B14F-4D97-AF65-F5344CB8AC3E}">
        <p14:creationId xmlns:p14="http://schemas.microsoft.com/office/powerpoint/2010/main" val="319434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10  MOF案例：ZIF-8薄膜的pH稳定性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noGrp="1"/>
          </p:cNvSpPr>
          <p:nvPr/>
        </p:nvSpPr>
        <p:spPr>
          <a:xfrm>
            <a:off x="466725" y="5743575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[4] HASHEM T, VALADEZ SANCHEZ E P, BOGDANOVA E, et al. Stability of Monolithic MOF Thin Films in Acidic and Alkaline Aqueous Media[J]. Membranes, 2021, 11(3): 207. DOI: 10.3390/membranes11030207. Fig. 2（裁剪，CC BY 4.0）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研究主题：表面锚定ZIF-8薄膜在酸碱水相中的晶体稳定性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71500" y="1409700"/>
            <a:ext cx="5619750" cy="2714625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ZIF-8 SURMOF：表面锚定ZIF-8薄膜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A–D：pH 2、4、7、11；0–60 min：浸泡时间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(110)：特征衍射峰；2θ / degree：衍射角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① 先看参照峰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各组曲线均以ZIF-8的(110)峰为主要参照，先观察峰位是否保留。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② 比较pH与时间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pH 2：1 min峰消失；pH 4/7：峰逐步减弱；pH 11：20 min仍保持，60 min消失。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③ 得到的信息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ZIF-8薄膜在酸性介质中快速失晶，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短时碱性条件下相对稳定；需结合SEM判断膜是否脱落。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2576</Words>
  <Application>Microsoft Office PowerPoint</Application>
  <DocSecurity>0</DocSecurity>
  <PresentationFormat>宽屏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Times New Roman</vt:lpstr>
      <vt:lpstr>思源宋体 CN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Tianyuan Xu</cp:lastModifiedBy>
  <cp:revision>10</cp:revision>
  <dcterms:created xsi:type="dcterms:W3CDTF">2026-10-15T13:18:15Z</dcterms:created>
  <dcterms:modified xsi:type="dcterms:W3CDTF">2026-10-16T01:43:48Z</dcterms:modified>
</cp:coreProperties>
</file>