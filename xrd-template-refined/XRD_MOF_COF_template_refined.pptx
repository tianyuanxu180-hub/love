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svg" ContentType="image/svg+xml"/>
  <Default Extension="dat" ContentType="application/x-fontdata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e2a4c05eac6143f0" /><Relationship Type="http://schemas.openxmlformats.org/officeDocument/2006/relationships/extended-properties" Target="/docProps/app.xml" Id="R42d5acdbc8294582" /><Relationship Type="http://schemas.openxmlformats.org/officeDocument/2006/relationships/officeDocument" Target="/ppt/presentation.xml" Id="R36ec4198070d4f0f" /></Relationships>
</file>

<file path=ppt/presentation.xml><?xml version="1.0" encoding="utf-8"?>
<p:presentation xmlns:p="http://schemas.openxmlformats.org/presentationml/2006/main" embedTrueTypeFonts="1" saveSubsetFonts="0">
  <p:sldMasterIdLst>
    <p:sldMasterId xmlns:r="http://schemas.openxmlformats.org/officeDocument/2006/relationships" id="2147483648" r:id="R1e63b724e4a74a3f"/>
  </p:sldMasterIdLst>
  <p:notesMasterIdLst>
    <p:notesMasterId xmlns:r="http://schemas.openxmlformats.org/officeDocument/2006/relationships" r:id="R3c4ff8f764fd4fa2"/>
  </p:notesMasterIdLst>
  <p:sldIdLst>
    <p:sldId xmlns:r="http://schemas.openxmlformats.org/officeDocument/2006/relationships" id="256" r:id="R057fec3cfc8a4a44"/>
    <p:sldId xmlns:r="http://schemas.openxmlformats.org/officeDocument/2006/relationships" id="257" r:id="R88e78a1ecc6944ad"/>
    <p:sldId xmlns:r="http://schemas.openxmlformats.org/officeDocument/2006/relationships" id="258" r:id="Rd556f1e9ff064b9c"/>
    <p:sldId xmlns:r="http://schemas.openxmlformats.org/officeDocument/2006/relationships" id="259" r:id="R1483f8e765fe4c1e"/>
    <p:sldId xmlns:r="http://schemas.openxmlformats.org/officeDocument/2006/relationships" id="260" r:id="R16725a0c57674ab7"/>
    <p:sldId xmlns:r="http://schemas.openxmlformats.org/officeDocument/2006/relationships" id="261" r:id="R2bca7642d45b45f2"/>
    <p:sldId xmlns:r="http://schemas.openxmlformats.org/officeDocument/2006/relationships" id="262" r:id="R0e5e172f42b546d4"/>
    <p:sldId xmlns:r="http://schemas.openxmlformats.org/officeDocument/2006/relationships" id="263" r:id="R6151be8a5a6b4a68"/>
    <p:sldId xmlns:r="http://schemas.openxmlformats.org/officeDocument/2006/relationships" id="264" r:id="R4e24c9774da44d60"/>
    <p:sldId xmlns:r="http://schemas.openxmlformats.org/officeDocument/2006/relationships" id="265" r:id="Rb4d830f0995945f6"/>
    <p:sldId xmlns:r="http://schemas.openxmlformats.org/officeDocument/2006/relationships" id="266" r:id="Rf00ac2408f984f3a"/>
    <p:sldId xmlns:r="http://schemas.openxmlformats.org/officeDocument/2006/relationships" id="267" r:id="R92d7bb481cbc4fb4"/>
    <p:sldId xmlns:r="http://schemas.openxmlformats.org/officeDocument/2006/relationships" id="268" r:id="R540b77db733f4cd3"/>
    <p:sldId xmlns:r="http://schemas.openxmlformats.org/officeDocument/2006/relationships" id="269" r:id="R765ef6a477af4fd8"/>
    <p:sldId xmlns:r="http://schemas.openxmlformats.org/officeDocument/2006/relationships" id="270" r:id="R8e11fe96ccac4213"/>
    <p:sldId xmlns:r="http://schemas.openxmlformats.org/officeDocument/2006/relationships" id="271" r:id="R028e391e476c4e69"/>
    <p:sldId xmlns:r="http://schemas.openxmlformats.org/officeDocument/2006/relationships" id="272" r:id="R8af81286d4464344"/>
  </p:sldIdLst>
  <p:sldSz cx="12192000" cy="6858000"/>
  <p:notesSz cx="6858000" cy="9144000"/>
  <p:embeddedFontLst>
    <p:embeddedFont>
      <p:font typeface="思源宋体 CN"/>
      <p:regular xmlns:r="http://schemas.openxmlformats.org/officeDocument/2006/relationships" r:id="R02e96a995b354fc6"/>
    </p:embeddedFont>
    <p:embeddedFont>
      <p:font typeface="微软雅黑"/>
      <p:regular xmlns:r="http://schemas.openxmlformats.org/officeDocument/2006/relationships" r:id="R3d7a774715fd4627"/>
    </p:embeddedFont>
    <p:embeddedFont>
      <p:font typeface="Impact"/>
      <p:regular xmlns:r="http://schemas.openxmlformats.org/officeDocument/2006/relationships" r:id="R4d925618bc9042f5"/>
    </p:embeddedFont>
  </p:embeddedFontLst>
  <p:defaultTextStyle>
    <a:defPPr xmlns:a="http://schemas.openxmlformats.org/drawingml/2006/main">
      <a:buNone/>
    </a:defPPr>
    <a:lvl1pPr xmlns:a="http://schemas.openxmlformats.org/drawingml/2006/main" marL="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1pPr>
    <a:lvl2pPr xmlns:a="http://schemas.openxmlformats.org/drawingml/2006/main" marL="4572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2pPr>
    <a:lvl3pPr xmlns:a="http://schemas.openxmlformats.org/drawingml/2006/main" marL="9144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3pPr>
    <a:lvl4pPr xmlns:a="http://schemas.openxmlformats.org/drawingml/2006/main" marL="13716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4pPr>
    <a:lvl5pPr xmlns:a="http://schemas.openxmlformats.org/drawingml/2006/main" marL="18288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5pPr>
    <a:lvl6pPr xmlns:a="http://schemas.openxmlformats.org/drawingml/2006/main" marL="22860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6pPr>
    <a:lvl7pPr xmlns:a="http://schemas.openxmlformats.org/drawingml/2006/main" marL="27432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7pPr>
    <a:lvl8pPr xmlns:a="http://schemas.openxmlformats.org/drawingml/2006/main" marL="32004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8pPr>
    <a:lvl9pPr xmlns:a="http://schemas.openxmlformats.org/drawingml/2006/main" marL="36576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p="http://schemas.openxmlformats.org/presentationml/2006/main">
  <p:slideViewPr>
    <p:cSldViewPr snapToGrid="0" showGuides="0">
      <p:cViewPr>
        <p:scale>
          <a:sx xmlns:a="http://schemas.openxmlformats.org/drawingml/2006/main" n="1" d="1"/>
          <a:sy xmlns:a="http://schemas.openxmlformats.org/drawingml/2006/main" n="1" d="1"/>
        </p:scale>
        <p:origin x="0" y="0"/>
      </p:cViewPr>
      <p:guideLst/>
    </p:cSldViewPr>
  </p:slideViewPr>
  <p:gridSpacing cx="72008" cy="72008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9d895838b5a7471b" /><Relationship Type="http://schemas.openxmlformats.org/officeDocument/2006/relationships/slideMaster" Target="/ppt/slideMasters/slideMaster1.xml" Id="R1e63b724e4a74a3f" /><Relationship Type="http://schemas.openxmlformats.org/officeDocument/2006/relationships/notesMaster" Target="/ppt/notesMasters/notesMaster1.xml" Id="R3c4ff8f764fd4fa2" /><Relationship Type="http://schemas.openxmlformats.org/officeDocument/2006/relationships/presProps" Target="/ppt/presProps.xml" Id="R1da8061ad4d74cfb" /><Relationship Type="http://schemas.openxmlformats.org/officeDocument/2006/relationships/viewProps" Target="/ppt/viewProps.xml" Id="R5c60e54ac9fd4dee" /><Relationship Type="http://schemas.openxmlformats.org/officeDocument/2006/relationships/tableStyles" Target="/ppt/tableStyles.xml" Id="Rf73a96a64fe84e1b" /><Relationship Type="http://schemas.openxmlformats.org/officeDocument/2006/relationships/font" Target="/ppt/fonts/font.dat" Id="R02e96a995b354fc6" /><Relationship Type="http://schemas.openxmlformats.org/officeDocument/2006/relationships/font" Target="/ppt/fonts/font2.dat" Id="R3d7a774715fd4627" /><Relationship Type="http://schemas.openxmlformats.org/officeDocument/2006/relationships/font" Target="/ppt/fonts/font3.dat" Id="R4d925618bc9042f5" /><Relationship Type="http://schemas.openxmlformats.org/officeDocument/2006/relationships/slide" Target="/ppt/slides/slide1.xml" Id="R057fec3cfc8a4a44" /><Relationship Type="http://schemas.openxmlformats.org/officeDocument/2006/relationships/slide" Target="/ppt/slides/slide2.xml" Id="R88e78a1ecc6944ad" /><Relationship Type="http://schemas.openxmlformats.org/officeDocument/2006/relationships/slide" Target="/ppt/slides/slide3.xml" Id="Rd556f1e9ff064b9c" /><Relationship Type="http://schemas.openxmlformats.org/officeDocument/2006/relationships/slide" Target="/ppt/slides/slide4.xml" Id="R1483f8e765fe4c1e" /><Relationship Type="http://schemas.openxmlformats.org/officeDocument/2006/relationships/slide" Target="/ppt/slides/slide5.xml" Id="R16725a0c57674ab7" /><Relationship Type="http://schemas.openxmlformats.org/officeDocument/2006/relationships/slide" Target="/ppt/slides/slide6.xml" Id="R2bca7642d45b45f2" /><Relationship Type="http://schemas.openxmlformats.org/officeDocument/2006/relationships/slide" Target="/ppt/slides/slide7.xml" Id="R0e5e172f42b546d4" /><Relationship Type="http://schemas.openxmlformats.org/officeDocument/2006/relationships/slide" Target="/ppt/slides/slide8.xml" Id="R6151be8a5a6b4a68" /><Relationship Type="http://schemas.openxmlformats.org/officeDocument/2006/relationships/slide" Target="/ppt/slides/slide9.xml" Id="R4e24c9774da44d60" /><Relationship Type="http://schemas.openxmlformats.org/officeDocument/2006/relationships/slide" Target="/ppt/slides/slide10.xml" Id="Rb4d830f0995945f6" /><Relationship Type="http://schemas.openxmlformats.org/officeDocument/2006/relationships/slide" Target="/ppt/slides/slide11.xml" Id="Rf00ac2408f984f3a" /><Relationship Type="http://schemas.openxmlformats.org/officeDocument/2006/relationships/slide" Target="/ppt/slides/slide12.xml" Id="R92d7bb481cbc4fb4" /><Relationship Type="http://schemas.openxmlformats.org/officeDocument/2006/relationships/slide" Target="/ppt/slides/slide13.xml" Id="R540b77db733f4cd3" /><Relationship Type="http://schemas.openxmlformats.org/officeDocument/2006/relationships/slide" Target="/ppt/slides/slide14.xml" Id="R765ef6a477af4fd8" /><Relationship Type="http://schemas.openxmlformats.org/officeDocument/2006/relationships/slide" Target="/ppt/slides/slide15.xml" Id="R8e11fe96ccac4213" /><Relationship Type="http://schemas.openxmlformats.org/officeDocument/2006/relationships/slide" Target="/ppt/slides/slide16.xml" Id="R028e391e476c4e69" /><Relationship Type="http://schemas.openxmlformats.org/officeDocument/2006/relationships/slide" Target="/ppt/slides/slide17.xml" Id="R8af81286d4464344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33687eae043c492c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2_Office 主题​​">
  <a:themeElements>
    <a:clrScheme name="自定义 1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005B94"/>
      </a:accent1>
      <a:accent2>
        <a:srgbClr val="2BA3C0"/>
      </a:accent2>
      <a:accent3>
        <a:srgbClr val="B37328"/>
      </a:accent3>
      <a:accent4>
        <a:srgbClr val="FFC000"/>
      </a:accent4>
      <a:accent5>
        <a:srgbClr val="345964"/>
      </a:accent5>
      <a:accent6>
        <a:srgbClr val="C00000"/>
      </a:accent6>
      <a:hlink>
        <a:srgbClr val="467886"/>
      </a:hlink>
      <a:folHlink>
        <a:srgbClr val="96607D"/>
      </a:folHlink>
    </a:clrScheme>
    <a:fontScheme name="自定义 1">
      <a:majorFont>
        <a:latin typeface="Times New Roman"/>
        <a:ea typeface="思源宋体 CN"/>
        <a:cs typeface=""/>
      </a:majorFont>
      <a:minorFont>
        <a:latin typeface="微软雅黑"/>
        <a:ea typeface="微软雅黑"/>
        <a:cs typeface=""/>
      </a:minorFont>
    </a:fontScheme>
    <a:fmtScheme name="自定义 1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d287e83596f74009" /><Relationship Type="http://schemas.openxmlformats.org/officeDocument/2006/relationships/notesMaster" Target="/ppt/notesMasters/notesMaster1.xml" Id="R116405ccdda543d4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eaf8aa3f96484cd0" /><Relationship Type="http://schemas.openxmlformats.org/officeDocument/2006/relationships/notesMaster" Target="/ppt/notesMasters/notesMaster1.xml" Id="R5f916e4377ec47d6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f7c4fd454cec44c7" /><Relationship Type="http://schemas.openxmlformats.org/officeDocument/2006/relationships/notesMaster" Target="/ppt/notesMasters/notesMaster1.xml" Id="R317ff70f44274c3a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960870501c1045fc" /><Relationship Type="http://schemas.openxmlformats.org/officeDocument/2006/relationships/notesMaster" Target="/ppt/notesMasters/notesMaster1.xml" Id="Rf81b4e418ecd4f76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02d52c054a684125" /><Relationship Type="http://schemas.openxmlformats.org/officeDocument/2006/relationships/notesMaster" Target="/ppt/notesMasters/notesMaster1.xml" Id="Rc945c80f52224142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162f5bfc4409449a" /><Relationship Type="http://schemas.openxmlformats.org/officeDocument/2006/relationships/notesMaster" Target="/ppt/notesMasters/notesMaster1.xml" Id="R54baaa2209264151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0b47cd84e1b2422d" /><Relationship Type="http://schemas.openxmlformats.org/officeDocument/2006/relationships/notesMaster" Target="/ppt/notesMasters/notesMaster1.xml" Id="R545f083bba744b0e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0dd34088041f47ee" /><Relationship Type="http://schemas.openxmlformats.org/officeDocument/2006/relationships/notesMaster" Target="/ppt/notesMasters/notesMaster1.xml" Id="Ra563ccd3f6c24001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18b5c8665c424190" /><Relationship Type="http://schemas.openxmlformats.org/officeDocument/2006/relationships/notesMaster" Target="/ppt/notesMasters/notesMaster1.xml" Id="R3f25ef08c3bd4511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3c6fcbd97bc74c0c" /><Relationship Type="http://schemas.openxmlformats.org/officeDocument/2006/relationships/notesMaster" Target="/ppt/notesMasters/notesMaster1.xml" Id="R0ff1aef05096458c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5574c4f0a3c0449d" /><Relationship Type="http://schemas.openxmlformats.org/officeDocument/2006/relationships/notesMaster" Target="/ppt/notesMasters/notesMaster1.xml" Id="R25f5bdf196074dbc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cb1bc7fedd034acc" /><Relationship Type="http://schemas.openxmlformats.org/officeDocument/2006/relationships/notesMaster" Target="/ppt/notesMasters/notesMaster1.xml" Id="R92a87f72bc014d2e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d04b9eaa6e134e05" /><Relationship Type="http://schemas.openxmlformats.org/officeDocument/2006/relationships/notesMaster" Target="/ppt/notesMasters/notesMaster1.xml" Id="R1a6e63a3153a4568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bb0cd618978b4ae1" /><Relationship Type="http://schemas.openxmlformats.org/officeDocument/2006/relationships/notesMaster" Target="/ppt/notesMasters/notesMaster1.xml" Id="Reca1d351e56b4fb7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1e1abdd19aca4c67" /><Relationship Type="http://schemas.openxmlformats.org/officeDocument/2006/relationships/notesMaster" Target="/ppt/notesMasters/notesMaster1.xml" Id="Rdd200518d41e44a1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c550d7fb82ff4997" /><Relationship Type="http://schemas.openxmlformats.org/officeDocument/2006/relationships/notesMaster" Target="/ppt/notesMasters/notesMaster1.xml" Id="R4b77d6f3a22946bf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3679da3803964868" /><Relationship Type="http://schemas.openxmlformats.org/officeDocument/2006/relationships/notesMaster" Target="/ppt/notesMasters/notesMaster1.xml" Id="R1d3f984ce9e44b4e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建议用时：10秒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大家好，本次汇报介绍X射线衍射，也就是XRD。我们从基本原理、测试与分析方法出发，结合MOF和COF论文中的图谱，讨论XRD能够提供哪些结构信息。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来源：</a:t>
            </a:r>
          </a:p>
          <a:p xmlns:a="http://schemas.openxmlformats.org/drawingml/2006/main">
            <a:r>
              <a:t>课程汇报要求图片：8分钟，4至5人小组，围绕课题组研究方向及材料表征方法。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建议用时：40秒</a:t>
            </a:r>
            <a:endParaRPr/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XRD利用晶体内部的周期排列产生衍射信号。满足布拉格条件时，在特定角度出现衍射峰。峰位与晶面间距相关，横轴通常表示2θ。本次以粉末XRD为主。MOF和COF分别是金属有机框架与共价有机框架，常具有较大的结构周期，因此低角区对其结构分析尤其重要。</a:t>
            </a:r>
            <a:endParaRPr/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来源：</a:t>
            </a:r>
            <a:endParaRPr/>
          </a:p>
          <a:p xmlns:a="http://schemas.openxmlformats.org/drawingml/2006/main">
            <a:r>
              <a:t>https://rigaku.com/resources/techniques/powder-x-ray-diffraction</a:t>
            </a:r>
            <a:endParaRPr/>
          </a:p>
          <a:p xmlns:a="http://schemas.openxmlformats.org/drawingml/2006/main">
            <a:r>
              <a:t>https://rigaku.com/products/x-ray-diffraction-and-scattering/xrd/learning/basics</a:t>
            </a:r>
            <a:endParaRPr/>
          </a:p>
          <a:p xmlns:a="http://schemas.openxmlformats.org/drawingml/2006/main">
            <a:r>
              <a:t>https://it.iucr.org/Ha/ch1o1v0001/contents/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建议用时：35秒</a:t>
            </a:r>
            <a:endParaRPr/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可靠结果首先依赖规范制样。粉末应温和研磨、铺平，并控制样品高度。薄膜可以采用掠入射方式，减少基底信号的影响。表中扫描参数仅为起始参考，实际需要按仪器和样品优化。比较不同样品时，应尽量保持测试条件和样品状态一致。</a:t>
            </a:r>
            <a:endParaRPr/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来源：</a:t>
            </a:r>
            <a:endParaRPr/>
          </a:p>
          <a:p xmlns:a="http://schemas.openxmlformats.org/drawingml/2006/main">
            <a:r>
              <a:t>https://rigaku.com/resources/techniques/powder-x-ray-diffraction</a:t>
            </a:r>
            <a:endParaRPr/>
          </a:p>
          <a:p xmlns:a="http://schemas.openxmlformats.org/drawingml/2006/main">
            <a:r>
              <a:t>https://rigaku.com/products/x-ray-diffraction-and-scattering/xrd/learning/basics</a:t>
            </a:r>
            <a:endParaRPr/>
          </a:p>
          <a:p xmlns:a="http://schemas.openxmlformats.org/drawingml/2006/main">
            <a:r>
              <a:t>https://it.iucr.org/Ha/ch1o1v0001/contents/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建议用时：25秒</a:t>
            </a:r>
            <a:endParaRPr/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常用软件可以按功能划分。Jade和Match用于寻峰及物相鉴定，Materials Studio用于结构模拟，GSAS-II和TOPAS用于全谱拟合与进一步的结构分析，Origin用于图谱整理及峰形分析。全谱拟合是让计算曲线在整个角度范围内接近实验数据。</a:t>
            </a:r>
            <a:endParaRPr/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来源：</a:t>
            </a:r>
            <a:endParaRPr/>
          </a:p>
          <a:p xmlns:a="http://schemas.openxmlformats.org/drawingml/2006/main">
            <a:r>
              <a:t>https://www.materialsdata.com/products.htm</a:t>
            </a:r>
            <a:endParaRPr/>
          </a:p>
          <a:p xmlns:a="http://schemas.openxmlformats.org/drawingml/2006/main">
            <a:r>
              <a:t>https://www.crystalimpact.com/match/</a:t>
            </a:r>
            <a:endParaRPr/>
          </a:p>
          <a:p xmlns:a="http://schemas.openxmlformats.org/drawingml/2006/main">
            <a:r>
              <a:t>https://www.bruker.com/en/products-and-solutions/diffractometers-and-x-ray-microscopes/x-ray-diffraction-software.html</a:t>
            </a:r>
            <a:endParaRPr/>
          </a:p>
          <a:p xmlns:a="http://schemas.openxmlformats.org/drawingml/2006/main">
            <a:r>
              <a:t>https://advancedphotonsource.github.io/GSAS-II-tutorials/documentation.html</a:t>
            </a:r>
            <a:endParaRPr/>
          </a:p>
          <a:p xmlns:a="http://schemas.openxmlformats.org/drawingml/2006/main">
            <a:r>
              <a:t>https://www.3ds.com/products/biovia/materials-studio</a:t>
            </a:r>
            <a:endParaRPr/>
          </a:p>
          <a:p xmlns:a="http://schemas.openxmlformats.org/drawingml/2006/main">
            <a:r>
              <a:t>https://docs.originlab.com/tutorials/peakfitting-baseline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建议用时：35秒</a:t>
            </a:r>
            <a:endParaRPr/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图谱分析主要包括峰位、峰宽、相对峰强和全谱匹配。峰位提供晶面间距及物相信息，峰宽与有序区域尺度及结构畸变有关，相对峰强也受晶粒取向和制样影响。分析时应综合多个峰，不能仅凭单个强峰判断结晶度。</a:t>
            </a:r>
            <a:endParaRPr/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来源：</a:t>
            </a:r>
            <a:endParaRPr/>
          </a:p>
          <a:p xmlns:a="http://schemas.openxmlformats.org/drawingml/2006/main">
            <a:r>
              <a:t>https://rigaku.com/resources/techniques/powder-x-ray-diffraction</a:t>
            </a:r>
            <a:endParaRPr/>
          </a:p>
          <a:p xmlns:a="http://schemas.openxmlformats.org/drawingml/2006/main">
            <a:r>
              <a:t>https://rigaku.com/products/x-ray-diffraction-and-scattering/xrd/learning/basics</a:t>
            </a:r>
            <a:endParaRPr/>
          </a:p>
          <a:p xmlns:a="http://schemas.openxmlformats.org/drawingml/2006/main">
            <a:r>
              <a:t>https://it.iucr.org/Ha/ch1o1v0001/contents/</a:t>
            </a:r>
            <a:endParaRPr/>
          </a:p>
          <a:p xmlns:a="http://schemas.openxmlformats.org/drawingml/2006/main">
            <a:r>
              <a:t>https://journals.iucr.org/j/issues/2024/05/00/oc5037/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建议用时：35秒</a:t>
            </a:r>
            <a:endParaRPr/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不同表征方法提供的信息相互补充。XRD反映样品的平均晶体结构，电子显微镜提供形貌及局部晶格信息。能谱分析元素组成与分布，红外和拉曼反映化学键，XPS提供表面化学态，气体吸附评价比表面积和孔隙可达性。因此，结构与性能结论通常需要多种方法共同支持。</a:t>
            </a:r>
            <a:endParaRPr/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来源：</a:t>
            </a:r>
            <a:endParaRPr/>
          </a:p>
          <a:p xmlns:a="http://schemas.openxmlformats.org/drawingml/2006/main">
            <a:r>
              <a:t>https://doi.org/10.1002/adfm.202506111</a:t>
            </a:r>
            <a:endParaRPr/>
          </a:p>
          <a:p xmlns:a="http://schemas.openxmlformats.org/drawingml/2006/main">
            <a:r>
              <a:t>https://doi.org/10.1038/s41467-024-47426-x</a:t>
            </a:r>
            <a:endParaRPr/>
          </a:p>
          <a:p xmlns:a="http://schemas.openxmlformats.org/drawingml/2006/main">
            <a:r>
              <a:t>https://doi.org/10.1038/s41467-024-46942-0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建议用时：55秒</a:t>
            </a:r>
            <a:endParaRPr/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第一张图来自参考PPT，图旁保留了英文图例的中文说明。实验数据与Pawley全谱拟合线基本吻合，模拟峰位与主要实验峰也能够对应。Rwp为5.28%，用于评价实验与拟合的偏差。结合结构模拟，结果支持作者提出的AA层状堆积模型。不过，拟合良好不能证明模型唯一，也不能由峰强直接定量判断结晶度。</a:t>
            </a:r>
            <a:endParaRPr/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补充理解：Pawley拟合可检验候选晶胞与全谱的一致性，不直接验证原子位置，也不能单独确定层间堆积模型。
来源：
Pawley G. S., J. Appl. Cryst. 14 (1981), 357–361. https://doi.org/10.1107/S0021889881009618</a:t>
            </a:r>
            <a:endParaRPr/>
          </a:p>
          <a:p xmlns:a="http://schemas.openxmlformats.org/drawingml/2006/main">
            <a:r>
              <a:t>图像补充理解：Pawley拟合可检验候选晶胞与全谱的一致性，不直接验证原子位置，也不能单独确定层间堆积模型。
来源：用户提供参考PPT，slide4(a)；图号通过原论文对应图核对。
Pawley G. S., J. Appl. Cryst. 14 (1981), 357–361. https://doi.org/10.1107/S0021889881009618</a:t>
            </a:r>
            <a:endParaRPr/>
          </a:p>
          <a:p xmlns:a="http://schemas.openxmlformats.org/drawingml/2006/main">
            <a:r>
              <a:t>Q. Xu et al. Adv. Funct. Mater. 35 (2025), 2506111. DOI: 10.1002/adfm.202506111</a:t>
            </a:r>
            <a:endParaRPr/>
          </a:p>
          <a:p xmlns:a="http://schemas.openxmlformats.org/drawingml/2006/main">
            <a:r>
              <a:t>https://doi.org/10.1002/adfm.202506111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建议用时：40秒</a:t>
            </a:r>
            <a:endParaRPr/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对照材料Np-TPDA-COF同样具有明显的低角衍射峰，较弱峰也与理论位置对应。其Rwp为4.98%，说明在本组数据条件下拟合较好。这个数值略低于上一材料，但不同样品的统计误差和背景等因素也会影响拟合指标，因此不能据此比较结晶度。电池性能差异还需结合电化学和导电性测试。</a:t>
            </a:r>
            <a:endParaRPr/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来源：</a:t>
            </a:r>
            <a:endParaRPr/>
          </a:p>
          <a:p xmlns:a="http://schemas.openxmlformats.org/drawingml/2006/main">
            <a:r>
              <a:t>图像来源：用户提供参考PPT，slide4(b)。</a:t>
            </a:r>
            <a:endParaRPr/>
          </a:p>
          <a:p xmlns:a="http://schemas.openxmlformats.org/drawingml/2006/main">
            <a:r>
              <a:t>Q. Xu et al. Adv. Funct. Mater. 35 (2025), 2506111. DOI: 10.1002/adfm.202506111</a:t>
            </a:r>
            <a:endParaRPr/>
          </a:p>
          <a:p xmlns:a="http://schemas.openxmlformats.org/drawingml/2006/main">
            <a:r>
              <a:t>https://doi.org/10.1002/adfm.202506111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建议用时：60秒</a:t>
            </a:r>
            <a:endParaRPr/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UiO-66案例展示了尺寸变化与峰展宽的关系。随着合成时乙醇用量增加，峰逐渐展宽，相邻峰出现重叠。TEM统计颗粒尺寸依次约为40、14、9和5纳米，超小颗粒中仍可观察到局部晶格。因此，峰展宽与有序区域尺度减小相一致，仅凭宽峰不能认定样品完全无定形。峰宽分析还需考虑仪器贡献。</a:t>
            </a:r>
            <a:endParaRPr/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来源：</a:t>
            </a:r>
            <a:endParaRPr/>
          </a:p>
          <a:p xmlns:a="http://schemas.openxmlformats.org/drawingml/2006/main">
            <a:r>
              <a:t>S. Dai et al. Nat. Commun. 15 (2024), 3434. DOI: 10.1038/s41467-024-47426-x</a:t>
            </a:r>
            <a:endParaRPr/>
          </a:p>
          <a:p xmlns:a="http://schemas.openxmlformats.org/drawingml/2006/main">
            <a:r>
              <a:t>https://doi.org/10.1038/s41467-024-47426-x</a:t>
            </a:r>
            <a:endParaRPr/>
          </a:p>
          <a:p xmlns:a="http://schemas.openxmlformats.org/drawingml/2006/main">
            <a:r>
              <a:t>图像：https://media.springernature.com/lw1200/springer-static/image/art%3A10.1038%2Fs41467-024-47426-x/MediaObjects/41467_2024_47426_Fig2_HTML.png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建议用时：60秒</a:t>
            </a:r>
            <a:endParaRPr/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ACOF-1的多个低角峰与作者提出的结构模型相符，括号内的数字表示晶面编号。Pawley拟合的Rwp为5.71%。作者结合X射线散射、高分辨TEM和结构计算，支持反平行AA堆积。这里的反平行AA可以理解为相邻层方向相反、位置大致上下对应。多种证据共同约束结构，比单独比较拟合残差更有说服力。</a:t>
            </a:r>
            <a:endParaRPr/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补充理解：Pawley拟合可检验候选晶胞与全谱的一致性，不直接验证原子位置，也不能单独确定层间堆积模型。
来源：
Pawley G. S., J. Appl. Cryst. 14 (1981), 357–361. https://doi.org/10.1107/S0021889881009618</a:t>
            </a:r>
            <a:endParaRPr/>
          </a:p>
          <a:p xmlns:a="http://schemas.openxmlformats.org/drawingml/2006/main">
            <a:r>
              <a:t>Y. Xie et al. Nat. Commun. 15 (2024), 2671. DOI: 10.1038/s41467-024-46942-0</a:t>
            </a:r>
            <a:endParaRPr/>
          </a:p>
          <a:p xmlns:a="http://schemas.openxmlformats.org/drawingml/2006/main">
            <a:r>
              <a:t>https://doi.org/10.1038/s41467-024-46942-0</a:t>
            </a:r>
            <a:endParaRPr/>
          </a:p>
          <a:p xmlns:a="http://schemas.openxmlformats.org/drawingml/2006/main">
            <a:r>
              <a:t>图像：https://media.springernature.com/lw1200/springer-static/image/art%3A10.1038%2Fs41467-024-46942-0/MediaObjects/41467_2024_46942_Fig2_HTML.png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建议用时：50秒</a:t>
            </a:r>
            <a:endParaRPr/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三个案例分别说明结构匹配、峰宽变化和层间堆积分析。XRD提供晶体结构证据，性能解释还需要专门测试。对于MOF和COF，即使处理后衍射峰保留，也需要通过吸附测试确认孔道是否仍然开放。结构保持、孔隙可达性和性能变化应分别验证，再讨论它们之间的联系。</a:t>
            </a:r>
            <a:endParaRPr/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来源：</a:t>
            </a:r>
            <a:endParaRPr/>
          </a:p>
          <a:p xmlns:a="http://schemas.openxmlformats.org/drawingml/2006/main">
            <a:r>
              <a:t>https://doi.org/10.1002/adfm.202506111</a:t>
            </a:r>
            <a:endParaRPr/>
          </a:p>
          <a:p xmlns:a="http://schemas.openxmlformats.org/drawingml/2006/main">
            <a:r>
              <a:t>https://doi.org/10.1038/s41467-024-47426-x</a:t>
            </a:r>
            <a:endParaRPr/>
          </a:p>
          <a:p xmlns:a="http://schemas.openxmlformats.org/drawingml/2006/main">
            <a:r>
              <a:t>https://doi.org/10.1038/s41467-024-46942-0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建议用时：35秒</a:t>
            </a:r>
            <a:endParaRPr/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本次汇报的主要结论是：XRD用于表征晶体周期结构，基本分析需要综合峰位、峰宽、相对峰强及全谱匹配。在MOF和COF研究中，应将XRD与显微、光谱和吸附测试结合，形成相互印证的结构与性能认识。谢谢大家。</a:t>
            </a:r>
            <a:endParaRPr/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来源：</a:t>
            </a:r>
            <a:endParaRPr/>
          </a:p>
          <a:p xmlns:a="http://schemas.openxmlformats.org/drawingml/2006/main">
            <a:r>
              <a:t>https://rigaku.com/resources/techniques/powder-x-ray-diffraction</a:t>
            </a:r>
            <a:endParaRPr/>
          </a:p>
          <a:p xmlns:a="http://schemas.openxmlformats.org/drawingml/2006/main">
            <a:r>
              <a:t>https://rigaku.com/products/x-ray-diffraction-and-scattering/xrd/learning/basics</a:t>
            </a:r>
            <a:endParaRPr/>
          </a:p>
          <a:p xmlns:a="http://schemas.openxmlformats.org/drawingml/2006/main">
            <a:r>
              <a:t>https://it.iucr.org/Ha/ch1o1v0001/contents/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附录：讨论或备用</a:t>
            </a:r>
            <a:endParaRPr/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原始数据应始终保留。平滑、背景扣除和归一化需要可追溯，过度平滑会改变峰宽并掩盖弱峰。数据库匹配只是候选筛选，需要化学组成和全谱验证。对活化前后样品应记录溶剂状态、空气暴露及测试几何。</a:t>
            </a:r>
            <a:endParaRPr/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来源：</a:t>
            </a:r>
            <a:endParaRPr/>
          </a:p>
          <a:p xmlns:a="http://schemas.openxmlformats.org/drawingml/2006/main">
            <a:r>
              <a:t>https://rigaku.com/resources/techniques/powder-x-ray-diffraction</a:t>
            </a:r>
            <a:endParaRPr/>
          </a:p>
          <a:p xmlns:a="http://schemas.openxmlformats.org/drawingml/2006/main">
            <a:r>
              <a:t>https://rigaku.com/products/x-ray-diffraction-and-scattering/xrd/learning/basics</a:t>
            </a:r>
            <a:endParaRPr/>
          </a:p>
          <a:p xmlns:a="http://schemas.openxmlformats.org/drawingml/2006/main">
            <a:r>
              <a:t>https://it.iucr.org/Ha/ch1o1v0001/contents/</a:t>
            </a:r>
            <a:endParaRPr/>
          </a:p>
          <a:p xmlns:a="http://schemas.openxmlformats.org/drawingml/2006/main">
            <a:r>
              <a:t>https://www.materialsdata.com/products.htm</a:t>
            </a:r>
            <a:endParaRPr/>
          </a:p>
          <a:p xmlns:a="http://schemas.openxmlformats.org/drawingml/2006/main">
            <a:r>
              <a:t>https://www.crystalimpact.com/match/</a:t>
            </a:r>
            <a:endParaRPr/>
          </a:p>
          <a:p xmlns:a="http://schemas.openxmlformats.org/drawingml/2006/main">
            <a:r>
              <a:t>https://www.bruker.com/en/products-and-solutions/diffractometers-and-x-ray-microscopes/x-ray-diffraction-software.html</a:t>
            </a:r>
            <a:endParaRPr/>
          </a:p>
          <a:p xmlns:a="http://schemas.openxmlformats.org/drawingml/2006/main">
            <a:r>
              <a:t>https://advancedphotonsource.github.io/GSAS-II-tutorials/documentation.html</a:t>
            </a:r>
            <a:endParaRPr/>
          </a:p>
          <a:p xmlns:a="http://schemas.openxmlformats.org/drawingml/2006/main">
            <a:r>
              <a:t>https://www.3ds.com/products/biovia/materials-studio</a:t>
            </a:r>
            <a:endParaRPr/>
          </a:p>
          <a:p xmlns:a="http://schemas.openxmlformats.org/drawingml/2006/main">
            <a:r>
              <a:t>https://docs.originlab.com/tutorials/peakfitting-baseline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附录：讨论或备用</a:t>
            </a:r>
            <a:endParaRPr/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这里的峰宽为教学设定值，不能当作UiO-66原始数据的重分析。若采用高斯展宽近似，可使用β样品平方约等于β实测平方减β仪器平方，但Voigt等峰形应使用适当卷积方法。对于高度重叠、极小晶畴和强无序体系，简单Scherrer估算的不确定性更高。</a:t>
            </a:r>
            <a:endParaRPr/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来源：</a:t>
            </a:r>
            <a:endParaRPr/>
          </a:p>
          <a:p xmlns:a="http://schemas.openxmlformats.org/drawingml/2006/main">
            <a:r>
              <a:t>https://rigaku.com/resources/techniques/powder-x-ray-diffraction</a:t>
            </a:r>
            <a:endParaRPr/>
          </a:p>
          <a:p xmlns:a="http://schemas.openxmlformats.org/drawingml/2006/main">
            <a:r>
              <a:t>https://rigaku.com/products/x-ray-diffraction-and-scattering/xrd/learning/basics</a:t>
            </a:r>
            <a:endParaRPr/>
          </a:p>
          <a:p xmlns:a="http://schemas.openxmlformats.org/drawingml/2006/main">
            <a:r>
              <a:t>https://it.iucr.org/Ha/ch1o1v0001/contents/</a:t>
            </a:r>
            <a:endParaRPr/>
          </a:p>
          <a:p xmlns:a="http://schemas.openxmlformats.org/drawingml/2006/main">
            <a:r>
              <a:t>https://journals.iucr.org/j/issues/2024/05/00/oc5037/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附录：讨论或备用</a:t>
            </a:r>
            <a:endParaRPr/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拟合可以先理解为：用软件调整一条计算曲线，使它尽量贴近实验数据。Pawley是其中一种方法的名称。本次理解图例和基本含义即可。误差较小通常说明曲线较接近，但不能仅凭这一点判断材料更好。</a:t>
            </a:r>
            <a:endParaRPr/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来源：</a:t>
            </a:r>
            <a:endParaRPr/>
          </a:p>
          <a:p xmlns:a="http://schemas.openxmlformats.org/drawingml/2006/main">
            <a:r>
              <a:t>https://www.materialsdata.com/products.htm</a:t>
            </a:r>
            <a:endParaRPr/>
          </a:p>
          <a:p xmlns:a="http://schemas.openxmlformats.org/drawingml/2006/main">
            <a:r>
              <a:t>https://www.crystalimpact.com/match/</a:t>
            </a:r>
            <a:endParaRPr/>
          </a:p>
          <a:p xmlns:a="http://schemas.openxmlformats.org/drawingml/2006/main">
            <a:r>
              <a:t>https://www.bruker.com/en/products-and-solutions/diffractometers-and-x-ray-microscopes/x-ray-diffraction-software.html</a:t>
            </a:r>
            <a:endParaRPr/>
          </a:p>
          <a:p xmlns:a="http://schemas.openxmlformats.org/drawingml/2006/main">
            <a:r>
              <a:t>https://advancedphotonsource.github.io/GSAS-II-tutorials/documentation.html</a:t>
            </a:r>
            <a:endParaRPr/>
          </a:p>
          <a:p xmlns:a="http://schemas.openxmlformats.org/drawingml/2006/main">
            <a:r>
              <a:t>https://www.3ds.com/products/biovia/materials-studio</a:t>
            </a:r>
            <a:endParaRPr/>
          </a:p>
          <a:p xmlns:a="http://schemas.openxmlformats.org/drawingml/2006/main">
            <a:r>
              <a:t>https://docs.originlab.com/tutorials/peakfitting-baseline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附录：讨论或备用</a:t>
            </a:r>
            <a:endParaRPr/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三篇论文的DOI均可点击。2025年的论文题录通过Wiley出版社页面核验，图谱来自用户提供的参考PPT。两篇2024年的论文为开放获取文章，图像裁剪已注明，并保留原曲线、坐标及图例信息。</a:t>
            </a:r>
            <a:endParaRPr/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来源：</a:t>
            </a:r>
            <a:endParaRPr/>
          </a:p>
          <a:p xmlns:a="http://schemas.openxmlformats.org/drawingml/2006/main">
            <a:r>
              <a:t>Q. Xu et al. Adv. Funct. Mater. 35 (2025), 2506111. DOI: 10.1002/adfm.202506111</a:t>
            </a:r>
            <a:endParaRPr/>
          </a:p>
          <a:p xmlns:a="http://schemas.openxmlformats.org/drawingml/2006/main">
            <a:r>
              <a:t>https://doi.org/10.1002/adfm.202506111</a:t>
            </a:r>
            <a:endParaRPr/>
          </a:p>
          <a:p xmlns:a="http://schemas.openxmlformats.org/drawingml/2006/main">
            <a:r>
              <a:t>S. Dai et al. Nat. Commun. 15 (2024), 3434. DOI: 10.1038/s41467-024-47426-x</a:t>
            </a:r>
            <a:endParaRPr/>
          </a:p>
          <a:p xmlns:a="http://schemas.openxmlformats.org/drawingml/2006/main">
            <a:r>
              <a:t>https://doi.org/10.1038/s41467-024-47426-x</a:t>
            </a:r>
            <a:endParaRPr/>
          </a:p>
          <a:p xmlns:a="http://schemas.openxmlformats.org/drawingml/2006/main">
            <a:r>
              <a:t>Y. Xie et al. Nat. Commun. 15 (2024), 2671. DOI: 10.1038/s41467-024-46942-0</a:t>
            </a:r>
            <a:endParaRPr/>
          </a:p>
          <a:p xmlns:a="http://schemas.openxmlformats.org/drawingml/2006/main">
            <a:r>
              <a:t>https://doi.org/10.1038/s41467-024-46942-0</a:t>
            </a:r>
            <a:endParaRPr/>
          </a:p>
          <a:p xmlns:a="http://schemas.openxmlformats.org/drawingml/2006/main">
            <a:r>
              <a:t>https://creativecommons.org/licenses/by/4.0/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附录：讨论或备用</a:t>
            </a:r>
            <a:endParaRPr/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访问日期：2026-10-15。Bruker软件总览：https://www.bruker.com/en/products-and-solutions/diffractometers-and-x-ray-microscopes/x-ray-diffraction-software.html。其余功能依据见页内与上述各页备注。</a:t>
            </a:r>
            <a:endParaRPr/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来源：</a:t>
            </a:r>
            <a:endParaRPr/>
          </a:p>
          <a:p xmlns:a="http://schemas.openxmlformats.org/drawingml/2006/main">
            <a:r>
              <a:t>https://www.materialsdata.com/products.htm</a:t>
            </a:r>
            <a:endParaRPr/>
          </a:p>
          <a:p xmlns:a="http://schemas.openxmlformats.org/drawingml/2006/main">
            <a:r>
              <a:t>https://www.crystalimpact.com/match/</a:t>
            </a:r>
            <a:endParaRPr/>
          </a:p>
          <a:p xmlns:a="http://schemas.openxmlformats.org/drawingml/2006/main">
            <a:r>
              <a:t>https://www.bruker.com/en/products-and-solutions/diffractometers-and-x-ray-microscopes/x-ray-diffraction-software.html</a:t>
            </a:r>
            <a:endParaRPr/>
          </a:p>
          <a:p xmlns:a="http://schemas.openxmlformats.org/drawingml/2006/main">
            <a:r>
              <a:t>https://advancedphotonsource.github.io/GSAS-II-tutorials/documentation.html</a:t>
            </a:r>
            <a:endParaRPr/>
          </a:p>
          <a:p xmlns:a="http://schemas.openxmlformats.org/drawingml/2006/main">
            <a:r>
              <a:t>https://www.3ds.com/products/biovia/materials-studio</a:t>
            </a:r>
            <a:endParaRPr/>
          </a:p>
          <a:p xmlns:a="http://schemas.openxmlformats.org/drawingml/2006/main">
            <a:r>
              <a:t>https://docs.originlab.com/tutorials/peakfitting-baseline</a:t>
            </a:r>
            <a:endParaRPr/>
          </a:p>
          <a:p xmlns:a="http://schemas.openxmlformats.org/drawingml/2006/main">
            <a:r>
              <a:t>https://rigaku.com/resources/techniques/powder-x-ray-diffraction</a:t>
            </a:r>
            <a:endParaRPr/>
          </a:p>
          <a:p xmlns:a="http://schemas.openxmlformats.org/drawingml/2006/main">
            <a:r>
              <a:t>https://rigaku.com/products/x-ray-diffraction-and-scattering/xrd/learning/basics</a:t>
            </a:r>
            <a:endParaRPr/>
          </a:p>
          <a:p xmlns:a="http://schemas.openxmlformats.org/drawingml/2006/main">
            <a:r>
              <a:t>https://it.iucr.org/Ha/ch1o1v0001/contents/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21786c6c64f4375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8685b06a04840d5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7b7b597a7d84c52" /><Relationship Type="http://schemas.openxmlformats.org/officeDocument/2006/relationships/image" Target="/ppt/media/image.png" Id="R39bbcd1bee00421b" /><Relationship Type="http://schemas.openxmlformats.org/officeDocument/2006/relationships/image" Target="/ppt/media/image2.png" Id="R3a94baa6f2234c06" /><Relationship Type="http://schemas.openxmlformats.org/officeDocument/2006/relationships/image" Target="/ppt/media/image.svg" Id="Rbbf6d5f740ff4441" /><Relationship Type="http://schemas.openxmlformats.org/officeDocument/2006/relationships/image" Target="/ppt/media/image3.png" Id="R626de926f31d4d29" /><Relationship Type="http://schemas.openxmlformats.org/officeDocument/2006/relationships/image" Target="/ppt/media/image2.svg" Id="R0def4f8b7dda4a33" /><Relationship Type="http://schemas.openxmlformats.org/officeDocument/2006/relationships/image" Target="/ppt/media/image4.png" Id="R4387983938c649a4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51c00b713814079" /><Relationship Type="http://schemas.openxmlformats.org/officeDocument/2006/relationships/image" Target="/ppt/media/image5.png" Id="Rb9e60d1be5524971" /><Relationship Type="http://schemas.openxmlformats.org/officeDocument/2006/relationships/image" Target="/ppt/media/image2.png" Id="R18fbfd46d3c749ed" /><Relationship Type="http://schemas.openxmlformats.org/officeDocument/2006/relationships/image" Target="/ppt/media/image.svg" Id="Rf414432fee8d4e9f" /><Relationship Type="http://schemas.openxmlformats.org/officeDocument/2006/relationships/image" Target="/ppt/media/image3.png" Id="R26844f34c46f411f" /><Relationship Type="http://schemas.openxmlformats.org/officeDocument/2006/relationships/image" Target="/ppt/media/image2.svg" Id="R7a6fda33572e4618" /><Relationship Type="http://schemas.openxmlformats.org/officeDocument/2006/relationships/image" Target="/ppt/media/image4.png" Id="R28ffb8baa63f4482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c08f0e9f28b4638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8f0c742d69d4ff5" /></Relationships>
</file>

<file path=ppt/slideLayouts/_rels/slideLayout7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6a83a1bfd59487d" /></Relationships>
</file>

<file path=ppt/slideLayouts/_rels/slideLayout8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e7e179727054544" /></Relationships>
</file>

<file path=ppt/slideLayouts/_rels/slideLayout9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0522e6a8b374591" /><Relationship Type="http://schemas.openxmlformats.org/officeDocument/2006/relationships/image" Target="/ppt/media/image6.png" Id="R54a4c487cd8f4050" /><Relationship Type="http://schemas.openxmlformats.org/officeDocument/2006/relationships/image" Target="/ppt/media/image7.png" Id="Rbc049cb306f64062" /><Relationship Type="http://schemas.openxmlformats.org/officeDocument/2006/relationships/image" Target="/ppt/media/image3.svg" Id="Rcaed93edd0f14b5d" /></Relationships>
</file>

<file path=ppt/slideLayouts/_rels/slideLayout10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7f9954a2acf47c9" /><Relationship Type="http://schemas.openxmlformats.org/officeDocument/2006/relationships/image" Target="/ppt/media/image8.png" Id="R82b8f3122de047ee" /><Relationship Type="http://schemas.openxmlformats.org/officeDocument/2006/relationships/image" Target="/ppt/media/image9.png" Id="R16b92b22c1ac4796" /><Relationship Type="http://schemas.openxmlformats.org/officeDocument/2006/relationships/image" Target="/ppt/media/image4.svg" Id="R36f2fca0fdb54754" /></Relationships>
</file>

<file path=ppt/slideLayouts/_rels/slideLayout1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f71535675384507" /></Relationships>
</file>

<file path=ppt/slideLayouts/_rels/slideLayout1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324bdebc2034325" /></Relationships>
</file>

<file path=ppt/slideLayouts/_rels/slideLayout1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ff60c343378435a" /></Relationships>
</file>

<file path=ppt/slideLayouts/_rels/slideLayout1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6d51332248e49a1" /></Relationships>
</file>

<file path=ppt/slideLayouts/_rels/slideLayout1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3ccd06e9e7c4e0a" /></Relationships>
</file>

<file path=ppt/slideLayouts/slideLayout1.xml><?xml version="1.0" encoding="utf-8"?>
<p:sldLayout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图形 6">
            <a:extLst xmlns:a="http://schemas.openxmlformats.org/drawingml/2006/main">
              <a:ext uri="{FF2B5EF4-FFF2-40B4-BE49-F238E27FC236}">
                <a16:creationId xmlns:a16="http://schemas.microsoft.com/office/drawing/2014/main" id="{18E50F89-F516-47FA-A1B4-2622D5014C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0" y="0"/>
            <a:ext cx="12192000" cy="4940754"/>
          </a:xfrm>
          <a:prstGeom xmlns:a="http://schemas.openxmlformats.org/drawingml/2006/main" prst="rect">
            <a:avLst/>
          </a:prstGeom>
          <a:gradFill xmlns:a="http://schemas.openxmlformats.org/drawingml/2006/main" flip="none" rotWithShape="1">
            <a:gsLst>
              <a:gs pos="50500">
                <a:srgbClr val="1766A9"/>
              </a:gs>
              <a:gs pos="0">
                <a:srgbClr val="2BA3C0"/>
              </a:gs>
              <a:gs pos="100000">
                <a:srgbClr val="005B94"/>
              </a:gs>
            </a:gsLst>
            <a:lin ang="8100000" scaled="1"/>
            <a:tileRect/>
          </a:gradFill>
          <a:ln xmlns:a="http://schemas.openxmlformats.org/drawingml/2006/main" w="9525" cap="flat">
            <a:noFill/>
            <a:prstDash val="solid"/>
            <a:miter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8" name="图形 6">
            <a:extLst xmlns:a="http://schemas.openxmlformats.org/drawingml/2006/main">
              <a:ext uri="{FF2B5EF4-FFF2-40B4-BE49-F238E27FC236}">
                <a16:creationId xmlns:a16="http://schemas.microsoft.com/office/drawing/2014/main" id="{EC0D3DF5-519A-40A6-9018-ACD4133FAD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0" y="4925558"/>
            <a:ext cx="12192000" cy="148091"/>
          </a:xfrm>
          <a:prstGeom xmlns:a="http://schemas.openxmlformats.org/drawingml/2006/main" prst="rect">
            <a:avLst/>
          </a:prstGeom>
          <a:gradFill xmlns:a="http://schemas.openxmlformats.org/drawingml/2006/main" flip="none" rotWithShape="1">
            <a:gsLst>
              <a:gs pos="100000">
                <a:schemeClr val="accent4">
                  <a:lumMod val="40000"/>
                  <a:lumOff val="60000"/>
                </a:schemeClr>
              </a:gs>
              <a:gs pos="0">
                <a:schemeClr val="accent4">
                  <a:lumMod val="75000"/>
                </a:schemeClr>
              </a:gs>
            </a:gsLst>
            <a:lin ang="0" scaled="1"/>
            <a:tileRect/>
          </a:gradFill>
          <a:ln xmlns:a="http://schemas.openxmlformats.org/drawingml/2006/main" w="9525" cap="flat">
            <a:noFill/>
            <a:prstDash val="solid"/>
            <a:miter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3E9B5F54-C646-4EFC-BEB6-BB4639BDB2C1}"/>
              </a:ext>
            </a:extLst>
          </p:cNvPr>
          <p:cNvSpPr>
            <a:spLocks xmlns:a="http://schemas.openxmlformats.org/drawingml/2006/main" noGrp="1"/>
          </p:cNvSpPr>
          <p:nvPr>
            <p:ph type="ctrTitle" idx="0"/>
          </p:nvPr>
        </p:nvSpPr>
        <p:spPr>
          <a:xfrm xmlns:a="http://schemas.openxmlformats.org/drawingml/2006/main">
            <a:off x="1088571" y="1139131"/>
            <a:ext cx="10014858" cy="1182916"/>
          </a:xfrm>
        </p:spPr>
        <p:txBody>
          <a:bodyPr xmlns:a="http://schemas.openxmlformats.org/drawingml/2006/main" anchor="ctr">
            <a:normAutofit/>
          </a:bodyPr>
          <a:lstStyle xmlns:a="http://schemas.openxmlformats.org/drawingml/2006/main">
            <a:lvl1pPr algn="ctr">
              <a:buNone/>
              <a:defRPr sz="6000">
                <a:solidFill>
                  <a:schemeClr val="bg1"/>
                </a:solidFill>
              </a:defRPr>
            </a:lvl1pPr>
          </a:lstStyle>
          <a:p xmlns:a="http://schemas.openxmlformats.org/drawingml/2006/main">
            <a:r>
              <a:t>单击此处编辑母版标题样式</a:t>
            </a:r>
            <a:endParaRPr/>
          </a:p>
        </p:txBody>
      </p:sp>
      <p:sp>
        <p:nvSpPr>
          <p:cNvPr id="3" name="副标题 2">
            <a:extLst xmlns:a="http://schemas.openxmlformats.org/drawingml/2006/main">
              <a:ext uri="{FF2B5EF4-FFF2-40B4-BE49-F238E27FC236}">
                <a16:creationId xmlns:a16="http://schemas.microsoft.com/office/drawing/2014/main" id="{F3D54F37-1C21-4F62-8F23-A5DA18CE7B0C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524000" y="2206856"/>
            <a:ext cx="9144000" cy="602342"/>
          </a:xfrm>
        </p:spPr>
        <p:txBody>
          <a:bodyPr xmlns:a="http://schemas.openxmlformats.org/drawingml/2006/main" anchor="ctr"/>
          <a:lstStyle xmlns:a="http://schemas.openxmlformats.org/drawingml/2006/main">
            <a:lvl1pPr marL="0" indent="0" algn="ctr">
              <a:lnSpc>
                <a:spcPct val="100000"/>
              </a:lnSpc>
              <a:buNone/>
              <a:defRPr sz="240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 xmlns:a="http://schemas.openxmlformats.org/drawingml/2006/main">
            <a:r>
              <a:t>单击此处编辑母版副标题样式</a:t>
            </a:r>
            <a:endParaRPr/>
          </a:p>
        </p:txBody>
      </p:sp>
      <p:sp>
        <p:nvSpPr>
          <p:cNvPr id="4" name="日期占位符 3">
            <a:extLst xmlns:a="http://schemas.openxmlformats.org/drawingml/2006/main">
              <a:ext uri="{FF2B5EF4-FFF2-40B4-BE49-F238E27FC236}">
                <a16:creationId xmlns:a16="http://schemas.microsoft.com/office/drawing/2014/main" id="{9CC60527-387D-4F80-A4CF-F30D88105CD9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" name="页脚占位符 4">
            <a:extLst xmlns:a="http://schemas.openxmlformats.org/drawingml/2006/main">
              <a:ext uri="{FF2B5EF4-FFF2-40B4-BE49-F238E27FC236}">
                <a16:creationId xmlns:a16="http://schemas.microsoft.com/office/drawing/2014/main" id="{272C36F1-92E5-48C9-ADB5-4765A43EF8C5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灯片编号占位符 5">
            <a:extLst xmlns:a="http://schemas.openxmlformats.org/drawingml/2006/main">
              <a:ext uri="{FF2B5EF4-FFF2-40B4-BE49-F238E27FC236}">
                <a16:creationId xmlns:a16="http://schemas.microsoft.com/office/drawing/2014/main" id="{6467FB7E-8BED-4122-A581-1EE250AEF305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</p:spTree>
  </p:cSld>
</p:sldLayout>
</file>

<file path=ppt/slideLayouts/slideLayout2.xml><?xml version="1.0" encoding="utf-8"?>
<p:sldLayout xmlns:p="http://schemas.openxmlformats.org/presentationml/2006/main" preserve="1" userDrawn="1">
  <p:cSld name="1_标题幻灯片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1" name="矩形 160">
            <a:extLst xmlns:a="http://schemas.openxmlformats.org/drawingml/2006/main">
              <a:ext uri="{FF2B5EF4-FFF2-40B4-BE49-F238E27FC236}">
                <a16:creationId xmlns:a16="http://schemas.microsoft.com/office/drawing/2014/main" id="{771F1C1E-CDE0-4FB9-B87C-4F9190F424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4235772"/>
            <a:ext cx="12192000" cy="2622227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bg1">
              <a:alpha val="75000"/>
            </a:schemeClr>
          </a:solidFill>
          <a:ln xmlns:a="http://schemas.openxmlformats.org/drawingml/2006/main" w="19050" cap="flat" cmpd="sng">
            <a:noFill/>
            <a:prstDash val="solid"/>
            <a:miter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11" name="Rectangle 160+">
            <a:extLst xmlns:a="http://schemas.openxmlformats.org/drawingml/2006/main">
              <a:ext uri="{FF2B5EF4-FFF2-40B4-BE49-F238E27FC236}">
                <a16:creationId xmlns:a16="http://schemas.microsoft.com/office/drawing/2014/main" id="{CCEB20B1-531C-4853-B06B-559DA2681C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10161" y="4630994"/>
            <a:ext cx="12192000" cy="2227005"/>
          </a:xfrm>
          <a:prstGeom xmlns:a="http://schemas.openxmlformats.org/drawingml/2006/main" prst="rect">
            <a:avLst/>
          </a:prstGeom>
          <a:gradFill xmlns:a="http://schemas.openxmlformats.org/drawingml/2006/main" flip="none" rotWithShape="1">
            <a:gsLst>
              <a:gs pos="0">
                <a:schemeClr val="bg1"/>
              </a:gs>
              <a:gs pos="100000">
                <a:schemeClr val="accent3">
                  <a:lumMod val="16000"/>
                  <a:lumOff val="84000"/>
                  <a:alpha val="55000"/>
                </a:schemeClr>
              </a:gs>
            </a:gsLst>
            <a:lin ang="8100000" scaled="1"/>
            <a:tileRect/>
          </a:gradFill>
          <a:ln xmlns:a="http://schemas.openxmlformats.org/drawingml/2006/main" w="19050" cap="flat" cmpd="sng">
            <a:noFill/>
            <a:prstDash val="solid"/>
            <a:miter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7" name="图形 6">
            <a:extLst xmlns:a="http://schemas.openxmlformats.org/drawingml/2006/main">
              <a:ext uri="{FF2B5EF4-FFF2-40B4-BE49-F238E27FC236}">
                <a16:creationId xmlns:a16="http://schemas.microsoft.com/office/drawing/2014/main" id="{AA8931C3-8428-4EC0-B5FA-4B112E224F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435311"/>
            <a:ext cx="12192000" cy="3195684"/>
          </a:xfrm>
          <a:prstGeom xmlns:a="http://schemas.openxmlformats.org/drawingml/2006/main" prst="rect">
            <a:avLst/>
          </a:prstGeom>
          <a:gradFill xmlns:a="http://schemas.openxmlformats.org/drawingml/2006/main" flip="none" rotWithShape="1">
            <a:gsLst>
              <a:gs pos="50500">
                <a:srgbClr val="1766A9"/>
              </a:gs>
              <a:gs pos="0">
                <a:srgbClr val="2BA3C0"/>
              </a:gs>
              <a:gs pos="100000">
                <a:srgbClr val="005B94"/>
              </a:gs>
            </a:gsLst>
            <a:lin ang="8100000" scaled="1"/>
            <a:tileRect/>
          </a:gradFill>
          <a:ln xmlns:a="http://schemas.openxmlformats.org/drawingml/2006/main" w="9525" cap="flat">
            <a:noFill/>
            <a:prstDash val="solid"/>
            <a:miter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FB1F8A34-53B4-4A0B-BA83-9395D0C34FEE}"/>
              </a:ext>
            </a:extLst>
          </p:cNvPr>
          <p:cNvSpPr>
            <a:spLocks xmlns:a="http://schemas.openxmlformats.org/drawingml/2006/main" noGrp="1"/>
          </p:cNvSpPr>
          <p:nvPr>
            <p:ph type="ctrTitle" idx="0"/>
          </p:nvPr>
        </p:nvSpPr>
        <p:spPr>
          <a:xfrm xmlns:a="http://schemas.openxmlformats.org/drawingml/2006/main">
            <a:off x="1088571" y="2441695"/>
            <a:ext cx="10014858" cy="1182916"/>
          </a:xfrm>
        </p:spPr>
        <p:txBody>
          <a:bodyPr xmlns:a="http://schemas.openxmlformats.org/drawingml/2006/main" anchor="ctr">
            <a:normAutofit/>
          </a:bodyPr>
          <a:lstStyle xmlns:a="http://schemas.openxmlformats.org/drawingml/2006/main">
            <a:lvl1pPr algn="ctr">
              <a:buNone/>
              <a:defRPr sz="6000">
                <a:solidFill>
                  <a:schemeClr val="bg1"/>
                </a:solidFill>
              </a:defRPr>
            </a:lvl1pPr>
          </a:lstStyle>
          <a:p xmlns:a="http://schemas.openxmlformats.org/drawingml/2006/main">
            <a:r>
              <a:t>单击此处编辑母版标题样式</a:t>
            </a:r>
            <a:endParaRPr/>
          </a:p>
        </p:txBody>
      </p:sp>
    </p:spTree>
  </p:cSld>
</p:sldLayout>
</file>

<file path=ppt/slideLayouts/slideLayout3.xml><?xml version="1.0" encoding="utf-8"?>
<p:sldLayout xmlns:p="http://schemas.openxmlformats.org/presentationml/2006/main" preserve="1" userDrawn="1">
  <p:cSld name="空白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图形 6">
            <a:extLst xmlns:a="http://schemas.openxmlformats.org/drawingml/2006/main">
              <a:ext uri="{FF2B5EF4-FFF2-40B4-BE49-F238E27FC236}">
                <a16:creationId xmlns:a16="http://schemas.microsoft.com/office/drawing/2014/main" id="{617858F2-E124-4952-B874-DDE3151830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0" y="0"/>
            <a:ext cx="12192000" cy="4940935"/>
          </a:xfrm>
          <a:custGeom xmlns:a="http://schemas.openxmlformats.org/drawingml/2006/main">
            <a:gdLst>
              <a:gd name="connsiteX0" fmla="*/ 2392871 w 2392965"/>
              <a:gd name="connsiteY0" fmla="*/ 892493 h 1114353"/>
              <a:gd name="connsiteX1" fmla="*/ 1811560 w 2392965"/>
              <a:gd name="connsiteY1" fmla="*/ 923735 h 1114353"/>
              <a:gd name="connsiteX2" fmla="*/ 556070 w 2392965"/>
              <a:gd name="connsiteY2" fmla="*/ 1113377 h 1114353"/>
              <a:gd name="connsiteX3" fmla="*/ 0 w 2392965"/>
              <a:gd name="connsiteY3" fmla="*/ 1073944 h 1114353"/>
              <a:gd name="connsiteX4" fmla="*/ 0 w 2392965"/>
              <a:gd name="connsiteY4" fmla="*/ 0 h 1114353"/>
              <a:gd name="connsiteX5" fmla="*/ 2391061 w 2392965"/>
              <a:gd name="connsiteY5" fmla="*/ 0 h 1114353"/>
              <a:gd name="connsiteX6" fmla="*/ 2392966 w 2392965"/>
              <a:gd name="connsiteY6" fmla="*/ 892493 h 1114353"/>
            </a:gdLst>
            <a:rect l="l" t="t" r="r" b="b"/>
            <a:pathLst>
              <a:path w="2392965" h="1114353">
                <a:moveTo>
                  <a:pt x="2392871" y="892493"/>
                </a:moveTo>
                <a:cubicBezTo>
                  <a:pt x="2276094" y="889159"/>
                  <a:pt x="2026634" y="882110"/>
                  <a:pt x="1811560" y="923735"/>
                </a:cubicBezTo>
                <a:cubicBezTo>
                  <a:pt x="1524286" y="979361"/>
                  <a:pt x="1045083" y="1127760"/>
                  <a:pt x="556070" y="1113377"/>
                </a:cubicBezTo>
                <a:cubicBezTo>
                  <a:pt x="124492" y="1100709"/>
                  <a:pt x="0" y="1073944"/>
                  <a:pt x="0" y="1073944"/>
                </a:cubicBezTo>
                <a:lnTo>
                  <a:pt x="0" y="0"/>
                </a:lnTo>
                <a:lnTo>
                  <a:pt x="2391061" y="0"/>
                </a:lnTo>
                <a:lnTo>
                  <a:pt x="2392966" y="892493"/>
                </a:lnTo>
                <a:close/>
              </a:path>
            </a:pathLst>
          </a:custGeom>
          <a:gradFill xmlns:a="http://schemas.openxmlformats.org/drawingml/2006/main" flip="none" rotWithShape="1">
            <a:gsLst>
              <a:gs pos="50500">
                <a:srgbClr val="1766A9"/>
              </a:gs>
              <a:gs pos="0">
                <a:srgbClr val="2BA3C0"/>
              </a:gs>
              <a:gs pos="100000">
                <a:srgbClr val="005B94"/>
              </a:gs>
            </a:gsLst>
            <a:lin ang="8100000" scaled="1"/>
            <a:tileRect/>
          </a:gradFill>
          <a:ln xmlns:a="http://schemas.openxmlformats.org/drawingml/2006/main" w="9525" cap="flat">
            <a:noFill/>
            <a:prstDash val="solid"/>
            <a:miter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endParaRPr/>
          </a:p>
        </p:txBody>
      </p:sp>
      <p:pic>
        <p:nvPicPr>
          <p:cNvPr id="25" name="图片 24">
            <a:extLst xmlns:a="http://schemas.openxmlformats.org/drawingml/2006/main">
              <a:ext uri="{FF2B5EF4-FFF2-40B4-BE49-F238E27FC236}">
                <a16:creationId xmlns:a16="http://schemas.microsoft.com/office/drawing/2014/main" id="{9A627882-C8BF-4E0A-B801-36D546482FBE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9bbcd1bee00421b">
            <a:alphaModFix amt="20000"/>
          </a:blip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0" flipH="0" flipV="0">
            <a:off x="0" y="2178685"/>
            <a:ext cx="7843520" cy="2764790"/>
          </a:xfrm>
        </p:spPr>
      </p:pic>
      <p:sp>
        <p:nvSpPr>
          <p:cNvPr id="18" name="任意多边形: 形状 17">
            <a:extLst xmlns:a="http://schemas.openxmlformats.org/drawingml/2006/main">
              <a:ext uri="{FF2B5EF4-FFF2-40B4-BE49-F238E27FC236}">
                <a16:creationId xmlns:a16="http://schemas.microsoft.com/office/drawing/2014/main" id="{DD89E2CA-DA67-4439-BD4B-B52D0172D8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0" y="3945255"/>
            <a:ext cx="12192000" cy="1186815"/>
          </a:xfrm>
          <a:custGeom xmlns:a="http://schemas.openxmlformats.org/drawingml/2006/main">
            <a:gdLst>
              <a:gd name="connsiteX0" fmla="*/ 11281874 w 12192005"/>
              <a:gd name="connsiteY0" fmla="*/ 340 h 1187027"/>
              <a:gd name="connsiteX1" fmla="*/ 12191521 w 12192005"/>
              <a:gd name="connsiteY1" fmla="*/ 11670 h 1187027"/>
              <a:gd name="connsiteX2" fmla="*/ 12191535 w 12192005"/>
              <a:gd name="connsiteY2" fmla="*/ 11670 h 1187027"/>
              <a:gd name="connsiteX3" fmla="*/ 12192005 w 12192005"/>
              <a:gd name="connsiteY3" fmla="*/ 203355 h 1187027"/>
              <a:gd name="connsiteX4" fmla="*/ 12191521 w 12192005"/>
              <a:gd name="connsiteY4" fmla="*/ 203355 h 1187027"/>
              <a:gd name="connsiteX5" fmla="*/ 9229780 w 12192005"/>
              <a:gd name="connsiteY5" fmla="*/ 341874 h 1187027"/>
              <a:gd name="connsiteX6" fmla="*/ 2833140 w 12192005"/>
              <a:gd name="connsiteY6" fmla="*/ 1182698 h 1187027"/>
              <a:gd name="connsiteX7" fmla="*/ 0 w 12192005"/>
              <a:gd name="connsiteY7" fmla="*/ 1007862 h 1187027"/>
              <a:gd name="connsiteX8" fmla="*/ 0 w 12192005"/>
              <a:gd name="connsiteY8" fmla="*/ 816177 h 1187027"/>
              <a:gd name="connsiteX9" fmla="*/ 2833140 w 12192005"/>
              <a:gd name="connsiteY9" fmla="*/ 991013 h 1187027"/>
              <a:gd name="connsiteX10" fmla="*/ 9229780 w 12192005"/>
              <a:gd name="connsiteY10" fmla="*/ 150189 h 1187027"/>
              <a:gd name="connsiteX11" fmla="*/ 11281874 w 12192005"/>
              <a:gd name="connsiteY11" fmla="*/ 340 h 1187027"/>
            </a:gdLst>
            <a:rect l="l" t="t" r="r" b="b"/>
            <a:pathLst>
              <a:path w="12192005" h="1187027">
                <a:moveTo>
                  <a:pt x="11281874" y="340"/>
                </a:moveTo>
                <a:cubicBezTo>
                  <a:pt x="11650229" y="-1733"/>
                  <a:pt x="11968407" y="6127"/>
                  <a:pt x="12191521" y="11670"/>
                </a:cubicBezTo>
                <a:lnTo>
                  <a:pt x="12191535" y="11670"/>
                </a:lnTo>
                <a:lnTo>
                  <a:pt x="12192005" y="203355"/>
                </a:lnTo>
                <a:lnTo>
                  <a:pt x="12191521" y="203355"/>
                </a:lnTo>
                <a:cubicBezTo>
                  <a:pt x="11596550" y="188573"/>
                  <a:pt x="10325568" y="157320"/>
                  <a:pt x="9229780" y="341874"/>
                </a:cubicBezTo>
                <a:cubicBezTo>
                  <a:pt x="7766138" y="588506"/>
                  <a:pt x="5324630" y="1246468"/>
                  <a:pt x="2833140" y="1182698"/>
                </a:cubicBezTo>
                <a:cubicBezTo>
                  <a:pt x="634279" y="1126531"/>
                  <a:pt x="0" y="1007862"/>
                  <a:pt x="0" y="1007862"/>
                </a:cubicBezTo>
                <a:lnTo>
                  <a:pt x="0" y="816177"/>
                </a:lnTo>
                <a:cubicBezTo>
                  <a:pt x="0" y="816177"/>
                  <a:pt x="634279" y="934846"/>
                  <a:pt x="2833140" y="991013"/>
                </a:cubicBezTo>
                <a:cubicBezTo>
                  <a:pt x="5324630" y="1054783"/>
                  <a:pt x="7766138" y="396821"/>
                  <a:pt x="9229780" y="150189"/>
                </a:cubicBezTo>
                <a:cubicBezTo>
                  <a:pt x="9914648" y="34843"/>
                  <a:pt x="10667950" y="3796"/>
                  <a:pt x="11281874" y="340"/>
                </a:cubicBezTo>
                <a:close/>
              </a:path>
            </a:pathLst>
          </a:custGeom>
          <a:gradFill xmlns:a="http://schemas.openxmlformats.org/drawingml/2006/main" flip="none" rotWithShape="1">
            <a:gsLst>
              <a:gs pos="0">
                <a:srgbClr val="FFFEFE"/>
              </a:gs>
              <a:gs pos="42000">
                <a:srgbClr val="F9EFE3"/>
              </a:gs>
              <a:gs pos="100000">
                <a:schemeClr val="accent4">
                  <a:lumMod val="75000"/>
                </a:schemeClr>
              </a:gs>
            </a:gsLst>
            <a:lin ang="0" scaled="1"/>
            <a:tileRect/>
          </a:gradFill>
          <a:ln xmlns:a="http://schemas.openxmlformats.org/drawingml/2006/main" w="9525" cap="flat">
            <a:noFill/>
            <a:prstDash val="solid"/>
            <a:miter/>
          </a:ln>
        </p:spPr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" name="日期占位符 1">
            <a:extLst xmlns:a="http://schemas.openxmlformats.org/drawingml/2006/main">
              <a:ext uri="{FF2B5EF4-FFF2-40B4-BE49-F238E27FC236}">
                <a16:creationId xmlns:a16="http://schemas.microsoft.com/office/drawing/2014/main" id="{8B6BBED1-E4C7-4ABE-BE3F-EE8CC3C7533B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3" name="页脚占位符 2">
            <a:extLst xmlns:a="http://schemas.openxmlformats.org/drawingml/2006/main">
              <a:ext uri="{FF2B5EF4-FFF2-40B4-BE49-F238E27FC236}">
                <a16:creationId xmlns:a16="http://schemas.microsoft.com/office/drawing/2014/main" id="{4CA2EB1E-1FC9-4882-8D79-C7F72002E46D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灯片编号占位符 3">
            <a:extLst xmlns:a="http://schemas.openxmlformats.org/drawingml/2006/main">
              <a:ext uri="{FF2B5EF4-FFF2-40B4-BE49-F238E27FC236}">
                <a16:creationId xmlns:a16="http://schemas.microsoft.com/office/drawing/2014/main" id="{02DC7CD2-CED3-47DE-BD37-FC34B2D3A7FD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pic>
        <p:nvPicPr>
          <p:cNvPr id="5" name="图形 4">
            <a:extLst xmlns:a="http://schemas.openxmlformats.org/drawingml/2006/main">
              <a:ext uri="{FF2B5EF4-FFF2-40B4-BE49-F238E27FC236}">
                <a16:creationId xmlns:a16="http://schemas.microsoft.com/office/drawing/2014/main" id="{D675F954-2B67-4126-9ABB-F5349BC3D5BE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a94baa6f2234c06">
            <a:extLst>
              <a:ext uri="{96DAC541-7B7A-43D3-8B79-37D633B846F1}">
                <asvg:svgBlip xmlns:asvg="http://schemas.microsoft.com/office/drawing/2016/SVG/main" r:embed="Rbbf6d5f740ff4441"/>
              </a:ext>
            </a:extLst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251332" y="273748"/>
            <a:ext cx="3758048" cy="738188"/>
          </a:xfrm>
          <a:prstGeom xmlns:a="http://schemas.openxmlformats.org/drawingml/2006/main" prst="rect">
            <a:avLst/>
          </a:prstGeom>
        </p:spPr>
      </p:pic>
      <p:pic>
        <p:nvPicPr>
          <p:cNvPr id="7" name="图形 6">
            <a:extLst xmlns:a="http://schemas.openxmlformats.org/drawingml/2006/main">
              <a:ext uri="{FF2B5EF4-FFF2-40B4-BE49-F238E27FC236}">
                <a16:creationId xmlns:a16="http://schemas.microsoft.com/office/drawing/2014/main" id="{95C404D3-7235-499C-9356-8183C1A0B6C0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26de926f31d4d29">
            <a:extLst>
              <a:ext uri="{96DAC541-7B7A-43D3-8B79-37D633B846F1}">
                <asvg:svgBlip xmlns:asvg="http://schemas.microsoft.com/office/drawing/2016/SVG/main" r:embed="R0def4f8b7dda4a33"/>
              </a:ext>
            </a:extLst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20700000">
            <a:off x="9845288" y="208238"/>
            <a:ext cx="2401315" cy="1700047"/>
          </a:xfrm>
          <a:prstGeom xmlns:a="http://schemas.openxmlformats.org/drawingml/2006/main" prst="rect">
            <a:avLst/>
          </a:prstGeom>
        </p:spPr>
      </p:pic>
      <p:pic>
        <p:nvPicPr>
          <p:cNvPr id="11" name="图片 10">
            <a:extLst xmlns:a="http://schemas.openxmlformats.org/drawingml/2006/main">
              <a:ext uri="{FF2B5EF4-FFF2-40B4-BE49-F238E27FC236}">
                <a16:creationId xmlns:a16="http://schemas.microsoft.com/office/drawing/2014/main" id="{DCE8D685-F9A4-400A-B113-F258A401AC6E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387983938c649a4">
            <a:biLevel thresh="75000"/>
          </a:blip>
          <a:srcRect xmlns:a="http://schemas.openxmlformats.org/drawingml/2006/main" l="0" t="0" r="0" b="79706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424561" y="-97236"/>
            <a:ext cx="3111762" cy="1036406"/>
          </a:xfrm>
          <a:prstGeom xmlns:a="http://schemas.openxmlformats.org/drawingml/2006/main" prst="rect">
            <a:avLst/>
          </a:prstGeom>
        </p:spPr>
      </p:pic>
      <p:sp>
        <p:nvSpPr>
          <p:cNvPr id="14" name="文本占位符 13">
            <a:extLst xmlns:a="http://schemas.openxmlformats.org/drawingml/2006/main">
              <a:ext uri="{FF2B5EF4-FFF2-40B4-BE49-F238E27FC236}">
                <a16:creationId xmlns:a16="http://schemas.microsoft.com/office/drawing/2014/main" id="{194F28DD-EE52-4EBC-B02A-C3B2ADB4DEB7}"/>
              </a:ext>
            </a:extLst>
          </p:cNvPr>
          <p:cNvSpPr>
            <a:spLocks xmlns:a="http://schemas.openxmlformats.org/drawingml/2006/main" noGrp="1"/>
          </p:cNvSpPr>
          <p:nvPr>
            <p:ph type="body" idx="13" hasCustomPrompt="1"/>
          </p:nvPr>
        </p:nvSpPr>
        <p:spPr>
          <a:xfrm xmlns:a="http://schemas.openxmlformats.org/drawingml/2006/main">
            <a:off x="3872751" y="1843897"/>
            <a:ext cx="8175171" cy="1244600"/>
          </a:xfrm>
        </p:spPr>
        <p:txBody>
          <a:bodyPr xmlns:a="http://schemas.openxmlformats.org/drawingml/2006/main" anchor="ctr"/>
          <a:lstStyle xmlns:a="http://schemas.openxmlformats.org/drawingml/2006/main">
            <a:lvl1pPr algn="ctr">
              <a:buNone/>
              <a:defRPr sz="6400" kern="1200" spc="300">
                <a:solidFill>
                  <a:schemeClr val="bg1"/>
                </a:solidFill>
                <a:latin typeface="+mj-ea"/>
                <a:ea typeface="+mj-ea"/>
                <a:cs typeface="+mj-ea"/>
              </a:defRPr>
            </a:lvl1pPr>
          </a:lstStyle>
          <a:p xmlns:a="http://schemas.openxmlformats.org/drawingml/2006/main">
            <a:pPr lvl="0">
              <a:buNone/>
            </a:pPr>
            <a:r>
              <a:t>点击输入章节标题</a:t>
            </a:r>
            <a:endParaRPr/>
          </a:p>
        </p:txBody>
      </p:sp>
      <p:sp>
        <p:nvSpPr>
          <p:cNvPr id="27" name="内容占位符 26">
            <a:extLst xmlns:a="http://schemas.openxmlformats.org/drawingml/2006/main">
              <a:ext uri="{FF2B5EF4-FFF2-40B4-BE49-F238E27FC236}">
                <a16:creationId xmlns:a16="http://schemas.microsoft.com/office/drawing/2014/main" id="{592A6388-78D3-49A1-B6F3-347583C49514}"/>
              </a:ext>
            </a:extLst>
          </p:cNvPr>
          <p:cNvSpPr>
            <a:spLocks xmlns:a="http://schemas.openxmlformats.org/drawingml/2006/main" noGrp="1"/>
          </p:cNvSpPr>
          <p:nvPr>
            <p:ph idx="14" hasCustomPrompt="1"/>
          </p:nvPr>
        </p:nvSpPr>
        <p:spPr>
          <a:xfrm xmlns:a="http://schemas.openxmlformats.org/drawingml/2006/main">
            <a:off x="3873500" y="3089275"/>
            <a:ext cx="8174038" cy="513379"/>
          </a:xfrm>
        </p:spPr>
        <p:txBody>
          <a:bodyPr xmlns:a="http://schemas.openxmlformats.org/drawingml/2006/main" anchor="ctr">
            <a:normAutofit/>
          </a:bodyPr>
          <a:lstStyle xmlns:a="http://schemas.openxmlformats.org/drawingml/2006/main">
            <a:lvl1pPr algn="ctr">
              <a:buNone/>
              <a:defRPr sz="2400" b="1">
                <a:solidFill>
                  <a:schemeClr val="bg1"/>
                </a:solidFill>
                <a:latin typeface="+mj-lt"/>
                <a:ea typeface="+mj-lt"/>
                <a:cs typeface="+mj-lt"/>
              </a:defRPr>
            </a:lvl1pPr>
          </a:lstStyle>
          <a:p xmlns:a="http://schemas.openxmlformats.org/drawingml/2006/main">
            <a:pPr lvl="0">
              <a:buNone/>
            </a:pPr>
            <a:r>
              <a:t>Click to Enter Chapter Title</a:t>
            </a:r>
            <a:endParaRPr/>
          </a:p>
        </p:txBody>
      </p:sp>
      <p:sp>
        <p:nvSpPr>
          <p:cNvPr id="35" name="任意多边形: 形状 9">
            <a:extLst xmlns:a="http://schemas.openxmlformats.org/drawingml/2006/main">
              <a:ext uri="{FF2B5EF4-FFF2-40B4-BE49-F238E27FC236}">
                <a16:creationId xmlns:a16="http://schemas.microsoft.com/office/drawing/2014/main" id="{7557942A-8A43-446F-828E-07CA9CEC58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464223" y="724017"/>
            <a:ext cx="108255" cy="35634"/>
          </a:xfrm>
          <a:custGeom xmlns:a="http://schemas.openxmlformats.org/drawingml/2006/main">
            <a:gdLst>
              <a:gd name="connsiteX0" fmla="*/ 8624 w 108255"/>
              <a:gd name="connsiteY0" fmla="*/ 0 h 35634"/>
              <a:gd name="connsiteX1" fmla="*/ 51 w 108255"/>
              <a:gd name="connsiteY1" fmla="*/ 12668 h 35634"/>
              <a:gd name="connsiteX2" fmla="*/ 23483 w 108255"/>
              <a:gd name="connsiteY2" fmla="*/ 31337 h 35634"/>
              <a:gd name="connsiteX3" fmla="*/ 62916 w 108255"/>
              <a:gd name="connsiteY3" fmla="*/ 35624 h 35634"/>
              <a:gd name="connsiteX4" fmla="*/ 108255 w 108255"/>
              <a:gd name="connsiteY4" fmla="*/ 29718 h 35634"/>
              <a:gd name="connsiteX5" fmla="*/ 39771 w 108255"/>
              <a:gd name="connsiteY5" fmla="*/ 10954 h 35634"/>
              <a:gd name="connsiteX6" fmla="*/ 8624 w 108255"/>
              <a:gd name="connsiteY6" fmla="*/ 0 h 35634"/>
            </a:gdLst>
            <a:rect l="l" t="t" r="r" b="b"/>
            <a:pathLst>
              <a:path w="108255" h="35634">
                <a:moveTo>
                  <a:pt x="8624" y="0"/>
                </a:moveTo>
                <a:cubicBezTo>
                  <a:pt x="3766" y="2096"/>
                  <a:pt x="-520" y="6858"/>
                  <a:pt x="51" y="12668"/>
                </a:cubicBezTo>
                <a:cubicBezTo>
                  <a:pt x="1099" y="23717"/>
                  <a:pt x="12720" y="28099"/>
                  <a:pt x="23483" y="31337"/>
                </a:cubicBezTo>
                <a:cubicBezTo>
                  <a:pt x="36627" y="35243"/>
                  <a:pt x="50724" y="35719"/>
                  <a:pt x="62916" y="35624"/>
                </a:cubicBezTo>
                <a:cubicBezTo>
                  <a:pt x="75489" y="35433"/>
                  <a:pt x="89015" y="34766"/>
                  <a:pt x="108255" y="29718"/>
                </a:cubicBezTo>
                <a:cubicBezTo>
                  <a:pt x="86157" y="24860"/>
                  <a:pt x="63202" y="18574"/>
                  <a:pt x="39771" y="10954"/>
                </a:cubicBezTo>
                <a:cubicBezTo>
                  <a:pt x="28341" y="7239"/>
                  <a:pt x="18054" y="3620"/>
                  <a:pt x="8624" y="0"/>
                </a:cubicBezTo>
                <a:close/>
              </a:path>
            </a:pathLst>
          </a:custGeom>
          <a:solidFill xmlns:a="http://schemas.openxmlformats.org/drawingml/2006/main">
            <a:srgbClr val="E3EEF5"/>
          </a:solidFill>
          <a:ln xmlns:a="http://schemas.openxmlformats.org/drawingml/2006/main" w="3175" cap="flat">
            <a:solidFill>
              <a:schemeClr val="accent1"/>
            </a:solidFill>
            <a:prstDash val="solid"/>
            <a:miter/>
          </a:ln>
        </p:spPr>
        <p:txBody>
          <a:bodyPr xmlns:a="http://schemas.openxmlformats.org/drawingml/2006/main" rot="0" spcFirstLastPara="0" vert="horz" wrap="square" lIns="91440" tIns="45720" rIns="91440" bIns="45720" anchor="ctr">
            <a:noAutofit/>
          </a:bodyPr>
          <a:lstStyle xmlns:a="http://schemas.openxmlformats.org/drawingml/2006/main">
            <a:lvl1pPr marL="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457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8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2860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743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200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657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endParaRPr/>
          </a:p>
        </p:txBody>
      </p:sp>
      <p:sp>
        <p:nvSpPr>
          <p:cNvPr id="36" name="任意多边形: 形状 11">
            <a:extLst xmlns:a="http://schemas.openxmlformats.org/drawingml/2006/main">
              <a:ext uri="{FF2B5EF4-FFF2-40B4-BE49-F238E27FC236}">
                <a16:creationId xmlns:a16="http://schemas.microsoft.com/office/drawing/2014/main" id="{AB3534CE-ADBF-4FCE-8CD1-DA83E560E2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361074" y="572876"/>
            <a:ext cx="204070" cy="172762"/>
          </a:xfrm>
          <a:custGeom xmlns:a="http://schemas.openxmlformats.org/drawingml/2006/main">
            <a:gdLst>
              <a:gd name="connsiteX0" fmla="*/ 204070 w 204070"/>
              <a:gd name="connsiteY0" fmla="*/ 172763 h 172762"/>
              <a:gd name="connsiteX1" fmla="*/ 117393 w 204070"/>
              <a:gd name="connsiteY1" fmla="*/ 101325 h 172762"/>
              <a:gd name="connsiteX2" fmla="*/ 45384 w 204070"/>
              <a:gd name="connsiteY2" fmla="*/ 1217 h 172762"/>
              <a:gd name="connsiteX3" fmla="*/ 19857 w 204070"/>
              <a:gd name="connsiteY3" fmla="*/ 2646 h 172762"/>
              <a:gd name="connsiteX4" fmla="*/ 140 w 204070"/>
              <a:gd name="connsiteY4" fmla="*/ 39032 h 172762"/>
              <a:gd name="connsiteX5" fmla="*/ 19952 w 204070"/>
              <a:gd name="connsiteY5" fmla="*/ 81894 h 172762"/>
              <a:gd name="connsiteX6" fmla="*/ 31287 w 204070"/>
              <a:gd name="connsiteY6" fmla="*/ 93134 h 172762"/>
              <a:gd name="connsiteX7" fmla="*/ 33573 w 204070"/>
              <a:gd name="connsiteY7" fmla="*/ 95229 h 172762"/>
              <a:gd name="connsiteX8" fmla="*/ 87770 w 204070"/>
              <a:gd name="connsiteY8" fmla="*/ 134186 h 172762"/>
              <a:gd name="connsiteX9" fmla="*/ 144920 w 204070"/>
              <a:gd name="connsiteY9" fmla="*/ 155999 h 172762"/>
              <a:gd name="connsiteX10" fmla="*/ 204070 w 204070"/>
              <a:gd name="connsiteY10" fmla="*/ 172667 h 172762"/>
            </a:gdLst>
            <a:rect l="l" t="t" r="r" b="b"/>
            <a:pathLst>
              <a:path w="204070" h="172762">
                <a:moveTo>
                  <a:pt x="204070" y="172763"/>
                </a:moveTo>
                <a:cubicBezTo>
                  <a:pt x="174828" y="155332"/>
                  <a:pt x="146349" y="131900"/>
                  <a:pt x="117393" y="101325"/>
                </a:cubicBezTo>
                <a:cubicBezTo>
                  <a:pt x="83198" y="65130"/>
                  <a:pt x="60719" y="33888"/>
                  <a:pt x="45384" y="1217"/>
                </a:cubicBezTo>
                <a:cubicBezTo>
                  <a:pt x="31763" y="-1450"/>
                  <a:pt x="25095" y="836"/>
                  <a:pt x="19857" y="2646"/>
                </a:cubicBezTo>
                <a:cubicBezTo>
                  <a:pt x="3759" y="8361"/>
                  <a:pt x="-908" y="25220"/>
                  <a:pt x="140" y="39032"/>
                </a:cubicBezTo>
                <a:cubicBezTo>
                  <a:pt x="1283" y="54367"/>
                  <a:pt x="7760" y="68369"/>
                  <a:pt x="19952" y="81894"/>
                </a:cubicBezTo>
                <a:cubicBezTo>
                  <a:pt x="23476" y="85799"/>
                  <a:pt x="27477" y="89514"/>
                  <a:pt x="31287" y="93134"/>
                </a:cubicBezTo>
                <a:lnTo>
                  <a:pt x="33573" y="95229"/>
                </a:lnTo>
                <a:cubicBezTo>
                  <a:pt x="53385" y="113898"/>
                  <a:pt x="70530" y="126281"/>
                  <a:pt x="87770" y="134186"/>
                </a:cubicBezTo>
                <a:cubicBezTo>
                  <a:pt x="103867" y="141616"/>
                  <a:pt x="121965" y="148474"/>
                  <a:pt x="144920" y="155999"/>
                </a:cubicBezTo>
                <a:cubicBezTo>
                  <a:pt x="165018" y="162571"/>
                  <a:pt x="184830" y="168191"/>
                  <a:pt x="204070" y="172667"/>
                </a:cubicBezTo>
                <a:close/>
              </a:path>
            </a:pathLst>
          </a:custGeom>
          <a:solidFill xmlns:a="http://schemas.openxmlformats.org/drawingml/2006/main">
            <a:srgbClr val="E3EEF5"/>
          </a:solidFill>
          <a:ln xmlns:a="http://schemas.openxmlformats.org/drawingml/2006/main" w="3175" cap="flat">
            <a:solidFill>
              <a:schemeClr val="accent1"/>
            </a:solidFill>
            <a:prstDash val="solid"/>
            <a:miter/>
          </a:ln>
        </p:spPr>
        <p:txBody>
          <a:bodyPr xmlns:a="http://schemas.openxmlformats.org/drawingml/2006/main" rot="0" spcFirstLastPara="0" vert="horz" wrap="square" lIns="91440" tIns="45720" rIns="91440" bIns="45720" anchor="ctr">
            <a:noAutofit/>
          </a:bodyPr>
          <a:lstStyle xmlns:a="http://schemas.openxmlformats.org/drawingml/2006/main">
            <a:lvl1pPr marL="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457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8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2860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743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200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657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endParaRPr/>
          </a:p>
        </p:txBody>
      </p:sp>
      <p:sp>
        <p:nvSpPr>
          <p:cNvPr id="37" name="任意多边形: 形状 14">
            <a:extLst xmlns:a="http://schemas.openxmlformats.org/drawingml/2006/main">
              <a:ext uri="{FF2B5EF4-FFF2-40B4-BE49-F238E27FC236}">
                <a16:creationId xmlns:a16="http://schemas.microsoft.com/office/drawing/2014/main" id="{17FE9994-0442-4360-8B31-837FBD09A8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482696" y="362216"/>
            <a:ext cx="112832" cy="382184"/>
          </a:xfrm>
          <a:custGeom xmlns:a="http://schemas.openxmlformats.org/drawingml/2006/main">
            <a:gdLst>
              <a:gd name="connsiteX0" fmla="*/ 95497 w 112832"/>
              <a:gd name="connsiteY0" fmla="*/ 121961 h 382184"/>
              <a:gd name="connsiteX1" fmla="*/ 97687 w 112832"/>
              <a:gd name="connsiteY1" fmla="*/ 98435 h 382184"/>
              <a:gd name="connsiteX2" fmla="*/ 107879 w 112832"/>
              <a:gd name="connsiteY2" fmla="*/ 37094 h 382184"/>
              <a:gd name="connsiteX3" fmla="*/ 112832 w 112832"/>
              <a:gd name="connsiteY3" fmla="*/ 22711 h 382184"/>
              <a:gd name="connsiteX4" fmla="*/ 84257 w 112832"/>
              <a:gd name="connsiteY4" fmla="*/ 4518 h 382184"/>
              <a:gd name="connsiteX5" fmla="*/ 38728 w 112832"/>
              <a:gd name="connsiteY5" fmla="*/ 6899 h 382184"/>
              <a:gd name="connsiteX6" fmla="*/ 1390 w 112832"/>
              <a:gd name="connsiteY6" fmla="*/ 69764 h 382184"/>
              <a:gd name="connsiteX7" fmla="*/ 16439 w 112832"/>
              <a:gd name="connsiteY7" fmla="*/ 205686 h 382184"/>
              <a:gd name="connsiteX8" fmla="*/ 63302 w 112832"/>
              <a:gd name="connsiteY8" fmla="*/ 330273 h 382184"/>
              <a:gd name="connsiteX9" fmla="*/ 98545 w 112832"/>
              <a:gd name="connsiteY9" fmla="*/ 382184 h 382184"/>
              <a:gd name="connsiteX10" fmla="*/ 90067 w 112832"/>
              <a:gd name="connsiteY10" fmla="*/ 235880 h 382184"/>
              <a:gd name="connsiteX11" fmla="*/ 95497 w 112832"/>
              <a:gd name="connsiteY11" fmla="*/ 121866 h 382184"/>
            </a:gdLst>
            <a:rect l="l" t="t" r="r" b="b"/>
            <a:pathLst>
              <a:path w="112832" h="382184">
                <a:moveTo>
                  <a:pt x="95497" y="121961"/>
                </a:moveTo>
                <a:cubicBezTo>
                  <a:pt x="96163" y="115103"/>
                  <a:pt x="96925" y="107769"/>
                  <a:pt x="97687" y="98435"/>
                </a:cubicBezTo>
                <a:cubicBezTo>
                  <a:pt x="99116" y="81099"/>
                  <a:pt x="101497" y="58525"/>
                  <a:pt x="107879" y="37094"/>
                </a:cubicBezTo>
                <a:cubicBezTo>
                  <a:pt x="109403" y="31950"/>
                  <a:pt x="111118" y="27283"/>
                  <a:pt x="112832" y="22711"/>
                </a:cubicBezTo>
                <a:cubicBezTo>
                  <a:pt x="106831" y="17663"/>
                  <a:pt x="95116" y="9281"/>
                  <a:pt x="84257" y="4518"/>
                </a:cubicBezTo>
                <a:cubicBezTo>
                  <a:pt x="68731" y="-2245"/>
                  <a:pt x="53015" y="-1387"/>
                  <a:pt x="38728" y="6899"/>
                </a:cubicBezTo>
                <a:cubicBezTo>
                  <a:pt x="18820" y="18425"/>
                  <a:pt x="4152" y="43190"/>
                  <a:pt x="1390" y="69764"/>
                </a:cubicBezTo>
                <a:cubicBezTo>
                  <a:pt x="-3849" y="118818"/>
                  <a:pt x="6724" y="168158"/>
                  <a:pt x="16439" y="205686"/>
                </a:cubicBezTo>
                <a:cubicBezTo>
                  <a:pt x="28155" y="250739"/>
                  <a:pt x="44347" y="293793"/>
                  <a:pt x="63302" y="330273"/>
                </a:cubicBezTo>
                <a:cubicBezTo>
                  <a:pt x="74351" y="351419"/>
                  <a:pt x="85876" y="368469"/>
                  <a:pt x="98545" y="382184"/>
                </a:cubicBezTo>
                <a:cubicBezTo>
                  <a:pt x="93877" y="341036"/>
                  <a:pt x="89115" y="289030"/>
                  <a:pt x="90067" y="235880"/>
                </a:cubicBezTo>
                <a:cubicBezTo>
                  <a:pt x="91401" y="163300"/>
                  <a:pt x="93211" y="145012"/>
                  <a:pt x="95497" y="121866"/>
                </a:cubicBezTo>
                <a:close/>
              </a:path>
            </a:pathLst>
          </a:custGeom>
          <a:solidFill xmlns:a="http://schemas.openxmlformats.org/drawingml/2006/main">
            <a:srgbClr val="E3EEF5"/>
          </a:solidFill>
          <a:ln xmlns:a="http://schemas.openxmlformats.org/drawingml/2006/main" w="3175" cap="flat">
            <a:solidFill>
              <a:schemeClr val="accent1"/>
            </a:solidFill>
            <a:prstDash val="solid"/>
            <a:miter/>
          </a:ln>
        </p:spPr>
        <p:txBody>
          <a:bodyPr xmlns:a="http://schemas.openxmlformats.org/drawingml/2006/main" rot="0" spcFirstLastPara="0" vert="horz" wrap="square" lIns="91440" tIns="45720" rIns="91440" bIns="45720" anchor="ctr">
            <a:noAutofit/>
          </a:bodyPr>
          <a:lstStyle xmlns:a="http://schemas.openxmlformats.org/drawingml/2006/main">
            <a:lvl1pPr marL="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457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8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2860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743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200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657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endParaRPr/>
          </a:p>
        </p:txBody>
      </p:sp>
      <p:sp>
        <p:nvSpPr>
          <p:cNvPr id="38" name="任意多边形: 形状 15">
            <a:extLst xmlns:a="http://schemas.openxmlformats.org/drawingml/2006/main">
              <a:ext uri="{FF2B5EF4-FFF2-40B4-BE49-F238E27FC236}">
                <a16:creationId xmlns:a16="http://schemas.microsoft.com/office/drawing/2014/main" id="{3FF5C114-FA08-43ED-AD1B-EF820CE62B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578926" y="339269"/>
            <a:ext cx="142405" cy="404369"/>
          </a:xfrm>
          <a:custGeom xmlns:a="http://schemas.openxmlformats.org/drawingml/2006/main">
            <a:gdLst>
              <a:gd name="connsiteX0" fmla="*/ 117568 w 142405"/>
              <a:gd name="connsiteY0" fmla="*/ 169578 h 404369"/>
              <a:gd name="connsiteX1" fmla="*/ 125283 w 142405"/>
              <a:gd name="connsiteY1" fmla="*/ 147099 h 404369"/>
              <a:gd name="connsiteX2" fmla="*/ 140809 w 142405"/>
              <a:gd name="connsiteY2" fmla="*/ 88234 h 404369"/>
              <a:gd name="connsiteX3" fmla="*/ 134522 w 142405"/>
              <a:gd name="connsiteY3" fmla="*/ 29370 h 404369"/>
              <a:gd name="connsiteX4" fmla="*/ 95089 w 142405"/>
              <a:gd name="connsiteY4" fmla="*/ 1462 h 404369"/>
              <a:gd name="connsiteX5" fmla="*/ 94136 w 142405"/>
              <a:gd name="connsiteY5" fmla="*/ 1271 h 404369"/>
              <a:gd name="connsiteX6" fmla="*/ 47559 w 142405"/>
              <a:gd name="connsiteY6" fmla="*/ 10796 h 404369"/>
              <a:gd name="connsiteX7" fmla="*/ 17651 w 142405"/>
              <a:gd name="connsiteY7" fmla="*/ 61850 h 404369"/>
              <a:gd name="connsiteX8" fmla="*/ 7649 w 142405"/>
              <a:gd name="connsiteY8" fmla="*/ 121858 h 404369"/>
              <a:gd name="connsiteX9" fmla="*/ 5459 w 142405"/>
              <a:gd name="connsiteY9" fmla="*/ 145480 h 404369"/>
              <a:gd name="connsiteX10" fmla="*/ 125 w 142405"/>
              <a:gd name="connsiteY10" fmla="*/ 259018 h 404369"/>
              <a:gd name="connsiteX11" fmla="*/ 8507 w 142405"/>
              <a:gd name="connsiteY11" fmla="*/ 404369 h 404369"/>
              <a:gd name="connsiteX12" fmla="*/ 75848 w 142405"/>
              <a:gd name="connsiteY12" fmla="*/ 275210 h 404369"/>
              <a:gd name="connsiteX13" fmla="*/ 117568 w 142405"/>
              <a:gd name="connsiteY13" fmla="*/ 169483 h 404369"/>
            </a:gdLst>
            <a:rect l="l" t="t" r="r" b="b"/>
            <a:pathLst>
              <a:path w="142405" h="404369">
                <a:moveTo>
                  <a:pt x="117568" y="169578"/>
                </a:moveTo>
                <a:cubicBezTo>
                  <a:pt x="119759" y="163006"/>
                  <a:pt x="122140" y="155957"/>
                  <a:pt x="125283" y="147099"/>
                </a:cubicBezTo>
                <a:cubicBezTo>
                  <a:pt x="130998" y="131002"/>
                  <a:pt x="137952" y="109856"/>
                  <a:pt x="140809" y="88234"/>
                </a:cubicBezTo>
                <a:cubicBezTo>
                  <a:pt x="144238" y="62612"/>
                  <a:pt x="142142" y="43372"/>
                  <a:pt x="134522" y="29370"/>
                </a:cubicBezTo>
                <a:cubicBezTo>
                  <a:pt x="126998" y="15559"/>
                  <a:pt x="111662" y="4605"/>
                  <a:pt x="95089" y="1462"/>
                </a:cubicBezTo>
                <a:cubicBezTo>
                  <a:pt x="94803" y="1462"/>
                  <a:pt x="94422" y="1366"/>
                  <a:pt x="94136" y="1271"/>
                </a:cubicBezTo>
                <a:cubicBezTo>
                  <a:pt x="77944" y="-2158"/>
                  <a:pt x="59846" y="1462"/>
                  <a:pt x="47559" y="10796"/>
                </a:cubicBezTo>
                <a:cubicBezTo>
                  <a:pt x="34796" y="20416"/>
                  <a:pt x="24985" y="37180"/>
                  <a:pt x="17651" y="61850"/>
                </a:cubicBezTo>
                <a:cubicBezTo>
                  <a:pt x="11459" y="82710"/>
                  <a:pt x="9078" y="104903"/>
                  <a:pt x="7649" y="121858"/>
                </a:cubicBezTo>
                <a:cubicBezTo>
                  <a:pt x="6887" y="131192"/>
                  <a:pt x="6125" y="138526"/>
                  <a:pt x="5459" y="145480"/>
                </a:cubicBezTo>
                <a:cubicBezTo>
                  <a:pt x="3173" y="168530"/>
                  <a:pt x="1458" y="186628"/>
                  <a:pt x="125" y="259018"/>
                </a:cubicBezTo>
                <a:cubicBezTo>
                  <a:pt x="-828" y="311691"/>
                  <a:pt x="3839" y="363507"/>
                  <a:pt x="8507" y="404369"/>
                </a:cubicBezTo>
                <a:cubicBezTo>
                  <a:pt x="29557" y="368936"/>
                  <a:pt x="55084" y="323692"/>
                  <a:pt x="75848" y="275210"/>
                </a:cubicBezTo>
                <a:cubicBezTo>
                  <a:pt x="104328" y="208726"/>
                  <a:pt x="110138" y="191390"/>
                  <a:pt x="117568" y="169483"/>
                </a:cubicBezTo>
                <a:close/>
              </a:path>
            </a:pathLst>
          </a:custGeom>
          <a:solidFill xmlns:a="http://schemas.openxmlformats.org/drawingml/2006/main">
            <a:srgbClr val="E3EEF5"/>
          </a:solidFill>
          <a:ln xmlns:a="http://schemas.openxmlformats.org/drawingml/2006/main" w="3175" cap="flat">
            <a:solidFill>
              <a:schemeClr val="accent1"/>
            </a:solidFill>
            <a:prstDash val="solid"/>
            <a:miter/>
          </a:ln>
        </p:spPr>
        <p:txBody>
          <a:bodyPr xmlns:a="http://schemas.openxmlformats.org/drawingml/2006/main" rot="0" spcFirstLastPara="0" vert="horz" wrap="square" lIns="91440" tIns="45720" rIns="91440" bIns="45720" anchor="ctr">
            <a:noAutofit/>
          </a:bodyPr>
          <a:lstStyle xmlns:a="http://schemas.openxmlformats.org/drawingml/2006/main">
            <a:lvl1pPr marL="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457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8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2860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743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200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657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endParaRPr/>
          </a:p>
        </p:txBody>
      </p:sp>
      <p:sp>
        <p:nvSpPr>
          <p:cNvPr id="39" name="任意多边形: 形状 16">
            <a:extLst xmlns:a="http://schemas.openxmlformats.org/drawingml/2006/main">
              <a:ext uri="{FF2B5EF4-FFF2-40B4-BE49-F238E27FC236}">
                <a16:creationId xmlns:a16="http://schemas.microsoft.com/office/drawing/2014/main" id="{EE573E9B-DA84-4554-9320-7A950EAAB2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395923" y="422062"/>
            <a:ext cx="174174" cy="319195"/>
          </a:xfrm>
          <a:custGeom xmlns:a="http://schemas.openxmlformats.org/drawingml/2006/main">
            <a:gdLst>
              <a:gd name="connsiteX0" fmla="*/ 87116 w 174174"/>
              <a:gd name="connsiteY0" fmla="*/ 247853 h 319195"/>
              <a:gd name="connsiteX1" fmla="*/ 174174 w 174174"/>
              <a:gd name="connsiteY1" fmla="*/ 319195 h 319195"/>
              <a:gd name="connsiteX2" fmla="*/ 144456 w 174174"/>
              <a:gd name="connsiteY2" fmla="*/ 273380 h 319195"/>
              <a:gd name="connsiteX3" fmla="*/ 97117 w 174174"/>
              <a:gd name="connsiteY3" fmla="*/ 147555 h 319195"/>
              <a:gd name="connsiteX4" fmla="*/ 81782 w 174174"/>
              <a:gd name="connsiteY4" fmla="*/ 10966 h 319195"/>
              <a:gd name="connsiteX5" fmla="*/ 53111 w 174174"/>
              <a:gd name="connsiteY5" fmla="*/ 13 h 319195"/>
              <a:gd name="connsiteX6" fmla="*/ 12344 w 174174"/>
              <a:gd name="connsiteY6" fmla="*/ 22492 h 319195"/>
              <a:gd name="connsiteX7" fmla="*/ 13011 w 174174"/>
              <a:gd name="connsiteY7" fmla="*/ 141935 h 319195"/>
              <a:gd name="connsiteX8" fmla="*/ 87211 w 174174"/>
              <a:gd name="connsiteY8" fmla="*/ 247758 h 319195"/>
            </a:gdLst>
            <a:rect l="l" t="t" r="r" b="b"/>
            <a:pathLst>
              <a:path w="174174" h="319195">
                <a:moveTo>
                  <a:pt x="87116" y="247853"/>
                </a:moveTo>
                <a:cubicBezTo>
                  <a:pt x="116167" y="278619"/>
                  <a:pt x="144837" y="302050"/>
                  <a:pt x="174174" y="319195"/>
                </a:cubicBezTo>
                <a:cubicBezTo>
                  <a:pt x="163601" y="306527"/>
                  <a:pt x="153791" y="291382"/>
                  <a:pt x="144456" y="273380"/>
                </a:cubicBezTo>
                <a:cubicBezTo>
                  <a:pt x="125311" y="236518"/>
                  <a:pt x="108928" y="192989"/>
                  <a:pt x="97117" y="147555"/>
                </a:cubicBezTo>
                <a:cubicBezTo>
                  <a:pt x="87306" y="109931"/>
                  <a:pt x="76829" y="60496"/>
                  <a:pt x="81782" y="10966"/>
                </a:cubicBezTo>
                <a:cubicBezTo>
                  <a:pt x="74447" y="4299"/>
                  <a:pt x="62636" y="-273"/>
                  <a:pt x="53111" y="13"/>
                </a:cubicBezTo>
                <a:cubicBezTo>
                  <a:pt x="35109" y="679"/>
                  <a:pt x="21393" y="8204"/>
                  <a:pt x="12344" y="22492"/>
                </a:cubicBezTo>
                <a:cubicBezTo>
                  <a:pt x="-8325" y="55162"/>
                  <a:pt x="533" y="113074"/>
                  <a:pt x="13011" y="141935"/>
                </a:cubicBezTo>
                <a:cubicBezTo>
                  <a:pt x="28061" y="176797"/>
                  <a:pt x="50921" y="209372"/>
                  <a:pt x="87211" y="247758"/>
                </a:cubicBezTo>
                <a:close/>
              </a:path>
            </a:pathLst>
          </a:custGeom>
          <a:solidFill xmlns:a="http://schemas.openxmlformats.org/drawingml/2006/main">
            <a:srgbClr val="E3EEF5"/>
          </a:solidFill>
          <a:ln xmlns:a="http://schemas.openxmlformats.org/drawingml/2006/main" w="3175" cap="flat">
            <a:solidFill>
              <a:schemeClr val="accent1"/>
            </a:solidFill>
            <a:prstDash val="solid"/>
            <a:miter/>
          </a:ln>
        </p:spPr>
        <p:txBody>
          <a:bodyPr xmlns:a="http://schemas.openxmlformats.org/drawingml/2006/main" rot="0" spcFirstLastPara="0" vert="horz" wrap="square" lIns="91440" tIns="45720" rIns="91440" bIns="45720" anchor="ctr">
            <a:noAutofit/>
          </a:bodyPr>
          <a:lstStyle xmlns:a="http://schemas.openxmlformats.org/drawingml/2006/main">
            <a:lvl1pPr marL="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457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8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2860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743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200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657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endParaRPr/>
          </a:p>
        </p:txBody>
      </p:sp>
      <p:sp>
        <p:nvSpPr>
          <p:cNvPr id="40" name="任意多边形: 形状 17">
            <a:extLst xmlns:a="http://schemas.openxmlformats.org/drawingml/2006/main">
              <a:ext uri="{FF2B5EF4-FFF2-40B4-BE49-F238E27FC236}">
                <a16:creationId xmlns:a16="http://schemas.microsoft.com/office/drawing/2014/main" id="{7D0B0C7E-EAA4-459C-B569-2310AC73FE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604387" y="503624"/>
            <a:ext cx="269979" cy="244967"/>
          </a:xfrm>
          <a:custGeom xmlns:a="http://schemas.openxmlformats.org/drawingml/2006/main">
            <a:gdLst>
              <a:gd name="connsiteX0" fmla="*/ 45910 w 269979"/>
              <a:gd name="connsiteY0" fmla="*/ 215440 h 244967"/>
              <a:gd name="connsiteX1" fmla="*/ 0 w 269979"/>
              <a:gd name="connsiteY1" fmla="*/ 244967 h 244967"/>
              <a:gd name="connsiteX2" fmla="*/ 108680 w 269979"/>
              <a:gd name="connsiteY2" fmla="*/ 215630 h 244967"/>
              <a:gd name="connsiteX3" fmla="*/ 219742 w 269979"/>
              <a:gd name="connsiteY3" fmla="*/ 149622 h 244967"/>
              <a:gd name="connsiteX4" fmla="*/ 269367 w 269979"/>
              <a:gd name="connsiteY4" fmla="*/ 40942 h 244967"/>
              <a:gd name="connsiteX5" fmla="*/ 241459 w 269979"/>
              <a:gd name="connsiteY5" fmla="*/ 3699 h 244967"/>
              <a:gd name="connsiteX6" fmla="*/ 210788 w 269979"/>
              <a:gd name="connsiteY6" fmla="*/ 1889 h 244967"/>
              <a:gd name="connsiteX7" fmla="*/ 140779 w 269979"/>
              <a:gd name="connsiteY7" fmla="*/ 120094 h 244967"/>
              <a:gd name="connsiteX8" fmla="*/ 45910 w 269979"/>
              <a:gd name="connsiteY8" fmla="*/ 215440 h 244967"/>
            </a:gdLst>
            <a:rect l="l" t="t" r="r" b="b"/>
            <a:pathLst>
              <a:path w="269979" h="244967">
                <a:moveTo>
                  <a:pt x="45910" y="215440"/>
                </a:moveTo>
                <a:cubicBezTo>
                  <a:pt x="30004" y="228013"/>
                  <a:pt x="14859" y="237728"/>
                  <a:pt x="0" y="244967"/>
                </a:cubicBezTo>
                <a:cubicBezTo>
                  <a:pt x="33814" y="241348"/>
                  <a:pt x="69532" y="231727"/>
                  <a:pt x="108680" y="215630"/>
                </a:cubicBezTo>
                <a:cubicBezTo>
                  <a:pt x="157544" y="195532"/>
                  <a:pt x="191738" y="175149"/>
                  <a:pt x="219742" y="149622"/>
                </a:cubicBezTo>
                <a:cubicBezTo>
                  <a:pt x="242983" y="128381"/>
                  <a:pt x="274796" y="79137"/>
                  <a:pt x="269367" y="40942"/>
                </a:cubicBezTo>
                <a:cubicBezTo>
                  <a:pt x="266986" y="24178"/>
                  <a:pt x="257556" y="11700"/>
                  <a:pt x="241459" y="3699"/>
                </a:cubicBezTo>
                <a:cubicBezTo>
                  <a:pt x="232981" y="-492"/>
                  <a:pt x="220123" y="-1159"/>
                  <a:pt x="210788" y="1889"/>
                </a:cubicBezTo>
                <a:cubicBezTo>
                  <a:pt x="194977" y="49038"/>
                  <a:pt x="165068" y="89805"/>
                  <a:pt x="140779" y="120094"/>
                </a:cubicBezTo>
                <a:cubicBezTo>
                  <a:pt x="111347" y="156766"/>
                  <a:pt x="78486" y="189722"/>
                  <a:pt x="45910" y="215440"/>
                </a:cubicBezTo>
                <a:close/>
              </a:path>
            </a:pathLst>
          </a:custGeom>
          <a:solidFill xmlns:a="http://schemas.openxmlformats.org/drawingml/2006/main">
            <a:srgbClr val="E3EEF5"/>
          </a:solidFill>
          <a:ln xmlns:a="http://schemas.openxmlformats.org/drawingml/2006/main" w="3175" cap="flat">
            <a:solidFill>
              <a:schemeClr val="accent1"/>
            </a:solidFill>
            <a:prstDash val="solid"/>
            <a:miter/>
          </a:ln>
        </p:spPr>
        <p:txBody>
          <a:bodyPr xmlns:a="http://schemas.openxmlformats.org/drawingml/2006/main" rot="0" spcFirstLastPara="0" vert="horz" wrap="square" lIns="91440" tIns="45720" rIns="91440" bIns="45720" anchor="ctr">
            <a:noAutofit/>
          </a:bodyPr>
          <a:lstStyle xmlns:a="http://schemas.openxmlformats.org/drawingml/2006/main">
            <a:lvl1pPr marL="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457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8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2860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743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200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657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endParaRPr/>
          </a:p>
        </p:txBody>
      </p:sp>
      <p:sp>
        <p:nvSpPr>
          <p:cNvPr id="41" name="任意多边形: 形状 18">
            <a:extLst xmlns:a="http://schemas.openxmlformats.org/drawingml/2006/main">
              <a:ext uri="{FF2B5EF4-FFF2-40B4-BE49-F238E27FC236}">
                <a16:creationId xmlns:a16="http://schemas.microsoft.com/office/drawing/2014/main" id="{73D2A182-534B-4C7B-95D7-D4C36708AC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607244" y="663343"/>
            <a:ext cx="246245" cy="104018"/>
          </a:xfrm>
          <a:custGeom xmlns:a="http://schemas.openxmlformats.org/drawingml/2006/main">
            <a:gdLst>
              <a:gd name="connsiteX0" fmla="*/ 237649 w 246245"/>
              <a:gd name="connsiteY0" fmla="*/ 11811 h 104018"/>
              <a:gd name="connsiteX1" fmla="*/ 214979 w 246245"/>
              <a:gd name="connsiteY1" fmla="*/ 0 h 104018"/>
              <a:gd name="connsiteX2" fmla="*/ 108299 w 246245"/>
              <a:gd name="connsiteY2" fmla="*/ 61817 h 104018"/>
              <a:gd name="connsiteX3" fmla="*/ 0 w 246245"/>
              <a:gd name="connsiteY3" fmla="*/ 91345 h 104018"/>
              <a:gd name="connsiteX4" fmla="*/ 60674 w 246245"/>
              <a:gd name="connsiteY4" fmla="*/ 100394 h 104018"/>
              <a:gd name="connsiteX5" fmla="*/ 121730 w 246245"/>
              <a:gd name="connsiteY5" fmla="*/ 104013 h 104018"/>
              <a:gd name="connsiteX6" fmla="*/ 187166 w 246245"/>
              <a:gd name="connsiteY6" fmla="*/ 90678 h 104018"/>
              <a:gd name="connsiteX7" fmla="*/ 190024 w 246245"/>
              <a:gd name="connsiteY7" fmla="*/ 89725 h 104018"/>
              <a:gd name="connsiteX8" fmla="*/ 204978 w 246245"/>
              <a:gd name="connsiteY8" fmla="*/ 84106 h 104018"/>
              <a:gd name="connsiteX9" fmla="*/ 240697 w 246245"/>
              <a:gd name="connsiteY9" fmla="*/ 53149 h 104018"/>
              <a:gd name="connsiteX10" fmla="*/ 237649 w 246245"/>
              <a:gd name="connsiteY10" fmla="*/ 11906 h 104018"/>
            </a:gdLst>
            <a:rect l="l" t="t" r="r" b="b"/>
            <a:pathLst>
              <a:path w="246245" h="104018">
                <a:moveTo>
                  <a:pt x="237649" y="11811"/>
                </a:moveTo>
                <a:cubicBezTo>
                  <a:pt x="233553" y="7906"/>
                  <a:pt x="228505" y="3143"/>
                  <a:pt x="214979" y="0"/>
                </a:cubicBezTo>
                <a:cubicBezTo>
                  <a:pt x="187547" y="23527"/>
                  <a:pt x="154305" y="42863"/>
                  <a:pt x="108299" y="61817"/>
                </a:cubicBezTo>
                <a:cubicBezTo>
                  <a:pt x="69437" y="77819"/>
                  <a:pt x="33814" y="87440"/>
                  <a:pt x="0" y="91345"/>
                </a:cubicBezTo>
                <a:cubicBezTo>
                  <a:pt x="19336" y="95059"/>
                  <a:pt x="39719" y="98107"/>
                  <a:pt x="60674" y="100394"/>
                </a:cubicBezTo>
                <a:cubicBezTo>
                  <a:pt x="84582" y="102965"/>
                  <a:pt x="104013" y="104108"/>
                  <a:pt x="121730" y="104013"/>
                </a:cubicBezTo>
                <a:cubicBezTo>
                  <a:pt x="140684" y="103823"/>
                  <a:pt x="161449" y="99631"/>
                  <a:pt x="187166" y="90678"/>
                </a:cubicBezTo>
                <a:lnTo>
                  <a:pt x="190024" y="89725"/>
                </a:lnTo>
                <a:cubicBezTo>
                  <a:pt x="194977" y="88011"/>
                  <a:pt x="200120" y="86201"/>
                  <a:pt x="204978" y="84106"/>
                </a:cubicBezTo>
                <a:cubicBezTo>
                  <a:pt x="221647" y="76772"/>
                  <a:pt x="233363" y="66675"/>
                  <a:pt x="240697" y="53149"/>
                </a:cubicBezTo>
                <a:cubicBezTo>
                  <a:pt x="247269" y="40957"/>
                  <a:pt x="249936" y="23717"/>
                  <a:pt x="237649" y="11906"/>
                </a:cubicBezTo>
                <a:close/>
              </a:path>
            </a:pathLst>
          </a:custGeom>
          <a:solidFill xmlns:a="http://schemas.openxmlformats.org/drawingml/2006/main">
            <a:srgbClr val="E3EEF5"/>
          </a:solidFill>
          <a:ln xmlns:a="http://schemas.openxmlformats.org/drawingml/2006/main" w="3175" cap="flat">
            <a:solidFill>
              <a:schemeClr val="accent1"/>
            </a:solidFill>
            <a:prstDash val="solid"/>
            <a:miter/>
          </a:ln>
        </p:spPr>
        <p:txBody>
          <a:bodyPr xmlns:a="http://schemas.openxmlformats.org/drawingml/2006/main" rot="0" spcFirstLastPara="0" vert="horz" wrap="square" lIns="91440" tIns="45720" rIns="91440" bIns="45720" anchor="ctr">
            <a:noAutofit/>
          </a:bodyPr>
          <a:lstStyle xmlns:a="http://schemas.openxmlformats.org/drawingml/2006/main">
            <a:lvl1pPr marL="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457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8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2860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743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200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657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endParaRPr/>
          </a:p>
        </p:txBody>
      </p:sp>
      <p:sp>
        <p:nvSpPr>
          <p:cNvPr id="42" name="任意多边形: 形状 19">
            <a:extLst xmlns:a="http://schemas.openxmlformats.org/drawingml/2006/main">
              <a:ext uri="{FF2B5EF4-FFF2-40B4-BE49-F238E27FC236}">
                <a16:creationId xmlns:a16="http://schemas.microsoft.com/office/drawing/2014/main" id="{C70EA2EC-E6E8-4A05-93F1-BD33941EE1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597148" y="758974"/>
            <a:ext cx="107015" cy="37138"/>
          </a:xfrm>
          <a:custGeom xmlns:a="http://schemas.openxmlformats.org/drawingml/2006/main">
            <a:gdLst>
              <a:gd name="connsiteX0" fmla="*/ 102965 w 107015"/>
              <a:gd name="connsiteY0" fmla="*/ 13811 h 37138"/>
              <a:gd name="connsiteX1" fmla="*/ 70104 w 107015"/>
              <a:gd name="connsiteY1" fmla="*/ 10954 h 37138"/>
              <a:gd name="connsiteX2" fmla="*/ 0 w 107015"/>
              <a:gd name="connsiteY2" fmla="*/ 0 h 37138"/>
              <a:gd name="connsiteX3" fmla="*/ 38481 w 107015"/>
              <a:gd name="connsiteY3" fmla="*/ 23717 h 37138"/>
              <a:gd name="connsiteX4" fmla="*/ 76676 w 107015"/>
              <a:gd name="connsiteY4" fmla="*/ 36290 h 37138"/>
              <a:gd name="connsiteX5" fmla="*/ 105632 w 107015"/>
              <a:gd name="connsiteY5" fmla="*/ 28861 h 37138"/>
              <a:gd name="connsiteX6" fmla="*/ 102965 w 107015"/>
              <a:gd name="connsiteY6" fmla="*/ 13811 h 37138"/>
            </a:gdLst>
            <a:rect l="l" t="t" r="r" b="b"/>
            <a:pathLst>
              <a:path w="107015" h="37138">
                <a:moveTo>
                  <a:pt x="102965" y="13811"/>
                </a:moveTo>
                <a:cubicBezTo>
                  <a:pt x="92869" y="13240"/>
                  <a:pt x="82010" y="12287"/>
                  <a:pt x="70104" y="10954"/>
                </a:cubicBezTo>
                <a:cubicBezTo>
                  <a:pt x="45625" y="8287"/>
                  <a:pt x="22193" y="4667"/>
                  <a:pt x="0" y="0"/>
                </a:cubicBezTo>
                <a:cubicBezTo>
                  <a:pt x="15526" y="12478"/>
                  <a:pt x="27527" y="18669"/>
                  <a:pt x="38481" y="23717"/>
                </a:cubicBezTo>
                <a:cubicBezTo>
                  <a:pt x="50006" y="29051"/>
                  <a:pt x="63055" y="34480"/>
                  <a:pt x="76676" y="36290"/>
                </a:cubicBezTo>
                <a:cubicBezTo>
                  <a:pt x="87820" y="37719"/>
                  <a:pt x="100203" y="38481"/>
                  <a:pt x="105632" y="28861"/>
                </a:cubicBezTo>
                <a:cubicBezTo>
                  <a:pt x="108490" y="23813"/>
                  <a:pt x="106585" y="17717"/>
                  <a:pt x="102965" y="13811"/>
                </a:cubicBezTo>
                <a:close/>
              </a:path>
            </a:pathLst>
          </a:custGeom>
          <a:solidFill xmlns:a="http://schemas.openxmlformats.org/drawingml/2006/main">
            <a:srgbClr val="E3EEF5"/>
          </a:solidFill>
          <a:ln xmlns:a="http://schemas.openxmlformats.org/drawingml/2006/main" w="3175" cap="flat">
            <a:solidFill>
              <a:schemeClr val="accent1"/>
            </a:solidFill>
            <a:prstDash val="solid"/>
            <a:miter/>
          </a:ln>
        </p:spPr>
        <p:txBody>
          <a:bodyPr xmlns:a="http://schemas.openxmlformats.org/drawingml/2006/main" rot="0" spcFirstLastPara="0" vert="horz" wrap="square" lIns="91440" tIns="45720" rIns="91440" bIns="45720" anchor="ctr">
            <a:noAutofit/>
          </a:bodyPr>
          <a:lstStyle xmlns:a="http://schemas.openxmlformats.org/drawingml/2006/main">
            <a:lvl1pPr marL="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457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8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2860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743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200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657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endParaRPr/>
          </a:p>
        </p:txBody>
      </p:sp>
      <p:sp>
        <p:nvSpPr>
          <p:cNvPr id="43" name="任意多边形: 形状 20">
            <a:extLst xmlns:a="http://schemas.openxmlformats.org/drawingml/2006/main">
              <a:ext uri="{FF2B5EF4-FFF2-40B4-BE49-F238E27FC236}">
                <a16:creationId xmlns:a16="http://schemas.microsoft.com/office/drawing/2014/main" id="{115193A5-7FB1-490E-93B4-E525B2255A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592957" y="408349"/>
            <a:ext cx="221392" cy="338622"/>
          </a:xfrm>
          <a:custGeom xmlns:a="http://schemas.openxmlformats.org/drawingml/2006/main">
            <a:gdLst>
              <a:gd name="connsiteX0" fmla="*/ 53435 w 221392"/>
              <a:gd name="connsiteY0" fmla="*/ 305762 h 338622"/>
              <a:gd name="connsiteX1" fmla="*/ 147256 w 221392"/>
              <a:gd name="connsiteY1" fmla="*/ 211369 h 338622"/>
              <a:gd name="connsiteX2" fmla="*/ 216789 w 221392"/>
              <a:gd name="connsiteY2" fmla="*/ 93545 h 338622"/>
              <a:gd name="connsiteX3" fmla="*/ 208502 w 221392"/>
              <a:gd name="connsiteY3" fmla="*/ 20869 h 338622"/>
              <a:gd name="connsiteX4" fmla="*/ 167926 w 221392"/>
              <a:gd name="connsiteY4" fmla="*/ 9 h 338622"/>
              <a:gd name="connsiteX5" fmla="*/ 134398 w 221392"/>
              <a:gd name="connsiteY5" fmla="*/ 4867 h 338622"/>
              <a:gd name="connsiteX6" fmla="*/ 133064 w 221392"/>
              <a:gd name="connsiteY6" fmla="*/ 20012 h 338622"/>
              <a:gd name="connsiteX7" fmla="*/ 117253 w 221392"/>
              <a:gd name="connsiteY7" fmla="*/ 80114 h 338622"/>
              <a:gd name="connsiteX8" fmla="*/ 109538 w 221392"/>
              <a:gd name="connsiteY8" fmla="*/ 102498 h 338622"/>
              <a:gd name="connsiteX9" fmla="*/ 67723 w 221392"/>
              <a:gd name="connsiteY9" fmla="*/ 208702 h 338622"/>
              <a:gd name="connsiteX10" fmla="*/ 0 w 221392"/>
              <a:gd name="connsiteY10" fmla="*/ 338623 h 338622"/>
              <a:gd name="connsiteX11" fmla="*/ 53435 w 221392"/>
              <a:gd name="connsiteY11" fmla="*/ 305762 h 338622"/>
            </a:gdLst>
            <a:rect l="l" t="t" r="r" b="b"/>
            <a:pathLst>
              <a:path w="221392" h="338622">
                <a:moveTo>
                  <a:pt x="53435" y="305762"/>
                </a:moveTo>
                <a:cubicBezTo>
                  <a:pt x="85630" y="280330"/>
                  <a:pt x="118110" y="247754"/>
                  <a:pt x="147256" y="211369"/>
                </a:cubicBezTo>
                <a:cubicBezTo>
                  <a:pt x="171545" y="181175"/>
                  <a:pt x="201454" y="140408"/>
                  <a:pt x="216789" y="93545"/>
                </a:cubicBezTo>
                <a:cubicBezTo>
                  <a:pt x="225171" y="68113"/>
                  <a:pt x="221933" y="39538"/>
                  <a:pt x="208502" y="20869"/>
                </a:cubicBezTo>
                <a:cubicBezTo>
                  <a:pt x="198882" y="7439"/>
                  <a:pt x="184880" y="200"/>
                  <a:pt x="167926" y="9"/>
                </a:cubicBezTo>
                <a:cubicBezTo>
                  <a:pt x="156115" y="-181"/>
                  <a:pt x="142018" y="2676"/>
                  <a:pt x="134398" y="4867"/>
                </a:cubicBezTo>
                <a:cubicBezTo>
                  <a:pt x="134112" y="9725"/>
                  <a:pt x="133731" y="14678"/>
                  <a:pt x="133064" y="20012"/>
                </a:cubicBezTo>
                <a:cubicBezTo>
                  <a:pt x="130112" y="42205"/>
                  <a:pt x="123063" y="63827"/>
                  <a:pt x="117253" y="80114"/>
                </a:cubicBezTo>
                <a:cubicBezTo>
                  <a:pt x="114109" y="88973"/>
                  <a:pt x="111728" y="95926"/>
                  <a:pt x="109538" y="102498"/>
                </a:cubicBezTo>
                <a:cubicBezTo>
                  <a:pt x="102108" y="124501"/>
                  <a:pt x="96203" y="141932"/>
                  <a:pt x="67723" y="208702"/>
                </a:cubicBezTo>
                <a:cubicBezTo>
                  <a:pt x="46863" y="257565"/>
                  <a:pt x="21146" y="302999"/>
                  <a:pt x="0" y="338623"/>
                </a:cubicBezTo>
                <a:cubicBezTo>
                  <a:pt x="17145" y="331289"/>
                  <a:pt x="34766" y="320525"/>
                  <a:pt x="53435" y="305762"/>
                </a:cubicBezTo>
                <a:close/>
              </a:path>
            </a:pathLst>
          </a:custGeom>
          <a:solidFill xmlns:a="http://schemas.openxmlformats.org/drawingml/2006/main">
            <a:srgbClr val="E3EEF5"/>
          </a:solidFill>
          <a:ln xmlns:a="http://schemas.openxmlformats.org/drawingml/2006/main" w="3175" cap="flat">
            <a:solidFill>
              <a:schemeClr val="accent1"/>
            </a:solidFill>
            <a:prstDash val="solid"/>
            <a:miter/>
          </a:ln>
        </p:spPr>
        <p:txBody>
          <a:bodyPr xmlns:a="http://schemas.openxmlformats.org/drawingml/2006/main" rot="0" spcFirstLastPara="0" vert="horz" wrap="square" lIns="91440" tIns="45720" rIns="91440" bIns="45720" anchor="ctr">
            <a:noAutofit/>
          </a:bodyPr>
          <a:lstStyle xmlns:a="http://schemas.openxmlformats.org/drawingml/2006/main">
            <a:lvl1pPr marL="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457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8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2860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743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200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657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endParaRPr/>
          </a:p>
        </p:txBody>
      </p:sp>
      <p:sp>
        <p:nvSpPr>
          <p:cNvPr id="24" name="任意多边形: 形状 23">
            <a:extLst xmlns:a="http://schemas.openxmlformats.org/drawingml/2006/main">
              <a:ext uri="{FF2B5EF4-FFF2-40B4-BE49-F238E27FC236}">
                <a16:creationId xmlns:a16="http://schemas.microsoft.com/office/drawing/2014/main" id="{4BC1CFDB-EF63-43F9-A812-A69930E379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389559" y="803943"/>
            <a:ext cx="76250" cy="40500"/>
          </a:xfrm>
          <a:custGeom xmlns:a="http://schemas.openxmlformats.org/drawingml/2006/main">
            <a:gdLst>
              <a:gd name="connsiteX0" fmla="*/ 1765 w 76250"/>
              <a:gd name="connsiteY0" fmla="*/ 24860 h 40500"/>
              <a:gd name="connsiteX1" fmla="*/ 1955 w 76250"/>
              <a:gd name="connsiteY1" fmla="*/ 36385 h 40500"/>
              <a:gd name="connsiteX2" fmla="*/ 24530 w 76250"/>
              <a:gd name="connsiteY2" fmla="*/ 37814 h 40500"/>
              <a:gd name="connsiteX3" fmla="*/ 50723 w 76250"/>
              <a:gd name="connsiteY3" fmla="*/ 23336 h 40500"/>
              <a:gd name="connsiteX4" fmla="*/ 76250 w 76250"/>
              <a:gd name="connsiteY4" fmla="*/ 0 h 40500"/>
              <a:gd name="connsiteX5" fmla="*/ 25768 w 76250"/>
              <a:gd name="connsiteY5" fmla="*/ 18098 h 40500"/>
              <a:gd name="connsiteX6" fmla="*/ 1765 w 76250"/>
              <a:gd name="connsiteY6" fmla="*/ 24860 h 40500"/>
            </a:gdLst>
            <a:rect l="l" t="t" r="r" b="b"/>
            <a:pathLst>
              <a:path w="76250" h="40500">
                <a:moveTo>
                  <a:pt x="1765" y="24860"/>
                </a:moveTo>
                <a:cubicBezTo>
                  <a:pt x="-331" y="28289"/>
                  <a:pt x="-902" y="33052"/>
                  <a:pt x="1955" y="36385"/>
                </a:cubicBezTo>
                <a:cubicBezTo>
                  <a:pt x="7385" y="42767"/>
                  <a:pt x="16433" y="40481"/>
                  <a:pt x="24530" y="37814"/>
                </a:cubicBezTo>
                <a:cubicBezTo>
                  <a:pt x="34340" y="34576"/>
                  <a:pt x="43294" y="28670"/>
                  <a:pt x="50723" y="23336"/>
                </a:cubicBezTo>
                <a:cubicBezTo>
                  <a:pt x="58439" y="17812"/>
                  <a:pt x="66535" y="11430"/>
                  <a:pt x="76250" y="0"/>
                </a:cubicBezTo>
                <a:cubicBezTo>
                  <a:pt x="60439" y="6572"/>
                  <a:pt x="43580" y="12668"/>
                  <a:pt x="25768" y="18098"/>
                </a:cubicBezTo>
                <a:cubicBezTo>
                  <a:pt x="17100" y="20765"/>
                  <a:pt x="9099" y="22955"/>
                  <a:pt x="1765" y="24860"/>
                </a:cubicBezTo>
                <a:close/>
              </a:path>
            </a:pathLst>
          </a:custGeom>
          <a:solidFill xmlns:a="http://schemas.openxmlformats.org/drawingml/2006/main">
            <a:srgbClr val="E3EEF5"/>
          </a:solidFill>
          <a:ln xmlns:a="http://schemas.openxmlformats.org/drawingml/2006/main" w="6350" cap="flat">
            <a:solidFill>
              <a:schemeClr val="accent1"/>
            </a:solidFill>
            <a:prstDash val="solid"/>
            <a:miter/>
          </a:ln>
        </p:spPr>
        <p:txBody>
          <a:bodyPr xmlns:a="http://schemas.openxmlformats.org/drawingml/2006/main" rot="0" spcFirstLastPara="0" vert="horz" wrap="square" lIns="91440" tIns="45720" rIns="91440" bIns="45720" anchor="ctr">
            <a:noAutofit/>
          </a:bodyPr>
          <a:lstStyle xmlns:a="http://schemas.openxmlformats.org/drawingml/2006/main">
            <a:lvl1pPr marL="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457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8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2860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743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200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657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endParaRPr/>
          </a:p>
        </p:txBody>
      </p:sp>
      <p:sp>
        <p:nvSpPr>
          <p:cNvPr id="26" name="任意多边形: 形状 25">
            <a:extLst xmlns:a="http://schemas.openxmlformats.org/drawingml/2006/main">
              <a:ext uri="{FF2B5EF4-FFF2-40B4-BE49-F238E27FC236}">
                <a16:creationId xmlns:a16="http://schemas.microsoft.com/office/drawing/2014/main" id="{A769A796-62A6-4E64-A837-0C0DF9D408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266150" y="764795"/>
            <a:ext cx="191658" cy="65708"/>
          </a:xfrm>
          <a:custGeom xmlns:a="http://schemas.openxmlformats.org/drawingml/2006/main">
            <a:gdLst>
              <a:gd name="connsiteX0" fmla="*/ 191658 w 191658"/>
              <a:gd name="connsiteY0" fmla="*/ 37243 h 65708"/>
              <a:gd name="connsiteX1" fmla="*/ 107076 w 191658"/>
              <a:gd name="connsiteY1" fmla="*/ 30670 h 65708"/>
              <a:gd name="connsiteX2" fmla="*/ 19065 w 191658"/>
              <a:gd name="connsiteY2" fmla="*/ 0 h 65708"/>
              <a:gd name="connsiteX3" fmla="*/ 3920 w 191658"/>
              <a:gd name="connsiteY3" fmla="*/ 12001 h 65708"/>
              <a:gd name="connsiteX4" fmla="*/ 7540 w 191658"/>
              <a:gd name="connsiteY4" fmla="*/ 43053 h 65708"/>
              <a:gd name="connsiteX5" fmla="*/ 38401 w 191658"/>
              <a:gd name="connsiteY5" fmla="*/ 60960 h 65708"/>
              <a:gd name="connsiteX6" fmla="*/ 50307 w 191658"/>
              <a:gd name="connsiteY6" fmla="*/ 62960 h 65708"/>
              <a:gd name="connsiteX7" fmla="*/ 52593 w 191658"/>
              <a:gd name="connsiteY7" fmla="*/ 63341 h 65708"/>
              <a:gd name="connsiteX8" fmla="*/ 103076 w 191658"/>
              <a:gd name="connsiteY8" fmla="*/ 63913 h 65708"/>
              <a:gd name="connsiteX9" fmla="*/ 147843 w 191658"/>
              <a:gd name="connsiteY9" fmla="*/ 52578 h 65708"/>
              <a:gd name="connsiteX10" fmla="*/ 191658 w 191658"/>
              <a:gd name="connsiteY10" fmla="*/ 37243 h 65708"/>
            </a:gdLst>
            <a:rect l="l" t="t" r="r" b="b"/>
            <a:pathLst>
              <a:path w="191658" h="65708">
                <a:moveTo>
                  <a:pt x="191658" y="37243"/>
                </a:moveTo>
                <a:cubicBezTo>
                  <a:pt x="166036" y="39148"/>
                  <a:pt x="138223" y="37052"/>
                  <a:pt x="107076" y="30670"/>
                </a:cubicBezTo>
                <a:cubicBezTo>
                  <a:pt x="70214" y="23146"/>
                  <a:pt x="42782" y="13621"/>
                  <a:pt x="19065" y="0"/>
                </a:cubicBezTo>
                <a:cubicBezTo>
                  <a:pt x="9445" y="4286"/>
                  <a:pt x="6397" y="8572"/>
                  <a:pt x="3920" y="12001"/>
                </a:cubicBezTo>
                <a:cubicBezTo>
                  <a:pt x="-3604" y="22574"/>
                  <a:pt x="872" y="34957"/>
                  <a:pt x="7540" y="43053"/>
                </a:cubicBezTo>
                <a:cubicBezTo>
                  <a:pt x="14874" y="52006"/>
                  <a:pt x="24971" y="57912"/>
                  <a:pt x="38401" y="60960"/>
                </a:cubicBezTo>
                <a:cubicBezTo>
                  <a:pt x="42306" y="61817"/>
                  <a:pt x="46402" y="62389"/>
                  <a:pt x="50307" y="62960"/>
                </a:cubicBezTo>
                <a:lnTo>
                  <a:pt x="52593" y="63341"/>
                </a:lnTo>
                <a:cubicBezTo>
                  <a:pt x="72881" y="66294"/>
                  <a:pt x="88979" y="66484"/>
                  <a:pt x="103076" y="63913"/>
                </a:cubicBezTo>
                <a:cubicBezTo>
                  <a:pt x="116220" y="61531"/>
                  <a:pt x="130508" y="57912"/>
                  <a:pt x="147843" y="52578"/>
                </a:cubicBezTo>
                <a:cubicBezTo>
                  <a:pt x="163178" y="47911"/>
                  <a:pt x="177847" y="42767"/>
                  <a:pt x="191658" y="37243"/>
                </a:cubicBezTo>
                <a:close/>
              </a:path>
            </a:pathLst>
          </a:custGeom>
          <a:solidFill xmlns:a="http://schemas.openxmlformats.org/drawingml/2006/main">
            <a:srgbClr val="E3EEF5"/>
          </a:solidFill>
          <a:ln xmlns:a="http://schemas.openxmlformats.org/drawingml/2006/main" w="6350" cap="flat">
            <a:solidFill>
              <a:schemeClr val="accent1"/>
            </a:solidFill>
            <a:prstDash val="solid"/>
            <a:miter/>
          </a:ln>
        </p:spPr>
        <p:txBody>
          <a:bodyPr xmlns:a="http://schemas.openxmlformats.org/drawingml/2006/main" rot="0" spcFirstLastPara="0" vert="horz" wrap="square" lIns="91440" tIns="45720" rIns="91440" bIns="45720" anchor="ctr">
            <a:noAutofit/>
          </a:bodyPr>
          <a:lstStyle xmlns:a="http://schemas.openxmlformats.org/drawingml/2006/main">
            <a:lvl1pPr marL="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457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8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2860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743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200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657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endParaRPr/>
          </a:p>
        </p:txBody>
      </p:sp>
      <p:sp>
        <p:nvSpPr>
          <p:cNvPr id="28" name="任意多边形: 形状 27">
            <a:extLst xmlns:a="http://schemas.openxmlformats.org/drawingml/2006/main">
              <a:ext uri="{FF2B5EF4-FFF2-40B4-BE49-F238E27FC236}">
                <a16:creationId xmlns:a16="http://schemas.microsoft.com/office/drawing/2014/main" id="{99D00CC5-FD72-41A6-A203-CE53B4508F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262920" y="565451"/>
            <a:ext cx="204508" cy="228871"/>
          </a:xfrm>
          <a:custGeom xmlns:a="http://schemas.openxmlformats.org/drawingml/2006/main">
            <a:gdLst>
              <a:gd name="connsiteX0" fmla="*/ 89446 w 204508"/>
              <a:gd name="connsiteY0" fmla="*/ 69233 h 228871"/>
              <a:gd name="connsiteX1" fmla="*/ 80588 w 204508"/>
              <a:gd name="connsiteY1" fmla="*/ 53802 h 228871"/>
              <a:gd name="connsiteX2" fmla="*/ 60300 w 204508"/>
              <a:gd name="connsiteY2" fmla="*/ 11416 h 228871"/>
              <a:gd name="connsiteX3" fmla="*/ 57157 w 204508"/>
              <a:gd name="connsiteY3" fmla="*/ 367 h 228871"/>
              <a:gd name="connsiteX4" fmla="*/ 31630 w 204508"/>
              <a:gd name="connsiteY4" fmla="*/ 1510 h 228871"/>
              <a:gd name="connsiteX5" fmla="*/ 4483 w 204508"/>
              <a:gd name="connsiteY5" fmla="*/ 22751 h 228871"/>
              <a:gd name="connsiteX6" fmla="*/ 8674 w 204508"/>
              <a:gd name="connsiteY6" fmla="*/ 77900 h 228871"/>
              <a:gd name="connsiteX7" fmla="*/ 77064 w 204508"/>
              <a:gd name="connsiteY7" fmla="*/ 155434 h 228871"/>
              <a:gd name="connsiteX8" fmla="*/ 160122 w 204508"/>
              <a:gd name="connsiteY8" fmla="*/ 212108 h 228871"/>
              <a:gd name="connsiteX9" fmla="*/ 204508 w 204508"/>
              <a:gd name="connsiteY9" fmla="*/ 228872 h 228871"/>
              <a:gd name="connsiteX10" fmla="*/ 135738 w 204508"/>
              <a:gd name="connsiteY10" fmla="*/ 142099 h 228871"/>
              <a:gd name="connsiteX11" fmla="*/ 89542 w 204508"/>
              <a:gd name="connsiteY11" fmla="*/ 69233 h 228871"/>
            </a:gdLst>
            <a:rect l="l" t="t" r="r" b="b"/>
            <a:pathLst>
              <a:path w="204508" h="228871">
                <a:moveTo>
                  <a:pt x="89446" y="69233"/>
                </a:moveTo>
                <a:cubicBezTo>
                  <a:pt x="86875" y="64661"/>
                  <a:pt x="84112" y="59898"/>
                  <a:pt x="80588" y="53802"/>
                </a:cubicBezTo>
                <a:cubicBezTo>
                  <a:pt x="73921" y="42467"/>
                  <a:pt x="65634" y="27418"/>
                  <a:pt x="60300" y="11416"/>
                </a:cubicBezTo>
                <a:cubicBezTo>
                  <a:pt x="59062" y="7606"/>
                  <a:pt x="58014" y="3891"/>
                  <a:pt x="57157" y="367"/>
                </a:cubicBezTo>
                <a:cubicBezTo>
                  <a:pt x="51251" y="-205"/>
                  <a:pt x="40393" y="-300"/>
                  <a:pt x="31630" y="1510"/>
                </a:cubicBezTo>
                <a:cubicBezTo>
                  <a:pt x="19152" y="4082"/>
                  <a:pt x="9722" y="11416"/>
                  <a:pt x="4483" y="22751"/>
                </a:cubicBezTo>
                <a:cubicBezTo>
                  <a:pt x="-2756" y="38562"/>
                  <a:pt x="-1136" y="60184"/>
                  <a:pt x="8674" y="77900"/>
                </a:cubicBezTo>
                <a:cubicBezTo>
                  <a:pt x="26772" y="110476"/>
                  <a:pt x="54680" y="136479"/>
                  <a:pt x="77064" y="155434"/>
                </a:cubicBezTo>
                <a:cubicBezTo>
                  <a:pt x="103924" y="178199"/>
                  <a:pt x="132595" y="197820"/>
                  <a:pt x="160122" y="212108"/>
                </a:cubicBezTo>
                <a:cubicBezTo>
                  <a:pt x="176124" y="220394"/>
                  <a:pt x="190697" y="225919"/>
                  <a:pt x="204508" y="228872"/>
                </a:cubicBezTo>
                <a:cubicBezTo>
                  <a:pt x="183744" y="205440"/>
                  <a:pt x="158217" y="175341"/>
                  <a:pt x="135738" y="142099"/>
                </a:cubicBezTo>
                <a:cubicBezTo>
                  <a:pt x="105067" y="96569"/>
                  <a:pt x="98209" y="84473"/>
                  <a:pt x="89542" y="69233"/>
                </a:cubicBezTo>
                <a:close/>
              </a:path>
            </a:pathLst>
          </a:custGeom>
          <a:solidFill xmlns:a="http://schemas.openxmlformats.org/drawingml/2006/main">
            <a:srgbClr val="E3EEF5"/>
          </a:solidFill>
          <a:ln xmlns:a="http://schemas.openxmlformats.org/drawingml/2006/main" w="6350" cap="flat">
            <a:solidFill>
              <a:schemeClr val="accent1"/>
            </a:solidFill>
            <a:prstDash val="solid"/>
            <a:miter/>
          </a:ln>
        </p:spPr>
        <p:txBody>
          <a:bodyPr xmlns:a="http://schemas.openxmlformats.org/drawingml/2006/main" rot="0" spcFirstLastPara="0" vert="horz" wrap="square" lIns="91440" tIns="45720" rIns="91440" bIns="45720" anchor="ctr">
            <a:noAutofit/>
          </a:bodyPr>
          <a:lstStyle xmlns:a="http://schemas.openxmlformats.org/drawingml/2006/main">
            <a:lvl1pPr marL="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457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8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2860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743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200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657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endParaRPr/>
          </a:p>
        </p:txBody>
      </p:sp>
      <p:sp>
        <p:nvSpPr>
          <p:cNvPr id="29" name="任意多边形: 形状 28">
            <a:extLst xmlns:a="http://schemas.openxmlformats.org/drawingml/2006/main">
              <a:ext uri="{FF2B5EF4-FFF2-40B4-BE49-F238E27FC236}">
                <a16:creationId xmlns:a16="http://schemas.microsoft.com/office/drawing/2014/main" id="{76A353BE-D982-42EE-8203-8FA7C97C87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321892" y="500488"/>
            <a:ext cx="148965" cy="290596"/>
          </a:xfrm>
          <a:custGeom xmlns:a="http://schemas.openxmlformats.org/drawingml/2006/main">
            <a:gdLst>
              <a:gd name="connsiteX0" fmla="*/ 114294 w 148965"/>
              <a:gd name="connsiteY0" fmla="*/ 98096 h 290596"/>
              <a:gd name="connsiteX1" fmla="*/ 109341 w 148965"/>
              <a:gd name="connsiteY1" fmla="*/ 80856 h 290596"/>
              <a:gd name="connsiteX2" fmla="*/ 93339 w 148965"/>
              <a:gd name="connsiteY2" fmla="*/ 37708 h 290596"/>
              <a:gd name="connsiteX3" fmla="*/ 63907 w 148965"/>
              <a:gd name="connsiteY3" fmla="*/ 3989 h 290596"/>
              <a:gd name="connsiteX4" fmla="*/ 27426 w 148965"/>
              <a:gd name="connsiteY4" fmla="*/ 3799 h 290596"/>
              <a:gd name="connsiteX5" fmla="*/ 26759 w 148965"/>
              <a:gd name="connsiteY5" fmla="*/ 4085 h 290596"/>
              <a:gd name="connsiteX6" fmla="*/ 2090 w 148965"/>
              <a:gd name="connsiteY6" fmla="*/ 30183 h 290596"/>
              <a:gd name="connsiteX7" fmla="*/ 5804 w 148965"/>
              <a:gd name="connsiteY7" fmla="*/ 74760 h 290596"/>
              <a:gd name="connsiteX8" fmla="*/ 25712 w 148965"/>
              <a:gd name="connsiteY8" fmla="*/ 116194 h 290596"/>
              <a:gd name="connsiteX9" fmla="*/ 34665 w 148965"/>
              <a:gd name="connsiteY9" fmla="*/ 131720 h 290596"/>
              <a:gd name="connsiteX10" fmla="*/ 80671 w 148965"/>
              <a:gd name="connsiteY10" fmla="*/ 204300 h 290596"/>
              <a:gd name="connsiteX11" fmla="*/ 148965 w 148965"/>
              <a:gd name="connsiteY11" fmla="*/ 290597 h 290596"/>
              <a:gd name="connsiteX12" fmla="*/ 134487 w 148965"/>
              <a:gd name="connsiteY12" fmla="*/ 181535 h 290596"/>
              <a:gd name="connsiteX13" fmla="*/ 114389 w 148965"/>
              <a:gd name="connsiteY13" fmla="*/ 98001 h 290596"/>
            </a:gdLst>
            <a:rect l="l" t="t" r="r" b="b"/>
            <a:pathLst>
              <a:path w="148965" h="290596">
                <a:moveTo>
                  <a:pt x="114294" y="98096"/>
                </a:moveTo>
                <a:cubicBezTo>
                  <a:pt x="112770" y="93048"/>
                  <a:pt x="111246" y="87714"/>
                  <a:pt x="109341" y="80856"/>
                </a:cubicBezTo>
                <a:cubicBezTo>
                  <a:pt x="105912" y="68474"/>
                  <a:pt x="100959" y="52281"/>
                  <a:pt x="93339" y="37708"/>
                </a:cubicBezTo>
                <a:cubicBezTo>
                  <a:pt x="84386" y="20372"/>
                  <a:pt x="74670" y="9323"/>
                  <a:pt x="63907" y="3989"/>
                </a:cubicBezTo>
                <a:cubicBezTo>
                  <a:pt x="53239" y="-1249"/>
                  <a:pt x="38951" y="-1345"/>
                  <a:pt x="27426" y="3799"/>
                </a:cubicBezTo>
                <a:cubicBezTo>
                  <a:pt x="27236" y="3799"/>
                  <a:pt x="26950" y="3989"/>
                  <a:pt x="26759" y="4085"/>
                </a:cubicBezTo>
                <a:cubicBezTo>
                  <a:pt x="15234" y="8942"/>
                  <a:pt x="5614" y="19134"/>
                  <a:pt x="2090" y="30183"/>
                </a:cubicBezTo>
                <a:cubicBezTo>
                  <a:pt x="-1625" y="41708"/>
                  <a:pt x="-387" y="56282"/>
                  <a:pt x="5804" y="74760"/>
                </a:cubicBezTo>
                <a:cubicBezTo>
                  <a:pt x="11043" y="90381"/>
                  <a:pt x="19139" y="105145"/>
                  <a:pt x="25712" y="116194"/>
                </a:cubicBezTo>
                <a:cubicBezTo>
                  <a:pt x="29331" y="122290"/>
                  <a:pt x="32093" y="127148"/>
                  <a:pt x="34665" y="131720"/>
                </a:cubicBezTo>
                <a:cubicBezTo>
                  <a:pt x="43238" y="146960"/>
                  <a:pt x="50096" y="158961"/>
                  <a:pt x="80671" y="204300"/>
                </a:cubicBezTo>
                <a:cubicBezTo>
                  <a:pt x="102959" y="237352"/>
                  <a:pt x="128296" y="267260"/>
                  <a:pt x="148965" y="290597"/>
                </a:cubicBezTo>
                <a:cubicBezTo>
                  <a:pt x="146584" y="259545"/>
                  <a:pt x="142774" y="220493"/>
                  <a:pt x="134487" y="181535"/>
                </a:cubicBezTo>
                <a:cubicBezTo>
                  <a:pt x="123152" y="128005"/>
                  <a:pt x="119247" y="114765"/>
                  <a:pt x="114389" y="98001"/>
                </a:cubicBezTo>
                <a:close/>
              </a:path>
            </a:pathLst>
          </a:custGeom>
          <a:solidFill xmlns:a="http://schemas.openxmlformats.org/drawingml/2006/main">
            <a:srgbClr val="E3EEF5"/>
          </a:solidFill>
          <a:ln xmlns:a="http://schemas.openxmlformats.org/drawingml/2006/main" w="6350" cap="flat">
            <a:solidFill>
              <a:schemeClr val="accent1"/>
            </a:solidFill>
            <a:prstDash val="solid"/>
            <a:miter/>
          </a:ln>
        </p:spPr>
        <p:txBody>
          <a:bodyPr xmlns:a="http://schemas.openxmlformats.org/drawingml/2006/main" rot="0" spcFirstLastPara="0" vert="horz" wrap="square" lIns="91440" tIns="45720" rIns="91440" bIns="45720" anchor="ctr">
            <a:noAutofit/>
          </a:bodyPr>
          <a:lstStyle xmlns:a="http://schemas.openxmlformats.org/drawingml/2006/main">
            <a:lvl1pPr marL="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457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8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2860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743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200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657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endParaRPr/>
          </a:p>
        </p:txBody>
      </p:sp>
      <p:sp>
        <p:nvSpPr>
          <p:cNvPr id="30" name="任意多边形: 形状 29">
            <a:extLst xmlns:a="http://schemas.openxmlformats.org/drawingml/2006/main">
              <a:ext uri="{FF2B5EF4-FFF2-40B4-BE49-F238E27FC236}">
                <a16:creationId xmlns:a16="http://schemas.microsoft.com/office/drawing/2014/main" id="{CC63D1BF-9BAC-4D9A-B998-F6E6B0EC73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230104" y="646567"/>
            <a:ext cx="228942" cy="151493"/>
          </a:xfrm>
          <a:custGeom xmlns:a="http://schemas.openxmlformats.org/drawingml/2006/main">
            <a:gdLst>
              <a:gd name="connsiteX0" fmla="*/ 144075 w 228942"/>
              <a:gd name="connsiteY0" fmla="*/ 144327 h 151493"/>
              <a:gd name="connsiteX1" fmla="*/ 228942 w 228942"/>
              <a:gd name="connsiteY1" fmla="*/ 150709 h 151493"/>
              <a:gd name="connsiteX2" fmla="*/ 190652 w 228942"/>
              <a:gd name="connsiteY2" fmla="*/ 135278 h 151493"/>
              <a:gd name="connsiteX3" fmla="*/ 106737 w 228942"/>
              <a:gd name="connsiteY3" fmla="*/ 78033 h 151493"/>
              <a:gd name="connsiteX4" fmla="*/ 37966 w 228942"/>
              <a:gd name="connsiteY4" fmla="*/ 214 h 151493"/>
              <a:gd name="connsiteX5" fmla="*/ 15487 w 228942"/>
              <a:gd name="connsiteY5" fmla="*/ 5929 h 151493"/>
              <a:gd name="connsiteX6" fmla="*/ 57 w 228942"/>
              <a:gd name="connsiteY6" fmla="*/ 37552 h 151493"/>
              <a:gd name="connsiteX7" fmla="*/ 52349 w 228942"/>
              <a:gd name="connsiteY7" fmla="*/ 111180 h 151493"/>
              <a:gd name="connsiteX8" fmla="*/ 144170 w 228942"/>
              <a:gd name="connsiteY8" fmla="*/ 144422 h 151493"/>
            </a:gdLst>
            <a:rect l="l" t="t" r="r" b="b"/>
            <a:pathLst>
              <a:path w="228942" h="151493">
                <a:moveTo>
                  <a:pt x="144075" y="144327"/>
                </a:moveTo>
                <a:cubicBezTo>
                  <a:pt x="175412" y="150709"/>
                  <a:pt x="203320" y="152804"/>
                  <a:pt x="228942" y="150709"/>
                </a:cubicBezTo>
                <a:cubicBezTo>
                  <a:pt x="216941" y="147470"/>
                  <a:pt x="204273" y="142327"/>
                  <a:pt x="190652" y="135278"/>
                </a:cubicBezTo>
                <a:cubicBezTo>
                  <a:pt x="162839" y="120800"/>
                  <a:pt x="133788" y="100988"/>
                  <a:pt x="106737" y="78033"/>
                </a:cubicBezTo>
                <a:cubicBezTo>
                  <a:pt x="84353" y="58983"/>
                  <a:pt x="56349" y="32980"/>
                  <a:pt x="37966" y="214"/>
                </a:cubicBezTo>
                <a:cubicBezTo>
                  <a:pt x="30537" y="-739"/>
                  <a:pt x="21202" y="1547"/>
                  <a:pt x="15487" y="5929"/>
                </a:cubicBezTo>
                <a:cubicBezTo>
                  <a:pt x="4629" y="14120"/>
                  <a:pt x="-610" y="24788"/>
                  <a:pt x="57" y="37552"/>
                </a:cubicBezTo>
                <a:cubicBezTo>
                  <a:pt x="1485" y="66698"/>
                  <a:pt x="32061" y="98702"/>
                  <a:pt x="52349" y="111180"/>
                </a:cubicBezTo>
                <a:cubicBezTo>
                  <a:pt x="76733" y="126230"/>
                  <a:pt x="105117" y="136421"/>
                  <a:pt x="144170" y="144422"/>
                </a:cubicBezTo>
                <a:close/>
              </a:path>
            </a:pathLst>
          </a:custGeom>
          <a:solidFill xmlns:a="http://schemas.openxmlformats.org/drawingml/2006/main">
            <a:srgbClr val="E3EEF5"/>
          </a:solidFill>
          <a:ln xmlns:a="http://schemas.openxmlformats.org/drawingml/2006/main" w="6350" cap="flat">
            <a:solidFill>
              <a:schemeClr val="accent1"/>
            </a:solidFill>
            <a:prstDash val="solid"/>
            <a:miter/>
          </a:ln>
        </p:spPr>
        <p:txBody>
          <a:bodyPr xmlns:a="http://schemas.openxmlformats.org/drawingml/2006/main" rot="0" spcFirstLastPara="0" vert="horz" wrap="square" lIns="91440" tIns="45720" rIns="91440" bIns="45720" anchor="ctr">
            <a:noAutofit/>
          </a:bodyPr>
          <a:lstStyle xmlns:a="http://schemas.openxmlformats.org/drawingml/2006/main">
            <a:lvl1pPr marL="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457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8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2860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743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200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657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endParaRPr/>
          </a:p>
        </p:txBody>
      </p:sp>
      <p:sp>
        <p:nvSpPr>
          <p:cNvPr id="31" name="任意多边形: 形状 30">
            <a:extLst xmlns:a="http://schemas.openxmlformats.org/drawingml/2006/main">
              <a:ext uri="{FF2B5EF4-FFF2-40B4-BE49-F238E27FC236}">
                <a16:creationId xmlns:a16="http://schemas.microsoft.com/office/drawing/2014/main" id="{25A1A9ED-A159-4156-A0E1-5D57835FA2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483430" y="532285"/>
            <a:ext cx="96959" cy="254608"/>
          </a:xfrm>
          <a:custGeom xmlns:a="http://schemas.openxmlformats.org/drawingml/2006/main">
            <a:gdLst>
              <a:gd name="connsiteX0" fmla="*/ 15526 w 96959"/>
              <a:gd name="connsiteY0" fmla="*/ 216413 h 254608"/>
              <a:gd name="connsiteX1" fmla="*/ 0 w 96959"/>
              <a:gd name="connsiteY1" fmla="*/ 254608 h 254608"/>
              <a:gd name="connsiteX2" fmla="*/ 54483 w 96959"/>
              <a:gd name="connsiteY2" fmla="*/ 189267 h 254608"/>
              <a:gd name="connsiteX3" fmla="*/ 94488 w 96959"/>
              <a:gd name="connsiteY3" fmla="*/ 100208 h 254608"/>
              <a:gd name="connsiteX4" fmla="*/ 78010 w 96959"/>
              <a:gd name="connsiteY4" fmla="*/ 11435 h 254608"/>
              <a:gd name="connsiteX5" fmla="*/ 44577 w 96959"/>
              <a:gd name="connsiteY5" fmla="*/ 576 h 254608"/>
              <a:gd name="connsiteX6" fmla="*/ 24860 w 96959"/>
              <a:gd name="connsiteY6" fmla="*/ 12768 h 254608"/>
              <a:gd name="connsiteX7" fmla="*/ 32861 w 96959"/>
              <a:gd name="connsiteY7" fmla="*/ 116305 h 254608"/>
              <a:gd name="connsiteX8" fmla="*/ 15621 w 96959"/>
              <a:gd name="connsiteY8" fmla="*/ 216413 h 254608"/>
            </a:gdLst>
            <a:rect l="l" t="t" r="r" b="b"/>
            <a:pathLst>
              <a:path w="96959" h="254608">
                <a:moveTo>
                  <a:pt x="15526" y="216413"/>
                </a:moveTo>
                <a:cubicBezTo>
                  <a:pt x="11144" y="231081"/>
                  <a:pt x="6001" y="243654"/>
                  <a:pt x="0" y="254608"/>
                </a:cubicBezTo>
                <a:cubicBezTo>
                  <a:pt x="19336" y="237654"/>
                  <a:pt x="37243" y="216222"/>
                  <a:pt x="54483" y="189267"/>
                </a:cubicBezTo>
                <a:cubicBezTo>
                  <a:pt x="76009" y="155643"/>
                  <a:pt x="88297" y="128211"/>
                  <a:pt x="94488" y="100208"/>
                </a:cubicBezTo>
                <a:cubicBezTo>
                  <a:pt x="99631" y="76967"/>
                  <a:pt x="97917" y="32771"/>
                  <a:pt x="78010" y="11435"/>
                </a:cubicBezTo>
                <a:cubicBezTo>
                  <a:pt x="69247" y="2100"/>
                  <a:pt x="58007" y="-1519"/>
                  <a:pt x="44577" y="576"/>
                </a:cubicBezTo>
                <a:cubicBezTo>
                  <a:pt x="37528" y="1719"/>
                  <a:pt x="29242" y="6863"/>
                  <a:pt x="24860" y="12768"/>
                </a:cubicBezTo>
                <a:cubicBezTo>
                  <a:pt x="35528" y="48773"/>
                  <a:pt x="34766" y="86968"/>
                  <a:pt x="32861" y="116305"/>
                </a:cubicBezTo>
                <a:cubicBezTo>
                  <a:pt x="30575" y="151738"/>
                  <a:pt x="24575" y="186409"/>
                  <a:pt x="15621" y="216413"/>
                </a:cubicBezTo>
                <a:close/>
              </a:path>
            </a:pathLst>
          </a:custGeom>
          <a:solidFill xmlns:a="http://schemas.openxmlformats.org/drawingml/2006/main">
            <a:srgbClr val="E3EEF5"/>
          </a:solidFill>
          <a:ln xmlns:a="http://schemas.openxmlformats.org/drawingml/2006/main" w="6350" cap="flat">
            <a:solidFill>
              <a:schemeClr val="accent1"/>
            </a:solidFill>
            <a:prstDash val="solid"/>
            <a:miter/>
          </a:ln>
        </p:spPr>
        <p:txBody>
          <a:bodyPr xmlns:a="http://schemas.openxmlformats.org/drawingml/2006/main" rot="0" spcFirstLastPara="0" vert="horz" wrap="square" lIns="91440" tIns="45720" rIns="91440" bIns="45720" anchor="ctr">
            <a:noAutofit/>
          </a:bodyPr>
          <a:lstStyle xmlns:a="http://schemas.openxmlformats.org/drawingml/2006/main">
            <a:lvl1pPr marL="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457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8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2860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743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200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657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endParaRPr/>
          </a:p>
        </p:txBody>
      </p:sp>
      <p:sp>
        <p:nvSpPr>
          <p:cNvPr id="32" name="任意多边形: 形状 31">
            <a:extLst xmlns:a="http://schemas.openxmlformats.org/drawingml/2006/main">
              <a:ext uri="{FF2B5EF4-FFF2-40B4-BE49-F238E27FC236}">
                <a16:creationId xmlns:a16="http://schemas.microsoft.com/office/drawing/2014/main" id="{B8BBAC97-E633-48DD-9410-75057200A8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487812" y="636434"/>
            <a:ext cx="132715" cy="152935"/>
          </a:xfrm>
          <a:custGeom xmlns:a="http://schemas.openxmlformats.org/drawingml/2006/main">
            <a:gdLst>
              <a:gd name="connsiteX0" fmla="*/ 112395 w 132715"/>
              <a:gd name="connsiteY0" fmla="*/ 535 h 152935"/>
              <a:gd name="connsiteX1" fmla="*/ 93250 w 132715"/>
              <a:gd name="connsiteY1" fmla="*/ 3107 h 152935"/>
              <a:gd name="connsiteX2" fmla="*/ 54102 w 132715"/>
              <a:gd name="connsiteY2" fmla="*/ 87689 h 152935"/>
              <a:gd name="connsiteX3" fmla="*/ 0 w 132715"/>
              <a:gd name="connsiteY3" fmla="*/ 152935 h 152935"/>
              <a:gd name="connsiteX4" fmla="*/ 41529 w 132715"/>
              <a:gd name="connsiteY4" fmla="*/ 132171 h 152935"/>
              <a:gd name="connsiteX5" fmla="*/ 80867 w 132715"/>
              <a:gd name="connsiteY5" fmla="*/ 107882 h 152935"/>
              <a:gd name="connsiteX6" fmla="*/ 115538 w 132715"/>
              <a:gd name="connsiteY6" fmla="*/ 71211 h 152935"/>
              <a:gd name="connsiteX7" fmla="*/ 116872 w 132715"/>
              <a:gd name="connsiteY7" fmla="*/ 69306 h 152935"/>
              <a:gd name="connsiteX8" fmla="*/ 123730 w 132715"/>
              <a:gd name="connsiteY8" fmla="*/ 59305 h 152935"/>
              <a:gd name="connsiteX9" fmla="*/ 132398 w 132715"/>
              <a:gd name="connsiteY9" fmla="*/ 24634 h 152935"/>
              <a:gd name="connsiteX10" fmla="*/ 112586 w 132715"/>
              <a:gd name="connsiteY10" fmla="*/ 440 h 152935"/>
            </a:gdLst>
            <a:rect l="l" t="t" r="r" b="b"/>
            <a:pathLst>
              <a:path w="132715" h="152935">
                <a:moveTo>
                  <a:pt x="112395" y="535"/>
                </a:moveTo>
                <a:cubicBezTo>
                  <a:pt x="108204" y="-131"/>
                  <a:pt x="102965" y="-893"/>
                  <a:pt x="93250" y="3107"/>
                </a:cubicBezTo>
                <a:cubicBezTo>
                  <a:pt x="86487" y="29587"/>
                  <a:pt x="74295" y="55971"/>
                  <a:pt x="54102" y="87689"/>
                </a:cubicBezTo>
                <a:cubicBezTo>
                  <a:pt x="36957" y="114454"/>
                  <a:pt x="19145" y="135886"/>
                  <a:pt x="0" y="152935"/>
                </a:cubicBezTo>
                <a:cubicBezTo>
                  <a:pt x="13621" y="146839"/>
                  <a:pt x="27527" y="139886"/>
                  <a:pt x="41529" y="132171"/>
                </a:cubicBezTo>
                <a:cubicBezTo>
                  <a:pt x="57436" y="123408"/>
                  <a:pt x="69914" y="115693"/>
                  <a:pt x="80867" y="107882"/>
                </a:cubicBezTo>
                <a:cubicBezTo>
                  <a:pt x="92488" y="99595"/>
                  <a:pt x="103537" y="87880"/>
                  <a:pt x="115538" y="71211"/>
                </a:cubicBezTo>
                <a:lnTo>
                  <a:pt x="116872" y="69306"/>
                </a:lnTo>
                <a:cubicBezTo>
                  <a:pt x="119253" y="66067"/>
                  <a:pt x="121634" y="62734"/>
                  <a:pt x="123730" y="59305"/>
                </a:cubicBezTo>
                <a:cubicBezTo>
                  <a:pt x="130874" y="47494"/>
                  <a:pt x="133731" y="36159"/>
                  <a:pt x="132398" y="24634"/>
                </a:cubicBezTo>
                <a:cubicBezTo>
                  <a:pt x="131159" y="14251"/>
                  <a:pt x="125349" y="2440"/>
                  <a:pt x="112586" y="440"/>
                </a:cubicBezTo>
                <a:close/>
              </a:path>
            </a:pathLst>
          </a:custGeom>
          <a:solidFill xmlns:a="http://schemas.openxmlformats.org/drawingml/2006/main">
            <a:srgbClr val="E3EEF5"/>
          </a:solidFill>
          <a:ln xmlns:a="http://schemas.openxmlformats.org/drawingml/2006/main" w="6350" cap="flat">
            <a:solidFill>
              <a:schemeClr val="accent1"/>
            </a:solidFill>
            <a:prstDash val="solid"/>
            <a:miter/>
          </a:ln>
        </p:spPr>
        <p:txBody>
          <a:bodyPr xmlns:a="http://schemas.openxmlformats.org/drawingml/2006/main" rot="0" spcFirstLastPara="0" vert="horz" wrap="square" lIns="91440" tIns="45720" rIns="91440" bIns="45720" anchor="ctr">
            <a:noAutofit/>
          </a:bodyPr>
          <a:lstStyle xmlns:a="http://schemas.openxmlformats.org/drawingml/2006/main">
            <a:lvl1pPr marL="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457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8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2860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743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200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657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endParaRPr/>
          </a:p>
        </p:txBody>
      </p:sp>
      <p:sp>
        <p:nvSpPr>
          <p:cNvPr id="33" name="任意多边形: 形状 32">
            <a:extLst xmlns:a="http://schemas.openxmlformats.org/drawingml/2006/main">
              <a:ext uri="{FF2B5EF4-FFF2-40B4-BE49-F238E27FC236}">
                <a16:creationId xmlns:a16="http://schemas.microsoft.com/office/drawing/2014/main" id="{53F0E29B-21F8-4CA6-B046-00FD065453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483335" y="760223"/>
            <a:ext cx="77870" cy="36609"/>
          </a:xfrm>
          <a:custGeom xmlns:a="http://schemas.openxmlformats.org/drawingml/2006/main">
            <a:gdLst>
              <a:gd name="connsiteX0" fmla="*/ 69723 w 77870"/>
              <a:gd name="connsiteY0" fmla="*/ 0 h 36609"/>
              <a:gd name="connsiteX1" fmla="*/ 48101 w 77870"/>
              <a:gd name="connsiteY1" fmla="*/ 12573 h 36609"/>
              <a:gd name="connsiteX2" fmla="*/ 0 w 77870"/>
              <a:gd name="connsiteY2" fmla="*/ 36290 h 36609"/>
              <a:gd name="connsiteX3" fmla="*/ 34100 w 77870"/>
              <a:gd name="connsiteY3" fmla="*/ 34290 h 36609"/>
              <a:gd name="connsiteX4" fmla="*/ 63151 w 77870"/>
              <a:gd name="connsiteY4" fmla="*/ 25432 h 36609"/>
              <a:gd name="connsiteX5" fmla="*/ 77819 w 77870"/>
              <a:gd name="connsiteY5" fmla="*/ 8192 h 36609"/>
              <a:gd name="connsiteX6" fmla="*/ 69628 w 77870"/>
              <a:gd name="connsiteY6" fmla="*/ 0 h 36609"/>
            </a:gdLst>
            <a:rect l="l" t="t" r="r" b="b"/>
            <a:pathLst>
              <a:path w="77870" h="36609">
                <a:moveTo>
                  <a:pt x="69723" y="0"/>
                </a:moveTo>
                <a:cubicBezTo>
                  <a:pt x="63246" y="4001"/>
                  <a:pt x="56102" y="8096"/>
                  <a:pt x="48101" y="12573"/>
                </a:cubicBezTo>
                <a:cubicBezTo>
                  <a:pt x="31814" y="21527"/>
                  <a:pt x="15716" y="29432"/>
                  <a:pt x="0" y="36290"/>
                </a:cubicBezTo>
                <a:cubicBezTo>
                  <a:pt x="14954" y="37243"/>
                  <a:pt x="25051" y="35909"/>
                  <a:pt x="34100" y="34290"/>
                </a:cubicBezTo>
                <a:cubicBezTo>
                  <a:pt x="43529" y="32576"/>
                  <a:pt x="54007" y="30290"/>
                  <a:pt x="63151" y="25432"/>
                </a:cubicBezTo>
                <a:cubicBezTo>
                  <a:pt x="70676" y="21527"/>
                  <a:pt x="78581" y="16574"/>
                  <a:pt x="77819" y="8192"/>
                </a:cubicBezTo>
                <a:cubicBezTo>
                  <a:pt x="77438" y="3810"/>
                  <a:pt x="73533" y="857"/>
                  <a:pt x="69628" y="0"/>
                </a:cubicBezTo>
                <a:close/>
              </a:path>
            </a:pathLst>
          </a:custGeom>
          <a:solidFill xmlns:a="http://schemas.openxmlformats.org/drawingml/2006/main">
            <a:srgbClr val="E3EEF5"/>
          </a:solidFill>
          <a:ln xmlns:a="http://schemas.openxmlformats.org/drawingml/2006/main" w="6350" cap="flat">
            <a:solidFill>
              <a:schemeClr val="accent1"/>
            </a:solidFill>
            <a:prstDash val="solid"/>
            <a:miter/>
          </a:ln>
        </p:spPr>
        <p:txBody>
          <a:bodyPr xmlns:a="http://schemas.openxmlformats.org/drawingml/2006/main" rot="0" spcFirstLastPara="0" vert="horz" wrap="square" lIns="91440" tIns="45720" rIns="91440" bIns="45720" anchor="ctr">
            <a:noAutofit/>
          </a:bodyPr>
          <a:lstStyle xmlns:a="http://schemas.openxmlformats.org/drawingml/2006/main">
            <a:lvl1pPr marL="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457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8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2860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743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200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657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endParaRPr/>
          </a:p>
        </p:txBody>
      </p:sp>
      <p:sp>
        <p:nvSpPr>
          <p:cNvPr id="34" name="任意多边形: 形状 33">
            <a:extLst xmlns:a="http://schemas.openxmlformats.org/drawingml/2006/main">
              <a:ext uri="{FF2B5EF4-FFF2-40B4-BE49-F238E27FC236}">
                <a16:creationId xmlns:a16="http://schemas.microsoft.com/office/drawing/2014/main" id="{4EEE4464-2320-4710-86F7-0AD3F0C058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413898" y="501576"/>
            <a:ext cx="98672" cy="289127"/>
          </a:xfrm>
          <a:custGeom xmlns:a="http://schemas.openxmlformats.org/drawingml/2006/main">
            <a:gdLst>
              <a:gd name="connsiteX0" fmla="*/ 80486 w 98672"/>
              <a:gd name="connsiteY0" fmla="*/ 245693 h 289127"/>
              <a:gd name="connsiteX1" fmla="*/ 97536 w 98672"/>
              <a:gd name="connsiteY1" fmla="*/ 146633 h 289127"/>
              <a:gd name="connsiteX2" fmla="*/ 89345 w 98672"/>
              <a:gd name="connsiteY2" fmla="*/ 43573 h 289127"/>
              <a:gd name="connsiteX3" fmla="*/ 52673 w 98672"/>
              <a:gd name="connsiteY3" fmla="*/ 2234 h 289127"/>
              <a:gd name="connsiteX4" fmla="*/ 18574 w 98672"/>
              <a:gd name="connsiteY4" fmla="*/ 6901 h 289127"/>
              <a:gd name="connsiteX5" fmla="*/ 0 w 98672"/>
              <a:gd name="connsiteY5" fmla="*/ 24427 h 289127"/>
              <a:gd name="connsiteX6" fmla="*/ 5715 w 98672"/>
              <a:gd name="connsiteY6" fmla="*/ 34333 h 289127"/>
              <a:gd name="connsiteX7" fmla="*/ 22003 w 98672"/>
              <a:gd name="connsiteY7" fmla="*/ 78434 h 289127"/>
              <a:gd name="connsiteX8" fmla="*/ 26956 w 98672"/>
              <a:gd name="connsiteY8" fmla="*/ 95579 h 289127"/>
              <a:gd name="connsiteX9" fmla="*/ 47149 w 98672"/>
              <a:gd name="connsiteY9" fmla="*/ 179399 h 289127"/>
              <a:gd name="connsiteX10" fmla="*/ 61627 w 98672"/>
              <a:gd name="connsiteY10" fmla="*/ 289127 h 289127"/>
              <a:gd name="connsiteX11" fmla="*/ 80391 w 98672"/>
              <a:gd name="connsiteY11" fmla="*/ 245598 h 289127"/>
            </a:gdLst>
            <a:rect l="l" t="t" r="r" b="b"/>
            <a:pathLst>
              <a:path w="98672" h="289127">
                <a:moveTo>
                  <a:pt x="80486" y="245693"/>
                </a:moveTo>
                <a:cubicBezTo>
                  <a:pt x="89345" y="215975"/>
                  <a:pt x="95250" y="181685"/>
                  <a:pt x="97536" y="146633"/>
                </a:cubicBezTo>
                <a:cubicBezTo>
                  <a:pt x="99441" y="117391"/>
                  <a:pt x="100203" y="79196"/>
                  <a:pt x="89345" y="43573"/>
                </a:cubicBezTo>
                <a:cubicBezTo>
                  <a:pt x="83439" y="24237"/>
                  <a:pt x="69056" y="7949"/>
                  <a:pt x="52673" y="2234"/>
                </a:cubicBezTo>
                <a:cubicBezTo>
                  <a:pt x="40862" y="-1862"/>
                  <a:pt x="29051" y="-338"/>
                  <a:pt x="18574" y="6901"/>
                </a:cubicBezTo>
                <a:cubicBezTo>
                  <a:pt x="11240" y="11950"/>
                  <a:pt x="3715" y="19855"/>
                  <a:pt x="0" y="24427"/>
                </a:cubicBezTo>
                <a:cubicBezTo>
                  <a:pt x="1905" y="27475"/>
                  <a:pt x="3810" y="30809"/>
                  <a:pt x="5715" y="34333"/>
                </a:cubicBezTo>
                <a:cubicBezTo>
                  <a:pt x="13526" y="49383"/>
                  <a:pt x="18574" y="65766"/>
                  <a:pt x="22003" y="78434"/>
                </a:cubicBezTo>
                <a:cubicBezTo>
                  <a:pt x="23908" y="85292"/>
                  <a:pt x="25432" y="90626"/>
                  <a:pt x="26956" y="95579"/>
                </a:cubicBezTo>
                <a:cubicBezTo>
                  <a:pt x="31909" y="112438"/>
                  <a:pt x="35814" y="125773"/>
                  <a:pt x="47149" y="179399"/>
                </a:cubicBezTo>
                <a:cubicBezTo>
                  <a:pt x="55435" y="218642"/>
                  <a:pt x="59341" y="257980"/>
                  <a:pt x="61627" y="289127"/>
                </a:cubicBezTo>
                <a:cubicBezTo>
                  <a:pt x="69056" y="277126"/>
                  <a:pt x="75248" y="262838"/>
                  <a:pt x="80391" y="245598"/>
                </a:cubicBezTo>
                <a:close/>
              </a:path>
            </a:pathLst>
          </a:custGeom>
          <a:solidFill xmlns:a="http://schemas.openxmlformats.org/drawingml/2006/main">
            <a:srgbClr val="E3EEF5"/>
          </a:solidFill>
          <a:ln xmlns:a="http://schemas.openxmlformats.org/drawingml/2006/main" w="6350" cap="flat">
            <a:solidFill>
              <a:schemeClr val="accent1"/>
            </a:solidFill>
            <a:prstDash val="solid"/>
            <a:miter/>
          </a:ln>
        </p:spPr>
        <p:txBody>
          <a:bodyPr xmlns:a="http://schemas.openxmlformats.org/drawingml/2006/main" rot="0" spcFirstLastPara="0" vert="horz" wrap="square" lIns="91440" tIns="45720" rIns="91440" bIns="45720" anchor="ctr">
            <a:noAutofit/>
          </a:bodyPr>
          <a:lstStyle xmlns:a="http://schemas.openxmlformats.org/drawingml/2006/main">
            <a:lvl1pPr marL="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457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8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2860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743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200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657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endParaRPr/>
          </a:p>
        </p:txBody>
      </p:sp>
    </p:spTree>
  </p:cSld>
</p:sldLayout>
</file>

<file path=ppt/slideLayouts/slideLayout4.xml><?xml version="1.0" encoding="utf-8"?>
<p:sldLayout xmlns:p="http://schemas.openxmlformats.org/presentationml/2006/main" preserve="1" userDrawn="1">
  <p:cSld name="4_空白"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47" name="Picture 10">
            <a:extLst xmlns:a="http://schemas.openxmlformats.org/drawingml/2006/main">
              <a:ext uri="{FF2B5EF4-FFF2-40B4-BE49-F238E27FC236}">
                <a16:creationId xmlns:a16="http://schemas.microsoft.com/office/drawing/2014/main" id="{D43373B8-8463-4E55-86B4-223DBD2E51AA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9e60d1be5524971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874366" y="3560774"/>
            <a:ext cx="7319035" cy="3297226"/>
          </a:xfrm>
          <a:prstGeom xmlns:a="http://schemas.openxmlformats.org/drawingml/2006/main" prst="rect">
            <a:avLst/>
          </a:prstGeom>
        </p:spPr>
      </p:pic>
      <p:sp>
        <p:nvSpPr>
          <p:cNvPr id="8" name="图形 6">
            <a:extLst xmlns:a="http://schemas.openxmlformats.org/drawingml/2006/main">
              <a:ext uri="{FF2B5EF4-FFF2-40B4-BE49-F238E27FC236}">
                <a16:creationId xmlns:a16="http://schemas.microsoft.com/office/drawing/2014/main" id="{1841A463-9503-47C3-B4FC-ADA2DD2C5F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4940935"/>
          </a:xfrm>
          <a:custGeom xmlns:a="http://schemas.openxmlformats.org/drawingml/2006/main">
            <a:gdLst>
              <a:gd name="connsiteX0" fmla="*/ 2392871 w 2392965"/>
              <a:gd name="connsiteY0" fmla="*/ 892493 h 1114353"/>
              <a:gd name="connsiteX1" fmla="*/ 1811560 w 2392965"/>
              <a:gd name="connsiteY1" fmla="*/ 923735 h 1114353"/>
              <a:gd name="connsiteX2" fmla="*/ 556070 w 2392965"/>
              <a:gd name="connsiteY2" fmla="*/ 1113377 h 1114353"/>
              <a:gd name="connsiteX3" fmla="*/ 0 w 2392965"/>
              <a:gd name="connsiteY3" fmla="*/ 1073944 h 1114353"/>
              <a:gd name="connsiteX4" fmla="*/ 0 w 2392965"/>
              <a:gd name="connsiteY4" fmla="*/ 0 h 1114353"/>
              <a:gd name="connsiteX5" fmla="*/ 2391061 w 2392965"/>
              <a:gd name="connsiteY5" fmla="*/ 0 h 1114353"/>
              <a:gd name="connsiteX6" fmla="*/ 2392966 w 2392965"/>
              <a:gd name="connsiteY6" fmla="*/ 892493 h 1114353"/>
            </a:gdLst>
            <a:rect l="l" t="t" r="r" b="b"/>
            <a:pathLst>
              <a:path w="2392965" h="1114353">
                <a:moveTo>
                  <a:pt x="2392871" y="892493"/>
                </a:moveTo>
                <a:cubicBezTo>
                  <a:pt x="2276094" y="889159"/>
                  <a:pt x="2026634" y="882110"/>
                  <a:pt x="1811560" y="923735"/>
                </a:cubicBezTo>
                <a:cubicBezTo>
                  <a:pt x="1524286" y="979361"/>
                  <a:pt x="1045083" y="1127760"/>
                  <a:pt x="556070" y="1113377"/>
                </a:cubicBezTo>
                <a:cubicBezTo>
                  <a:pt x="124492" y="1100709"/>
                  <a:pt x="0" y="1073944"/>
                  <a:pt x="0" y="1073944"/>
                </a:cubicBezTo>
                <a:lnTo>
                  <a:pt x="0" y="0"/>
                </a:lnTo>
                <a:lnTo>
                  <a:pt x="2391061" y="0"/>
                </a:lnTo>
                <a:lnTo>
                  <a:pt x="2392966" y="892493"/>
                </a:lnTo>
                <a:close/>
              </a:path>
            </a:pathLst>
          </a:custGeom>
          <a:gradFill xmlns:a="http://schemas.openxmlformats.org/drawingml/2006/main" flip="none" rotWithShape="1">
            <a:gsLst>
              <a:gs pos="50500">
                <a:srgbClr val="1766A9"/>
              </a:gs>
              <a:gs pos="0">
                <a:srgbClr val="2BA3C0"/>
              </a:gs>
              <a:gs pos="100000">
                <a:srgbClr val="005B94"/>
              </a:gs>
            </a:gsLst>
            <a:lin ang="8100000" scaled="1"/>
            <a:tileRect/>
          </a:gradFill>
          <a:ln xmlns:a="http://schemas.openxmlformats.org/drawingml/2006/main" w="9525" cap="flat">
            <a:noFill/>
            <a:prstDash val="solid"/>
            <a:miter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" name="日期占位符 1">
            <a:extLst xmlns:a="http://schemas.openxmlformats.org/drawingml/2006/main">
              <a:ext uri="{FF2B5EF4-FFF2-40B4-BE49-F238E27FC236}">
                <a16:creationId xmlns:a16="http://schemas.microsoft.com/office/drawing/2014/main" id="{267A321C-5F65-472B-BCD8-07338A586E57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3" name="页脚占位符 2">
            <a:extLst xmlns:a="http://schemas.openxmlformats.org/drawingml/2006/main">
              <a:ext uri="{FF2B5EF4-FFF2-40B4-BE49-F238E27FC236}">
                <a16:creationId xmlns:a16="http://schemas.microsoft.com/office/drawing/2014/main" id="{CB42BFF8-C660-4CAF-9033-767793F5CA08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灯片编号占位符 3">
            <a:extLst xmlns:a="http://schemas.openxmlformats.org/drawingml/2006/main">
              <a:ext uri="{FF2B5EF4-FFF2-40B4-BE49-F238E27FC236}">
                <a16:creationId xmlns:a16="http://schemas.microsoft.com/office/drawing/2014/main" id="{A9AE35A1-24B1-44B3-BDE7-E92A8BBD278A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pic>
        <p:nvPicPr>
          <p:cNvPr id="5" name="图形 4">
            <a:extLst xmlns:a="http://schemas.openxmlformats.org/drawingml/2006/main">
              <a:ext uri="{FF2B5EF4-FFF2-40B4-BE49-F238E27FC236}">
                <a16:creationId xmlns:a16="http://schemas.microsoft.com/office/drawing/2014/main" id="{4C8D0B35-17C3-42C7-91E8-870682F7F24A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8fbfd46d3c749ed">
            <a:extLst>
              <a:ext uri="{96DAC541-7B7A-43D3-8B79-37D633B846F1}">
                <asvg:svgBlip xmlns:asvg="http://schemas.microsoft.com/office/drawing/2016/SVG/main" r:embed="Rf414432fee8d4e9f"/>
              </a:ext>
            </a:extLst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251332" y="273748"/>
            <a:ext cx="3758048" cy="738188"/>
          </a:xfrm>
          <a:prstGeom xmlns:a="http://schemas.openxmlformats.org/drawingml/2006/main" prst="rect">
            <a:avLst/>
          </a:prstGeom>
        </p:spPr>
      </p:pic>
      <p:pic>
        <p:nvPicPr>
          <p:cNvPr id="7" name="图形 6">
            <a:extLst xmlns:a="http://schemas.openxmlformats.org/drawingml/2006/main">
              <a:ext uri="{FF2B5EF4-FFF2-40B4-BE49-F238E27FC236}">
                <a16:creationId xmlns:a16="http://schemas.microsoft.com/office/drawing/2014/main" id="{1F7E7852-5DD1-446D-8AD3-8CFF3C6E530F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6844f34c46f411f">
            <a:extLst>
              <a:ext uri="{96DAC541-7B7A-43D3-8B79-37D633B846F1}">
                <asvg:svgBlip xmlns:asvg="http://schemas.microsoft.com/office/drawing/2016/SVG/main" r:embed="R7a6fda33572e4618"/>
              </a:ext>
            </a:extLst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20700000">
            <a:off x="9845288" y="208238"/>
            <a:ext cx="2401315" cy="1700047"/>
          </a:xfrm>
          <a:prstGeom xmlns:a="http://schemas.openxmlformats.org/drawingml/2006/main" prst="rect">
            <a:avLst/>
          </a:prstGeom>
        </p:spPr>
      </p:pic>
      <p:pic>
        <p:nvPicPr>
          <p:cNvPr id="11" name="图片 10">
            <a:extLst xmlns:a="http://schemas.openxmlformats.org/drawingml/2006/main">
              <a:ext uri="{FF2B5EF4-FFF2-40B4-BE49-F238E27FC236}">
                <a16:creationId xmlns:a16="http://schemas.microsoft.com/office/drawing/2014/main" id="{2B0D2E70-C79B-4480-9FC3-23FDF2CB4A16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8ffb8baa63f4482">
            <a:biLevel thresh="75000"/>
          </a:blip>
          <a:srcRect xmlns:a="http://schemas.openxmlformats.org/drawingml/2006/main" l="0" t="0" r="0" b="79706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424561" y="-97236"/>
            <a:ext cx="3111762" cy="1036406"/>
          </a:xfrm>
          <a:prstGeom xmlns:a="http://schemas.openxmlformats.org/drawingml/2006/main" prst="rect">
            <a:avLst/>
          </a:prstGeom>
        </p:spPr>
      </p:pic>
      <p:sp>
        <p:nvSpPr>
          <p:cNvPr id="14" name="文本占位符 13">
            <a:extLst xmlns:a="http://schemas.openxmlformats.org/drawingml/2006/main">
              <a:ext uri="{FF2B5EF4-FFF2-40B4-BE49-F238E27FC236}">
                <a16:creationId xmlns:a16="http://schemas.microsoft.com/office/drawing/2014/main" id="{CD4CFDF3-CC91-45A2-B08A-975D9DDF74F2}"/>
              </a:ext>
            </a:extLst>
          </p:cNvPr>
          <p:cNvSpPr>
            <a:spLocks xmlns:a="http://schemas.openxmlformats.org/drawingml/2006/main" noGrp="1"/>
          </p:cNvSpPr>
          <p:nvPr>
            <p:ph type="body" idx="13" hasCustomPrompt="1"/>
          </p:nvPr>
        </p:nvSpPr>
        <p:spPr>
          <a:xfrm xmlns:a="http://schemas.openxmlformats.org/drawingml/2006/main">
            <a:off x="3872751" y="1843897"/>
            <a:ext cx="8175171" cy="1244600"/>
          </a:xfrm>
        </p:spPr>
        <p:txBody>
          <a:bodyPr xmlns:a="http://schemas.openxmlformats.org/drawingml/2006/main" anchor="ctr"/>
          <a:lstStyle xmlns:a="http://schemas.openxmlformats.org/drawingml/2006/main">
            <a:lvl1pPr algn="ctr">
              <a:buNone/>
              <a:defRPr sz="6400" kern="1200" spc="300">
                <a:solidFill>
                  <a:schemeClr val="bg1"/>
                </a:solidFill>
                <a:latin typeface="+mj-ea"/>
                <a:ea typeface="+mj-ea"/>
                <a:cs typeface="+mj-ea"/>
              </a:defRPr>
            </a:lvl1pPr>
          </a:lstStyle>
          <a:p xmlns:a="http://schemas.openxmlformats.org/drawingml/2006/main">
            <a:pPr lvl="0">
              <a:buNone/>
            </a:pPr>
            <a:r>
              <a:t>点击输入章节标题</a:t>
            </a:r>
            <a:endParaRPr/>
          </a:p>
        </p:txBody>
      </p:sp>
      <p:sp>
        <p:nvSpPr>
          <p:cNvPr id="27" name="内容占位符 26">
            <a:extLst xmlns:a="http://schemas.openxmlformats.org/drawingml/2006/main">
              <a:ext uri="{FF2B5EF4-FFF2-40B4-BE49-F238E27FC236}">
                <a16:creationId xmlns:a16="http://schemas.microsoft.com/office/drawing/2014/main" id="{9DD001A2-97DF-4DBE-A521-DC2F6DF0FA32}"/>
              </a:ext>
            </a:extLst>
          </p:cNvPr>
          <p:cNvSpPr>
            <a:spLocks xmlns:a="http://schemas.openxmlformats.org/drawingml/2006/main" noGrp="1"/>
          </p:cNvSpPr>
          <p:nvPr>
            <p:ph idx="14" hasCustomPrompt="1"/>
          </p:nvPr>
        </p:nvSpPr>
        <p:spPr>
          <a:xfrm xmlns:a="http://schemas.openxmlformats.org/drawingml/2006/main">
            <a:off x="3873500" y="3089275"/>
            <a:ext cx="8174038" cy="513379"/>
          </a:xfrm>
        </p:spPr>
        <p:txBody>
          <a:bodyPr xmlns:a="http://schemas.openxmlformats.org/drawingml/2006/main" anchor="ctr">
            <a:normAutofit/>
          </a:bodyPr>
          <a:lstStyle xmlns:a="http://schemas.openxmlformats.org/drawingml/2006/main">
            <a:lvl1pPr algn="ctr">
              <a:buNone/>
              <a:defRPr sz="2400" b="1">
                <a:solidFill>
                  <a:schemeClr val="bg1"/>
                </a:solidFill>
                <a:latin typeface="+mj-lt"/>
                <a:ea typeface="+mj-lt"/>
                <a:cs typeface="+mj-lt"/>
              </a:defRPr>
            </a:lvl1pPr>
          </a:lstStyle>
          <a:p xmlns:a="http://schemas.openxmlformats.org/drawingml/2006/main">
            <a:pPr lvl="0">
              <a:buNone/>
            </a:pPr>
            <a:r>
              <a:t>Click to Enter Chapter Title</a:t>
            </a:r>
            <a:endParaRPr/>
          </a:p>
        </p:txBody>
      </p:sp>
      <p:sp>
        <p:nvSpPr>
          <p:cNvPr id="35" name="任意多边形: 形状 9">
            <a:extLst xmlns:a="http://schemas.openxmlformats.org/drawingml/2006/main">
              <a:ext uri="{FF2B5EF4-FFF2-40B4-BE49-F238E27FC236}">
                <a16:creationId xmlns:a16="http://schemas.microsoft.com/office/drawing/2014/main" id="{A607160D-C590-4AF3-9944-4A23DC594D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464223" y="724017"/>
            <a:ext cx="108255" cy="35634"/>
          </a:xfrm>
          <a:custGeom xmlns:a="http://schemas.openxmlformats.org/drawingml/2006/main">
            <a:gdLst>
              <a:gd name="connsiteX0" fmla="*/ 8624 w 108255"/>
              <a:gd name="connsiteY0" fmla="*/ 0 h 35634"/>
              <a:gd name="connsiteX1" fmla="*/ 51 w 108255"/>
              <a:gd name="connsiteY1" fmla="*/ 12668 h 35634"/>
              <a:gd name="connsiteX2" fmla="*/ 23483 w 108255"/>
              <a:gd name="connsiteY2" fmla="*/ 31337 h 35634"/>
              <a:gd name="connsiteX3" fmla="*/ 62916 w 108255"/>
              <a:gd name="connsiteY3" fmla="*/ 35624 h 35634"/>
              <a:gd name="connsiteX4" fmla="*/ 108255 w 108255"/>
              <a:gd name="connsiteY4" fmla="*/ 29718 h 35634"/>
              <a:gd name="connsiteX5" fmla="*/ 39771 w 108255"/>
              <a:gd name="connsiteY5" fmla="*/ 10954 h 35634"/>
              <a:gd name="connsiteX6" fmla="*/ 8624 w 108255"/>
              <a:gd name="connsiteY6" fmla="*/ 0 h 35634"/>
            </a:gdLst>
            <a:rect l="l" t="t" r="r" b="b"/>
            <a:pathLst>
              <a:path w="108255" h="35634">
                <a:moveTo>
                  <a:pt x="8624" y="0"/>
                </a:moveTo>
                <a:cubicBezTo>
                  <a:pt x="3766" y="2096"/>
                  <a:pt x="-520" y="6858"/>
                  <a:pt x="51" y="12668"/>
                </a:cubicBezTo>
                <a:cubicBezTo>
                  <a:pt x="1099" y="23717"/>
                  <a:pt x="12720" y="28099"/>
                  <a:pt x="23483" y="31337"/>
                </a:cubicBezTo>
                <a:cubicBezTo>
                  <a:pt x="36627" y="35243"/>
                  <a:pt x="50724" y="35719"/>
                  <a:pt x="62916" y="35624"/>
                </a:cubicBezTo>
                <a:cubicBezTo>
                  <a:pt x="75489" y="35433"/>
                  <a:pt x="89015" y="34766"/>
                  <a:pt x="108255" y="29718"/>
                </a:cubicBezTo>
                <a:cubicBezTo>
                  <a:pt x="86157" y="24860"/>
                  <a:pt x="63202" y="18574"/>
                  <a:pt x="39771" y="10954"/>
                </a:cubicBezTo>
                <a:cubicBezTo>
                  <a:pt x="28341" y="7239"/>
                  <a:pt x="18054" y="3620"/>
                  <a:pt x="8624" y="0"/>
                </a:cubicBezTo>
                <a:close/>
              </a:path>
            </a:pathLst>
          </a:custGeom>
          <a:solidFill xmlns:a="http://schemas.openxmlformats.org/drawingml/2006/main">
            <a:srgbClr val="E3EEF5"/>
          </a:solidFill>
          <a:ln xmlns:a="http://schemas.openxmlformats.org/drawingml/2006/main" w="3175" cap="flat">
            <a:solidFill>
              <a:schemeClr val="accent1"/>
            </a:solidFill>
            <a:prstDash val="solid"/>
            <a:miter/>
          </a:ln>
        </p:spPr>
        <p:txBody>
          <a:bodyPr xmlns:a="http://schemas.openxmlformats.org/drawingml/2006/main" rot="0" spcFirstLastPara="0" vert="horz" wrap="square" lIns="91440" tIns="45720" rIns="91440" bIns="45720" anchor="ctr">
            <a:noAutofit/>
          </a:bodyPr>
          <a:lstStyle xmlns:a="http://schemas.openxmlformats.org/drawingml/2006/main">
            <a:lvl1pPr marL="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457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8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2860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743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200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657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endParaRPr/>
          </a:p>
        </p:txBody>
      </p:sp>
      <p:sp>
        <p:nvSpPr>
          <p:cNvPr id="36" name="任意多边形: 形状 11">
            <a:extLst xmlns:a="http://schemas.openxmlformats.org/drawingml/2006/main">
              <a:ext uri="{FF2B5EF4-FFF2-40B4-BE49-F238E27FC236}">
                <a16:creationId xmlns:a16="http://schemas.microsoft.com/office/drawing/2014/main" id="{FF72D1D4-F9D2-4E58-BAF6-258FD89815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361074" y="572876"/>
            <a:ext cx="204070" cy="172762"/>
          </a:xfrm>
          <a:custGeom xmlns:a="http://schemas.openxmlformats.org/drawingml/2006/main">
            <a:gdLst>
              <a:gd name="connsiteX0" fmla="*/ 204070 w 204070"/>
              <a:gd name="connsiteY0" fmla="*/ 172763 h 172762"/>
              <a:gd name="connsiteX1" fmla="*/ 117393 w 204070"/>
              <a:gd name="connsiteY1" fmla="*/ 101325 h 172762"/>
              <a:gd name="connsiteX2" fmla="*/ 45384 w 204070"/>
              <a:gd name="connsiteY2" fmla="*/ 1217 h 172762"/>
              <a:gd name="connsiteX3" fmla="*/ 19857 w 204070"/>
              <a:gd name="connsiteY3" fmla="*/ 2646 h 172762"/>
              <a:gd name="connsiteX4" fmla="*/ 140 w 204070"/>
              <a:gd name="connsiteY4" fmla="*/ 39032 h 172762"/>
              <a:gd name="connsiteX5" fmla="*/ 19952 w 204070"/>
              <a:gd name="connsiteY5" fmla="*/ 81894 h 172762"/>
              <a:gd name="connsiteX6" fmla="*/ 31287 w 204070"/>
              <a:gd name="connsiteY6" fmla="*/ 93134 h 172762"/>
              <a:gd name="connsiteX7" fmla="*/ 33573 w 204070"/>
              <a:gd name="connsiteY7" fmla="*/ 95229 h 172762"/>
              <a:gd name="connsiteX8" fmla="*/ 87770 w 204070"/>
              <a:gd name="connsiteY8" fmla="*/ 134186 h 172762"/>
              <a:gd name="connsiteX9" fmla="*/ 144920 w 204070"/>
              <a:gd name="connsiteY9" fmla="*/ 155999 h 172762"/>
              <a:gd name="connsiteX10" fmla="*/ 204070 w 204070"/>
              <a:gd name="connsiteY10" fmla="*/ 172667 h 172762"/>
            </a:gdLst>
            <a:rect l="l" t="t" r="r" b="b"/>
            <a:pathLst>
              <a:path w="204070" h="172762">
                <a:moveTo>
                  <a:pt x="204070" y="172763"/>
                </a:moveTo>
                <a:cubicBezTo>
                  <a:pt x="174828" y="155332"/>
                  <a:pt x="146349" y="131900"/>
                  <a:pt x="117393" y="101325"/>
                </a:cubicBezTo>
                <a:cubicBezTo>
                  <a:pt x="83198" y="65130"/>
                  <a:pt x="60719" y="33888"/>
                  <a:pt x="45384" y="1217"/>
                </a:cubicBezTo>
                <a:cubicBezTo>
                  <a:pt x="31763" y="-1450"/>
                  <a:pt x="25095" y="836"/>
                  <a:pt x="19857" y="2646"/>
                </a:cubicBezTo>
                <a:cubicBezTo>
                  <a:pt x="3759" y="8361"/>
                  <a:pt x="-908" y="25220"/>
                  <a:pt x="140" y="39032"/>
                </a:cubicBezTo>
                <a:cubicBezTo>
                  <a:pt x="1283" y="54367"/>
                  <a:pt x="7760" y="68369"/>
                  <a:pt x="19952" y="81894"/>
                </a:cubicBezTo>
                <a:cubicBezTo>
                  <a:pt x="23476" y="85799"/>
                  <a:pt x="27477" y="89514"/>
                  <a:pt x="31287" y="93134"/>
                </a:cubicBezTo>
                <a:lnTo>
                  <a:pt x="33573" y="95229"/>
                </a:lnTo>
                <a:cubicBezTo>
                  <a:pt x="53385" y="113898"/>
                  <a:pt x="70530" y="126281"/>
                  <a:pt x="87770" y="134186"/>
                </a:cubicBezTo>
                <a:cubicBezTo>
                  <a:pt x="103867" y="141616"/>
                  <a:pt x="121965" y="148474"/>
                  <a:pt x="144920" y="155999"/>
                </a:cubicBezTo>
                <a:cubicBezTo>
                  <a:pt x="165018" y="162571"/>
                  <a:pt x="184830" y="168191"/>
                  <a:pt x="204070" y="172667"/>
                </a:cubicBezTo>
                <a:close/>
              </a:path>
            </a:pathLst>
          </a:custGeom>
          <a:solidFill xmlns:a="http://schemas.openxmlformats.org/drawingml/2006/main">
            <a:srgbClr val="E3EEF5"/>
          </a:solidFill>
          <a:ln xmlns:a="http://schemas.openxmlformats.org/drawingml/2006/main" w="3175" cap="flat">
            <a:solidFill>
              <a:schemeClr val="accent1"/>
            </a:solidFill>
            <a:prstDash val="solid"/>
            <a:miter/>
          </a:ln>
        </p:spPr>
        <p:txBody>
          <a:bodyPr xmlns:a="http://schemas.openxmlformats.org/drawingml/2006/main" rot="0" spcFirstLastPara="0" vert="horz" wrap="square" lIns="91440" tIns="45720" rIns="91440" bIns="45720" anchor="ctr">
            <a:noAutofit/>
          </a:bodyPr>
          <a:lstStyle xmlns:a="http://schemas.openxmlformats.org/drawingml/2006/main">
            <a:lvl1pPr marL="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457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8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2860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743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200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657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endParaRPr/>
          </a:p>
        </p:txBody>
      </p:sp>
      <p:sp>
        <p:nvSpPr>
          <p:cNvPr id="37" name="任意多边形: 形状 14">
            <a:extLst xmlns:a="http://schemas.openxmlformats.org/drawingml/2006/main">
              <a:ext uri="{FF2B5EF4-FFF2-40B4-BE49-F238E27FC236}">
                <a16:creationId xmlns:a16="http://schemas.microsoft.com/office/drawing/2014/main" id="{7B772ADC-DA9B-401C-8576-68B41BEC07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482696" y="362216"/>
            <a:ext cx="112832" cy="382184"/>
          </a:xfrm>
          <a:custGeom xmlns:a="http://schemas.openxmlformats.org/drawingml/2006/main">
            <a:gdLst>
              <a:gd name="connsiteX0" fmla="*/ 95497 w 112832"/>
              <a:gd name="connsiteY0" fmla="*/ 121961 h 382184"/>
              <a:gd name="connsiteX1" fmla="*/ 97687 w 112832"/>
              <a:gd name="connsiteY1" fmla="*/ 98435 h 382184"/>
              <a:gd name="connsiteX2" fmla="*/ 107879 w 112832"/>
              <a:gd name="connsiteY2" fmla="*/ 37094 h 382184"/>
              <a:gd name="connsiteX3" fmla="*/ 112832 w 112832"/>
              <a:gd name="connsiteY3" fmla="*/ 22711 h 382184"/>
              <a:gd name="connsiteX4" fmla="*/ 84257 w 112832"/>
              <a:gd name="connsiteY4" fmla="*/ 4518 h 382184"/>
              <a:gd name="connsiteX5" fmla="*/ 38728 w 112832"/>
              <a:gd name="connsiteY5" fmla="*/ 6899 h 382184"/>
              <a:gd name="connsiteX6" fmla="*/ 1390 w 112832"/>
              <a:gd name="connsiteY6" fmla="*/ 69764 h 382184"/>
              <a:gd name="connsiteX7" fmla="*/ 16439 w 112832"/>
              <a:gd name="connsiteY7" fmla="*/ 205686 h 382184"/>
              <a:gd name="connsiteX8" fmla="*/ 63302 w 112832"/>
              <a:gd name="connsiteY8" fmla="*/ 330273 h 382184"/>
              <a:gd name="connsiteX9" fmla="*/ 98545 w 112832"/>
              <a:gd name="connsiteY9" fmla="*/ 382184 h 382184"/>
              <a:gd name="connsiteX10" fmla="*/ 90067 w 112832"/>
              <a:gd name="connsiteY10" fmla="*/ 235880 h 382184"/>
              <a:gd name="connsiteX11" fmla="*/ 95497 w 112832"/>
              <a:gd name="connsiteY11" fmla="*/ 121866 h 382184"/>
            </a:gdLst>
            <a:rect l="l" t="t" r="r" b="b"/>
            <a:pathLst>
              <a:path w="112832" h="382184">
                <a:moveTo>
                  <a:pt x="95497" y="121961"/>
                </a:moveTo>
                <a:cubicBezTo>
                  <a:pt x="96163" y="115103"/>
                  <a:pt x="96925" y="107769"/>
                  <a:pt x="97687" y="98435"/>
                </a:cubicBezTo>
                <a:cubicBezTo>
                  <a:pt x="99116" y="81099"/>
                  <a:pt x="101497" y="58525"/>
                  <a:pt x="107879" y="37094"/>
                </a:cubicBezTo>
                <a:cubicBezTo>
                  <a:pt x="109403" y="31950"/>
                  <a:pt x="111118" y="27283"/>
                  <a:pt x="112832" y="22711"/>
                </a:cubicBezTo>
                <a:cubicBezTo>
                  <a:pt x="106831" y="17663"/>
                  <a:pt x="95116" y="9281"/>
                  <a:pt x="84257" y="4518"/>
                </a:cubicBezTo>
                <a:cubicBezTo>
                  <a:pt x="68731" y="-2245"/>
                  <a:pt x="53015" y="-1387"/>
                  <a:pt x="38728" y="6899"/>
                </a:cubicBezTo>
                <a:cubicBezTo>
                  <a:pt x="18820" y="18425"/>
                  <a:pt x="4152" y="43190"/>
                  <a:pt x="1390" y="69764"/>
                </a:cubicBezTo>
                <a:cubicBezTo>
                  <a:pt x="-3849" y="118818"/>
                  <a:pt x="6724" y="168158"/>
                  <a:pt x="16439" y="205686"/>
                </a:cubicBezTo>
                <a:cubicBezTo>
                  <a:pt x="28155" y="250739"/>
                  <a:pt x="44347" y="293793"/>
                  <a:pt x="63302" y="330273"/>
                </a:cubicBezTo>
                <a:cubicBezTo>
                  <a:pt x="74351" y="351419"/>
                  <a:pt x="85876" y="368469"/>
                  <a:pt x="98545" y="382184"/>
                </a:cubicBezTo>
                <a:cubicBezTo>
                  <a:pt x="93877" y="341036"/>
                  <a:pt x="89115" y="289030"/>
                  <a:pt x="90067" y="235880"/>
                </a:cubicBezTo>
                <a:cubicBezTo>
                  <a:pt x="91401" y="163300"/>
                  <a:pt x="93211" y="145012"/>
                  <a:pt x="95497" y="121866"/>
                </a:cubicBezTo>
                <a:close/>
              </a:path>
            </a:pathLst>
          </a:custGeom>
          <a:solidFill xmlns:a="http://schemas.openxmlformats.org/drawingml/2006/main">
            <a:srgbClr val="E3EEF5"/>
          </a:solidFill>
          <a:ln xmlns:a="http://schemas.openxmlformats.org/drawingml/2006/main" w="3175" cap="flat">
            <a:solidFill>
              <a:schemeClr val="accent1"/>
            </a:solidFill>
            <a:prstDash val="solid"/>
            <a:miter/>
          </a:ln>
        </p:spPr>
        <p:txBody>
          <a:bodyPr xmlns:a="http://schemas.openxmlformats.org/drawingml/2006/main" rot="0" spcFirstLastPara="0" vert="horz" wrap="square" lIns="91440" tIns="45720" rIns="91440" bIns="45720" anchor="ctr">
            <a:noAutofit/>
          </a:bodyPr>
          <a:lstStyle xmlns:a="http://schemas.openxmlformats.org/drawingml/2006/main">
            <a:lvl1pPr marL="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457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8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2860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743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200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657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endParaRPr/>
          </a:p>
        </p:txBody>
      </p:sp>
      <p:sp>
        <p:nvSpPr>
          <p:cNvPr id="38" name="任意多边形: 形状 15">
            <a:extLst xmlns:a="http://schemas.openxmlformats.org/drawingml/2006/main">
              <a:ext uri="{FF2B5EF4-FFF2-40B4-BE49-F238E27FC236}">
                <a16:creationId xmlns:a16="http://schemas.microsoft.com/office/drawing/2014/main" id="{67F0E322-1F51-42AB-87F9-5A08633790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578926" y="339269"/>
            <a:ext cx="142405" cy="404369"/>
          </a:xfrm>
          <a:custGeom xmlns:a="http://schemas.openxmlformats.org/drawingml/2006/main">
            <a:gdLst>
              <a:gd name="connsiteX0" fmla="*/ 117568 w 142405"/>
              <a:gd name="connsiteY0" fmla="*/ 169578 h 404369"/>
              <a:gd name="connsiteX1" fmla="*/ 125283 w 142405"/>
              <a:gd name="connsiteY1" fmla="*/ 147099 h 404369"/>
              <a:gd name="connsiteX2" fmla="*/ 140809 w 142405"/>
              <a:gd name="connsiteY2" fmla="*/ 88234 h 404369"/>
              <a:gd name="connsiteX3" fmla="*/ 134522 w 142405"/>
              <a:gd name="connsiteY3" fmla="*/ 29370 h 404369"/>
              <a:gd name="connsiteX4" fmla="*/ 95089 w 142405"/>
              <a:gd name="connsiteY4" fmla="*/ 1462 h 404369"/>
              <a:gd name="connsiteX5" fmla="*/ 94136 w 142405"/>
              <a:gd name="connsiteY5" fmla="*/ 1271 h 404369"/>
              <a:gd name="connsiteX6" fmla="*/ 47559 w 142405"/>
              <a:gd name="connsiteY6" fmla="*/ 10796 h 404369"/>
              <a:gd name="connsiteX7" fmla="*/ 17651 w 142405"/>
              <a:gd name="connsiteY7" fmla="*/ 61850 h 404369"/>
              <a:gd name="connsiteX8" fmla="*/ 7649 w 142405"/>
              <a:gd name="connsiteY8" fmla="*/ 121858 h 404369"/>
              <a:gd name="connsiteX9" fmla="*/ 5459 w 142405"/>
              <a:gd name="connsiteY9" fmla="*/ 145480 h 404369"/>
              <a:gd name="connsiteX10" fmla="*/ 125 w 142405"/>
              <a:gd name="connsiteY10" fmla="*/ 259018 h 404369"/>
              <a:gd name="connsiteX11" fmla="*/ 8507 w 142405"/>
              <a:gd name="connsiteY11" fmla="*/ 404369 h 404369"/>
              <a:gd name="connsiteX12" fmla="*/ 75848 w 142405"/>
              <a:gd name="connsiteY12" fmla="*/ 275210 h 404369"/>
              <a:gd name="connsiteX13" fmla="*/ 117568 w 142405"/>
              <a:gd name="connsiteY13" fmla="*/ 169483 h 404369"/>
            </a:gdLst>
            <a:rect l="l" t="t" r="r" b="b"/>
            <a:pathLst>
              <a:path w="142405" h="404369">
                <a:moveTo>
                  <a:pt x="117568" y="169578"/>
                </a:moveTo>
                <a:cubicBezTo>
                  <a:pt x="119759" y="163006"/>
                  <a:pt x="122140" y="155957"/>
                  <a:pt x="125283" y="147099"/>
                </a:cubicBezTo>
                <a:cubicBezTo>
                  <a:pt x="130998" y="131002"/>
                  <a:pt x="137952" y="109856"/>
                  <a:pt x="140809" y="88234"/>
                </a:cubicBezTo>
                <a:cubicBezTo>
                  <a:pt x="144238" y="62612"/>
                  <a:pt x="142142" y="43372"/>
                  <a:pt x="134522" y="29370"/>
                </a:cubicBezTo>
                <a:cubicBezTo>
                  <a:pt x="126998" y="15559"/>
                  <a:pt x="111662" y="4605"/>
                  <a:pt x="95089" y="1462"/>
                </a:cubicBezTo>
                <a:cubicBezTo>
                  <a:pt x="94803" y="1462"/>
                  <a:pt x="94422" y="1366"/>
                  <a:pt x="94136" y="1271"/>
                </a:cubicBezTo>
                <a:cubicBezTo>
                  <a:pt x="77944" y="-2158"/>
                  <a:pt x="59846" y="1462"/>
                  <a:pt x="47559" y="10796"/>
                </a:cubicBezTo>
                <a:cubicBezTo>
                  <a:pt x="34796" y="20416"/>
                  <a:pt x="24985" y="37180"/>
                  <a:pt x="17651" y="61850"/>
                </a:cubicBezTo>
                <a:cubicBezTo>
                  <a:pt x="11459" y="82710"/>
                  <a:pt x="9078" y="104903"/>
                  <a:pt x="7649" y="121858"/>
                </a:cubicBezTo>
                <a:cubicBezTo>
                  <a:pt x="6887" y="131192"/>
                  <a:pt x="6125" y="138526"/>
                  <a:pt x="5459" y="145480"/>
                </a:cubicBezTo>
                <a:cubicBezTo>
                  <a:pt x="3173" y="168530"/>
                  <a:pt x="1458" y="186628"/>
                  <a:pt x="125" y="259018"/>
                </a:cubicBezTo>
                <a:cubicBezTo>
                  <a:pt x="-828" y="311691"/>
                  <a:pt x="3839" y="363507"/>
                  <a:pt x="8507" y="404369"/>
                </a:cubicBezTo>
                <a:cubicBezTo>
                  <a:pt x="29557" y="368936"/>
                  <a:pt x="55084" y="323692"/>
                  <a:pt x="75848" y="275210"/>
                </a:cubicBezTo>
                <a:cubicBezTo>
                  <a:pt x="104328" y="208726"/>
                  <a:pt x="110138" y="191390"/>
                  <a:pt x="117568" y="169483"/>
                </a:cubicBezTo>
                <a:close/>
              </a:path>
            </a:pathLst>
          </a:custGeom>
          <a:solidFill xmlns:a="http://schemas.openxmlformats.org/drawingml/2006/main">
            <a:srgbClr val="E3EEF5"/>
          </a:solidFill>
          <a:ln xmlns:a="http://schemas.openxmlformats.org/drawingml/2006/main" w="3175" cap="flat">
            <a:solidFill>
              <a:schemeClr val="accent1"/>
            </a:solidFill>
            <a:prstDash val="solid"/>
            <a:miter/>
          </a:ln>
        </p:spPr>
        <p:txBody>
          <a:bodyPr xmlns:a="http://schemas.openxmlformats.org/drawingml/2006/main" rot="0" spcFirstLastPara="0" vert="horz" wrap="square" lIns="91440" tIns="45720" rIns="91440" bIns="45720" anchor="ctr">
            <a:noAutofit/>
          </a:bodyPr>
          <a:lstStyle xmlns:a="http://schemas.openxmlformats.org/drawingml/2006/main">
            <a:lvl1pPr marL="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457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8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2860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743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200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657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endParaRPr/>
          </a:p>
        </p:txBody>
      </p:sp>
      <p:sp>
        <p:nvSpPr>
          <p:cNvPr id="39" name="任意多边形: 形状 16">
            <a:extLst xmlns:a="http://schemas.openxmlformats.org/drawingml/2006/main">
              <a:ext uri="{FF2B5EF4-FFF2-40B4-BE49-F238E27FC236}">
                <a16:creationId xmlns:a16="http://schemas.microsoft.com/office/drawing/2014/main" id="{06B09F85-9543-4115-90A0-8AA339A8DC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395923" y="422062"/>
            <a:ext cx="174174" cy="319195"/>
          </a:xfrm>
          <a:custGeom xmlns:a="http://schemas.openxmlformats.org/drawingml/2006/main">
            <a:gdLst>
              <a:gd name="connsiteX0" fmla="*/ 87116 w 174174"/>
              <a:gd name="connsiteY0" fmla="*/ 247853 h 319195"/>
              <a:gd name="connsiteX1" fmla="*/ 174174 w 174174"/>
              <a:gd name="connsiteY1" fmla="*/ 319195 h 319195"/>
              <a:gd name="connsiteX2" fmla="*/ 144456 w 174174"/>
              <a:gd name="connsiteY2" fmla="*/ 273380 h 319195"/>
              <a:gd name="connsiteX3" fmla="*/ 97117 w 174174"/>
              <a:gd name="connsiteY3" fmla="*/ 147555 h 319195"/>
              <a:gd name="connsiteX4" fmla="*/ 81782 w 174174"/>
              <a:gd name="connsiteY4" fmla="*/ 10966 h 319195"/>
              <a:gd name="connsiteX5" fmla="*/ 53111 w 174174"/>
              <a:gd name="connsiteY5" fmla="*/ 13 h 319195"/>
              <a:gd name="connsiteX6" fmla="*/ 12344 w 174174"/>
              <a:gd name="connsiteY6" fmla="*/ 22492 h 319195"/>
              <a:gd name="connsiteX7" fmla="*/ 13011 w 174174"/>
              <a:gd name="connsiteY7" fmla="*/ 141935 h 319195"/>
              <a:gd name="connsiteX8" fmla="*/ 87211 w 174174"/>
              <a:gd name="connsiteY8" fmla="*/ 247758 h 319195"/>
            </a:gdLst>
            <a:rect l="l" t="t" r="r" b="b"/>
            <a:pathLst>
              <a:path w="174174" h="319195">
                <a:moveTo>
                  <a:pt x="87116" y="247853"/>
                </a:moveTo>
                <a:cubicBezTo>
                  <a:pt x="116167" y="278619"/>
                  <a:pt x="144837" y="302050"/>
                  <a:pt x="174174" y="319195"/>
                </a:cubicBezTo>
                <a:cubicBezTo>
                  <a:pt x="163601" y="306527"/>
                  <a:pt x="153791" y="291382"/>
                  <a:pt x="144456" y="273380"/>
                </a:cubicBezTo>
                <a:cubicBezTo>
                  <a:pt x="125311" y="236518"/>
                  <a:pt x="108928" y="192989"/>
                  <a:pt x="97117" y="147555"/>
                </a:cubicBezTo>
                <a:cubicBezTo>
                  <a:pt x="87306" y="109931"/>
                  <a:pt x="76829" y="60496"/>
                  <a:pt x="81782" y="10966"/>
                </a:cubicBezTo>
                <a:cubicBezTo>
                  <a:pt x="74447" y="4299"/>
                  <a:pt x="62636" y="-273"/>
                  <a:pt x="53111" y="13"/>
                </a:cubicBezTo>
                <a:cubicBezTo>
                  <a:pt x="35109" y="679"/>
                  <a:pt x="21393" y="8204"/>
                  <a:pt x="12344" y="22492"/>
                </a:cubicBezTo>
                <a:cubicBezTo>
                  <a:pt x="-8325" y="55162"/>
                  <a:pt x="533" y="113074"/>
                  <a:pt x="13011" y="141935"/>
                </a:cubicBezTo>
                <a:cubicBezTo>
                  <a:pt x="28061" y="176797"/>
                  <a:pt x="50921" y="209372"/>
                  <a:pt x="87211" y="247758"/>
                </a:cubicBezTo>
                <a:close/>
              </a:path>
            </a:pathLst>
          </a:custGeom>
          <a:solidFill xmlns:a="http://schemas.openxmlformats.org/drawingml/2006/main">
            <a:srgbClr val="E3EEF5"/>
          </a:solidFill>
          <a:ln xmlns:a="http://schemas.openxmlformats.org/drawingml/2006/main" w="3175" cap="flat">
            <a:solidFill>
              <a:schemeClr val="accent1"/>
            </a:solidFill>
            <a:prstDash val="solid"/>
            <a:miter/>
          </a:ln>
        </p:spPr>
        <p:txBody>
          <a:bodyPr xmlns:a="http://schemas.openxmlformats.org/drawingml/2006/main" rot="0" spcFirstLastPara="0" vert="horz" wrap="square" lIns="91440" tIns="45720" rIns="91440" bIns="45720" anchor="ctr">
            <a:noAutofit/>
          </a:bodyPr>
          <a:lstStyle xmlns:a="http://schemas.openxmlformats.org/drawingml/2006/main">
            <a:lvl1pPr marL="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457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8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2860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743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200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657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endParaRPr/>
          </a:p>
        </p:txBody>
      </p:sp>
      <p:sp>
        <p:nvSpPr>
          <p:cNvPr id="40" name="任意多边形: 形状 17">
            <a:extLst xmlns:a="http://schemas.openxmlformats.org/drawingml/2006/main">
              <a:ext uri="{FF2B5EF4-FFF2-40B4-BE49-F238E27FC236}">
                <a16:creationId xmlns:a16="http://schemas.microsoft.com/office/drawing/2014/main" id="{69C529A1-CD27-4BFB-A80F-8AC004FAE6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604387" y="503624"/>
            <a:ext cx="269979" cy="244967"/>
          </a:xfrm>
          <a:custGeom xmlns:a="http://schemas.openxmlformats.org/drawingml/2006/main">
            <a:gdLst>
              <a:gd name="connsiteX0" fmla="*/ 45910 w 269979"/>
              <a:gd name="connsiteY0" fmla="*/ 215440 h 244967"/>
              <a:gd name="connsiteX1" fmla="*/ 0 w 269979"/>
              <a:gd name="connsiteY1" fmla="*/ 244967 h 244967"/>
              <a:gd name="connsiteX2" fmla="*/ 108680 w 269979"/>
              <a:gd name="connsiteY2" fmla="*/ 215630 h 244967"/>
              <a:gd name="connsiteX3" fmla="*/ 219742 w 269979"/>
              <a:gd name="connsiteY3" fmla="*/ 149622 h 244967"/>
              <a:gd name="connsiteX4" fmla="*/ 269367 w 269979"/>
              <a:gd name="connsiteY4" fmla="*/ 40942 h 244967"/>
              <a:gd name="connsiteX5" fmla="*/ 241459 w 269979"/>
              <a:gd name="connsiteY5" fmla="*/ 3699 h 244967"/>
              <a:gd name="connsiteX6" fmla="*/ 210788 w 269979"/>
              <a:gd name="connsiteY6" fmla="*/ 1889 h 244967"/>
              <a:gd name="connsiteX7" fmla="*/ 140779 w 269979"/>
              <a:gd name="connsiteY7" fmla="*/ 120094 h 244967"/>
              <a:gd name="connsiteX8" fmla="*/ 45910 w 269979"/>
              <a:gd name="connsiteY8" fmla="*/ 215440 h 244967"/>
            </a:gdLst>
            <a:rect l="l" t="t" r="r" b="b"/>
            <a:pathLst>
              <a:path w="269979" h="244967">
                <a:moveTo>
                  <a:pt x="45910" y="215440"/>
                </a:moveTo>
                <a:cubicBezTo>
                  <a:pt x="30004" y="228013"/>
                  <a:pt x="14859" y="237728"/>
                  <a:pt x="0" y="244967"/>
                </a:cubicBezTo>
                <a:cubicBezTo>
                  <a:pt x="33814" y="241348"/>
                  <a:pt x="69532" y="231727"/>
                  <a:pt x="108680" y="215630"/>
                </a:cubicBezTo>
                <a:cubicBezTo>
                  <a:pt x="157544" y="195532"/>
                  <a:pt x="191738" y="175149"/>
                  <a:pt x="219742" y="149622"/>
                </a:cubicBezTo>
                <a:cubicBezTo>
                  <a:pt x="242983" y="128381"/>
                  <a:pt x="274796" y="79137"/>
                  <a:pt x="269367" y="40942"/>
                </a:cubicBezTo>
                <a:cubicBezTo>
                  <a:pt x="266986" y="24178"/>
                  <a:pt x="257556" y="11700"/>
                  <a:pt x="241459" y="3699"/>
                </a:cubicBezTo>
                <a:cubicBezTo>
                  <a:pt x="232981" y="-492"/>
                  <a:pt x="220123" y="-1159"/>
                  <a:pt x="210788" y="1889"/>
                </a:cubicBezTo>
                <a:cubicBezTo>
                  <a:pt x="194977" y="49038"/>
                  <a:pt x="165068" y="89805"/>
                  <a:pt x="140779" y="120094"/>
                </a:cubicBezTo>
                <a:cubicBezTo>
                  <a:pt x="111347" y="156766"/>
                  <a:pt x="78486" y="189722"/>
                  <a:pt x="45910" y="215440"/>
                </a:cubicBezTo>
                <a:close/>
              </a:path>
            </a:pathLst>
          </a:custGeom>
          <a:solidFill xmlns:a="http://schemas.openxmlformats.org/drawingml/2006/main">
            <a:srgbClr val="E3EEF5"/>
          </a:solidFill>
          <a:ln xmlns:a="http://schemas.openxmlformats.org/drawingml/2006/main" w="3175" cap="flat">
            <a:solidFill>
              <a:schemeClr val="accent1"/>
            </a:solidFill>
            <a:prstDash val="solid"/>
            <a:miter/>
          </a:ln>
        </p:spPr>
        <p:txBody>
          <a:bodyPr xmlns:a="http://schemas.openxmlformats.org/drawingml/2006/main" rot="0" spcFirstLastPara="0" vert="horz" wrap="square" lIns="91440" tIns="45720" rIns="91440" bIns="45720" anchor="ctr">
            <a:noAutofit/>
          </a:bodyPr>
          <a:lstStyle xmlns:a="http://schemas.openxmlformats.org/drawingml/2006/main">
            <a:lvl1pPr marL="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457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8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2860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743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200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657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endParaRPr/>
          </a:p>
        </p:txBody>
      </p:sp>
      <p:sp>
        <p:nvSpPr>
          <p:cNvPr id="41" name="任意多边形: 形状 18">
            <a:extLst xmlns:a="http://schemas.openxmlformats.org/drawingml/2006/main">
              <a:ext uri="{FF2B5EF4-FFF2-40B4-BE49-F238E27FC236}">
                <a16:creationId xmlns:a16="http://schemas.microsoft.com/office/drawing/2014/main" id="{CA0C9095-E395-409F-8FB7-F0D40AAA01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607244" y="663343"/>
            <a:ext cx="246245" cy="104018"/>
          </a:xfrm>
          <a:custGeom xmlns:a="http://schemas.openxmlformats.org/drawingml/2006/main">
            <a:gdLst>
              <a:gd name="connsiteX0" fmla="*/ 237649 w 246245"/>
              <a:gd name="connsiteY0" fmla="*/ 11811 h 104018"/>
              <a:gd name="connsiteX1" fmla="*/ 214979 w 246245"/>
              <a:gd name="connsiteY1" fmla="*/ 0 h 104018"/>
              <a:gd name="connsiteX2" fmla="*/ 108299 w 246245"/>
              <a:gd name="connsiteY2" fmla="*/ 61817 h 104018"/>
              <a:gd name="connsiteX3" fmla="*/ 0 w 246245"/>
              <a:gd name="connsiteY3" fmla="*/ 91345 h 104018"/>
              <a:gd name="connsiteX4" fmla="*/ 60674 w 246245"/>
              <a:gd name="connsiteY4" fmla="*/ 100394 h 104018"/>
              <a:gd name="connsiteX5" fmla="*/ 121730 w 246245"/>
              <a:gd name="connsiteY5" fmla="*/ 104013 h 104018"/>
              <a:gd name="connsiteX6" fmla="*/ 187166 w 246245"/>
              <a:gd name="connsiteY6" fmla="*/ 90678 h 104018"/>
              <a:gd name="connsiteX7" fmla="*/ 190024 w 246245"/>
              <a:gd name="connsiteY7" fmla="*/ 89725 h 104018"/>
              <a:gd name="connsiteX8" fmla="*/ 204978 w 246245"/>
              <a:gd name="connsiteY8" fmla="*/ 84106 h 104018"/>
              <a:gd name="connsiteX9" fmla="*/ 240697 w 246245"/>
              <a:gd name="connsiteY9" fmla="*/ 53149 h 104018"/>
              <a:gd name="connsiteX10" fmla="*/ 237649 w 246245"/>
              <a:gd name="connsiteY10" fmla="*/ 11906 h 104018"/>
            </a:gdLst>
            <a:rect l="l" t="t" r="r" b="b"/>
            <a:pathLst>
              <a:path w="246245" h="104018">
                <a:moveTo>
                  <a:pt x="237649" y="11811"/>
                </a:moveTo>
                <a:cubicBezTo>
                  <a:pt x="233553" y="7906"/>
                  <a:pt x="228505" y="3143"/>
                  <a:pt x="214979" y="0"/>
                </a:cubicBezTo>
                <a:cubicBezTo>
                  <a:pt x="187547" y="23527"/>
                  <a:pt x="154305" y="42863"/>
                  <a:pt x="108299" y="61817"/>
                </a:cubicBezTo>
                <a:cubicBezTo>
                  <a:pt x="69437" y="77819"/>
                  <a:pt x="33814" y="87440"/>
                  <a:pt x="0" y="91345"/>
                </a:cubicBezTo>
                <a:cubicBezTo>
                  <a:pt x="19336" y="95059"/>
                  <a:pt x="39719" y="98107"/>
                  <a:pt x="60674" y="100394"/>
                </a:cubicBezTo>
                <a:cubicBezTo>
                  <a:pt x="84582" y="102965"/>
                  <a:pt x="104013" y="104108"/>
                  <a:pt x="121730" y="104013"/>
                </a:cubicBezTo>
                <a:cubicBezTo>
                  <a:pt x="140684" y="103823"/>
                  <a:pt x="161449" y="99631"/>
                  <a:pt x="187166" y="90678"/>
                </a:cubicBezTo>
                <a:lnTo>
                  <a:pt x="190024" y="89725"/>
                </a:lnTo>
                <a:cubicBezTo>
                  <a:pt x="194977" y="88011"/>
                  <a:pt x="200120" y="86201"/>
                  <a:pt x="204978" y="84106"/>
                </a:cubicBezTo>
                <a:cubicBezTo>
                  <a:pt x="221647" y="76772"/>
                  <a:pt x="233363" y="66675"/>
                  <a:pt x="240697" y="53149"/>
                </a:cubicBezTo>
                <a:cubicBezTo>
                  <a:pt x="247269" y="40957"/>
                  <a:pt x="249936" y="23717"/>
                  <a:pt x="237649" y="11906"/>
                </a:cubicBezTo>
                <a:close/>
              </a:path>
            </a:pathLst>
          </a:custGeom>
          <a:solidFill xmlns:a="http://schemas.openxmlformats.org/drawingml/2006/main">
            <a:srgbClr val="E3EEF5"/>
          </a:solidFill>
          <a:ln xmlns:a="http://schemas.openxmlformats.org/drawingml/2006/main" w="3175" cap="flat">
            <a:solidFill>
              <a:schemeClr val="accent1"/>
            </a:solidFill>
            <a:prstDash val="solid"/>
            <a:miter/>
          </a:ln>
        </p:spPr>
        <p:txBody>
          <a:bodyPr xmlns:a="http://schemas.openxmlformats.org/drawingml/2006/main" rot="0" spcFirstLastPara="0" vert="horz" wrap="square" lIns="91440" tIns="45720" rIns="91440" bIns="45720" anchor="ctr">
            <a:noAutofit/>
          </a:bodyPr>
          <a:lstStyle xmlns:a="http://schemas.openxmlformats.org/drawingml/2006/main">
            <a:lvl1pPr marL="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457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8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2860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743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200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657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endParaRPr/>
          </a:p>
        </p:txBody>
      </p:sp>
      <p:sp>
        <p:nvSpPr>
          <p:cNvPr id="42" name="任意多边形: 形状 19">
            <a:extLst xmlns:a="http://schemas.openxmlformats.org/drawingml/2006/main">
              <a:ext uri="{FF2B5EF4-FFF2-40B4-BE49-F238E27FC236}">
                <a16:creationId xmlns:a16="http://schemas.microsoft.com/office/drawing/2014/main" id="{EE05DF90-B8EB-425B-8D16-49CEF423C1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597148" y="758974"/>
            <a:ext cx="107015" cy="37138"/>
          </a:xfrm>
          <a:custGeom xmlns:a="http://schemas.openxmlformats.org/drawingml/2006/main">
            <a:gdLst>
              <a:gd name="connsiteX0" fmla="*/ 102965 w 107015"/>
              <a:gd name="connsiteY0" fmla="*/ 13811 h 37138"/>
              <a:gd name="connsiteX1" fmla="*/ 70104 w 107015"/>
              <a:gd name="connsiteY1" fmla="*/ 10954 h 37138"/>
              <a:gd name="connsiteX2" fmla="*/ 0 w 107015"/>
              <a:gd name="connsiteY2" fmla="*/ 0 h 37138"/>
              <a:gd name="connsiteX3" fmla="*/ 38481 w 107015"/>
              <a:gd name="connsiteY3" fmla="*/ 23717 h 37138"/>
              <a:gd name="connsiteX4" fmla="*/ 76676 w 107015"/>
              <a:gd name="connsiteY4" fmla="*/ 36290 h 37138"/>
              <a:gd name="connsiteX5" fmla="*/ 105632 w 107015"/>
              <a:gd name="connsiteY5" fmla="*/ 28861 h 37138"/>
              <a:gd name="connsiteX6" fmla="*/ 102965 w 107015"/>
              <a:gd name="connsiteY6" fmla="*/ 13811 h 37138"/>
            </a:gdLst>
            <a:rect l="l" t="t" r="r" b="b"/>
            <a:pathLst>
              <a:path w="107015" h="37138">
                <a:moveTo>
                  <a:pt x="102965" y="13811"/>
                </a:moveTo>
                <a:cubicBezTo>
                  <a:pt x="92869" y="13240"/>
                  <a:pt x="82010" y="12287"/>
                  <a:pt x="70104" y="10954"/>
                </a:cubicBezTo>
                <a:cubicBezTo>
                  <a:pt x="45625" y="8287"/>
                  <a:pt x="22193" y="4667"/>
                  <a:pt x="0" y="0"/>
                </a:cubicBezTo>
                <a:cubicBezTo>
                  <a:pt x="15526" y="12478"/>
                  <a:pt x="27527" y="18669"/>
                  <a:pt x="38481" y="23717"/>
                </a:cubicBezTo>
                <a:cubicBezTo>
                  <a:pt x="50006" y="29051"/>
                  <a:pt x="63055" y="34480"/>
                  <a:pt x="76676" y="36290"/>
                </a:cubicBezTo>
                <a:cubicBezTo>
                  <a:pt x="87820" y="37719"/>
                  <a:pt x="100203" y="38481"/>
                  <a:pt x="105632" y="28861"/>
                </a:cubicBezTo>
                <a:cubicBezTo>
                  <a:pt x="108490" y="23813"/>
                  <a:pt x="106585" y="17717"/>
                  <a:pt x="102965" y="13811"/>
                </a:cubicBezTo>
                <a:close/>
              </a:path>
            </a:pathLst>
          </a:custGeom>
          <a:solidFill xmlns:a="http://schemas.openxmlformats.org/drawingml/2006/main">
            <a:srgbClr val="E3EEF5"/>
          </a:solidFill>
          <a:ln xmlns:a="http://schemas.openxmlformats.org/drawingml/2006/main" w="3175" cap="flat">
            <a:solidFill>
              <a:schemeClr val="accent1"/>
            </a:solidFill>
            <a:prstDash val="solid"/>
            <a:miter/>
          </a:ln>
        </p:spPr>
        <p:txBody>
          <a:bodyPr xmlns:a="http://schemas.openxmlformats.org/drawingml/2006/main" rot="0" spcFirstLastPara="0" vert="horz" wrap="square" lIns="91440" tIns="45720" rIns="91440" bIns="45720" anchor="ctr">
            <a:noAutofit/>
          </a:bodyPr>
          <a:lstStyle xmlns:a="http://schemas.openxmlformats.org/drawingml/2006/main">
            <a:lvl1pPr marL="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457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8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2860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743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200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657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endParaRPr/>
          </a:p>
        </p:txBody>
      </p:sp>
      <p:sp>
        <p:nvSpPr>
          <p:cNvPr id="43" name="任意多边形: 形状 20">
            <a:extLst xmlns:a="http://schemas.openxmlformats.org/drawingml/2006/main">
              <a:ext uri="{FF2B5EF4-FFF2-40B4-BE49-F238E27FC236}">
                <a16:creationId xmlns:a16="http://schemas.microsoft.com/office/drawing/2014/main" id="{9CF4C148-E4F0-41F9-9012-8B1A6D1277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592957" y="408349"/>
            <a:ext cx="221392" cy="338622"/>
          </a:xfrm>
          <a:custGeom xmlns:a="http://schemas.openxmlformats.org/drawingml/2006/main">
            <a:gdLst>
              <a:gd name="connsiteX0" fmla="*/ 53435 w 221392"/>
              <a:gd name="connsiteY0" fmla="*/ 305762 h 338622"/>
              <a:gd name="connsiteX1" fmla="*/ 147256 w 221392"/>
              <a:gd name="connsiteY1" fmla="*/ 211369 h 338622"/>
              <a:gd name="connsiteX2" fmla="*/ 216789 w 221392"/>
              <a:gd name="connsiteY2" fmla="*/ 93545 h 338622"/>
              <a:gd name="connsiteX3" fmla="*/ 208502 w 221392"/>
              <a:gd name="connsiteY3" fmla="*/ 20869 h 338622"/>
              <a:gd name="connsiteX4" fmla="*/ 167926 w 221392"/>
              <a:gd name="connsiteY4" fmla="*/ 9 h 338622"/>
              <a:gd name="connsiteX5" fmla="*/ 134398 w 221392"/>
              <a:gd name="connsiteY5" fmla="*/ 4867 h 338622"/>
              <a:gd name="connsiteX6" fmla="*/ 133064 w 221392"/>
              <a:gd name="connsiteY6" fmla="*/ 20012 h 338622"/>
              <a:gd name="connsiteX7" fmla="*/ 117253 w 221392"/>
              <a:gd name="connsiteY7" fmla="*/ 80114 h 338622"/>
              <a:gd name="connsiteX8" fmla="*/ 109538 w 221392"/>
              <a:gd name="connsiteY8" fmla="*/ 102498 h 338622"/>
              <a:gd name="connsiteX9" fmla="*/ 67723 w 221392"/>
              <a:gd name="connsiteY9" fmla="*/ 208702 h 338622"/>
              <a:gd name="connsiteX10" fmla="*/ 0 w 221392"/>
              <a:gd name="connsiteY10" fmla="*/ 338623 h 338622"/>
              <a:gd name="connsiteX11" fmla="*/ 53435 w 221392"/>
              <a:gd name="connsiteY11" fmla="*/ 305762 h 338622"/>
            </a:gdLst>
            <a:rect l="l" t="t" r="r" b="b"/>
            <a:pathLst>
              <a:path w="221392" h="338622">
                <a:moveTo>
                  <a:pt x="53435" y="305762"/>
                </a:moveTo>
                <a:cubicBezTo>
                  <a:pt x="85630" y="280330"/>
                  <a:pt x="118110" y="247754"/>
                  <a:pt x="147256" y="211369"/>
                </a:cubicBezTo>
                <a:cubicBezTo>
                  <a:pt x="171545" y="181175"/>
                  <a:pt x="201454" y="140408"/>
                  <a:pt x="216789" y="93545"/>
                </a:cubicBezTo>
                <a:cubicBezTo>
                  <a:pt x="225171" y="68113"/>
                  <a:pt x="221933" y="39538"/>
                  <a:pt x="208502" y="20869"/>
                </a:cubicBezTo>
                <a:cubicBezTo>
                  <a:pt x="198882" y="7439"/>
                  <a:pt x="184880" y="200"/>
                  <a:pt x="167926" y="9"/>
                </a:cubicBezTo>
                <a:cubicBezTo>
                  <a:pt x="156115" y="-181"/>
                  <a:pt x="142018" y="2676"/>
                  <a:pt x="134398" y="4867"/>
                </a:cubicBezTo>
                <a:cubicBezTo>
                  <a:pt x="134112" y="9725"/>
                  <a:pt x="133731" y="14678"/>
                  <a:pt x="133064" y="20012"/>
                </a:cubicBezTo>
                <a:cubicBezTo>
                  <a:pt x="130112" y="42205"/>
                  <a:pt x="123063" y="63827"/>
                  <a:pt x="117253" y="80114"/>
                </a:cubicBezTo>
                <a:cubicBezTo>
                  <a:pt x="114109" y="88973"/>
                  <a:pt x="111728" y="95926"/>
                  <a:pt x="109538" y="102498"/>
                </a:cubicBezTo>
                <a:cubicBezTo>
                  <a:pt x="102108" y="124501"/>
                  <a:pt x="96203" y="141932"/>
                  <a:pt x="67723" y="208702"/>
                </a:cubicBezTo>
                <a:cubicBezTo>
                  <a:pt x="46863" y="257565"/>
                  <a:pt x="21146" y="302999"/>
                  <a:pt x="0" y="338623"/>
                </a:cubicBezTo>
                <a:cubicBezTo>
                  <a:pt x="17145" y="331289"/>
                  <a:pt x="34766" y="320525"/>
                  <a:pt x="53435" y="305762"/>
                </a:cubicBezTo>
                <a:close/>
              </a:path>
            </a:pathLst>
          </a:custGeom>
          <a:solidFill xmlns:a="http://schemas.openxmlformats.org/drawingml/2006/main">
            <a:srgbClr val="E3EEF5"/>
          </a:solidFill>
          <a:ln xmlns:a="http://schemas.openxmlformats.org/drawingml/2006/main" w="3175" cap="flat">
            <a:solidFill>
              <a:schemeClr val="accent1"/>
            </a:solidFill>
            <a:prstDash val="solid"/>
            <a:miter/>
          </a:ln>
        </p:spPr>
        <p:txBody>
          <a:bodyPr xmlns:a="http://schemas.openxmlformats.org/drawingml/2006/main" rot="0" spcFirstLastPara="0" vert="horz" wrap="square" lIns="91440" tIns="45720" rIns="91440" bIns="45720" anchor="ctr">
            <a:noAutofit/>
          </a:bodyPr>
          <a:lstStyle xmlns:a="http://schemas.openxmlformats.org/drawingml/2006/main">
            <a:lvl1pPr marL="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457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8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2860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743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200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657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endParaRPr/>
          </a:p>
        </p:txBody>
      </p:sp>
      <p:sp>
        <p:nvSpPr>
          <p:cNvPr id="24" name="任意多边形: 形状 23">
            <a:extLst xmlns:a="http://schemas.openxmlformats.org/drawingml/2006/main">
              <a:ext uri="{FF2B5EF4-FFF2-40B4-BE49-F238E27FC236}">
                <a16:creationId xmlns:a16="http://schemas.microsoft.com/office/drawing/2014/main" id="{0130422B-5271-4259-9DC4-E1AF5115DB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389559" y="803943"/>
            <a:ext cx="76250" cy="40500"/>
          </a:xfrm>
          <a:custGeom xmlns:a="http://schemas.openxmlformats.org/drawingml/2006/main">
            <a:gdLst>
              <a:gd name="connsiteX0" fmla="*/ 1765 w 76250"/>
              <a:gd name="connsiteY0" fmla="*/ 24860 h 40500"/>
              <a:gd name="connsiteX1" fmla="*/ 1955 w 76250"/>
              <a:gd name="connsiteY1" fmla="*/ 36385 h 40500"/>
              <a:gd name="connsiteX2" fmla="*/ 24530 w 76250"/>
              <a:gd name="connsiteY2" fmla="*/ 37814 h 40500"/>
              <a:gd name="connsiteX3" fmla="*/ 50723 w 76250"/>
              <a:gd name="connsiteY3" fmla="*/ 23336 h 40500"/>
              <a:gd name="connsiteX4" fmla="*/ 76250 w 76250"/>
              <a:gd name="connsiteY4" fmla="*/ 0 h 40500"/>
              <a:gd name="connsiteX5" fmla="*/ 25768 w 76250"/>
              <a:gd name="connsiteY5" fmla="*/ 18098 h 40500"/>
              <a:gd name="connsiteX6" fmla="*/ 1765 w 76250"/>
              <a:gd name="connsiteY6" fmla="*/ 24860 h 40500"/>
            </a:gdLst>
            <a:rect l="l" t="t" r="r" b="b"/>
            <a:pathLst>
              <a:path w="76250" h="40500">
                <a:moveTo>
                  <a:pt x="1765" y="24860"/>
                </a:moveTo>
                <a:cubicBezTo>
                  <a:pt x="-331" y="28289"/>
                  <a:pt x="-902" y="33052"/>
                  <a:pt x="1955" y="36385"/>
                </a:cubicBezTo>
                <a:cubicBezTo>
                  <a:pt x="7385" y="42767"/>
                  <a:pt x="16433" y="40481"/>
                  <a:pt x="24530" y="37814"/>
                </a:cubicBezTo>
                <a:cubicBezTo>
                  <a:pt x="34340" y="34576"/>
                  <a:pt x="43294" y="28670"/>
                  <a:pt x="50723" y="23336"/>
                </a:cubicBezTo>
                <a:cubicBezTo>
                  <a:pt x="58439" y="17812"/>
                  <a:pt x="66535" y="11430"/>
                  <a:pt x="76250" y="0"/>
                </a:cubicBezTo>
                <a:cubicBezTo>
                  <a:pt x="60439" y="6572"/>
                  <a:pt x="43580" y="12668"/>
                  <a:pt x="25768" y="18098"/>
                </a:cubicBezTo>
                <a:cubicBezTo>
                  <a:pt x="17100" y="20765"/>
                  <a:pt x="9099" y="22955"/>
                  <a:pt x="1765" y="24860"/>
                </a:cubicBezTo>
                <a:close/>
              </a:path>
            </a:pathLst>
          </a:custGeom>
          <a:solidFill xmlns:a="http://schemas.openxmlformats.org/drawingml/2006/main">
            <a:srgbClr val="E3EEF5"/>
          </a:solidFill>
          <a:ln xmlns:a="http://schemas.openxmlformats.org/drawingml/2006/main" w="6350" cap="flat">
            <a:solidFill>
              <a:schemeClr val="accent1"/>
            </a:solidFill>
            <a:prstDash val="solid"/>
            <a:miter/>
          </a:ln>
        </p:spPr>
        <p:txBody>
          <a:bodyPr xmlns:a="http://schemas.openxmlformats.org/drawingml/2006/main" rot="0" spcFirstLastPara="0" vert="horz" wrap="square" lIns="91440" tIns="45720" rIns="91440" bIns="45720" anchor="ctr">
            <a:noAutofit/>
          </a:bodyPr>
          <a:lstStyle xmlns:a="http://schemas.openxmlformats.org/drawingml/2006/main">
            <a:lvl1pPr marL="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457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8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2860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743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200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657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endParaRPr/>
          </a:p>
        </p:txBody>
      </p:sp>
      <p:sp>
        <p:nvSpPr>
          <p:cNvPr id="26" name="任意多边形: 形状 25">
            <a:extLst xmlns:a="http://schemas.openxmlformats.org/drawingml/2006/main">
              <a:ext uri="{FF2B5EF4-FFF2-40B4-BE49-F238E27FC236}">
                <a16:creationId xmlns:a16="http://schemas.microsoft.com/office/drawing/2014/main" id="{B09EB80D-FA6A-476B-BAB7-7AC8CCDEFF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266150" y="764795"/>
            <a:ext cx="191658" cy="65708"/>
          </a:xfrm>
          <a:custGeom xmlns:a="http://schemas.openxmlformats.org/drawingml/2006/main">
            <a:gdLst>
              <a:gd name="connsiteX0" fmla="*/ 191658 w 191658"/>
              <a:gd name="connsiteY0" fmla="*/ 37243 h 65708"/>
              <a:gd name="connsiteX1" fmla="*/ 107076 w 191658"/>
              <a:gd name="connsiteY1" fmla="*/ 30670 h 65708"/>
              <a:gd name="connsiteX2" fmla="*/ 19065 w 191658"/>
              <a:gd name="connsiteY2" fmla="*/ 0 h 65708"/>
              <a:gd name="connsiteX3" fmla="*/ 3920 w 191658"/>
              <a:gd name="connsiteY3" fmla="*/ 12001 h 65708"/>
              <a:gd name="connsiteX4" fmla="*/ 7540 w 191658"/>
              <a:gd name="connsiteY4" fmla="*/ 43053 h 65708"/>
              <a:gd name="connsiteX5" fmla="*/ 38401 w 191658"/>
              <a:gd name="connsiteY5" fmla="*/ 60960 h 65708"/>
              <a:gd name="connsiteX6" fmla="*/ 50307 w 191658"/>
              <a:gd name="connsiteY6" fmla="*/ 62960 h 65708"/>
              <a:gd name="connsiteX7" fmla="*/ 52593 w 191658"/>
              <a:gd name="connsiteY7" fmla="*/ 63341 h 65708"/>
              <a:gd name="connsiteX8" fmla="*/ 103076 w 191658"/>
              <a:gd name="connsiteY8" fmla="*/ 63913 h 65708"/>
              <a:gd name="connsiteX9" fmla="*/ 147843 w 191658"/>
              <a:gd name="connsiteY9" fmla="*/ 52578 h 65708"/>
              <a:gd name="connsiteX10" fmla="*/ 191658 w 191658"/>
              <a:gd name="connsiteY10" fmla="*/ 37243 h 65708"/>
            </a:gdLst>
            <a:rect l="l" t="t" r="r" b="b"/>
            <a:pathLst>
              <a:path w="191658" h="65708">
                <a:moveTo>
                  <a:pt x="191658" y="37243"/>
                </a:moveTo>
                <a:cubicBezTo>
                  <a:pt x="166036" y="39148"/>
                  <a:pt x="138223" y="37052"/>
                  <a:pt x="107076" y="30670"/>
                </a:cubicBezTo>
                <a:cubicBezTo>
                  <a:pt x="70214" y="23146"/>
                  <a:pt x="42782" y="13621"/>
                  <a:pt x="19065" y="0"/>
                </a:cubicBezTo>
                <a:cubicBezTo>
                  <a:pt x="9445" y="4286"/>
                  <a:pt x="6397" y="8572"/>
                  <a:pt x="3920" y="12001"/>
                </a:cubicBezTo>
                <a:cubicBezTo>
                  <a:pt x="-3604" y="22574"/>
                  <a:pt x="872" y="34957"/>
                  <a:pt x="7540" y="43053"/>
                </a:cubicBezTo>
                <a:cubicBezTo>
                  <a:pt x="14874" y="52006"/>
                  <a:pt x="24971" y="57912"/>
                  <a:pt x="38401" y="60960"/>
                </a:cubicBezTo>
                <a:cubicBezTo>
                  <a:pt x="42306" y="61817"/>
                  <a:pt x="46402" y="62389"/>
                  <a:pt x="50307" y="62960"/>
                </a:cubicBezTo>
                <a:lnTo>
                  <a:pt x="52593" y="63341"/>
                </a:lnTo>
                <a:cubicBezTo>
                  <a:pt x="72881" y="66294"/>
                  <a:pt x="88979" y="66484"/>
                  <a:pt x="103076" y="63913"/>
                </a:cubicBezTo>
                <a:cubicBezTo>
                  <a:pt x="116220" y="61531"/>
                  <a:pt x="130508" y="57912"/>
                  <a:pt x="147843" y="52578"/>
                </a:cubicBezTo>
                <a:cubicBezTo>
                  <a:pt x="163178" y="47911"/>
                  <a:pt x="177847" y="42767"/>
                  <a:pt x="191658" y="37243"/>
                </a:cubicBezTo>
                <a:close/>
              </a:path>
            </a:pathLst>
          </a:custGeom>
          <a:solidFill xmlns:a="http://schemas.openxmlformats.org/drawingml/2006/main">
            <a:srgbClr val="E3EEF5"/>
          </a:solidFill>
          <a:ln xmlns:a="http://schemas.openxmlformats.org/drawingml/2006/main" w="6350" cap="flat">
            <a:solidFill>
              <a:schemeClr val="accent1"/>
            </a:solidFill>
            <a:prstDash val="solid"/>
            <a:miter/>
          </a:ln>
        </p:spPr>
        <p:txBody>
          <a:bodyPr xmlns:a="http://schemas.openxmlformats.org/drawingml/2006/main" rot="0" spcFirstLastPara="0" vert="horz" wrap="square" lIns="91440" tIns="45720" rIns="91440" bIns="45720" anchor="ctr">
            <a:noAutofit/>
          </a:bodyPr>
          <a:lstStyle xmlns:a="http://schemas.openxmlformats.org/drawingml/2006/main">
            <a:lvl1pPr marL="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457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8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2860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743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200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657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endParaRPr/>
          </a:p>
        </p:txBody>
      </p:sp>
      <p:sp>
        <p:nvSpPr>
          <p:cNvPr id="28" name="任意多边形: 形状 27">
            <a:extLst xmlns:a="http://schemas.openxmlformats.org/drawingml/2006/main">
              <a:ext uri="{FF2B5EF4-FFF2-40B4-BE49-F238E27FC236}">
                <a16:creationId xmlns:a16="http://schemas.microsoft.com/office/drawing/2014/main" id="{ACBF6FA2-207E-4300-BE6A-49754F4A69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262920" y="565451"/>
            <a:ext cx="204508" cy="228871"/>
          </a:xfrm>
          <a:custGeom xmlns:a="http://schemas.openxmlformats.org/drawingml/2006/main">
            <a:gdLst>
              <a:gd name="connsiteX0" fmla="*/ 89446 w 204508"/>
              <a:gd name="connsiteY0" fmla="*/ 69233 h 228871"/>
              <a:gd name="connsiteX1" fmla="*/ 80588 w 204508"/>
              <a:gd name="connsiteY1" fmla="*/ 53802 h 228871"/>
              <a:gd name="connsiteX2" fmla="*/ 60300 w 204508"/>
              <a:gd name="connsiteY2" fmla="*/ 11416 h 228871"/>
              <a:gd name="connsiteX3" fmla="*/ 57157 w 204508"/>
              <a:gd name="connsiteY3" fmla="*/ 367 h 228871"/>
              <a:gd name="connsiteX4" fmla="*/ 31630 w 204508"/>
              <a:gd name="connsiteY4" fmla="*/ 1510 h 228871"/>
              <a:gd name="connsiteX5" fmla="*/ 4483 w 204508"/>
              <a:gd name="connsiteY5" fmla="*/ 22751 h 228871"/>
              <a:gd name="connsiteX6" fmla="*/ 8674 w 204508"/>
              <a:gd name="connsiteY6" fmla="*/ 77900 h 228871"/>
              <a:gd name="connsiteX7" fmla="*/ 77064 w 204508"/>
              <a:gd name="connsiteY7" fmla="*/ 155434 h 228871"/>
              <a:gd name="connsiteX8" fmla="*/ 160122 w 204508"/>
              <a:gd name="connsiteY8" fmla="*/ 212108 h 228871"/>
              <a:gd name="connsiteX9" fmla="*/ 204508 w 204508"/>
              <a:gd name="connsiteY9" fmla="*/ 228872 h 228871"/>
              <a:gd name="connsiteX10" fmla="*/ 135738 w 204508"/>
              <a:gd name="connsiteY10" fmla="*/ 142099 h 228871"/>
              <a:gd name="connsiteX11" fmla="*/ 89542 w 204508"/>
              <a:gd name="connsiteY11" fmla="*/ 69233 h 228871"/>
            </a:gdLst>
            <a:rect l="l" t="t" r="r" b="b"/>
            <a:pathLst>
              <a:path w="204508" h="228871">
                <a:moveTo>
                  <a:pt x="89446" y="69233"/>
                </a:moveTo>
                <a:cubicBezTo>
                  <a:pt x="86875" y="64661"/>
                  <a:pt x="84112" y="59898"/>
                  <a:pt x="80588" y="53802"/>
                </a:cubicBezTo>
                <a:cubicBezTo>
                  <a:pt x="73921" y="42467"/>
                  <a:pt x="65634" y="27418"/>
                  <a:pt x="60300" y="11416"/>
                </a:cubicBezTo>
                <a:cubicBezTo>
                  <a:pt x="59062" y="7606"/>
                  <a:pt x="58014" y="3891"/>
                  <a:pt x="57157" y="367"/>
                </a:cubicBezTo>
                <a:cubicBezTo>
                  <a:pt x="51251" y="-205"/>
                  <a:pt x="40393" y="-300"/>
                  <a:pt x="31630" y="1510"/>
                </a:cubicBezTo>
                <a:cubicBezTo>
                  <a:pt x="19152" y="4082"/>
                  <a:pt x="9722" y="11416"/>
                  <a:pt x="4483" y="22751"/>
                </a:cubicBezTo>
                <a:cubicBezTo>
                  <a:pt x="-2756" y="38562"/>
                  <a:pt x="-1136" y="60184"/>
                  <a:pt x="8674" y="77900"/>
                </a:cubicBezTo>
                <a:cubicBezTo>
                  <a:pt x="26772" y="110476"/>
                  <a:pt x="54680" y="136479"/>
                  <a:pt x="77064" y="155434"/>
                </a:cubicBezTo>
                <a:cubicBezTo>
                  <a:pt x="103924" y="178199"/>
                  <a:pt x="132595" y="197820"/>
                  <a:pt x="160122" y="212108"/>
                </a:cubicBezTo>
                <a:cubicBezTo>
                  <a:pt x="176124" y="220394"/>
                  <a:pt x="190697" y="225919"/>
                  <a:pt x="204508" y="228872"/>
                </a:cubicBezTo>
                <a:cubicBezTo>
                  <a:pt x="183744" y="205440"/>
                  <a:pt x="158217" y="175341"/>
                  <a:pt x="135738" y="142099"/>
                </a:cubicBezTo>
                <a:cubicBezTo>
                  <a:pt x="105067" y="96569"/>
                  <a:pt x="98209" y="84473"/>
                  <a:pt x="89542" y="69233"/>
                </a:cubicBezTo>
                <a:close/>
              </a:path>
            </a:pathLst>
          </a:custGeom>
          <a:solidFill xmlns:a="http://schemas.openxmlformats.org/drawingml/2006/main">
            <a:srgbClr val="E3EEF5"/>
          </a:solidFill>
          <a:ln xmlns:a="http://schemas.openxmlformats.org/drawingml/2006/main" w="6350" cap="flat">
            <a:solidFill>
              <a:schemeClr val="accent1"/>
            </a:solidFill>
            <a:prstDash val="solid"/>
            <a:miter/>
          </a:ln>
        </p:spPr>
        <p:txBody>
          <a:bodyPr xmlns:a="http://schemas.openxmlformats.org/drawingml/2006/main" rot="0" spcFirstLastPara="0" vert="horz" wrap="square" lIns="91440" tIns="45720" rIns="91440" bIns="45720" anchor="ctr">
            <a:noAutofit/>
          </a:bodyPr>
          <a:lstStyle xmlns:a="http://schemas.openxmlformats.org/drawingml/2006/main">
            <a:lvl1pPr marL="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457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8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2860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743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200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657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endParaRPr/>
          </a:p>
        </p:txBody>
      </p:sp>
      <p:sp>
        <p:nvSpPr>
          <p:cNvPr id="29" name="任意多边形: 形状 28">
            <a:extLst xmlns:a="http://schemas.openxmlformats.org/drawingml/2006/main">
              <a:ext uri="{FF2B5EF4-FFF2-40B4-BE49-F238E27FC236}">
                <a16:creationId xmlns:a16="http://schemas.microsoft.com/office/drawing/2014/main" id="{0015C994-17F7-4B5F-90C2-1391A7C78A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321892" y="500488"/>
            <a:ext cx="148965" cy="290596"/>
          </a:xfrm>
          <a:custGeom xmlns:a="http://schemas.openxmlformats.org/drawingml/2006/main">
            <a:gdLst>
              <a:gd name="connsiteX0" fmla="*/ 114294 w 148965"/>
              <a:gd name="connsiteY0" fmla="*/ 98096 h 290596"/>
              <a:gd name="connsiteX1" fmla="*/ 109341 w 148965"/>
              <a:gd name="connsiteY1" fmla="*/ 80856 h 290596"/>
              <a:gd name="connsiteX2" fmla="*/ 93339 w 148965"/>
              <a:gd name="connsiteY2" fmla="*/ 37708 h 290596"/>
              <a:gd name="connsiteX3" fmla="*/ 63907 w 148965"/>
              <a:gd name="connsiteY3" fmla="*/ 3989 h 290596"/>
              <a:gd name="connsiteX4" fmla="*/ 27426 w 148965"/>
              <a:gd name="connsiteY4" fmla="*/ 3799 h 290596"/>
              <a:gd name="connsiteX5" fmla="*/ 26759 w 148965"/>
              <a:gd name="connsiteY5" fmla="*/ 4085 h 290596"/>
              <a:gd name="connsiteX6" fmla="*/ 2090 w 148965"/>
              <a:gd name="connsiteY6" fmla="*/ 30183 h 290596"/>
              <a:gd name="connsiteX7" fmla="*/ 5804 w 148965"/>
              <a:gd name="connsiteY7" fmla="*/ 74760 h 290596"/>
              <a:gd name="connsiteX8" fmla="*/ 25712 w 148965"/>
              <a:gd name="connsiteY8" fmla="*/ 116194 h 290596"/>
              <a:gd name="connsiteX9" fmla="*/ 34665 w 148965"/>
              <a:gd name="connsiteY9" fmla="*/ 131720 h 290596"/>
              <a:gd name="connsiteX10" fmla="*/ 80671 w 148965"/>
              <a:gd name="connsiteY10" fmla="*/ 204300 h 290596"/>
              <a:gd name="connsiteX11" fmla="*/ 148965 w 148965"/>
              <a:gd name="connsiteY11" fmla="*/ 290597 h 290596"/>
              <a:gd name="connsiteX12" fmla="*/ 134487 w 148965"/>
              <a:gd name="connsiteY12" fmla="*/ 181535 h 290596"/>
              <a:gd name="connsiteX13" fmla="*/ 114389 w 148965"/>
              <a:gd name="connsiteY13" fmla="*/ 98001 h 290596"/>
            </a:gdLst>
            <a:rect l="l" t="t" r="r" b="b"/>
            <a:pathLst>
              <a:path w="148965" h="290596">
                <a:moveTo>
                  <a:pt x="114294" y="98096"/>
                </a:moveTo>
                <a:cubicBezTo>
                  <a:pt x="112770" y="93048"/>
                  <a:pt x="111246" y="87714"/>
                  <a:pt x="109341" y="80856"/>
                </a:cubicBezTo>
                <a:cubicBezTo>
                  <a:pt x="105912" y="68474"/>
                  <a:pt x="100959" y="52281"/>
                  <a:pt x="93339" y="37708"/>
                </a:cubicBezTo>
                <a:cubicBezTo>
                  <a:pt x="84386" y="20372"/>
                  <a:pt x="74670" y="9323"/>
                  <a:pt x="63907" y="3989"/>
                </a:cubicBezTo>
                <a:cubicBezTo>
                  <a:pt x="53239" y="-1249"/>
                  <a:pt x="38951" y="-1345"/>
                  <a:pt x="27426" y="3799"/>
                </a:cubicBezTo>
                <a:cubicBezTo>
                  <a:pt x="27236" y="3799"/>
                  <a:pt x="26950" y="3989"/>
                  <a:pt x="26759" y="4085"/>
                </a:cubicBezTo>
                <a:cubicBezTo>
                  <a:pt x="15234" y="8942"/>
                  <a:pt x="5614" y="19134"/>
                  <a:pt x="2090" y="30183"/>
                </a:cubicBezTo>
                <a:cubicBezTo>
                  <a:pt x="-1625" y="41708"/>
                  <a:pt x="-387" y="56282"/>
                  <a:pt x="5804" y="74760"/>
                </a:cubicBezTo>
                <a:cubicBezTo>
                  <a:pt x="11043" y="90381"/>
                  <a:pt x="19139" y="105145"/>
                  <a:pt x="25712" y="116194"/>
                </a:cubicBezTo>
                <a:cubicBezTo>
                  <a:pt x="29331" y="122290"/>
                  <a:pt x="32093" y="127148"/>
                  <a:pt x="34665" y="131720"/>
                </a:cubicBezTo>
                <a:cubicBezTo>
                  <a:pt x="43238" y="146960"/>
                  <a:pt x="50096" y="158961"/>
                  <a:pt x="80671" y="204300"/>
                </a:cubicBezTo>
                <a:cubicBezTo>
                  <a:pt x="102959" y="237352"/>
                  <a:pt x="128296" y="267260"/>
                  <a:pt x="148965" y="290597"/>
                </a:cubicBezTo>
                <a:cubicBezTo>
                  <a:pt x="146584" y="259545"/>
                  <a:pt x="142774" y="220493"/>
                  <a:pt x="134487" y="181535"/>
                </a:cubicBezTo>
                <a:cubicBezTo>
                  <a:pt x="123152" y="128005"/>
                  <a:pt x="119247" y="114765"/>
                  <a:pt x="114389" y="98001"/>
                </a:cubicBezTo>
                <a:close/>
              </a:path>
            </a:pathLst>
          </a:custGeom>
          <a:solidFill xmlns:a="http://schemas.openxmlformats.org/drawingml/2006/main">
            <a:srgbClr val="E3EEF5"/>
          </a:solidFill>
          <a:ln xmlns:a="http://schemas.openxmlformats.org/drawingml/2006/main" w="6350" cap="flat">
            <a:solidFill>
              <a:schemeClr val="accent1"/>
            </a:solidFill>
            <a:prstDash val="solid"/>
            <a:miter/>
          </a:ln>
        </p:spPr>
        <p:txBody>
          <a:bodyPr xmlns:a="http://schemas.openxmlformats.org/drawingml/2006/main" rot="0" spcFirstLastPara="0" vert="horz" wrap="square" lIns="91440" tIns="45720" rIns="91440" bIns="45720" anchor="ctr">
            <a:noAutofit/>
          </a:bodyPr>
          <a:lstStyle xmlns:a="http://schemas.openxmlformats.org/drawingml/2006/main">
            <a:lvl1pPr marL="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457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8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2860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743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200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657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endParaRPr/>
          </a:p>
        </p:txBody>
      </p:sp>
      <p:sp>
        <p:nvSpPr>
          <p:cNvPr id="30" name="任意多边形: 形状 29">
            <a:extLst xmlns:a="http://schemas.openxmlformats.org/drawingml/2006/main">
              <a:ext uri="{FF2B5EF4-FFF2-40B4-BE49-F238E27FC236}">
                <a16:creationId xmlns:a16="http://schemas.microsoft.com/office/drawing/2014/main" id="{8A9120B9-BA96-4E36-B75F-E97268EA60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230104" y="646567"/>
            <a:ext cx="228942" cy="151493"/>
          </a:xfrm>
          <a:custGeom xmlns:a="http://schemas.openxmlformats.org/drawingml/2006/main">
            <a:gdLst>
              <a:gd name="connsiteX0" fmla="*/ 144075 w 228942"/>
              <a:gd name="connsiteY0" fmla="*/ 144327 h 151493"/>
              <a:gd name="connsiteX1" fmla="*/ 228942 w 228942"/>
              <a:gd name="connsiteY1" fmla="*/ 150709 h 151493"/>
              <a:gd name="connsiteX2" fmla="*/ 190652 w 228942"/>
              <a:gd name="connsiteY2" fmla="*/ 135278 h 151493"/>
              <a:gd name="connsiteX3" fmla="*/ 106737 w 228942"/>
              <a:gd name="connsiteY3" fmla="*/ 78033 h 151493"/>
              <a:gd name="connsiteX4" fmla="*/ 37966 w 228942"/>
              <a:gd name="connsiteY4" fmla="*/ 214 h 151493"/>
              <a:gd name="connsiteX5" fmla="*/ 15487 w 228942"/>
              <a:gd name="connsiteY5" fmla="*/ 5929 h 151493"/>
              <a:gd name="connsiteX6" fmla="*/ 57 w 228942"/>
              <a:gd name="connsiteY6" fmla="*/ 37552 h 151493"/>
              <a:gd name="connsiteX7" fmla="*/ 52349 w 228942"/>
              <a:gd name="connsiteY7" fmla="*/ 111180 h 151493"/>
              <a:gd name="connsiteX8" fmla="*/ 144170 w 228942"/>
              <a:gd name="connsiteY8" fmla="*/ 144422 h 151493"/>
            </a:gdLst>
            <a:rect l="l" t="t" r="r" b="b"/>
            <a:pathLst>
              <a:path w="228942" h="151493">
                <a:moveTo>
                  <a:pt x="144075" y="144327"/>
                </a:moveTo>
                <a:cubicBezTo>
                  <a:pt x="175412" y="150709"/>
                  <a:pt x="203320" y="152804"/>
                  <a:pt x="228942" y="150709"/>
                </a:cubicBezTo>
                <a:cubicBezTo>
                  <a:pt x="216941" y="147470"/>
                  <a:pt x="204273" y="142327"/>
                  <a:pt x="190652" y="135278"/>
                </a:cubicBezTo>
                <a:cubicBezTo>
                  <a:pt x="162839" y="120800"/>
                  <a:pt x="133788" y="100988"/>
                  <a:pt x="106737" y="78033"/>
                </a:cubicBezTo>
                <a:cubicBezTo>
                  <a:pt x="84353" y="58983"/>
                  <a:pt x="56349" y="32980"/>
                  <a:pt x="37966" y="214"/>
                </a:cubicBezTo>
                <a:cubicBezTo>
                  <a:pt x="30537" y="-739"/>
                  <a:pt x="21202" y="1547"/>
                  <a:pt x="15487" y="5929"/>
                </a:cubicBezTo>
                <a:cubicBezTo>
                  <a:pt x="4629" y="14120"/>
                  <a:pt x="-610" y="24788"/>
                  <a:pt x="57" y="37552"/>
                </a:cubicBezTo>
                <a:cubicBezTo>
                  <a:pt x="1485" y="66698"/>
                  <a:pt x="32061" y="98702"/>
                  <a:pt x="52349" y="111180"/>
                </a:cubicBezTo>
                <a:cubicBezTo>
                  <a:pt x="76733" y="126230"/>
                  <a:pt x="105117" y="136421"/>
                  <a:pt x="144170" y="144422"/>
                </a:cubicBezTo>
                <a:close/>
              </a:path>
            </a:pathLst>
          </a:custGeom>
          <a:solidFill xmlns:a="http://schemas.openxmlformats.org/drawingml/2006/main">
            <a:srgbClr val="E3EEF5"/>
          </a:solidFill>
          <a:ln xmlns:a="http://schemas.openxmlformats.org/drawingml/2006/main" w="6350" cap="flat">
            <a:solidFill>
              <a:schemeClr val="accent1"/>
            </a:solidFill>
            <a:prstDash val="solid"/>
            <a:miter/>
          </a:ln>
        </p:spPr>
        <p:txBody>
          <a:bodyPr xmlns:a="http://schemas.openxmlformats.org/drawingml/2006/main" rot="0" spcFirstLastPara="0" vert="horz" wrap="square" lIns="91440" tIns="45720" rIns="91440" bIns="45720" anchor="ctr">
            <a:noAutofit/>
          </a:bodyPr>
          <a:lstStyle xmlns:a="http://schemas.openxmlformats.org/drawingml/2006/main">
            <a:lvl1pPr marL="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457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8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2860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743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200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657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endParaRPr/>
          </a:p>
        </p:txBody>
      </p:sp>
      <p:sp>
        <p:nvSpPr>
          <p:cNvPr id="31" name="任意多边形: 形状 30">
            <a:extLst xmlns:a="http://schemas.openxmlformats.org/drawingml/2006/main">
              <a:ext uri="{FF2B5EF4-FFF2-40B4-BE49-F238E27FC236}">
                <a16:creationId xmlns:a16="http://schemas.microsoft.com/office/drawing/2014/main" id="{0D89CFD7-274D-41E7-82E4-27CE131CD2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483430" y="532285"/>
            <a:ext cx="96959" cy="254608"/>
          </a:xfrm>
          <a:custGeom xmlns:a="http://schemas.openxmlformats.org/drawingml/2006/main">
            <a:gdLst>
              <a:gd name="connsiteX0" fmla="*/ 15526 w 96959"/>
              <a:gd name="connsiteY0" fmla="*/ 216413 h 254608"/>
              <a:gd name="connsiteX1" fmla="*/ 0 w 96959"/>
              <a:gd name="connsiteY1" fmla="*/ 254608 h 254608"/>
              <a:gd name="connsiteX2" fmla="*/ 54483 w 96959"/>
              <a:gd name="connsiteY2" fmla="*/ 189267 h 254608"/>
              <a:gd name="connsiteX3" fmla="*/ 94488 w 96959"/>
              <a:gd name="connsiteY3" fmla="*/ 100208 h 254608"/>
              <a:gd name="connsiteX4" fmla="*/ 78010 w 96959"/>
              <a:gd name="connsiteY4" fmla="*/ 11435 h 254608"/>
              <a:gd name="connsiteX5" fmla="*/ 44577 w 96959"/>
              <a:gd name="connsiteY5" fmla="*/ 576 h 254608"/>
              <a:gd name="connsiteX6" fmla="*/ 24860 w 96959"/>
              <a:gd name="connsiteY6" fmla="*/ 12768 h 254608"/>
              <a:gd name="connsiteX7" fmla="*/ 32861 w 96959"/>
              <a:gd name="connsiteY7" fmla="*/ 116305 h 254608"/>
              <a:gd name="connsiteX8" fmla="*/ 15621 w 96959"/>
              <a:gd name="connsiteY8" fmla="*/ 216413 h 254608"/>
            </a:gdLst>
            <a:rect l="l" t="t" r="r" b="b"/>
            <a:pathLst>
              <a:path w="96959" h="254608">
                <a:moveTo>
                  <a:pt x="15526" y="216413"/>
                </a:moveTo>
                <a:cubicBezTo>
                  <a:pt x="11144" y="231081"/>
                  <a:pt x="6001" y="243654"/>
                  <a:pt x="0" y="254608"/>
                </a:cubicBezTo>
                <a:cubicBezTo>
                  <a:pt x="19336" y="237654"/>
                  <a:pt x="37243" y="216222"/>
                  <a:pt x="54483" y="189267"/>
                </a:cubicBezTo>
                <a:cubicBezTo>
                  <a:pt x="76009" y="155643"/>
                  <a:pt x="88297" y="128211"/>
                  <a:pt x="94488" y="100208"/>
                </a:cubicBezTo>
                <a:cubicBezTo>
                  <a:pt x="99631" y="76967"/>
                  <a:pt x="97917" y="32771"/>
                  <a:pt x="78010" y="11435"/>
                </a:cubicBezTo>
                <a:cubicBezTo>
                  <a:pt x="69247" y="2100"/>
                  <a:pt x="58007" y="-1519"/>
                  <a:pt x="44577" y="576"/>
                </a:cubicBezTo>
                <a:cubicBezTo>
                  <a:pt x="37528" y="1719"/>
                  <a:pt x="29242" y="6863"/>
                  <a:pt x="24860" y="12768"/>
                </a:cubicBezTo>
                <a:cubicBezTo>
                  <a:pt x="35528" y="48773"/>
                  <a:pt x="34766" y="86968"/>
                  <a:pt x="32861" y="116305"/>
                </a:cubicBezTo>
                <a:cubicBezTo>
                  <a:pt x="30575" y="151738"/>
                  <a:pt x="24575" y="186409"/>
                  <a:pt x="15621" y="216413"/>
                </a:cubicBezTo>
                <a:close/>
              </a:path>
            </a:pathLst>
          </a:custGeom>
          <a:solidFill xmlns:a="http://schemas.openxmlformats.org/drawingml/2006/main">
            <a:srgbClr val="E3EEF5"/>
          </a:solidFill>
          <a:ln xmlns:a="http://schemas.openxmlformats.org/drawingml/2006/main" w="6350" cap="flat">
            <a:solidFill>
              <a:schemeClr val="accent1"/>
            </a:solidFill>
            <a:prstDash val="solid"/>
            <a:miter/>
          </a:ln>
        </p:spPr>
        <p:txBody>
          <a:bodyPr xmlns:a="http://schemas.openxmlformats.org/drawingml/2006/main" rot="0" spcFirstLastPara="0" vert="horz" wrap="square" lIns="91440" tIns="45720" rIns="91440" bIns="45720" anchor="ctr">
            <a:noAutofit/>
          </a:bodyPr>
          <a:lstStyle xmlns:a="http://schemas.openxmlformats.org/drawingml/2006/main">
            <a:lvl1pPr marL="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457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8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2860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743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200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657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endParaRPr/>
          </a:p>
        </p:txBody>
      </p:sp>
      <p:sp>
        <p:nvSpPr>
          <p:cNvPr id="32" name="任意多边形: 形状 31">
            <a:extLst xmlns:a="http://schemas.openxmlformats.org/drawingml/2006/main">
              <a:ext uri="{FF2B5EF4-FFF2-40B4-BE49-F238E27FC236}">
                <a16:creationId xmlns:a16="http://schemas.microsoft.com/office/drawing/2014/main" id="{B485EB5A-33D6-47A8-8F5A-9DEF1E921C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487812" y="636434"/>
            <a:ext cx="132715" cy="152935"/>
          </a:xfrm>
          <a:custGeom xmlns:a="http://schemas.openxmlformats.org/drawingml/2006/main">
            <a:gdLst>
              <a:gd name="connsiteX0" fmla="*/ 112395 w 132715"/>
              <a:gd name="connsiteY0" fmla="*/ 535 h 152935"/>
              <a:gd name="connsiteX1" fmla="*/ 93250 w 132715"/>
              <a:gd name="connsiteY1" fmla="*/ 3107 h 152935"/>
              <a:gd name="connsiteX2" fmla="*/ 54102 w 132715"/>
              <a:gd name="connsiteY2" fmla="*/ 87689 h 152935"/>
              <a:gd name="connsiteX3" fmla="*/ 0 w 132715"/>
              <a:gd name="connsiteY3" fmla="*/ 152935 h 152935"/>
              <a:gd name="connsiteX4" fmla="*/ 41529 w 132715"/>
              <a:gd name="connsiteY4" fmla="*/ 132171 h 152935"/>
              <a:gd name="connsiteX5" fmla="*/ 80867 w 132715"/>
              <a:gd name="connsiteY5" fmla="*/ 107882 h 152935"/>
              <a:gd name="connsiteX6" fmla="*/ 115538 w 132715"/>
              <a:gd name="connsiteY6" fmla="*/ 71211 h 152935"/>
              <a:gd name="connsiteX7" fmla="*/ 116872 w 132715"/>
              <a:gd name="connsiteY7" fmla="*/ 69306 h 152935"/>
              <a:gd name="connsiteX8" fmla="*/ 123730 w 132715"/>
              <a:gd name="connsiteY8" fmla="*/ 59305 h 152935"/>
              <a:gd name="connsiteX9" fmla="*/ 132398 w 132715"/>
              <a:gd name="connsiteY9" fmla="*/ 24634 h 152935"/>
              <a:gd name="connsiteX10" fmla="*/ 112586 w 132715"/>
              <a:gd name="connsiteY10" fmla="*/ 440 h 152935"/>
            </a:gdLst>
            <a:rect l="l" t="t" r="r" b="b"/>
            <a:pathLst>
              <a:path w="132715" h="152935">
                <a:moveTo>
                  <a:pt x="112395" y="535"/>
                </a:moveTo>
                <a:cubicBezTo>
                  <a:pt x="108204" y="-131"/>
                  <a:pt x="102965" y="-893"/>
                  <a:pt x="93250" y="3107"/>
                </a:cubicBezTo>
                <a:cubicBezTo>
                  <a:pt x="86487" y="29587"/>
                  <a:pt x="74295" y="55971"/>
                  <a:pt x="54102" y="87689"/>
                </a:cubicBezTo>
                <a:cubicBezTo>
                  <a:pt x="36957" y="114454"/>
                  <a:pt x="19145" y="135886"/>
                  <a:pt x="0" y="152935"/>
                </a:cubicBezTo>
                <a:cubicBezTo>
                  <a:pt x="13621" y="146839"/>
                  <a:pt x="27527" y="139886"/>
                  <a:pt x="41529" y="132171"/>
                </a:cubicBezTo>
                <a:cubicBezTo>
                  <a:pt x="57436" y="123408"/>
                  <a:pt x="69914" y="115693"/>
                  <a:pt x="80867" y="107882"/>
                </a:cubicBezTo>
                <a:cubicBezTo>
                  <a:pt x="92488" y="99595"/>
                  <a:pt x="103537" y="87880"/>
                  <a:pt x="115538" y="71211"/>
                </a:cubicBezTo>
                <a:lnTo>
                  <a:pt x="116872" y="69306"/>
                </a:lnTo>
                <a:cubicBezTo>
                  <a:pt x="119253" y="66067"/>
                  <a:pt x="121634" y="62734"/>
                  <a:pt x="123730" y="59305"/>
                </a:cubicBezTo>
                <a:cubicBezTo>
                  <a:pt x="130874" y="47494"/>
                  <a:pt x="133731" y="36159"/>
                  <a:pt x="132398" y="24634"/>
                </a:cubicBezTo>
                <a:cubicBezTo>
                  <a:pt x="131159" y="14251"/>
                  <a:pt x="125349" y="2440"/>
                  <a:pt x="112586" y="440"/>
                </a:cubicBezTo>
                <a:close/>
              </a:path>
            </a:pathLst>
          </a:custGeom>
          <a:solidFill xmlns:a="http://schemas.openxmlformats.org/drawingml/2006/main">
            <a:srgbClr val="E3EEF5"/>
          </a:solidFill>
          <a:ln xmlns:a="http://schemas.openxmlformats.org/drawingml/2006/main" w="6350" cap="flat">
            <a:solidFill>
              <a:schemeClr val="accent1"/>
            </a:solidFill>
            <a:prstDash val="solid"/>
            <a:miter/>
          </a:ln>
        </p:spPr>
        <p:txBody>
          <a:bodyPr xmlns:a="http://schemas.openxmlformats.org/drawingml/2006/main" rot="0" spcFirstLastPara="0" vert="horz" wrap="square" lIns="91440" tIns="45720" rIns="91440" bIns="45720" anchor="ctr">
            <a:noAutofit/>
          </a:bodyPr>
          <a:lstStyle xmlns:a="http://schemas.openxmlformats.org/drawingml/2006/main">
            <a:lvl1pPr marL="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457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8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2860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743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200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657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endParaRPr/>
          </a:p>
        </p:txBody>
      </p:sp>
      <p:sp>
        <p:nvSpPr>
          <p:cNvPr id="33" name="任意多边形: 形状 32">
            <a:extLst xmlns:a="http://schemas.openxmlformats.org/drawingml/2006/main">
              <a:ext uri="{FF2B5EF4-FFF2-40B4-BE49-F238E27FC236}">
                <a16:creationId xmlns:a16="http://schemas.microsoft.com/office/drawing/2014/main" id="{F418C8F6-DF6B-4E37-B1FD-D41FAB5874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483335" y="760223"/>
            <a:ext cx="77870" cy="36609"/>
          </a:xfrm>
          <a:custGeom xmlns:a="http://schemas.openxmlformats.org/drawingml/2006/main">
            <a:gdLst>
              <a:gd name="connsiteX0" fmla="*/ 69723 w 77870"/>
              <a:gd name="connsiteY0" fmla="*/ 0 h 36609"/>
              <a:gd name="connsiteX1" fmla="*/ 48101 w 77870"/>
              <a:gd name="connsiteY1" fmla="*/ 12573 h 36609"/>
              <a:gd name="connsiteX2" fmla="*/ 0 w 77870"/>
              <a:gd name="connsiteY2" fmla="*/ 36290 h 36609"/>
              <a:gd name="connsiteX3" fmla="*/ 34100 w 77870"/>
              <a:gd name="connsiteY3" fmla="*/ 34290 h 36609"/>
              <a:gd name="connsiteX4" fmla="*/ 63151 w 77870"/>
              <a:gd name="connsiteY4" fmla="*/ 25432 h 36609"/>
              <a:gd name="connsiteX5" fmla="*/ 77819 w 77870"/>
              <a:gd name="connsiteY5" fmla="*/ 8192 h 36609"/>
              <a:gd name="connsiteX6" fmla="*/ 69628 w 77870"/>
              <a:gd name="connsiteY6" fmla="*/ 0 h 36609"/>
            </a:gdLst>
            <a:rect l="l" t="t" r="r" b="b"/>
            <a:pathLst>
              <a:path w="77870" h="36609">
                <a:moveTo>
                  <a:pt x="69723" y="0"/>
                </a:moveTo>
                <a:cubicBezTo>
                  <a:pt x="63246" y="4001"/>
                  <a:pt x="56102" y="8096"/>
                  <a:pt x="48101" y="12573"/>
                </a:cubicBezTo>
                <a:cubicBezTo>
                  <a:pt x="31814" y="21527"/>
                  <a:pt x="15716" y="29432"/>
                  <a:pt x="0" y="36290"/>
                </a:cubicBezTo>
                <a:cubicBezTo>
                  <a:pt x="14954" y="37243"/>
                  <a:pt x="25051" y="35909"/>
                  <a:pt x="34100" y="34290"/>
                </a:cubicBezTo>
                <a:cubicBezTo>
                  <a:pt x="43529" y="32576"/>
                  <a:pt x="54007" y="30290"/>
                  <a:pt x="63151" y="25432"/>
                </a:cubicBezTo>
                <a:cubicBezTo>
                  <a:pt x="70676" y="21527"/>
                  <a:pt x="78581" y="16574"/>
                  <a:pt x="77819" y="8192"/>
                </a:cubicBezTo>
                <a:cubicBezTo>
                  <a:pt x="77438" y="3810"/>
                  <a:pt x="73533" y="857"/>
                  <a:pt x="69628" y="0"/>
                </a:cubicBezTo>
                <a:close/>
              </a:path>
            </a:pathLst>
          </a:custGeom>
          <a:solidFill xmlns:a="http://schemas.openxmlformats.org/drawingml/2006/main">
            <a:srgbClr val="E3EEF5"/>
          </a:solidFill>
          <a:ln xmlns:a="http://schemas.openxmlformats.org/drawingml/2006/main" w="6350" cap="flat">
            <a:solidFill>
              <a:schemeClr val="accent1"/>
            </a:solidFill>
            <a:prstDash val="solid"/>
            <a:miter/>
          </a:ln>
        </p:spPr>
        <p:txBody>
          <a:bodyPr xmlns:a="http://schemas.openxmlformats.org/drawingml/2006/main" rot="0" spcFirstLastPara="0" vert="horz" wrap="square" lIns="91440" tIns="45720" rIns="91440" bIns="45720" anchor="ctr">
            <a:noAutofit/>
          </a:bodyPr>
          <a:lstStyle xmlns:a="http://schemas.openxmlformats.org/drawingml/2006/main">
            <a:lvl1pPr marL="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457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8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2860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743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200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657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endParaRPr/>
          </a:p>
        </p:txBody>
      </p:sp>
      <p:sp>
        <p:nvSpPr>
          <p:cNvPr id="34" name="任意多边形: 形状 33">
            <a:extLst xmlns:a="http://schemas.openxmlformats.org/drawingml/2006/main">
              <a:ext uri="{FF2B5EF4-FFF2-40B4-BE49-F238E27FC236}">
                <a16:creationId xmlns:a16="http://schemas.microsoft.com/office/drawing/2014/main" id="{11EBAE48-3649-414B-AE31-964D9F18EC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413898" y="501576"/>
            <a:ext cx="98672" cy="289127"/>
          </a:xfrm>
          <a:custGeom xmlns:a="http://schemas.openxmlformats.org/drawingml/2006/main">
            <a:gdLst>
              <a:gd name="connsiteX0" fmla="*/ 80486 w 98672"/>
              <a:gd name="connsiteY0" fmla="*/ 245693 h 289127"/>
              <a:gd name="connsiteX1" fmla="*/ 97536 w 98672"/>
              <a:gd name="connsiteY1" fmla="*/ 146633 h 289127"/>
              <a:gd name="connsiteX2" fmla="*/ 89345 w 98672"/>
              <a:gd name="connsiteY2" fmla="*/ 43573 h 289127"/>
              <a:gd name="connsiteX3" fmla="*/ 52673 w 98672"/>
              <a:gd name="connsiteY3" fmla="*/ 2234 h 289127"/>
              <a:gd name="connsiteX4" fmla="*/ 18574 w 98672"/>
              <a:gd name="connsiteY4" fmla="*/ 6901 h 289127"/>
              <a:gd name="connsiteX5" fmla="*/ 0 w 98672"/>
              <a:gd name="connsiteY5" fmla="*/ 24427 h 289127"/>
              <a:gd name="connsiteX6" fmla="*/ 5715 w 98672"/>
              <a:gd name="connsiteY6" fmla="*/ 34333 h 289127"/>
              <a:gd name="connsiteX7" fmla="*/ 22003 w 98672"/>
              <a:gd name="connsiteY7" fmla="*/ 78434 h 289127"/>
              <a:gd name="connsiteX8" fmla="*/ 26956 w 98672"/>
              <a:gd name="connsiteY8" fmla="*/ 95579 h 289127"/>
              <a:gd name="connsiteX9" fmla="*/ 47149 w 98672"/>
              <a:gd name="connsiteY9" fmla="*/ 179399 h 289127"/>
              <a:gd name="connsiteX10" fmla="*/ 61627 w 98672"/>
              <a:gd name="connsiteY10" fmla="*/ 289127 h 289127"/>
              <a:gd name="connsiteX11" fmla="*/ 80391 w 98672"/>
              <a:gd name="connsiteY11" fmla="*/ 245598 h 289127"/>
            </a:gdLst>
            <a:rect l="l" t="t" r="r" b="b"/>
            <a:pathLst>
              <a:path w="98672" h="289127">
                <a:moveTo>
                  <a:pt x="80486" y="245693"/>
                </a:moveTo>
                <a:cubicBezTo>
                  <a:pt x="89345" y="215975"/>
                  <a:pt x="95250" y="181685"/>
                  <a:pt x="97536" y="146633"/>
                </a:cubicBezTo>
                <a:cubicBezTo>
                  <a:pt x="99441" y="117391"/>
                  <a:pt x="100203" y="79196"/>
                  <a:pt x="89345" y="43573"/>
                </a:cubicBezTo>
                <a:cubicBezTo>
                  <a:pt x="83439" y="24237"/>
                  <a:pt x="69056" y="7949"/>
                  <a:pt x="52673" y="2234"/>
                </a:cubicBezTo>
                <a:cubicBezTo>
                  <a:pt x="40862" y="-1862"/>
                  <a:pt x="29051" y="-338"/>
                  <a:pt x="18574" y="6901"/>
                </a:cubicBezTo>
                <a:cubicBezTo>
                  <a:pt x="11240" y="11950"/>
                  <a:pt x="3715" y="19855"/>
                  <a:pt x="0" y="24427"/>
                </a:cubicBezTo>
                <a:cubicBezTo>
                  <a:pt x="1905" y="27475"/>
                  <a:pt x="3810" y="30809"/>
                  <a:pt x="5715" y="34333"/>
                </a:cubicBezTo>
                <a:cubicBezTo>
                  <a:pt x="13526" y="49383"/>
                  <a:pt x="18574" y="65766"/>
                  <a:pt x="22003" y="78434"/>
                </a:cubicBezTo>
                <a:cubicBezTo>
                  <a:pt x="23908" y="85292"/>
                  <a:pt x="25432" y="90626"/>
                  <a:pt x="26956" y="95579"/>
                </a:cubicBezTo>
                <a:cubicBezTo>
                  <a:pt x="31909" y="112438"/>
                  <a:pt x="35814" y="125773"/>
                  <a:pt x="47149" y="179399"/>
                </a:cubicBezTo>
                <a:cubicBezTo>
                  <a:pt x="55435" y="218642"/>
                  <a:pt x="59341" y="257980"/>
                  <a:pt x="61627" y="289127"/>
                </a:cubicBezTo>
                <a:cubicBezTo>
                  <a:pt x="69056" y="277126"/>
                  <a:pt x="75248" y="262838"/>
                  <a:pt x="80391" y="245598"/>
                </a:cubicBezTo>
                <a:close/>
              </a:path>
            </a:pathLst>
          </a:custGeom>
          <a:solidFill xmlns:a="http://schemas.openxmlformats.org/drawingml/2006/main">
            <a:srgbClr val="E3EEF5"/>
          </a:solidFill>
          <a:ln xmlns:a="http://schemas.openxmlformats.org/drawingml/2006/main" w="6350" cap="flat">
            <a:solidFill>
              <a:schemeClr val="accent1"/>
            </a:solidFill>
            <a:prstDash val="solid"/>
            <a:miter/>
          </a:ln>
        </p:spPr>
        <p:txBody>
          <a:bodyPr xmlns:a="http://schemas.openxmlformats.org/drawingml/2006/main" rot="0" spcFirstLastPara="0" vert="horz" wrap="square" lIns="91440" tIns="45720" rIns="91440" bIns="45720" anchor="ctr">
            <a:noAutofit/>
          </a:bodyPr>
          <a:lstStyle xmlns:a="http://schemas.openxmlformats.org/drawingml/2006/main">
            <a:lvl1pPr marL="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457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8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2860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743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200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657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endParaRPr/>
          </a:p>
        </p:txBody>
      </p:sp>
      <p:sp>
        <p:nvSpPr>
          <p:cNvPr id="18" name="任意多边形: 形状 17">
            <a:extLst xmlns:a="http://schemas.openxmlformats.org/drawingml/2006/main">
              <a:ext uri="{FF2B5EF4-FFF2-40B4-BE49-F238E27FC236}">
                <a16:creationId xmlns:a16="http://schemas.microsoft.com/office/drawing/2014/main" id="{D86A944B-AF43-49DF-98D8-64381849D9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3945255"/>
            <a:ext cx="12192000" cy="1186815"/>
          </a:xfrm>
          <a:custGeom xmlns:a="http://schemas.openxmlformats.org/drawingml/2006/main">
            <a:gdLst>
              <a:gd name="connsiteX0" fmla="*/ 11281874 w 12192005"/>
              <a:gd name="connsiteY0" fmla="*/ 340 h 1187027"/>
              <a:gd name="connsiteX1" fmla="*/ 12191521 w 12192005"/>
              <a:gd name="connsiteY1" fmla="*/ 11670 h 1187027"/>
              <a:gd name="connsiteX2" fmla="*/ 12191535 w 12192005"/>
              <a:gd name="connsiteY2" fmla="*/ 11670 h 1187027"/>
              <a:gd name="connsiteX3" fmla="*/ 12192005 w 12192005"/>
              <a:gd name="connsiteY3" fmla="*/ 203355 h 1187027"/>
              <a:gd name="connsiteX4" fmla="*/ 12191521 w 12192005"/>
              <a:gd name="connsiteY4" fmla="*/ 203355 h 1187027"/>
              <a:gd name="connsiteX5" fmla="*/ 9229780 w 12192005"/>
              <a:gd name="connsiteY5" fmla="*/ 341874 h 1187027"/>
              <a:gd name="connsiteX6" fmla="*/ 2833140 w 12192005"/>
              <a:gd name="connsiteY6" fmla="*/ 1182698 h 1187027"/>
              <a:gd name="connsiteX7" fmla="*/ 0 w 12192005"/>
              <a:gd name="connsiteY7" fmla="*/ 1007862 h 1187027"/>
              <a:gd name="connsiteX8" fmla="*/ 0 w 12192005"/>
              <a:gd name="connsiteY8" fmla="*/ 816177 h 1187027"/>
              <a:gd name="connsiteX9" fmla="*/ 2833140 w 12192005"/>
              <a:gd name="connsiteY9" fmla="*/ 991013 h 1187027"/>
              <a:gd name="connsiteX10" fmla="*/ 9229780 w 12192005"/>
              <a:gd name="connsiteY10" fmla="*/ 150189 h 1187027"/>
              <a:gd name="connsiteX11" fmla="*/ 11281874 w 12192005"/>
              <a:gd name="connsiteY11" fmla="*/ 340 h 1187027"/>
            </a:gdLst>
            <a:rect l="l" t="t" r="r" b="b"/>
            <a:pathLst>
              <a:path w="12192005" h="1187027">
                <a:moveTo>
                  <a:pt x="11281874" y="340"/>
                </a:moveTo>
                <a:cubicBezTo>
                  <a:pt x="11650229" y="-1733"/>
                  <a:pt x="11968407" y="6127"/>
                  <a:pt x="12191521" y="11670"/>
                </a:cubicBezTo>
                <a:lnTo>
                  <a:pt x="12191535" y="11670"/>
                </a:lnTo>
                <a:lnTo>
                  <a:pt x="12192005" y="203355"/>
                </a:lnTo>
                <a:lnTo>
                  <a:pt x="12191521" y="203355"/>
                </a:lnTo>
                <a:cubicBezTo>
                  <a:pt x="11596550" y="188573"/>
                  <a:pt x="10325568" y="157320"/>
                  <a:pt x="9229780" y="341874"/>
                </a:cubicBezTo>
                <a:cubicBezTo>
                  <a:pt x="7766138" y="588506"/>
                  <a:pt x="5324630" y="1246468"/>
                  <a:pt x="2833140" y="1182698"/>
                </a:cubicBezTo>
                <a:cubicBezTo>
                  <a:pt x="634279" y="1126531"/>
                  <a:pt x="0" y="1007862"/>
                  <a:pt x="0" y="1007862"/>
                </a:cubicBezTo>
                <a:lnTo>
                  <a:pt x="0" y="816177"/>
                </a:lnTo>
                <a:cubicBezTo>
                  <a:pt x="0" y="816177"/>
                  <a:pt x="634279" y="934846"/>
                  <a:pt x="2833140" y="991013"/>
                </a:cubicBezTo>
                <a:cubicBezTo>
                  <a:pt x="5324630" y="1054783"/>
                  <a:pt x="7766138" y="396821"/>
                  <a:pt x="9229780" y="150189"/>
                </a:cubicBezTo>
                <a:cubicBezTo>
                  <a:pt x="9914648" y="34843"/>
                  <a:pt x="10667950" y="3796"/>
                  <a:pt x="11281874" y="340"/>
                </a:cubicBezTo>
                <a:close/>
              </a:path>
            </a:pathLst>
          </a:custGeom>
          <a:gradFill xmlns:a="http://schemas.openxmlformats.org/drawingml/2006/main" flip="none" rotWithShape="1">
            <a:gsLst>
              <a:gs pos="0">
                <a:srgbClr val="FFFEFE"/>
              </a:gs>
              <a:gs pos="42000">
                <a:srgbClr val="F9EFE3"/>
              </a:gs>
              <a:gs pos="100000">
                <a:schemeClr val="accent4">
                  <a:lumMod val="75000"/>
                </a:schemeClr>
              </a:gs>
            </a:gsLst>
            <a:lin ang="0" scaled="1"/>
            <a:tileRect/>
          </a:gradFill>
          <a:ln xmlns:a="http://schemas.openxmlformats.org/drawingml/2006/main" w="9525" cap="flat">
            <a:noFill/>
            <a:prstDash val="solid"/>
            <a:miter/>
          </a:ln>
        </p:spPr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endParaRPr/>
          </a:p>
        </p:txBody>
      </p:sp>
    </p:spTree>
  </p:cSld>
</p:sldLayout>
</file>

<file path=ppt/slideLayouts/slideLayout5.xml><?xml version="1.0" encoding="utf-8"?>
<p:sldLayout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A7DDBB2E-56F9-47FC-AB55-31760770596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单击此处编辑母版标题样式</a:t>
            </a:r>
            <a:endParaRPr/>
          </a:p>
        </p:txBody>
      </p:sp>
      <p:sp>
        <p:nvSpPr>
          <p:cNvPr id="3" name="内容占位符 2">
            <a:extLst xmlns:a="http://schemas.openxmlformats.org/drawingml/2006/main">
              <a:ext uri="{FF2B5EF4-FFF2-40B4-BE49-F238E27FC236}">
                <a16:creationId xmlns:a16="http://schemas.microsoft.com/office/drawing/2014/main" id="{256F9CE4-9A7D-4589-8A31-FE5E848DC1DF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单击此处编辑母版文本样式</a:t>
            </a:r>
            <a:endParaRPr/>
          </a:p>
          <a:p xmlns:a="http://schemas.openxmlformats.org/drawingml/2006/main">
            <a:pPr lvl="1">
              <a:buNone/>
            </a:pPr>
            <a:r>
              <a:t>二级</a:t>
            </a:r>
            <a:endParaRPr/>
          </a:p>
          <a:p xmlns:a="http://schemas.openxmlformats.org/drawingml/2006/main">
            <a:pPr lvl="2">
              <a:buNone/>
            </a:pPr>
            <a:r>
              <a:t>三级</a:t>
            </a:r>
            <a:endParaRPr/>
          </a:p>
          <a:p xmlns:a="http://schemas.openxmlformats.org/drawingml/2006/main">
            <a:pPr lvl="3">
              <a:buNone/>
            </a:pPr>
            <a:r>
              <a:t>四级</a:t>
            </a:r>
            <a:endParaRPr/>
          </a:p>
          <a:p xmlns:a="http://schemas.openxmlformats.org/drawingml/2006/main">
            <a:pPr lvl="4">
              <a:buNone/>
            </a:pPr>
            <a:r>
              <a:t>五级</a:t>
            </a:r>
            <a:endParaRPr/>
          </a:p>
        </p:txBody>
      </p:sp>
      <p:sp>
        <p:nvSpPr>
          <p:cNvPr id="4" name="日期占位符 3">
            <a:extLst xmlns:a="http://schemas.openxmlformats.org/drawingml/2006/main">
              <a:ext uri="{FF2B5EF4-FFF2-40B4-BE49-F238E27FC236}">
                <a16:creationId xmlns:a16="http://schemas.microsoft.com/office/drawing/2014/main" id="{941F7BF0-8C14-49C9-A3B2-BB550EBCF5C1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" name="页脚占位符 4">
            <a:extLst xmlns:a="http://schemas.openxmlformats.org/drawingml/2006/main">
              <a:ext uri="{FF2B5EF4-FFF2-40B4-BE49-F238E27FC236}">
                <a16:creationId xmlns:a16="http://schemas.microsoft.com/office/drawing/2014/main" id="{FE7D2639-DBD4-470C-98DF-C201ECF0F102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灯片编号占位符 5">
            <a:extLst xmlns:a="http://schemas.openxmlformats.org/drawingml/2006/main">
              <a:ext uri="{FF2B5EF4-FFF2-40B4-BE49-F238E27FC236}">
                <a16:creationId xmlns:a16="http://schemas.microsoft.com/office/drawing/2014/main" id="{0C43A7A6-E426-4AA0-B4C1-FC6023F88B4B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</p:spTree>
  </p:cSld>
</p:sldLayout>
</file>

<file path=ppt/slideLayouts/slideLayout6.xml><?xml version="1.0" encoding="utf-8"?>
<p:sldLayout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CBBC1B35-5042-4EA9-9736-27363483A8A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1850" y="1709738"/>
            <a:ext cx="10515600" cy="2852737"/>
          </a:xfrm>
        </p:spPr>
        <p:txBody>
          <a:bodyPr xmlns:a="http://schemas.openxmlformats.org/drawingml/2006/main" anchor="b"/>
          <a:lstStyle xmlns:a="http://schemas.openxmlformats.org/drawingml/2006/main">
            <a:lvl1pPr>
              <a:buNone/>
              <a:defRPr sz="6000"/>
            </a:lvl1pPr>
          </a:lstStyle>
          <a:p xmlns:a="http://schemas.openxmlformats.org/drawingml/2006/main">
            <a:r>
              <a:t>单击此处编辑母版标题样式</a:t>
            </a:r>
            <a:endParaRPr/>
          </a:p>
        </p:txBody>
      </p:sp>
      <p:sp>
        <p:nvSpPr>
          <p:cNvPr id="3" name="文本占位符 2">
            <a:extLst xmlns:a="http://schemas.openxmlformats.org/drawingml/2006/main">
              <a:ext uri="{FF2B5EF4-FFF2-40B4-BE49-F238E27FC236}">
                <a16:creationId xmlns:a16="http://schemas.microsoft.com/office/drawing/2014/main" id="{E9753CDE-3746-4612-A81A-8143D9EC960D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1850" y="4589463"/>
            <a:ext cx="10515600" cy="1500187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 xmlns:a="http://schemas.openxmlformats.org/drawingml/2006/main">
            <a:pPr lvl="0">
              <a:buNone/>
            </a:pPr>
            <a:r>
              <a:t>单击此处编辑母版文本样式</a:t>
            </a:r>
            <a:endParaRPr/>
          </a:p>
        </p:txBody>
      </p:sp>
      <p:sp>
        <p:nvSpPr>
          <p:cNvPr id="4" name="日期占位符 3">
            <a:extLst xmlns:a="http://schemas.openxmlformats.org/drawingml/2006/main">
              <a:ext uri="{FF2B5EF4-FFF2-40B4-BE49-F238E27FC236}">
                <a16:creationId xmlns:a16="http://schemas.microsoft.com/office/drawing/2014/main" id="{69B902D6-2BE3-443B-BB79-567DE3CCF19A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" name="页脚占位符 4">
            <a:extLst xmlns:a="http://schemas.openxmlformats.org/drawingml/2006/main">
              <a:ext uri="{FF2B5EF4-FFF2-40B4-BE49-F238E27FC236}">
                <a16:creationId xmlns:a16="http://schemas.microsoft.com/office/drawing/2014/main" id="{19E5AA87-0D03-4260-B6AD-F58DEBA10D1C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灯片编号占位符 5">
            <a:extLst xmlns:a="http://schemas.openxmlformats.org/drawingml/2006/main">
              <a:ext uri="{FF2B5EF4-FFF2-40B4-BE49-F238E27FC236}">
                <a16:creationId xmlns:a16="http://schemas.microsoft.com/office/drawing/2014/main" id="{B26B5FAC-6BA0-442C-B21E-3EBCD2D83792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</p:spTree>
  </p:cSld>
</p:sldLayout>
</file>

<file path=ppt/slideLayouts/slideLayout7.xml><?xml version="1.0" encoding="utf-8"?>
<p:sldLayout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C92E7875-63D8-483A-8B05-A291D81BE844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单击此处编辑母版标题样式</a:t>
            </a:r>
            <a:endParaRPr/>
          </a:p>
        </p:txBody>
      </p:sp>
      <p:sp>
        <p:nvSpPr>
          <p:cNvPr id="3" name="内容占位符 2">
            <a:extLst xmlns:a="http://schemas.openxmlformats.org/drawingml/2006/main">
              <a:ext uri="{FF2B5EF4-FFF2-40B4-BE49-F238E27FC236}">
                <a16:creationId xmlns:a16="http://schemas.microsoft.com/office/drawing/2014/main" id="{B2909C3D-2C3E-49E7-8DFF-63EAFEAB0C4C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838200" y="1825625"/>
            <a:ext cx="5181600" cy="435133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单击此处编辑母版文本样式</a:t>
            </a:r>
            <a:endParaRPr/>
          </a:p>
          <a:p xmlns:a="http://schemas.openxmlformats.org/drawingml/2006/main">
            <a:pPr lvl="1">
              <a:buNone/>
            </a:pPr>
            <a:r>
              <a:t>二级</a:t>
            </a:r>
            <a:endParaRPr/>
          </a:p>
          <a:p xmlns:a="http://schemas.openxmlformats.org/drawingml/2006/main">
            <a:pPr lvl="2">
              <a:buNone/>
            </a:pPr>
            <a:r>
              <a:t>三级</a:t>
            </a:r>
            <a:endParaRPr/>
          </a:p>
          <a:p xmlns:a="http://schemas.openxmlformats.org/drawingml/2006/main">
            <a:pPr lvl="3">
              <a:buNone/>
            </a:pPr>
            <a:r>
              <a:t>四级</a:t>
            </a:r>
            <a:endParaRPr/>
          </a:p>
          <a:p xmlns:a="http://schemas.openxmlformats.org/drawingml/2006/main">
            <a:pPr lvl="4">
              <a:buNone/>
            </a:pPr>
            <a:r>
              <a:t>五级</a:t>
            </a:r>
            <a:endParaRPr/>
          </a:p>
        </p:txBody>
      </p:sp>
      <p:sp>
        <p:nvSpPr>
          <p:cNvPr id="4" name="内容占位符 3">
            <a:extLst xmlns:a="http://schemas.openxmlformats.org/drawingml/2006/main">
              <a:ext uri="{FF2B5EF4-FFF2-40B4-BE49-F238E27FC236}">
                <a16:creationId xmlns:a16="http://schemas.microsoft.com/office/drawing/2014/main" id="{D568B2CC-FA8B-422C-B911-C4E1B2DCD7FA}"/>
              </a:ext>
            </a:extLst>
          </p:cNvPr>
          <p:cNvSpPr>
            <a:spLocks xmlns:a="http://schemas.openxmlformats.org/drawingml/2006/main" noGrp="1"/>
          </p:cNvSpPr>
          <p:nvPr>
            <p:ph idx="2"/>
          </p:nvPr>
        </p:nvSpPr>
        <p:spPr>
          <a:xfrm xmlns:a="http://schemas.openxmlformats.org/drawingml/2006/main">
            <a:off x="6172200" y="1825625"/>
            <a:ext cx="5181600" cy="435133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单击此处编辑母版文本样式</a:t>
            </a:r>
            <a:endParaRPr/>
          </a:p>
          <a:p xmlns:a="http://schemas.openxmlformats.org/drawingml/2006/main">
            <a:pPr lvl="1">
              <a:buNone/>
            </a:pPr>
            <a:r>
              <a:t>二级</a:t>
            </a:r>
            <a:endParaRPr/>
          </a:p>
          <a:p xmlns:a="http://schemas.openxmlformats.org/drawingml/2006/main">
            <a:pPr lvl="2">
              <a:buNone/>
            </a:pPr>
            <a:r>
              <a:t>三级</a:t>
            </a:r>
            <a:endParaRPr/>
          </a:p>
          <a:p xmlns:a="http://schemas.openxmlformats.org/drawingml/2006/main">
            <a:pPr lvl="3">
              <a:buNone/>
            </a:pPr>
            <a:r>
              <a:t>四级</a:t>
            </a:r>
            <a:endParaRPr/>
          </a:p>
          <a:p xmlns:a="http://schemas.openxmlformats.org/drawingml/2006/main">
            <a:pPr lvl="4">
              <a:buNone/>
            </a:pPr>
            <a:r>
              <a:t>五级</a:t>
            </a:r>
            <a:endParaRPr/>
          </a:p>
        </p:txBody>
      </p:sp>
      <p:sp>
        <p:nvSpPr>
          <p:cNvPr id="5" name="日期占位符 4">
            <a:extLst xmlns:a="http://schemas.openxmlformats.org/drawingml/2006/main">
              <a:ext uri="{FF2B5EF4-FFF2-40B4-BE49-F238E27FC236}">
                <a16:creationId xmlns:a16="http://schemas.microsoft.com/office/drawing/2014/main" id="{55D61058-D08D-4D28-AD5A-43158ED0BE57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页脚占位符 5">
            <a:extLst xmlns:a="http://schemas.openxmlformats.org/drawingml/2006/main">
              <a:ext uri="{FF2B5EF4-FFF2-40B4-BE49-F238E27FC236}">
                <a16:creationId xmlns:a16="http://schemas.microsoft.com/office/drawing/2014/main" id="{690C858B-8DC2-4FD2-A6EB-23A93527F3C1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灯片编号占位符 6">
            <a:extLst xmlns:a="http://schemas.openxmlformats.org/drawingml/2006/main">
              <a:ext uri="{FF2B5EF4-FFF2-40B4-BE49-F238E27FC236}">
                <a16:creationId xmlns:a16="http://schemas.microsoft.com/office/drawing/2014/main" id="{DCD41746-39B0-435A-8892-4B8068D7162F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</p:spTree>
  </p:cSld>
</p:sldLayout>
</file>

<file path=ppt/slideLayouts/slideLayout8.xml><?xml version="1.0" encoding="utf-8"?>
<p:sldLayout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CEEC35F7-23E1-4233-8EAD-9683E448224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9788" y="365125"/>
            <a:ext cx="10515600" cy="1325563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单击此处编辑母版标题样式</a:t>
            </a:r>
            <a:endParaRPr/>
          </a:p>
        </p:txBody>
      </p:sp>
      <p:sp>
        <p:nvSpPr>
          <p:cNvPr id="3" name="文本占位符 2">
            <a:extLst xmlns:a="http://schemas.openxmlformats.org/drawingml/2006/main">
              <a:ext uri="{FF2B5EF4-FFF2-40B4-BE49-F238E27FC236}">
                <a16:creationId xmlns:a16="http://schemas.microsoft.com/office/drawing/2014/main" id="{9E92F4B0-20D3-4B81-87EF-CAAF4B2A8E39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9788" y="1681163"/>
            <a:ext cx="5157787" cy="823912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 xmlns:a="http://schemas.openxmlformats.org/drawingml/2006/main">
            <a:pPr lvl="0">
              <a:buNone/>
            </a:pPr>
            <a:r>
              <a:t>单击此处编辑母版文本样式</a:t>
            </a:r>
            <a:endParaRPr/>
          </a:p>
        </p:txBody>
      </p:sp>
      <p:sp>
        <p:nvSpPr>
          <p:cNvPr id="4" name="内容占位符 3">
            <a:extLst xmlns:a="http://schemas.openxmlformats.org/drawingml/2006/main">
              <a:ext uri="{FF2B5EF4-FFF2-40B4-BE49-F238E27FC236}">
                <a16:creationId xmlns:a16="http://schemas.microsoft.com/office/drawing/2014/main" id="{133DE06C-0518-45FB-B7CB-47BC706C3311}"/>
              </a:ext>
            </a:extLst>
          </p:cNvPr>
          <p:cNvSpPr>
            <a:spLocks xmlns:a="http://schemas.openxmlformats.org/drawingml/2006/main" noGrp="1"/>
          </p:cNvSpPr>
          <p:nvPr>
            <p:ph idx="2"/>
          </p:nvPr>
        </p:nvSpPr>
        <p:spPr>
          <a:xfrm xmlns:a="http://schemas.openxmlformats.org/drawingml/2006/main">
            <a:off x="839788" y="2505075"/>
            <a:ext cx="5157787" cy="368458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单击此处编辑母版文本样式</a:t>
            </a:r>
            <a:endParaRPr/>
          </a:p>
          <a:p xmlns:a="http://schemas.openxmlformats.org/drawingml/2006/main">
            <a:pPr lvl="1">
              <a:buNone/>
            </a:pPr>
            <a:r>
              <a:t>二级</a:t>
            </a:r>
            <a:endParaRPr/>
          </a:p>
          <a:p xmlns:a="http://schemas.openxmlformats.org/drawingml/2006/main">
            <a:pPr lvl="2">
              <a:buNone/>
            </a:pPr>
            <a:r>
              <a:t>三级</a:t>
            </a:r>
            <a:endParaRPr/>
          </a:p>
          <a:p xmlns:a="http://schemas.openxmlformats.org/drawingml/2006/main">
            <a:pPr lvl="3">
              <a:buNone/>
            </a:pPr>
            <a:r>
              <a:t>四级</a:t>
            </a:r>
            <a:endParaRPr/>
          </a:p>
          <a:p xmlns:a="http://schemas.openxmlformats.org/drawingml/2006/main">
            <a:pPr lvl="4">
              <a:buNone/>
            </a:pPr>
            <a:r>
              <a:t>五级</a:t>
            </a:r>
            <a:endParaRPr/>
          </a:p>
        </p:txBody>
      </p:sp>
      <p:sp>
        <p:nvSpPr>
          <p:cNvPr id="5" name="文本占位符 4">
            <a:extLst xmlns:a="http://schemas.openxmlformats.org/drawingml/2006/main">
              <a:ext uri="{FF2B5EF4-FFF2-40B4-BE49-F238E27FC236}">
                <a16:creationId xmlns:a16="http://schemas.microsoft.com/office/drawing/2014/main" id="{69C222C8-BF0E-4197-9F32-4CBBAE71FE8E}"/>
              </a:ext>
            </a:extLst>
          </p:cNvPr>
          <p:cNvSpPr>
            <a:spLocks xmlns:a="http://schemas.openxmlformats.org/drawingml/2006/main" noGrp="1"/>
          </p:cNvSpPr>
          <p:nvPr>
            <p:ph type="body" idx="3"/>
          </p:nvPr>
        </p:nvSpPr>
        <p:spPr>
          <a:xfrm xmlns:a="http://schemas.openxmlformats.org/drawingml/2006/main">
            <a:off x="6172200" y="1681163"/>
            <a:ext cx="5183188" cy="823912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 xmlns:a="http://schemas.openxmlformats.org/drawingml/2006/main">
            <a:pPr lvl="0">
              <a:buNone/>
            </a:pPr>
            <a:r>
              <a:t>单击此处编辑母版文本样式</a:t>
            </a:r>
            <a:endParaRPr/>
          </a:p>
        </p:txBody>
      </p:sp>
      <p:sp>
        <p:nvSpPr>
          <p:cNvPr id="6" name="内容占位符 5">
            <a:extLst xmlns:a="http://schemas.openxmlformats.org/drawingml/2006/main">
              <a:ext uri="{FF2B5EF4-FFF2-40B4-BE49-F238E27FC236}">
                <a16:creationId xmlns:a16="http://schemas.microsoft.com/office/drawing/2014/main" id="{AAFE9321-65AC-4D68-A69C-9F9F5D5A3D01}"/>
              </a:ext>
            </a:extLst>
          </p:cNvPr>
          <p:cNvSpPr>
            <a:spLocks xmlns:a="http://schemas.openxmlformats.org/drawingml/2006/main" noGrp="1"/>
          </p:cNvSpPr>
          <p:nvPr>
            <p:ph idx="4"/>
          </p:nvPr>
        </p:nvSpPr>
        <p:spPr>
          <a:xfrm xmlns:a="http://schemas.openxmlformats.org/drawingml/2006/main">
            <a:off x="6172200" y="2505075"/>
            <a:ext cx="5183188" cy="368458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单击此处编辑母版文本样式</a:t>
            </a:r>
            <a:endParaRPr/>
          </a:p>
          <a:p xmlns:a="http://schemas.openxmlformats.org/drawingml/2006/main">
            <a:pPr lvl="1">
              <a:buNone/>
            </a:pPr>
            <a:r>
              <a:t>二级</a:t>
            </a:r>
            <a:endParaRPr/>
          </a:p>
          <a:p xmlns:a="http://schemas.openxmlformats.org/drawingml/2006/main">
            <a:pPr lvl="2">
              <a:buNone/>
            </a:pPr>
            <a:r>
              <a:t>三级</a:t>
            </a:r>
            <a:endParaRPr/>
          </a:p>
          <a:p xmlns:a="http://schemas.openxmlformats.org/drawingml/2006/main">
            <a:pPr lvl="3">
              <a:buNone/>
            </a:pPr>
            <a:r>
              <a:t>四级</a:t>
            </a:r>
            <a:endParaRPr/>
          </a:p>
          <a:p xmlns:a="http://schemas.openxmlformats.org/drawingml/2006/main">
            <a:pPr lvl="4">
              <a:buNone/>
            </a:pPr>
            <a:r>
              <a:t>五级</a:t>
            </a:r>
            <a:endParaRPr/>
          </a:p>
        </p:txBody>
      </p:sp>
      <p:sp>
        <p:nvSpPr>
          <p:cNvPr id="7" name="日期占位符 6">
            <a:extLst xmlns:a="http://schemas.openxmlformats.org/drawingml/2006/main">
              <a:ext uri="{FF2B5EF4-FFF2-40B4-BE49-F238E27FC236}">
                <a16:creationId xmlns:a16="http://schemas.microsoft.com/office/drawing/2014/main" id="{0B06C94A-A45B-404D-9BA2-AFF8F5A620C6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8" name="页脚占位符 7">
            <a:extLst xmlns:a="http://schemas.openxmlformats.org/drawingml/2006/main">
              <a:ext uri="{FF2B5EF4-FFF2-40B4-BE49-F238E27FC236}">
                <a16:creationId xmlns:a16="http://schemas.microsoft.com/office/drawing/2014/main" id="{ECA2A03B-15E5-447E-BAD3-327A300019F8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9" name="灯片编号占位符 8">
            <a:extLst xmlns:a="http://schemas.openxmlformats.org/drawingml/2006/main">
              <a:ext uri="{FF2B5EF4-FFF2-40B4-BE49-F238E27FC236}">
                <a16:creationId xmlns:a16="http://schemas.microsoft.com/office/drawing/2014/main" id="{BF2C6410-A6EE-4F16-8718-D8D201B67998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</p:spTree>
  </p:cSld>
</p:sldLayout>
</file>

<file path=ppt/slideLayouts/slideLayout9.xml><?xml version="1.0" encoding="utf-8"?>
<p:sldLayout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日期占位符 2">
            <a:extLst xmlns:a="http://schemas.openxmlformats.org/drawingml/2006/main">
              <a:ext uri="{FF2B5EF4-FFF2-40B4-BE49-F238E27FC236}">
                <a16:creationId xmlns:a16="http://schemas.microsoft.com/office/drawing/2014/main" id="{A0E7248A-02DE-464F-947E-3B349824AA38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页脚占位符 3">
            <a:extLst xmlns:a="http://schemas.openxmlformats.org/drawingml/2006/main">
              <a:ext uri="{FF2B5EF4-FFF2-40B4-BE49-F238E27FC236}">
                <a16:creationId xmlns:a16="http://schemas.microsoft.com/office/drawing/2014/main" id="{4C81404E-DB47-439B-90FE-BC7910AE93B0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0" name="图形 7">
            <a:extLst xmlns:a="http://schemas.openxmlformats.org/drawingml/2006/main">
              <a:ext uri="{FF2B5EF4-FFF2-40B4-BE49-F238E27FC236}">
                <a16:creationId xmlns:a16="http://schemas.microsoft.com/office/drawing/2014/main" id="{E27355F1-0B09-4883-A7B0-960C53639E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75900" y="6312472"/>
            <a:ext cx="1425635" cy="420115"/>
          </a:xfrm>
          <a:custGeom xmlns:a="http://schemas.openxmlformats.org/drawingml/2006/main">
            <a:gdLst>
              <a:gd name="connsiteX0" fmla="*/ 1819336 w 1819335"/>
              <a:gd name="connsiteY0" fmla="*/ 191262 h 536133"/>
              <a:gd name="connsiteX1" fmla="*/ 1819336 w 1819335"/>
              <a:gd name="connsiteY1" fmla="*/ 206477 h 536133"/>
              <a:gd name="connsiteX2" fmla="*/ 1804428 w 1819335"/>
              <a:gd name="connsiteY2" fmla="*/ 206477 h 536133"/>
              <a:gd name="connsiteX3" fmla="*/ 1804428 w 1819335"/>
              <a:gd name="connsiteY3" fmla="*/ 536134 h 536133"/>
              <a:gd name="connsiteX4" fmla="*/ 14908 w 1819335"/>
              <a:gd name="connsiteY4" fmla="*/ 536134 h 536133"/>
              <a:gd name="connsiteX5" fmla="*/ 14908 w 1819335"/>
              <a:gd name="connsiteY5" fmla="*/ 206477 h 536133"/>
              <a:gd name="connsiteX6" fmla="*/ 0 w 1819335"/>
              <a:gd name="connsiteY6" fmla="*/ 206477 h 536133"/>
              <a:gd name="connsiteX7" fmla="*/ 0 w 1819335"/>
              <a:gd name="connsiteY7" fmla="*/ 191262 h 536133"/>
              <a:gd name="connsiteX8" fmla="*/ 597378 w 1819335"/>
              <a:gd name="connsiteY8" fmla="*/ 191262 h 536133"/>
              <a:gd name="connsiteX9" fmla="*/ 597378 w 1819335"/>
              <a:gd name="connsiteY9" fmla="*/ 136857 h 536133"/>
              <a:gd name="connsiteX10" fmla="*/ 570560 w 1819335"/>
              <a:gd name="connsiteY10" fmla="*/ 136857 h 536133"/>
              <a:gd name="connsiteX11" fmla="*/ 570560 w 1819335"/>
              <a:gd name="connsiteY11" fmla="*/ 121719 h 536133"/>
              <a:gd name="connsiteX12" fmla="*/ 726705 w 1819335"/>
              <a:gd name="connsiteY12" fmla="*/ 121719 h 536133"/>
              <a:gd name="connsiteX13" fmla="*/ 726705 w 1819335"/>
              <a:gd name="connsiteY13" fmla="*/ 54866 h 536133"/>
              <a:gd name="connsiteX14" fmla="*/ 705880 w 1819335"/>
              <a:gd name="connsiteY14" fmla="*/ 54866 h 536133"/>
              <a:gd name="connsiteX15" fmla="*/ 705880 w 1819335"/>
              <a:gd name="connsiteY15" fmla="*/ 39574 h 536133"/>
              <a:gd name="connsiteX16" fmla="*/ 803855 w 1819335"/>
              <a:gd name="connsiteY16" fmla="*/ 39574 h 536133"/>
              <a:gd name="connsiteX17" fmla="*/ 803855 w 1819335"/>
              <a:gd name="connsiteY17" fmla="*/ 10604 h 536133"/>
              <a:gd name="connsiteX18" fmla="*/ 844659 w 1819335"/>
              <a:gd name="connsiteY18" fmla="*/ 10604 h 536133"/>
              <a:gd name="connsiteX19" fmla="*/ 844659 w 1819335"/>
              <a:gd name="connsiteY19" fmla="*/ 0 h 536133"/>
              <a:gd name="connsiteX20" fmla="*/ 974754 w 1819335"/>
              <a:gd name="connsiteY20" fmla="*/ 0 h 536133"/>
              <a:gd name="connsiteX21" fmla="*/ 974754 w 1819335"/>
              <a:gd name="connsiteY21" fmla="*/ 10604 h 536133"/>
              <a:gd name="connsiteX22" fmla="*/ 1015481 w 1819335"/>
              <a:gd name="connsiteY22" fmla="*/ 10604 h 536133"/>
              <a:gd name="connsiteX23" fmla="*/ 1015481 w 1819335"/>
              <a:gd name="connsiteY23" fmla="*/ 39574 h 536133"/>
              <a:gd name="connsiteX24" fmla="*/ 1113456 w 1819335"/>
              <a:gd name="connsiteY24" fmla="*/ 39574 h 536133"/>
              <a:gd name="connsiteX25" fmla="*/ 1113456 w 1819335"/>
              <a:gd name="connsiteY25" fmla="*/ 54866 h 536133"/>
              <a:gd name="connsiteX26" fmla="*/ 1092631 w 1819335"/>
              <a:gd name="connsiteY26" fmla="*/ 54866 h 536133"/>
              <a:gd name="connsiteX27" fmla="*/ 1092631 w 1819335"/>
              <a:gd name="connsiteY27" fmla="*/ 121719 h 536133"/>
              <a:gd name="connsiteX28" fmla="*/ 1248776 w 1819335"/>
              <a:gd name="connsiteY28" fmla="*/ 121719 h 536133"/>
              <a:gd name="connsiteX29" fmla="*/ 1248776 w 1819335"/>
              <a:gd name="connsiteY29" fmla="*/ 136857 h 536133"/>
              <a:gd name="connsiteX30" fmla="*/ 1221958 w 1819335"/>
              <a:gd name="connsiteY30" fmla="*/ 136857 h 536133"/>
              <a:gd name="connsiteX31" fmla="*/ 1221958 w 1819335"/>
              <a:gd name="connsiteY31" fmla="*/ 191262 h 536133"/>
              <a:gd name="connsiteX32" fmla="*/ 1819336 w 1819335"/>
              <a:gd name="connsiteY32" fmla="*/ 191262 h 536133"/>
            </a:gdLst>
            <a:rect l="l" t="t" r="r" b="b"/>
            <a:pathLst>
              <a:path w="1819335" h="536133">
                <a:moveTo>
                  <a:pt x="1819336" y="191262"/>
                </a:moveTo>
                <a:lnTo>
                  <a:pt x="1819336" y="206477"/>
                </a:lnTo>
                <a:lnTo>
                  <a:pt x="1804428" y="206477"/>
                </a:lnTo>
                <a:lnTo>
                  <a:pt x="1804428" y="536134"/>
                </a:lnTo>
                <a:lnTo>
                  <a:pt x="14908" y="536134"/>
                </a:lnTo>
                <a:lnTo>
                  <a:pt x="14908" y="206477"/>
                </a:lnTo>
                <a:lnTo>
                  <a:pt x="0" y="206477"/>
                </a:lnTo>
                <a:lnTo>
                  <a:pt x="0" y="191262"/>
                </a:lnTo>
                <a:lnTo>
                  <a:pt x="597378" y="191262"/>
                </a:lnTo>
                <a:lnTo>
                  <a:pt x="597378" y="136857"/>
                </a:lnTo>
                <a:lnTo>
                  <a:pt x="570560" y="136857"/>
                </a:lnTo>
                <a:lnTo>
                  <a:pt x="570560" y="121719"/>
                </a:lnTo>
                <a:lnTo>
                  <a:pt x="726705" y="121719"/>
                </a:lnTo>
                <a:lnTo>
                  <a:pt x="726705" y="54866"/>
                </a:lnTo>
                <a:lnTo>
                  <a:pt x="705880" y="54866"/>
                </a:lnTo>
                <a:lnTo>
                  <a:pt x="705880" y="39574"/>
                </a:lnTo>
                <a:lnTo>
                  <a:pt x="803855" y="39574"/>
                </a:lnTo>
                <a:lnTo>
                  <a:pt x="803855" y="10604"/>
                </a:lnTo>
                <a:lnTo>
                  <a:pt x="844659" y="10604"/>
                </a:lnTo>
                <a:lnTo>
                  <a:pt x="844659" y="0"/>
                </a:lnTo>
                <a:lnTo>
                  <a:pt x="974754" y="0"/>
                </a:lnTo>
                <a:lnTo>
                  <a:pt x="974754" y="10604"/>
                </a:lnTo>
                <a:lnTo>
                  <a:pt x="1015481" y="10604"/>
                </a:lnTo>
                <a:lnTo>
                  <a:pt x="1015481" y="39574"/>
                </a:lnTo>
                <a:lnTo>
                  <a:pt x="1113456" y="39574"/>
                </a:lnTo>
                <a:lnTo>
                  <a:pt x="1113456" y="54866"/>
                </a:lnTo>
                <a:lnTo>
                  <a:pt x="1092631" y="54866"/>
                </a:lnTo>
                <a:lnTo>
                  <a:pt x="1092631" y="121719"/>
                </a:lnTo>
                <a:lnTo>
                  <a:pt x="1248776" y="121719"/>
                </a:lnTo>
                <a:lnTo>
                  <a:pt x="1248776" y="136857"/>
                </a:lnTo>
                <a:lnTo>
                  <a:pt x="1221958" y="136857"/>
                </a:lnTo>
                <a:lnTo>
                  <a:pt x="1221958" y="191262"/>
                </a:lnTo>
                <a:lnTo>
                  <a:pt x="1819336" y="191262"/>
                </a:lnTo>
                <a:close/>
              </a:path>
            </a:pathLst>
          </a:custGeom>
          <a:solidFill xmlns:a="http://schemas.openxmlformats.org/drawingml/2006/main">
            <a:schemeClr val="accent1"/>
          </a:solidFill>
          <a:ln xmlns:a="http://schemas.openxmlformats.org/drawingml/2006/main" w="7676" cap="flat">
            <a:noFill/>
            <a:prstDash val="solid"/>
            <a:miter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9" name="矩形 8">
            <a:extLst xmlns:a="http://schemas.openxmlformats.org/drawingml/2006/main">
              <a:ext uri="{FF2B5EF4-FFF2-40B4-BE49-F238E27FC236}">
                <a16:creationId xmlns:a16="http://schemas.microsoft.com/office/drawing/2014/main" id="{E3A8BC19-EE52-4F0A-9280-1D01CC4966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721475"/>
            <a:ext cx="12192000" cy="136525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5" name="灯片编号占位符 4">
            <a:extLst xmlns:a="http://schemas.openxmlformats.org/drawingml/2006/main">
              <a:ext uri="{FF2B5EF4-FFF2-40B4-BE49-F238E27FC236}">
                <a16:creationId xmlns:a16="http://schemas.microsoft.com/office/drawing/2014/main" id="{5A19B9F0-1247-412D-A666-C54F071C46C5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10631517" y="6465093"/>
            <a:ext cx="914400" cy="365125"/>
          </a:xfrm>
        </p:spPr>
        <p:txBody>
          <a:bodyPr xmlns:a="http://schemas.openxmlformats.org/drawingml/2006/main"/>
          <a:lstStyle xmlns:a="http://schemas.openxmlformats.org/drawingml/2006/main">
            <a:lvl1pPr algn="ctr">
              <a:buNone/>
              <a:defRPr sz="1600" b="1">
                <a:solidFill>
                  <a:schemeClr val="bg1"/>
                </a:solidFill>
              </a:defRPr>
            </a:lvl1pPr>
          </a:lstStyle>
          <a:p xmlns:a="http://schemas.openxmlformats.org/drawingml/2006/main">
            <a:endParaRPr/>
          </a:p>
        </p:txBody>
      </p:sp>
      <p:sp>
        <p:nvSpPr>
          <p:cNvPr id="14" name="矩形 13">
            <a:extLst xmlns:a="http://schemas.openxmlformats.org/drawingml/2006/main">
              <a:ext uri="{FF2B5EF4-FFF2-40B4-BE49-F238E27FC236}">
                <a16:creationId xmlns:a16="http://schemas.microsoft.com/office/drawing/2014/main" id="{20CCC339-7F9A-4103-9A0E-607B842532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5080" y="0"/>
            <a:ext cx="12197080" cy="897351"/>
          </a:xfrm>
          <a:prstGeom xmlns:a="http://schemas.openxmlformats.org/drawingml/2006/main" prst="rect">
            <a:avLst/>
          </a:prstGeom>
          <a:gradFill xmlns:a="http://schemas.openxmlformats.org/drawingml/2006/main" flip="none" rotWithShape="1">
            <a:gsLst>
              <a:gs pos="50500">
                <a:srgbClr val="1766A9"/>
              </a:gs>
              <a:gs pos="0">
                <a:srgbClr val="2BA3C0"/>
              </a:gs>
              <a:gs pos="100000">
                <a:srgbClr val="005B94"/>
              </a:gs>
            </a:gsLst>
            <a:lin ang="10800000" scaled="1"/>
            <a:tileRect/>
          </a:gradFill>
          <a:ln xmlns:a="http://schemas.openxmlformats.org/drawingml/2006/main" w="9525" cap="flat">
            <a:noFill/>
            <a:prstDash val="solid"/>
            <a:miter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lvl="0">
              <a:buNone/>
            </a:pPr>
            <a:endParaRPr>
              <a:solidFill>
                <a:schemeClr val="tx1"/>
              </a:solidFill>
            </a:endParaRPr>
          </a:p>
        </p:txBody>
      </p:sp>
      <p:pic>
        <p:nvPicPr>
          <p:cNvPr id="19" name="Picture 2">
            <a:extLst xmlns:a="http://schemas.openxmlformats.org/drawingml/2006/main">
              <a:ext uri="{FF2B5EF4-FFF2-40B4-BE49-F238E27FC236}">
                <a16:creationId xmlns:a16="http://schemas.microsoft.com/office/drawing/2014/main" id="{04B234A8-B221-435F-BA15-81AEE8A550D6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4a4c487cd8f4050">
            <a:alphaModFix amt="78000"/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660278" y="0"/>
            <a:ext cx="2452843" cy="864627"/>
          </a:xfrm>
          <a:prstGeom xmlns:a="http://schemas.openxmlformats.org/drawingml/2006/main" prst="rect">
            <a:avLst/>
          </a:prstGeom>
        </p:spPr>
      </p:pic>
      <p:pic>
        <p:nvPicPr>
          <p:cNvPr id="6" name="图形 5">
            <a:extLst xmlns:a="http://schemas.openxmlformats.org/drawingml/2006/main">
              <a:ext uri="{FF2B5EF4-FFF2-40B4-BE49-F238E27FC236}">
                <a16:creationId xmlns:a16="http://schemas.microsoft.com/office/drawing/2014/main" id="{6385EB48-6ABF-4E95-B536-5D3A0FF12C42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c049cb306f64062">
            <a:extLst>
              <a:ext uri="{96DAC541-7B7A-43D3-8B79-37D633B846F1}">
                <asvg:svgBlip xmlns:asvg="http://schemas.microsoft.com/office/drawing/2016/SVG/main" r:embed="Rcaed93edd0f14b5d"/>
              </a:ext>
            </a:extLst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812531" y="155112"/>
            <a:ext cx="2989004" cy="587126"/>
          </a:xfrm>
          <a:prstGeom xmlns:a="http://schemas.openxmlformats.org/drawingml/2006/main" prst="rect">
            <a:avLst/>
          </a:prstGeom>
        </p:spPr>
      </p:pic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47DC36CA-180B-4C7F-B17A-5733C894DF5C}"/>
              </a:ext>
            </a:extLst>
          </p:cNvPr>
          <p:cNvSpPr>
            <a:spLocks xmlns:a="http://schemas.openxmlformats.org/drawingml/2006/main" noGrp="1"/>
          </p:cNvSpPr>
          <p:nvPr>
            <p:ph type="title" idx="0" hasCustomPrompt="1"/>
          </p:nvPr>
        </p:nvSpPr>
        <p:spPr>
          <a:xfrm xmlns:a="http://schemas.openxmlformats.org/drawingml/2006/main">
            <a:off x="488950" y="38368"/>
            <a:ext cx="10515600" cy="820614"/>
          </a:xfrm>
        </p:spPr>
        <p:txBody>
          <a:bodyPr xmlns:a="http://schemas.openxmlformats.org/drawingml/2006/main" anchor="ctr"/>
          <a:lstStyle xmlns:a="http://schemas.openxmlformats.org/drawingml/2006/main">
            <a:lvl1pPr>
              <a:lnSpc>
                <a:spcPct val="100000"/>
              </a:lnSpc>
              <a:buNone/>
              <a:defRPr b="1">
                <a:solidFill>
                  <a:schemeClr val="bg1"/>
                </a:solidFill>
              </a:defRPr>
            </a:lvl1pPr>
          </a:lstStyle>
          <a:p xmlns:a="http://schemas.openxmlformats.org/drawingml/2006/main">
            <a:r>
              <a:t>在此处添加标题</a:t>
            </a:r>
            <a:endParaRPr/>
          </a:p>
        </p:txBody>
      </p:sp>
    </p:spTree>
  </p:cSld>
</p:sldLayout>
</file>

<file path=ppt/slideLayouts/slideLayout10.xml><?xml version="1.0" encoding="utf-8"?>
<p:sldLayout xmlns:p="http://schemas.openxmlformats.org/presentationml/2006/main" type="blank" preserve="1">
  <p:cSld name="1_空白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日期占位符 1">
            <a:extLst xmlns:a="http://schemas.openxmlformats.org/drawingml/2006/main">
              <a:ext uri="{FF2B5EF4-FFF2-40B4-BE49-F238E27FC236}">
                <a16:creationId xmlns:a16="http://schemas.microsoft.com/office/drawing/2014/main" id="{D793E9BD-BFC6-42BE-B4A2-112353752FBE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3" name="页脚占位符 2">
            <a:extLst xmlns:a="http://schemas.openxmlformats.org/drawingml/2006/main">
              <a:ext uri="{FF2B5EF4-FFF2-40B4-BE49-F238E27FC236}">
                <a16:creationId xmlns:a16="http://schemas.microsoft.com/office/drawing/2014/main" id="{D803EEA4-8A41-456B-8D1F-6E852698B8CC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灯片编号占位符 3">
            <a:extLst xmlns:a="http://schemas.openxmlformats.org/drawingml/2006/main">
              <a:ext uri="{FF2B5EF4-FFF2-40B4-BE49-F238E27FC236}">
                <a16:creationId xmlns:a16="http://schemas.microsoft.com/office/drawing/2014/main" id="{AAE44724-CD72-4787-8F36-048E7A610316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pic>
        <p:nvPicPr>
          <p:cNvPr id="11" name="图片 10">
            <a:extLst xmlns:a="http://schemas.openxmlformats.org/drawingml/2006/main">
              <a:ext uri="{FF2B5EF4-FFF2-40B4-BE49-F238E27FC236}">
                <a16:creationId xmlns:a16="http://schemas.microsoft.com/office/drawing/2014/main" id="{3190B8B6-4F05-429D-8579-16E049ED2E0E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2b8f3122de047ee"/>
          <a:srcRect xmlns:a="http://schemas.openxmlformats.org/drawingml/2006/main" l="19710" t="0" r="0" b="1189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-9522" y="3598450"/>
            <a:ext cx="3972009" cy="3259549"/>
          </a:xfrm>
          <a:prstGeom xmlns:a="http://schemas.openxmlformats.org/drawingml/2006/main" prst="rect">
            <a:avLst/>
          </a:prstGeom>
        </p:spPr>
      </p:pic>
      <p:sp>
        <p:nvSpPr>
          <p:cNvPr id="6" name="图形 6">
            <a:extLst xmlns:a="http://schemas.openxmlformats.org/drawingml/2006/main">
              <a:ext uri="{FF2B5EF4-FFF2-40B4-BE49-F238E27FC236}">
                <a16:creationId xmlns:a16="http://schemas.microsoft.com/office/drawing/2014/main" id="{C05156C5-2B3D-43F2-8600-2561DCF3DE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-2"/>
            <a:ext cx="3962399" cy="6858002"/>
          </a:xfrm>
          <a:prstGeom xmlns:a="http://schemas.openxmlformats.org/drawingml/2006/main" prst="rect">
            <a:avLst/>
          </a:prstGeom>
          <a:gradFill xmlns:a="http://schemas.openxmlformats.org/drawingml/2006/main" flip="none" rotWithShape="1">
            <a:gsLst>
              <a:gs pos="12000">
                <a:schemeClr val="accent1"/>
              </a:gs>
              <a:gs pos="85040">
                <a:srgbClr val="005B94">
                  <a:alpha val="80000"/>
                </a:srgbClr>
              </a:gs>
              <a:gs pos="100000">
                <a:srgbClr val="005B94">
                  <a:alpha val="65000"/>
                </a:srgbClr>
              </a:gs>
            </a:gsLst>
            <a:lin ang="5400000" scaled="1"/>
            <a:tileRect/>
          </a:gradFill>
          <a:ln xmlns:a="http://schemas.openxmlformats.org/drawingml/2006/main" w="9525" cap="flat">
            <a:noFill/>
            <a:prstDash val="solid"/>
            <a:miter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图形 6">
            <a:extLst xmlns:a="http://schemas.openxmlformats.org/drawingml/2006/main">
              <a:ext uri="{FF2B5EF4-FFF2-40B4-BE49-F238E27FC236}">
                <a16:creationId xmlns:a16="http://schemas.microsoft.com/office/drawing/2014/main" id="{FFBF74D1-FE73-4C52-B191-D9CE5911B4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6200000">
            <a:off x="604839" y="3357560"/>
            <a:ext cx="6857999" cy="142878"/>
          </a:xfrm>
          <a:prstGeom xmlns:a="http://schemas.openxmlformats.org/drawingml/2006/main" prst="rect">
            <a:avLst/>
          </a:prstGeom>
          <a:gradFill xmlns:a="http://schemas.openxmlformats.org/drawingml/2006/main" flip="none" rotWithShape="1">
            <a:gsLst>
              <a:gs pos="100000">
                <a:schemeClr val="accent3">
                  <a:lumMod val="42000"/>
                  <a:lumOff val="58000"/>
                </a:schemeClr>
              </a:gs>
              <a:gs pos="0">
                <a:schemeClr val="accent4">
                  <a:lumMod val="75000"/>
                </a:schemeClr>
              </a:gs>
            </a:gsLst>
            <a:lin ang="0" scaled="1"/>
            <a:tileRect/>
          </a:gradFill>
          <a:ln xmlns:a="http://schemas.openxmlformats.org/drawingml/2006/main" w="9525" cap="flat">
            <a:noFill/>
            <a:prstDash val="solid"/>
            <a:miter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0" name="TextBox 4">
            <a:extLst xmlns:a="http://schemas.openxmlformats.org/drawingml/2006/main">
              <a:ext uri="{FF2B5EF4-FFF2-40B4-BE49-F238E27FC236}">
                <a16:creationId xmlns:a16="http://schemas.microsoft.com/office/drawing/2014/main" id="{C487B095-B138-4B76-97EA-BDE5A5D882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068" y="2790199"/>
            <a:ext cx="3096260" cy="152971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noFill/>
          </a:ln>
        </p:spPr>
        <p:txBody>
          <a:bodyPr xmlns:a="http://schemas.openxmlformats.org/drawingml/2006/main" wrap="square" lIns="91416" tIns="45708" rIns="91416" bIns="45708" anchor="t">
            <a:spAutoFit/>
          </a:bodyPr>
          <a:lstStyle xmlns:a="http://schemas.openxmlformats.org/drawingml/2006/main"/>
          <a:p xmlns:a="http://schemas.openxmlformats.org/drawingml/2006/main">
            <a:pPr marL="0" marR="0" lvl="0" indent="0" algn="ctr" defTabSz="914400">
              <a:lnSpc>
                <a:spcPct val="13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</a:pPr>
            <a:r>
              <a:rPr sz="4400" b="1" i="0" u="none" strike="noStrike" cap="none" spc="0" baseline="0">
                <a:ln>
                  <a:noFill/>
                </a:ln>
                <a:solidFill>
                  <a:prstClr val="white"/>
                </a:solidFill>
                <a:latin typeface="+mj-ea"/>
                <a:ea typeface="+mj-ea"/>
                <a:cs typeface="+mj-ea"/>
              </a:rPr>
              <a:t>目 录</a:t>
            </a:r>
            <a:r>
              <a:rPr sz="4265" b="1" i="0" u="none" strike="noStrike" cap="none" spc="0" baseline="0">
                <a:ln>
                  <a:noFill/>
                </a:ln>
                <a:solidFill>
                  <a:prstClr val="white"/>
                </a:solidFill>
                <a:latin typeface="微软雅黑"/>
                <a:ea typeface="微软雅黑"/>
                <a:cs typeface="微软雅黑"/>
              </a:rPr>
              <a:t> </a:t>
            </a:r>
            <a:r>
              <a:rPr sz="4265" b="1" i="0" u="none" strike="noStrike" cap="none" spc="0" baseline="0">
                <a:ln>
                  <a:noFill/>
                </a:ln>
                <a:solidFill>
                  <a:prstClr val="white"/>
                </a:solidFill>
                <a:latin typeface="微软雅黑"/>
                <a:ea typeface="微软雅黑"/>
                <a:cs typeface="微软雅黑"/>
              </a:rPr>
              <a:t> </a:t>
            </a:r>
            <a:r>
              <a:rPr sz="2800" b="1" i="0" u="none" strike="noStrike" cap="none" spc="0" baseline="0">
                <a:ln>
                  <a:noFill/>
                </a:ln>
                <a:solidFill>
                  <a:prstClr val="white"/>
                </a:solidFill>
                <a:latin typeface="微软雅黑"/>
                <a:ea typeface="微软雅黑"/>
                <a:cs typeface="微软雅黑"/>
              </a:rPr>
              <a:t>CONTENTS</a:t>
            </a:r>
            <a:endParaRPr sz="2800" b="1" i="0" u="none" strike="noStrike" kern="0" cap="none" spc="0" baseline="0">
              <a:ln>
                <a:noFill/>
              </a:ln>
              <a:solidFill>
                <a:prstClr val="white"/>
              </a:solidFill>
              <a:latin typeface="微软雅黑"/>
              <a:ea typeface="微软雅黑"/>
              <a:cs typeface="微软雅黑"/>
            </a:endParaRPr>
          </a:p>
        </p:txBody>
      </p:sp>
      <p:pic>
        <p:nvPicPr>
          <p:cNvPr id="13" name="图形 12">
            <a:extLst xmlns:a="http://schemas.openxmlformats.org/drawingml/2006/main">
              <a:ext uri="{FF2B5EF4-FFF2-40B4-BE49-F238E27FC236}">
                <a16:creationId xmlns:a16="http://schemas.microsoft.com/office/drawing/2014/main" id="{086A69E3-CDCD-4217-933C-4FD4375AB8EE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6b92b22c1ac4796">
            <a:extLst>
              <a:ext uri="{96DAC541-7B7A-43D3-8B79-37D633B846F1}">
                <asvg:svgBlip xmlns:asvg="http://schemas.microsoft.com/office/drawing/2016/SVG/main" r:embed="R36f2fca0fdb54754"/>
              </a:ext>
            </a:extLst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242129" y="1090159"/>
            <a:ext cx="1478138" cy="1478138"/>
          </a:xfrm>
          <a:prstGeom xmlns:a="http://schemas.openxmlformats.org/drawingml/2006/main" prst="rect">
            <a:avLst/>
          </a:prstGeom>
        </p:spPr>
      </p:pic>
    </p:spTree>
  </p:cSld>
</p:sldLayout>
</file>

<file path=ppt/slideLayouts/slideLayout11.xml><?xml version="1.0" encoding="utf-8"?>
<p:sldLayout xmlns:p="http://schemas.openxmlformats.org/presentationml/2006/main" preserve="1" userDrawn="1">
  <p:cSld name="自定义版式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日期占位符 2">
            <a:extLst xmlns:a="http://schemas.openxmlformats.org/drawingml/2006/main">
              <a:ext uri="{FF2B5EF4-FFF2-40B4-BE49-F238E27FC236}">
                <a16:creationId xmlns:a16="http://schemas.microsoft.com/office/drawing/2014/main" id="{1F36CE9A-8CE3-497F-9C50-458DDDE590E4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页脚占位符 3">
            <a:extLst xmlns:a="http://schemas.openxmlformats.org/drawingml/2006/main">
              <a:ext uri="{FF2B5EF4-FFF2-40B4-BE49-F238E27FC236}">
                <a16:creationId xmlns:a16="http://schemas.microsoft.com/office/drawing/2014/main" id="{96D7DDA6-485B-4F97-819E-50062B932058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" name="灯片编号占位符 4">
            <a:extLst xmlns:a="http://schemas.openxmlformats.org/drawingml/2006/main">
              <a:ext uri="{FF2B5EF4-FFF2-40B4-BE49-F238E27FC236}">
                <a16:creationId xmlns:a16="http://schemas.microsoft.com/office/drawing/2014/main" id="{F594463D-5347-41F7-A778-310F923BABDB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</p:spTree>
  </p:cSld>
</p:sldLayout>
</file>

<file path=ppt/slideLayouts/slideLayout12.xml><?xml version="1.0" encoding="utf-8"?>
<p:sldLayout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BE6CAD46-6593-45BE-9F41-2F105473DE1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9788" y="457200"/>
            <a:ext cx="3932237" cy="1600200"/>
          </a:xfrm>
        </p:spPr>
        <p:txBody>
          <a:bodyPr xmlns:a="http://schemas.openxmlformats.org/drawingml/2006/main" anchor="b"/>
          <a:lstStyle xmlns:a="http://schemas.openxmlformats.org/drawingml/2006/main">
            <a:lvl1pPr>
              <a:buNone/>
              <a:defRPr sz="3200"/>
            </a:lvl1pPr>
          </a:lstStyle>
          <a:p xmlns:a="http://schemas.openxmlformats.org/drawingml/2006/main">
            <a:r>
              <a:t>单击此处编辑母版标题样式</a:t>
            </a:r>
            <a:endParaRPr/>
          </a:p>
        </p:txBody>
      </p:sp>
      <p:sp>
        <p:nvSpPr>
          <p:cNvPr id="3" name="内容占位符 2">
            <a:extLst xmlns:a="http://schemas.openxmlformats.org/drawingml/2006/main">
              <a:ext uri="{FF2B5EF4-FFF2-40B4-BE49-F238E27FC236}">
                <a16:creationId xmlns:a16="http://schemas.microsoft.com/office/drawing/2014/main" id="{01DE9DB3-3F2D-484D-BBD4-DB208275AA38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5183188" y="987425"/>
            <a:ext cx="6172200" cy="4873625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3200"/>
            </a:lvl1pPr>
            <a:lvl2pPr>
              <a:buNone/>
              <a:defRPr sz="2800"/>
            </a:lvl2pPr>
            <a:lvl3pPr>
              <a:buNone/>
              <a:defRPr sz="2400"/>
            </a:lvl3pPr>
            <a:lvl4pPr>
              <a:buNone/>
              <a:defRPr sz="2000"/>
            </a:lvl4pPr>
            <a:lvl5pPr>
              <a:buNone/>
              <a:defRPr sz="2000"/>
            </a:lvl5pPr>
            <a:lvl6pPr>
              <a:buNone/>
              <a:defRPr sz="2000"/>
            </a:lvl6pPr>
            <a:lvl7pPr>
              <a:buNone/>
              <a:defRPr sz="2000"/>
            </a:lvl7pPr>
            <a:lvl8pPr>
              <a:buNone/>
              <a:defRPr sz="2000"/>
            </a:lvl8pPr>
            <a:lvl9pPr>
              <a:buNone/>
              <a:defRPr sz="2000"/>
            </a:lvl9pPr>
          </a:lstStyle>
          <a:p xmlns:a="http://schemas.openxmlformats.org/drawingml/2006/main">
            <a:pPr lvl="0">
              <a:buNone/>
            </a:pPr>
            <a:r>
              <a:t>单击此处编辑母版文本样式</a:t>
            </a:r>
            <a:endParaRPr/>
          </a:p>
          <a:p xmlns:a="http://schemas.openxmlformats.org/drawingml/2006/main">
            <a:pPr lvl="1">
              <a:buNone/>
            </a:pPr>
            <a:r>
              <a:t>二级</a:t>
            </a:r>
            <a:endParaRPr/>
          </a:p>
          <a:p xmlns:a="http://schemas.openxmlformats.org/drawingml/2006/main">
            <a:pPr lvl="2">
              <a:buNone/>
            </a:pPr>
            <a:r>
              <a:t>三级</a:t>
            </a:r>
            <a:endParaRPr/>
          </a:p>
          <a:p xmlns:a="http://schemas.openxmlformats.org/drawingml/2006/main">
            <a:pPr lvl="3">
              <a:buNone/>
            </a:pPr>
            <a:r>
              <a:t>四级</a:t>
            </a:r>
            <a:endParaRPr/>
          </a:p>
          <a:p xmlns:a="http://schemas.openxmlformats.org/drawingml/2006/main">
            <a:pPr lvl="4">
              <a:buNone/>
            </a:pPr>
            <a:r>
              <a:t>五级</a:t>
            </a:r>
            <a:endParaRPr/>
          </a:p>
        </p:txBody>
      </p:sp>
      <p:sp>
        <p:nvSpPr>
          <p:cNvPr id="4" name="文本占位符 3">
            <a:extLst xmlns:a="http://schemas.openxmlformats.org/drawingml/2006/main">
              <a:ext uri="{FF2B5EF4-FFF2-40B4-BE49-F238E27FC236}">
                <a16:creationId xmlns:a16="http://schemas.microsoft.com/office/drawing/2014/main" id="{9F064109-23DD-4C65-AC34-8615074AF48A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839788" y="2057400"/>
            <a:ext cx="3932237" cy="3811588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 xmlns:a="http://schemas.openxmlformats.org/drawingml/2006/main">
            <a:pPr lvl="0">
              <a:buNone/>
            </a:pPr>
            <a:r>
              <a:t>单击此处编辑母版文本样式</a:t>
            </a:r>
            <a:endParaRPr/>
          </a:p>
        </p:txBody>
      </p:sp>
      <p:sp>
        <p:nvSpPr>
          <p:cNvPr id="5" name="日期占位符 4">
            <a:extLst xmlns:a="http://schemas.openxmlformats.org/drawingml/2006/main">
              <a:ext uri="{FF2B5EF4-FFF2-40B4-BE49-F238E27FC236}">
                <a16:creationId xmlns:a16="http://schemas.microsoft.com/office/drawing/2014/main" id="{4DA5EDEC-B6D0-4853-A852-84FCE8C65ADA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页脚占位符 5">
            <a:extLst xmlns:a="http://schemas.openxmlformats.org/drawingml/2006/main">
              <a:ext uri="{FF2B5EF4-FFF2-40B4-BE49-F238E27FC236}">
                <a16:creationId xmlns:a16="http://schemas.microsoft.com/office/drawing/2014/main" id="{FF303B88-3CC5-464C-8280-D5DBC285BF31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灯片编号占位符 6">
            <a:extLst xmlns:a="http://schemas.openxmlformats.org/drawingml/2006/main">
              <a:ext uri="{FF2B5EF4-FFF2-40B4-BE49-F238E27FC236}">
                <a16:creationId xmlns:a16="http://schemas.microsoft.com/office/drawing/2014/main" id="{5BE47084-8C4E-44F2-BFBD-DB3CC4577E7E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</p:spTree>
  </p:cSld>
</p:sldLayout>
</file>

<file path=ppt/slideLayouts/slideLayout13.xml><?xml version="1.0" encoding="utf-8"?>
<p:sldLayout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2C5124F6-C995-4AF9-86D7-6E55C5EB5C2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9788" y="457200"/>
            <a:ext cx="3932237" cy="1600200"/>
          </a:xfrm>
        </p:spPr>
        <p:txBody>
          <a:bodyPr xmlns:a="http://schemas.openxmlformats.org/drawingml/2006/main" anchor="b"/>
          <a:lstStyle xmlns:a="http://schemas.openxmlformats.org/drawingml/2006/main">
            <a:lvl1pPr>
              <a:buNone/>
              <a:defRPr sz="3200"/>
            </a:lvl1pPr>
          </a:lstStyle>
          <a:p xmlns:a="http://schemas.openxmlformats.org/drawingml/2006/main">
            <a:r>
              <a:t>单击此处编辑母版标题样式</a:t>
            </a:r>
            <a:endParaRPr/>
          </a:p>
        </p:txBody>
      </p:sp>
      <p:sp>
        <p:nvSpPr>
          <p:cNvPr id="3" name="图片占位符 2">
            <a:extLst xmlns:a="http://schemas.openxmlformats.org/drawingml/2006/main">
              <a:ext uri="{FF2B5EF4-FFF2-40B4-BE49-F238E27FC236}">
                <a16:creationId xmlns:a16="http://schemas.microsoft.com/office/drawing/2014/main" id="{08848D6C-5FC0-4016-A9D9-6EFAE839AFCE}"/>
              </a:ext>
            </a:extLst>
          </p:cNvPr>
          <p:cNvSpPr>
            <a:spLocks xmlns:a="http://schemas.openxmlformats.org/drawingml/2006/main" noGrp="1"/>
          </p:cNvSpPr>
          <p:nvPr>
            <p:ph type="pic" idx="1"/>
          </p:nvPr>
        </p:nvSpPr>
        <p:spPr>
          <a:xfrm xmlns:a="http://schemas.openxmlformats.org/drawingml/2006/main">
            <a:off x="5183188" y="987425"/>
            <a:ext cx="6172200" cy="4873625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 xmlns:a="http://schemas.openxmlformats.org/drawingml/2006/main">
            <a:endParaRPr/>
          </a:p>
        </p:txBody>
      </p:sp>
      <p:sp>
        <p:nvSpPr>
          <p:cNvPr id="4" name="文本占位符 3">
            <a:extLst xmlns:a="http://schemas.openxmlformats.org/drawingml/2006/main">
              <a:ext uri="{FF2B5EF4-FFF2-40B4-BE49-F238E27FC236}">
                <a16:creationId xmlns:a16="http://schemas.microsoft.com/office/drawing/2014/main" id="{F4B3AB4E-0C4E-4BEE-88B3-8B13026A2BB0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839788" y="2057400"/>
            <a:ext cx="3932237" cy="3811588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 xmlns:a="http://schemas.openxmlformats.org/drawingml/2006/main">
            <a:pPr lvl="0">
              <a:buNone/>
            </a:pPr>
            <a:r>
              <a:t>单击此处编辑母版文本样式</a:t>
            </a:r>
            <a:endParaRPr/>
          </a:p>
        </p:txBody>
      </p:sp>
      <p:sp>
        <p:nvSpPr>
          <p:cNvPr id="5" name="日期占位符 4">
            <a:extLst xmlns:a="http://schemas.openxmlformats.org/drawingml/2006/main">
              <a:ext uri="{FF2B5EF4-FFF2-40B4-BE49-F238E27FC236}">
                <a16:creationId xmlns:a16="http://schemas.microsoft.com/office/drawing/2014/main" id="{3AD1674F-CA12-4521-992B-843ED791C49B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页脚占位符 5">
            <a:extLst xmlns:a="http://schemas.openxmlformats.org/drawingml/2006/main">
              <a:ext uri="{FF2B5EF4-FFF2-40B4-BE49-F238E27FC236}">
                <a16:creationId xmlns:a16="http://schemas.microsoft.com/office/drawing/2014/main" id="{220C53C3-869F-4B80-8876-31596B255272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灯片编号占位符 6">
            <a:extLst xmlns:a="http://schemas.openxmlformats.org/drawingml/2006/main">
              <a:ext uri="{FF2B5EF4-FFF2-40B4-BE49-F238E27FC236}">
                <a16:creationId xmlns:a16="http://schemas.microsoft.com/office/drawing/2014/main" id="{118D9409-E232-490C-99D5-AADAB5DAD3EC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</p:spTree>
  </p:cSld>
</p:sldLayout>
</file>

<file path=ppt/slideLayouts/slideLayout14.xml><?xml version="1.0" encoding="utf-8"?>
<p:sldLayout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FD99130D-1FE9-47F4-BE78-DE7727D6314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单击此处编辑母版标题样式</a:t>
            </a:r>
            <a:endParaRPr/>
          </a:p>
        </p:txBody>
      </p:sp>
      <p:sp>
        <p:nvSpPr>
          <p:cNvPr id="3" name="竖排文字占位符 2">
            <a:extLst xmlns:a="http://schemas.openxmlformats.org/drawingml/2006/main">
              <a:ext uri="{FF2B5EF4-FFF2-40B4-BE49-F238E27FC236}">
                <a16:creationId xmlns:a16="http://schemas.microsoft.com/office/drawing/2014/main" id="{540C261F-6C51-43A0-B503-E5E9AE4E52C0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单击此处编辑母版文本样式</a:t>
            </a:r>
            <a:endParaRPr/>
          </a:p>
          <a:p xmlns:a="http://schemas.openxmlformats.org/drawingml/2006/main">
            <a:pPr lvl="1">
              <a:buNone/>
            </a:pPr>
            <a:r>
              <a:t>二级</a:t>
            </a:r>
            <a:endParaRPr/>
          </a:p>
          <a:p xmlns:a="http://schemas.openxmlformats.org/drawingml/2006/main">
            <a:pPr lvl="2">
              <a:buNone/>
            </a:pPr>
            <a:r>
              <a:t>三级</a:t>
            </a:r>
            <a:endParaRPr/>
          </a:p>
          <a:p xmlns:a="http://schemas.openxmlformats.org/drawingml/2006/main">
            <a:pPr lvl="3">
              <a:buNone/>
            </a:pPr>
            <a:r>
              <a:t>四级</a:t>
            </a:r>
            <a:endParaRPr/>
          </a:p>
          <a:p xmlns:a="http://schemas.openxmlformats.org/drawingml/2006/main">
            <a:pPr lvl="4">
              <a:buNone/>
            </a:pPr>
            <a:r>
              <a:t>五级</a:t>
            </a:r>
            <a:endParaRPr/>
          </a:p>
        </p:txBody>
      </p:sp>
      <p:sp>
        <p:nvSpPr>
          <p:cNvPr id="4" name="日期占位符 3">
            <a:extLst xmlns:a="http://schemas.openxmlformats.org/drawingml/2006/main">
              <a:ext uri="{FF2B5EF4-FFF2-40B4-BE49-F238E27FC236}">
                <a16:creationId xmlns:a16="http://schemas.microsoft.com/office/drawing/2014/main" id="{CF0DBFE4-6D2D-46D3-B4E3-16068D97AE33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" name="页脚占位符 4">
            <a:extLst xmlns:a="http://schemas.openxmlformats.org/drawingml/2006/main">
              <a:ext uri="{FF2B5EF4-FFF2-40B4-BE49-F238E27FC236}">
                <a16:creationId xmlns:a16="http://schemas.microsoft.com/office/drawing/2014/main" id="{A2EB52EE-6642-4A47-8C7D-4723A80EFD16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灯片编号占位符 5">
            <a:extLst xmlns:a="http://schemas.openxmlformats.org/drawingml/2006/main">
              <a:ext uri="{FF2B5EF4-FFF2-40B4-BE49-F238E27FC236}">
                <a16:creationId xmlns:a16="http://schemas.microsoft.com/office/drawing/2014/main" id="{8563D4DA-AEFF-4FEE-BF81-5D4C72DAA44A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</p:spTree>
  </p:cSld>
</p:sldLayout>
</file>

<file path=ppt/slideLayouts/slideLayout15.xml><?xml version="1.0" encoding="utf-8"?>
<p:sldLayout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竖排标题 1">
            <a:extLst xmlns:a="http://schemas.openxmlformats.org/drawingml/2006/main">
              <a:ext uri="{FF2B5EF4-FFF2-40B4-BE49-F238E27FC236}">
                <a16:creationId xmlns:a16="http://schemas.microsoft.com/office/drawing/2014/main" id="{5EDD5E30-E9B3-4975-9DDA-ACFA05AE027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724900" y="365125"/>
            <a:ext cx="2628900" cy="5811838"/>
          </a:xfrm>
        </p:spPr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r>
              <a:t>单击此处编辑母版标题样式</a:t>
            </a:r>
            <a:endParaRPr/>
          </a:p>
        </p:txBody>
      </p:sp>
      <p:sp>
        <p:nvSpPr>
          <p:cNvPr id="3" name="竖排文字占位符 2">
            <a:extLst xmlns:a="http://schemas.openxmlformats.org/drawingml/2006/main">
              <a:ext uri="{FF2B5EF4-FFF2-40B4-BE49-F238E27FC236}">
                <a16:creationId xmlns:a16="http://schemas.microsoft.com/office/drawing/2014/main" id="{755E4EA6-51B4-453B-B117-A5E75AE03FF8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8200" y="365125"/>
            <a:ext cx="7734300" cy="5811838"/>
          </a:xfrm>
        </p:spPr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单击此处编辑母版文本样式</a:t>
            </a:r>
            <a:endParaRPr/>
          </a:p>
          <a:p xmlns:a="http://schemas.openxmlformats.org/drawingml/2006/main">
            <a:pPr lvl="1">
              <a:buNone/>
            </a:pPr>
            <a:r>
              <a:t>二级</a:t>
            </a:r>
            <a:endParaRPr/>
          </a:p>
          <a:p xmlns:a="http://schemas.openxmlformats.org/drawingml/2006/main">
            <a:pPr lvl="2">
              <a:buNone/>
            </a:pPr>
            <a:r>
              <a:t>三级</a:t>
            </a:r>
            <a:endParaRPr/>
          </a:p>
          <a:p xmlns:a="http://schemas.openxmlformats.org/drawingml/2006/main">
            <a:pPr lvl="3">
              <a:buNone/>
            </a:pPr>
            <a:r>
              <a:t>四级</a:t>
            </a:r>
            <a:endParaRPr/>
          </a:p>
          <a:p xmlns:a="http://schemas.openxmlformats.org/drawingml/2006/main">
            <a:pPr lvl="4">
              <a:buNone/>
            </a:pPr>
            <a:r>
              <a:t>五级</a:t>
            </a:r>
            <a:endParaRPr/>
          </a:p>
        </p:txBody>
      </p:sp>
      <p:sp>
        <p:nvSpPr>
          <p:cNvPr id="4" name="日期占位符 3">
            <a:extLst xmlns:a="http://schemas.openxmlformats.org/drawingml/2006/main">
              <a:ext uri="{FF2B5EF4-FFF2-40B4-BE49-F238E27FC236}">
                <a16:creationId xmlns:a16="http://schemas.microsoft.com/office/drawing/2014/main" id="{50075880-725C-4183-975B-41C91E2C700D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" name="页脚占位符 4">
            <a:extLst xmlns:a="http://schemas.openxmlformats.org/drawingml/2006/main">
              <a:ext uri="{FF2B5EF4-FFF2-40B4-BE49-F238E27FC236}">
                <a16:creationId xmlns:a16="http://schemas.microsoft.com/office/drawing/2014/main" id="{AB02A5F5-B778-4F76-8730-85F35957C27F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灯片编号占位符 5">
            <a:extLst xmlns:a="http://schemas.openxmlformats.org/drawingml/2006/main">
              <a:ext uri="{FF2B5EF4-FFF2-40B4-BE49-F238E27FC236}">
                <a16:creationId xmlns:a16="http://schemas.microsoft.com/office/drawing/2014/main" id="{479A0975-4002-4C25-A97F-7EE468081321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3218f44dc6af49ac" /><Relationship Type="http://schemas.openxmlformats.org/officeDocument/2006/relationships/slideLayout" Target="/ppt/slideLayouts/slideLayout1.xml" Id="R7ae86a37dd8543df" /><Relationship Type="http://schemas.openxmlformats.org/officeDocument/2006/relationships/slideLayout" Target="/ppt/slideLayouts/slideLayout2.xml" Id="R34ef24cb54bf4447" /><Relationship Type="http://schemas.openxmlformats.org/officeDocument/2006/relationships/slideLayout" Target="/ppt/slideLayouts/slideLayout3.xml" Id="Rbbd5d6335c7f41cd" /><Relationship Type="http://schemas.openxmlformats.org/officeDocument/2006/relationships/slideLayout" Target="/ppt/slideLayouts/slideLayout4.xml" Id="Rbb95120b0faf48a6" /><Relationship Type="http://schemas.openxmlformats.org/officeDocument/2006/relationships/slideLayout" Target="/ppt/slideLayouts/slideLayout5.xml" Id="Rfb074e5b93504235" /><Relationship Type="http://schemas.openxmlformats.org/officeDocument/2006/relationships/slideLayout" Target="/ppt/slideLayouts/slideLayout6.xml" Id="R0df7a099fb4141ee" /><Relationship Type="http://schemas.openxmlformats.org/officeDocument/2006/relationships/slideLayout" Target="/ppt/slideLayouts/slideLayout7.xml" Id="Ra8ee33ffe1db4b63" /><Relationship Type="http://schemas.openxmlformats.org/officeDocument/2006/relationships/slideLayout" Target="/ppt/slideLayouts/slideLayout8.xml" Id="R289cb20a75f54b2f" /><Relationship Type="http://schemas.openxmlformats.org/officeDocument/2006/relationships/slideLayout" Target="/ppt/slideLayouts/slideLayout9.xml" Id="Rb4dd29c8ac774a29" /><Relationship Type="http://schemas.openxmlformats.org/officeDocument/2006/relationships/slideLayout" Target="/ppt/slideLayouts/slideLayout10.xml" Id="R347e6391e89846e5" /><Relationship Type="http://schemas.openxmlformats.org/officeDocument/2006/relationships/slideLayout" Target="/ppt/slideLayouts/slideLayout11.xml" Id="R1c77e67eb92a44b0" /><Relationship Type="http://schemas.openxmlformats.org/officeDocument/2006/relationships/slideLayout" Target="/ppt/slideLayouts/slideLayout12.xml" Id="Rc20cb6c344354716" /><Relationship Type="http://schemas.openxmlformats.org/officeDocument/2006/relationships/slideLayout" Target="/ppt/slideLayouts/slideLayout13.xml" Id="Rf88e18cbc904423a" /><Relationship Type="http://schemas.openxmlformats.org/officeDocument/2006/relationships/slideLayout" Target="/ppt/slideLayouts/slideLayout14.xml" Id="R4d3d615fb96244c4" /><Relationship Type="http://schemas.openxmlformats.org/officeDocument/2006/relationships/slideLayout" Target="/ppt/slideLayouts/slideLayout15.xml" Id="Rfe05f5b50bf74743" /></Relationships>
</file>

<file path=ppt/slideMasters/slideMaster1.xml><?xml version="1.0" encoding="utf-8"?>
<p:sld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占位符 1">
            <a:extLst xmlns:a="http://schemas.openxmlformats.org/drawingml/2006/main">
              <a:ext uri="{FF2B5EF4-FFF2-40B4-BE49-F238E27FC236}">
                <a16:creationId xmlns:a16="http://schemas.microsoft.com/office/drawing/2014/main" id="{38A849AA-0EBA-4DF7-8A24-EA75A1BB047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8200" y="365125"/>
            <a:ext cx="10515600" cy="132556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>
            <a:normAutofit/>
          </a:bodyPr>
          <a:lstStyle xmlns:a="http://schemas.openxmlformats.org/drawingml/2006/main"/>
          <a:p xmlns:a="http://schemas.openxmlformats.org/drawingml/2006/main">
            <a:r>
              <a:t>单击此处编辑母版标题样式</a:t>
            </a:r>
            <a:endParaRPr/>
          </a:p>
        </p:txBody>
      </p:sp>
      <p:sp>
        <p:nvSpPr>
          <p:cNvPr id="3" name="文本占位符 2">
            <a:extLst xmlns:a="http://schemas.openxmlformats.org/drawingml/2006/main">
              <a:ext uri="{FF2B5EF4-FFF2-40B4-BE49-F238E27FC236}">
                <a16:creationId xmlns:a16="http://schemas.microsoft.com/office/drawing/2014/main" id="{D92C8CB1-68C7-4304-93E4-2F9AD92CF921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8200" y="1825625"/>
            <a:ext cx="10515600" cy="435133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>
            <a:normAutofit/>
          </a:bodyPr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单击此处编辑母版文本样式</a:t>
            </a:r>
            <a:endParaRPr/>
          </a:p>
          <a:p xmlns:a="http://schemas.openxmlformats.org/drawingml/2006/main">
            <a:pPr lvl="1">
              <a:buNone/>
            </a:pPr>
            <a:r>
              <a:t>二级</a:t>
            </a:r>
            <a:endParaRPr/>
          </a:p>
          <a:p xmlns:a="http://schemas.openxmlformats.org/drawingml/2006/main">
            <a:pPr lvl="2">
              <a:buNone/>
            </a:pPr>
            <a:r>
              <a:t>三级</a:t>
            </a:r>
            <a:endParaRPr/>
          </a:p>
          <a:p xmlns:a="http://schemas.openxmlformats.org/drawingml/2006/main">
            <a:pPr lvl="3">
              <a:buNone/>
            </a:pPr>
            <a:r>
              <a:t>四级</a:t>
            </a:r>
            <a:endParaRPr/>
          </a:p>
          <a:p xmlns:a="http://schemas.openxmlformats.org/drawingml/2006/main">
            <a:pPr lvl="4">
              <a:buNone/>
            </a:pPr>
            <a:r>
              <a:t>五级</a:t>
            </a:r>
            <a:endParaRPr/>
          </a:p>
        </p:txBody>
      </p:sp>
      <p:sp>
        <p:nvSpPr>
          <p:cNvPr id="4" name="日期占位符 3">
            <a:extLst xmlns:a="http://schemas.openxmlformats.org/drawingml/2006/main">
              <a:ext uri="{FF2B5EF4-FFF2-40B4-BE49-F238E27FC236}">
                <a16:creationId xmlns:a16="http://schemas.microsoft.com/office/drawing/2014/main" id="{2681F065-4806-4E18-96AF-142322EFA6CE}"/>
              </a:ext>
            </a:extLst>
          </p:cNvPr>
          <p:cNvSpPr>
            <a:spLocks xmlns:a="http://schemas.openxmlformats.org/drawingml/2006/main" noGrp="1"/>
          </p:cNvSpPr>
          <p:nvPr>
            <p:ph type="dt" idx="2"/>
          </p:nvPr>
        </p:nvSpPr>
        <p:spPr>
          <a:xfrm xmlns:a="http://schemas.openxmlformats.org/drawingml/2006/main">
            <a:off x="838200" y="6356350"/>
            <a:ext cx="27432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l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 xmlns:a="http://schemas.openxmlformats.org/drawingml/2006/main">
            <a:endParaRPr/>
          </a:p>
        </p:txBody>
      </p:sp>
      <p:sp>
        <p:nvSpPr>
          <p:cNvPr id="5" name="页脚占位符 4">
            <a:extLst xmlns:a="http://schemas.openxmlformats.org/drawingml/2006/main">
              <a:ext uri="{FF2B5EF4-FFF2-40B4-BE49-F238E27FC236}">
                <a16:creationId xmlns:a16="http://schemas.microsoft.com/office/drawing/2014/main" id="{74BCE9CC-D00D-44CA-947C-CE3890398BA1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4038600" y="6356350"/>
            <a:ext cx="41148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ctr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 xmlns:a="http://schemas.openxmlformats.org/drawingml/2006/main">
            <a:endParaRPr/>
          </a:p>
        </p:txBody>
      </p:sp>
      <p:sp>
        <p:nvSpPr>
          <p:cNvPr id="6" name="灯片编号占位符 5">
            <a:extLst xmlns:a="http://schemas.openxmlformats.org/drawingml/2006/main">
              <a:ext uri="{FF2B5EF4-FFF2-40B4-BE49-F238E27FC236}">
                <a16:creationId xmlns:a16="http://schemas.microsoft.com/office/drawing/2014/main" id="{B48008DF-755E-42FC-B289-7D023966C765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8610600" y="6356350"/>
            <a:ext cx="27432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r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 xmlns:a="http://schemas.openxmlformats.org/drawingml/2006/main"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7ae86a37dd8543df"/>
    <p:sldLayoutId xmlns:r="http://schemas.openxmlformats.org/officeDocument/2006/relationships" id="2147483650" r:id="R34ef24cb54bf4447"/>
    <p:sldLayoutId xmlns:r="http://schemas.openxmlformats.org/officeDocument/2006/relationships" id="2147483651" r:id="Rbbd5d6335c7f41cd"/>
    <p:sldLayoutId xmlns:r="http://schemas.openxmlformats.org/officeDocument/2006/relationships" id="2147483652" r:id="Rbb95120b0faf48a6"/>
    <p:sldLayoutId xmlns:r="http://schemas.openxmlformats.org/officeDocument/2006/relationships" id="2147483653" r:id="Rfb074e5b93504235"/>
    <p:sldLayoutId xmlns:r="http://schemas.openxmlformats.org/officeDocument/2006/relationships" id="2147483654" r:id="R0df7a099fb4141ee"/>
    <p:sldLayoutId xmlns:r="http://schemas.openxmlformats.org/officeDocument/2006/relationships" id="2147483655" r:id="Ra8ee33ffe1db4b63"/>
    <p:sldLayoutId xmlns:r="http://schemas.openxmlformats.org/officeDocument/2006/relationships" id="2147483656" r:id="R289cb20a75f54b2f"/>
    <p:sldLayoutId xmlns:r="http://schemas.openxmlformats.org/officeDocument/2006/relationships" id="2147483657" r:id="Rb4dd29c8ac774a29"/>
    <p:sldLayoutId xmlns:r="http://schemas.openxmlformats.org/officeDocument/2006/relationships" id="2147483658" r:id="R347e6391e89846e5"/>
    <p:sldLayoutId xmlns:r="http://schemas.openxmlformats.org/officeDocument/2006/relationships" id="2147483659" r:id="R1c77e67eb92a44b0"/>
    <p:sldLayoutId xmlns:r="http://schemas.openxmlformats.org/officeDocument/2006/relationships" id="2147483660" r:id="Rc20cb6c344354716"/>
    <p:sldLayoutId xmlns:r="http://schemas.openxmlformats.org/officeDocument/2006/relationships" id="2147483661" r:id="Rf88e18cbc904423a"/>
    <p:sldLayoutId xmlns:r="http://schemas.openxmlformats.org/officeDocument/2006/relationships" id="2147483662" r:id="R4d3d615fb96244c4"/>
    <p:sldLayoutId xmlns:r="http://schemas.openxmlformats.org/officeDocument/2006/relationships" id="2147483663" r:id="Rfe05f5b50bf74743"/>
  </p:sldLayoutIdLst>
  <p:txStyles>
    <p:titleStyle>
      <a:lvl1pPr xmlns:a="http://schemas.openxmlformats.org/drawingml/2006/main" algn="l" defTabSz="914400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 defTabSz="914400">
        <a:lnSpc>
          <a:spcPct val="90000"/>
        </a:lnSpc>
        <a:spcBef>
          <a:spcPts val="1000"/>
        </a:spcBef>
        <a:buFont typeface="Arial"/>
        <a:buChar char="•"/>
        <a:defRPr sz="2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2_Office 主题​​">
  <a:themeElements>
    <a:clrScheme name="自定义 1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005B94"/>
      </a:accent1>
      <a:accent2>
        <a:srgbClr val="2BA3C0"/>
      </a:accent2>
      <a:accent3>
        <a:srgbClr val="B37328"/>
      </a:accent3>
      <a:accent4>
        <a:srgbClr val="FFC000"/>
      </a:accent4>
      <a:accent5>
        <a:srgbClr val="345964"/>
      </a:accent5>
      <a:accent6>
        <a:srgbClr val="C00000"/>
      </a:accent6>
      <a:hlink>
        <a:srgbClr val="467886"/>
      </a:hlink>
      <a:folHlink>
        <a:srgbClr val="96607D"/>
      </a:folHlink>
    </a:clrScheme>
    <a:fontScheme name="自定义 1">
      <a:majorFont>
        <a:latin typeface="Times New Roman"/>
        <a:ea typeface="思源宋体 CN"/>
        <a:cs typeface=""/>
      </a:majorFont>
      <a:minorFont>
        <a:latin typeface="微软雅黑"/>
        <a:ea typeface="微软雅黑"/>
        <a:cs typeface=""/>
      </a:minorFont>
    </a:fontScheme>
    <a:fmtScheme name="自定义 1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df7d48da8ab4c6a" /><Relationship Type="http://schemas.openxmlformats.org/officeDocument/2006/relationships/image" Target="/ppt/media/image10.png" Id="R3ed4d1f9a1d2482d" /><Relationship Type="http://schemas.openxmlformats.org/officeDocument/2006/relationships/image" Target="/ppt/media/image5.svg" Id="R9557dd75cbaf43b1" /><Relationship Type="http://schemas.openxmlformats.org/officeDocument/2006/relationships/image" Target="/ppt/media/image11.png" Id="Rcc674660d3694810" /><Relationship Type="http://schemas.openxmlformats.org/officeDocument/2006/relationships/image" Target="/ppt/media/image2.png" Id="R89f31fbf76d84fc8" /><Relationship Type="http://schemas.openxmlformats.org/officeDocument/2006/relationships/image" Target="/ppt/media/image.svg" Id="Rb33df0d57a1f4ff9" /><Relationship Type="http://schemas.openxmlformats.org/officeDocument/2006/relationships/image" Target="/ppt/media/image12.png" Id="Rf4c3c80da1a747f7" /><Relationship Type="http://schemas.openxmlformats.org/officeDocument/2006/relationships/image" Target="/ppt/media/image13.png" Id="R62e379053dcb4ba9" /><Relationship Type="http://schemas.openxmlformats.org/officeDocument/2006/relationships/image" Target="/ppt/media/image14.png" Id="R13148fa6512145a2" /><Relationship Type="http://schemas.openxmlformats.org/officeDocument/2006/relationships/image" Target="/ppt/media/image15.png" Id="Rd0a9d361a39f42ee" /><Relationship Type="http://schemas.openxmlformats.org/officeDocument/2006/relationships/image" Target="/ppt/media/image6.svg" Id="R3a3fd74d8a5e459c" /><Relationship Type="http://schemas.openxmlformats.org/officeDocument/2006/relationships/image" Target="/ppt/media/image16.png" Id="R2cf7da9cf0be41f9" /><Relationship Type="http://schemas.openxmlformats.org/officeDocument/2006/relationships/image" Target="/ppt/media/image7.svg" Id="R8c044a5fcaf94e42" /><Relationship Type="http://schemas.openxmlformats.org/officeDocument/2006/relationships/image" Target="/ppt/media/image17.png" Id="R950e910c1712450a" /><Relationship Type="http://schemas.openxmlformats.org/officeDocument/2006/relationships/image" Target="/ppt/media/image8.svg" Id="R79af3a16aff54946" /><Relationship Type="http://schemas.openxmlformats.org/officeDocument/2006/relationships/image" Target="/ppt/media/image18.png" Id="R8cc649b1ea194853" /><Relationship Type="http://schemas.openxmlformats.org/officeDocument/2006/relationships/image" Target="/ppt/media/image9.svg" Id="R4c8eff63885242d8" /><Relationship Type="http://schemas.openxmlformats.org/officeDocument/2006/relationships/image" Target="/ppt/media/image19.png" Id="R68ae071f65f2476d" /><Relationship Type="http://schemas.openxmlformats.org/officeDocument/2006/relationships/notesSlide" Target="/ppt/notesSlides/notesSlide1.xml" Id="Rad261cc3478d428e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9.xml" Id="Rd773f69107664ea8" /><Relationship Type="http://schemas.openxmlformats.org/officeDocument/2006/relationships/notesSlide" Target="/ppt/notesSlides/notesSlide2.xml" Id="Rd903ffacea7f480f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9.xml" Id="Ra205b6be1e244236" /><Relationship Type="http://schemas.openxmlformats.org/officeDocument/2006/relationships/notesSlide" Target="/ppt/notesSlides/notesSlide3.xml" Id="R1e9caadc1757473c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9.xml" Id="R0f1e8525ae6a4fcc" /><Relationship Type="http://schemas.openxmlformats.org/officeDocument/2006/relationships/notesSlide" Target="/ppt/notesSlides/notesSlide4.xml" Id="Rebfa26cb29874335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9.xml" Id="R28fc25082a0c4b8f" /><Relationship Type="http://schemas.openxmlformats.org/officeDocument/2006/relationships/notesSlide" Target="/ppt/notesSlides/notesSlide5.xml" Id="R54107c1364fe4102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9.xml" Id="Rb9d0bba5af5d4da8" /><Relationship Type="http://schemas.openxmlformats.org/officeDocument/2006/relationships/notesSlide" Target="/ppt/notesSlides/notesSlide6.xml" Id="R1a3194e5b1cb449a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9.xml" Id="R2f734c0ab7424335" /><Relationship Type="http://schemas.openxmlformats.org/officeDocument/2006/relationships/image" Target="/ppt/media/image20.png" Id="Rde67fa0a33e546ac" /><Relationship Type="http://schemas.openxmlformats.org/officeDocument/2006/relationships/notesSlide" Target="/ppt/notesSlides/notesSlide7.xml" Id="R15e18f5d15a14825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9.xml" Id="Rdccfc3bc294841a6" /><Relationship Type="http://schemas.openxmlformats.org/officeDocument/2006/relationships/image" Target="/ppt/media/image21.png" Id="Raa66e7098f404057" /><Relationship Type="http://schemas.openxmlformats.org/officeDocument/2006/relationships/notesSlide" Target="/ppt/notesSlides/notesSlide8.xml" Id="Rdd80d620ca89473d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9.xml" Id="R26d8d4e42d704f05" /><Relationship Type="http://schemas.openxmlformats.org/officeDocument/2006/relationships/image" Target="/ppt/media/image22.png" Id="R9a0eace9fe5c4fe9" /><Relationship Type="http://schemas.openxmlformats.org/officeDocument/2006/relationships/notesSlide" Target="/ppt/notesSlides/notesSlide9.xml" Id="R5fbc2f8ce732431a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9.xml" Id="R51b167b8db1b41b3" /><Relationship Type="http://schemas.openxmlformats.org/officeDocument/2006/relationships/image" Target="/ppt/media/image23.png" Id="R2f27c837a643471f" /><Relationship Type="http://schemas.openxmlformats.org/officeDocument/2006/relationships/notesSlide" Target="/ppt/notesSlides/notesSlide10.xml" Id="R5b173f6cbf064ced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9.xml" Id="R6eba9e0417fa4139" /><Relationship Type="http://schemas.openxmlformats.org/officeDocument/2006/relationships/notesSlide" Target="/ppt/notesSlides/notesSlide11.xml" Id="Rc879a1f0589a4965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9.xml" Id="R3dd36b045b5a4d59" /><Relationship Type="http://schemas.openxmlformats.org/officeDocument/2006/relationships/notesSlide" Target="/ppt/notesSlides/notesSlide12.xml" Id="R31b3a1cf5f4640d9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9.xml" Id="R5d8449698b1f44bd" /><Relationship Type="http://schemas.openxmlformats.org/officeDocument/2006/relationships/notesSlide" Target="/ppt/notesSlides/notesSlide13.xml" Id="Rf7e5619a0dc24e50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9.xml" Id="R5ff86aa76f1745fc" /><Relationship Type="http://schemas.openxmlformats.org/officeDocument/2006/relationships/notesSlide" Target="/ppt/notesSlides/notesSlide14.xml" Id="R2e1dda3d07eb4a8e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9.xml" Id="Ree17d04e945e43ed" /><Relationship Type="http://schemas.openxmlformats.org/officeDocument/2006/relationships/notesSlide" Target="/ppt/notesSlides/notesSlide15.xml" Id="R9a60ed7abde448f3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9.xml" Id="R14b550adc6114c0d" /><Relationship Type="http://schemas.openxmlformats.org/officeDocument/2006/relationships/hyperlink" Target="https://doi.org/10.1002/adfm.202506111" TargetMode="External" Id="R7f9290b7131c4f9a" /><Relationship Type="http://schemas.openxmlformats.org/officeDocument/2006/relationships/hyperlink" Target="https://doi.org/10.1038/s41467-024-47426-x" TargetMode="External" Id="R73c9eba285294a92" /><Relationship Type="http://schemas.openxmlformats.org/officeDocument/2006/relationships/hyperlink" Target="https://doi.org/10.1038/s41467-024-46942-0" TargetMode="External" Id="R191402d9b04244e8" /><Relationship Type="http://schemas.openxmlformats.org/officeDocument/2006/relationships/notesSlide" Target="/ppt/notesSlides/notesSlide16.xml" Id="Rd4895d8718f647f1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9.xml" Id="R51e6d1075acb4ec4" /><Relationship Type="http://schemas.openxmlformats.org/officeDocument/2006/relationships/notesSlide" Target="/ppt/notesSlides/notesSlide17.xml" Id="Rf647114d30ea4d38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9" name="图形 18">
            <a:extLst xmlns:a="http://schemas.openxmlformats.org/drawingml/2006/main">
              <a:ext uri="{FF2B5EF4-FFF2-40B4-BE49-F238E27FC236}">
                <a16:creationId xmlns:a16="http://schemas.microsoft.com/office/drawing/2014/main" id="{749FFDB6-24FE-402D-97D5-7514BEE52FB6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ed4d1f9a1d2482d">
            <a:extLst>
              <a:ext uri="{96DAC541-7B7A-43D3-8B79-37D633B846F1}">
                <asvg:svgBlip xmlns:asvg="http://schemas.microsoft.com/office/drawing/2016/SVG/main" r:embed="R9557dd75cbaf43b1"/>
              </a:ext>
            </a:extLst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18557218">
            <a:off x="10233345" y="-282978"/>
            <a:ext cx="2345858" cy="1660785"/>
          </a:xfrm>
          <a:prstGeom xmlns:a="http://schemas.openxmlformats.org/drawingml/2006/main" prst="rect">
            <a:avLst/>
          </a:prstGeom>
        </p:spPr>
      </p:pic>
      <p:pic>
        <p:nvPicPr>
          <p:cNvPr id="16" name="图片 15">
            <a:extLst xmlns:a="http://schemas.openxmlformats.org/drawingml/2006/main">
              <a:ext uri="{FF2B5EF4-FFF2-40B4-BE49-F238E27FC236}">
                <a16:creationId xmlns:a16="http://schemas.microsoft.com/office/drawing/2014/main" id="{33A33891-5F26-4A9D-9BEE-C99C97A0AD22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c674660d3694810">
            <a:alphaModFix amt="90000"/>
            <a:biLevel thresh="25000"/>
          </a:blip>
          <a:srcRect xmlns:a="http://schemas.openxmlformats.org/drawingml/2006/main" l="0" t="0" r="0" b="79706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-5080" y="517525"/>
            <a:ext cx="2399937" cy="799325"/>
          </a:xfrm>
          <a:prstGeom xmlns:a="http://schemas.openxmlformats.org/drawingml/2006/main" prst="rect">
            <a:avLst/>
          </a:prstGeom>
        </p:spPr>
      </p:pic>
      <p:sp>
        <p:nvSpPr>
          <p:cNvPr id="25" name="直接连接符 24">
            <a:extLst xmlns:a="http://schemas.openxmlformats.org/drawingml/2006/main">
              <a:ext uri="{FF2B5EF4-FFF2-40B4-BE49-F238E27FC236}">
                <a16:creationId xmlns:a16="http://schemas.microsoft.com/office/drawing/2014/main" id="{7AFC561C-E3C6-455E-87EA-9EE805AAEA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2364969"/>
            <a:ext cx="9753600" cy="0"/>
          </a:xfrm>
          <a:prstGeom xmlns:a="http://schemas.openxmlformats.org/drawingml/2006/main" prst="line">
            <a:avLst/>
          </a:prstGeom>
          <a:ln xmlns:a="http://schemas.openxmlformats.org/drawingml/2006/main">
            <a:solidFill>
              <a:schemeClr val="bg1">
                <a:alpha val="67000"/>
              </a:schemeClr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1">
            <a:schemeClr val="accent1"/>
          </a:effectRef>
          <a:fontRef xmlns:a="http://schemas.openxmlformats.org/drawingml/2006/main" idx="minor">
            <a:schemeClr val="tx1"/>
          </a:fontRef>
        </p:style>
      </p:sp>
      <p:pic>
        <p:nvPicPr>
          <p:cNvPr id="26" name="图形 25">
            <a:extLst xmlns:a="http://schemas.openxmlformats.org/drawingml/2006/main">
              <a:ext uri="{FF2B5EF4-FFF2-40B4-BE49-F238E27FC236}">
                <a16:creationId xmlns:a16="http://schemas.microsoft.com/office/drawing/2014/main" id="{FAF77EC3-92FE-4E03-8F96-676F4CB89A4D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9f31fbf76d84fc8">
            <a:extLst>
              <a:ext uri="{96DAC541-7B7A-43D3-8B79-37D633B846F1}">
                <asvg:svgBlip xmlns:asvg="http://schemas.microsoft.com/office/drawing/2016/SVG/main" r:embed="Rb33df0d57a1f4ff9"/>
              </a:ext>
            </a:extLst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216976" y="412321"/>
            <a:ext cx="3758048" cy="738188"/>
          </a:xfrm>
          <a:prstGeom xmlns:a="http://schemas.openxmlformats.org/drawingml/2006/main" prst="rect">
            <a:avLst/>
          </a:prstGeom>
        </p:spPr>
      </p:pic>
      <p:pic>
        <p:nvPicPr>
          <p:cNvPr id="61" name="图片 60">
            <a:extLst xmlns:a="http://schemas.openxmlformats.org/drawingml/2006/main">
              <a:ext uri="{FF2B5EF4-FFF2-40B4-BE49-F238E27FC236}">
                <a16:creationId xmlns:a16="http://schemas.microsoft.com/office/drawing/2014/main" id="{101BC449-591E-4008-876E-DE2DF7657C2F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4c3c80da1a747f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1977492">
            <a:off x="269790" y="3492587"/>
            <a:ext cx="368435" cy="438759"/>
          </a:xfrm>
          <a:prstGeom xmlns:a="http://schemas.openxmlformats.org/drawingml/2006/main" prst="rect">
            <a:avLst/>
          </a:prstGeom>
        </p:spPr>
      </p:pic>
      <p:pic>
        <p:nvPicPr>
          <p:cNvPr id="62" name="图片 61">
            <a:extLst xmlns:a="http://schemas.openxmlformats.org/drawingml/2006/main">
              <a:ext uri="{FF2B5EF4-FFF2-40B4-BE49-F238E27FC236}">
                <a16:creationId xmlns:a16="http://schemas.microsoft.com/office/drawing/2014/main" id="{3DDFF2BF-7563-48C4-B017-95DC022F7E1E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2e379053dcb4ba9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20700000">
            <a:off x="696040" y="3008919"/>
            <a:ext cx="322120" cy="383603"/>
          </a:xfrm>
          <a:prstGeom xmlns:a="http://schemas.openxmlformats.org/drawingml/2006/main" prst="rect">
            <a:avLst/>
          </a:prstGeom>
        </p:spPr>
      </p:pic>
      <p:pic>
        <p:nvPicPr>
          <p:cNvPr id="63" name="图片 62">
            <a:extLst xmlns:a="http://schemas.openxmlformats.org/drawingml/2006/main">
              <a:ext uri="{FF2B5EF4-FFF2-40B4-BE49-F238E27FC236}">
                <a16:creationId xmlns:a16="http://schemas.microsoft.com/office/drawing/2014/main" id="{1B1571F0-EFF3-47B3-96A9-01F39F0F0413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3148fa6512145a2">
            <a:alphaModFix amt="60000"/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1347742">
            <a:off x="1098759" y="3046579"/>
            <a:ext cx="192257" cy="228953"/>
          </a:xfrm>
          <a:prstGeom xmlns:a="http://schemas.openxmlformats.org/drawingml/2006/main" prst="rect">
            <a:avLst/>
          </a:prstGeom>
        </p:spPr>
      </p:pic>
      <p:pic>
        <p:nvPicPr>
          <p:cNvPr id="1025" name="图形 1024">
            <a:extLst xmlns:a="http://schemas.openxmlformats.org/drawingml/2006/main">
              <a:ext uri="{FF2B5EF4-FFF2-40B4-BE49-F238E27FC236}">
                <a16:creationId xmlns:a16="http://schemas.microsoft.com/office/drawing/2014/main" id="{BB2E550D-1B31-428A-99F0-07B7103FB875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0a9d361a39f42ee">
            <a:alphaModFix amt="45000"/>
            <a:extLst>
              <a:ext uri="{96DAC541-7B7A-43D3-8B79-37D633B846F1}">
                <asvg:svgBlip xmlns:asvg="http://schemas.microsoft.com/office/drawing/2016/SVG/main" r:embed="R3a3fd74d8a5e459c"/>
              </a:ext>
            </a:extLst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0" flipH="0" flipV="0">
            <a:off x="-5080" y="3919696"/>
            <a:ext cx="4305076" cy="993479"/>
          </a:xfrm>
          <a:prstGeom xmlns:a="http://schemas.openxmlformats.org/drawingml/2006/main" prst="rect">
            <a:avLst/>
          </a:prstGeom>
        </p:spPr>
      </p:pic>
      <p:pic>
        <p:nvPicPr>
          <p:cNvPr id="1027" name="图形 1026">
            <a:extLst xmlns:a="http://schemas.openxmlformats.org/drawingml/2006/main">
              <a:ext uri="{FF2B5EF4-FFF2-40B4-BE49-F238E27FC236}">
                <a16:creationId xmlns:a16="http://schemas.microsoft.com/office/drawing/2014/main" id="{9E409C02-ED28-4EAD-B681-2109727B1713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cf7da9cf0be41f9">
            <a:extLst>
              <a:ext uri="{96DAC541-7B7A-43D3-8B79-37D633B846F1}">
                <asvg:svgBlip xmlns:asvg="http://schemas.microsoft.com/office/drawing/2016/SVG/main" r:embed="R8c044a5fcaf94e42"/>
              </a:ext>
            </a:extLst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0" flipH="0" flipV="0">
            <a:off x="6293" y="3921179"/>
            <a:ext cx="4196899" cy="991994"/>
          </a:xfrm>
          <a:prstGeom xmlns:a="http://schemas.openxmlformats.org/drawingml/2006/main" prst="rect">
            <a:avLst/>
          </a:prstGeom>
        </p:spPr>
      </p:pic>
      <p:sp>
        <p:nvSpPr>
          <p:cNvPr id="1029" name="图形 46">
            <a:extLst xmlns:a="http://schemas.openxmlformats.org/drawingml/2006/main">
              <a:ext uri="{FF2B5EF4-FFF2-40B4-BE49-F238E27FC236}">
                <a16:creationId xmlns:a16="http://schemas.microsoft.com/office/drawing/2014/main" id="{BB1F56E7-7E5C-4615-AB8D-73CA5F16FE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7464842" y="3763145"/>
            <a:ext cx="6160427" cy="1150836"/>
          </a:xfrm>
          <a:custGeom xmlns:a="http://schemas.openxmlformats.org/drawingml/2006/main">
            <a:gdLst>
              <a:gd name="connsiteX0" fmla="*/ 3669367 w 5878116"/>
              <a:gd name="connsiteY0" fmla="*/ 65273 h 1098098"/>
              <a:gd name="connsiteX1" fmla="*/ 3669367 w 5878116"/>
              <a:gd name="connsiteY1" fmla="*/ 101425 h 1098098"/>
              <a:gd name="connsiteX2" fmla="*/ 3669367 w 5878116"/>
              <a:gd name="connsiteY2" fmla="*/ 925877 h 1098098"/>
              <a:gd name="connsiteX3" fmla="*/ 3668865 w 5878116"/>
              <a:gd name="connsiteY3" fmla="*/ 925877 h 1098098"/>
              <a:gd name="connsiteX4" fmla="*/ 3668865 w 5878116"/>
              <a:gd name="connsiteY4" fmla="*/ 883701 h 1098098"/>
              <a:gd name="connsiteX5" fmla="*/ 3668865 w 5878116"/>
              <a:gd name="connsiteY5" fmla="*/ 36654 h 1098098"/>
              <a:gd name="connsiteX6" fmla="*/ 3719075 w 5878116"/>
              <a:gd name="connsiteY6" fmla="*/ 36654 h 1098098"/>
              <a:gd name="connsiteX7" fmla="*/ 3719075 w 5878116"/>
              <a:gd name="connsiteY7" fmla="*/ 0 h 1098098"/>
              <a:gd name="connsiteX8" fmla="*/ 2158540 w 5878116"/>
              <a:gd name="connsiteY8" fmla="*/ 0 h 1098098"/>
              <a:gd name="connsiteX9" fmla="*/ 2158540 w 5878116"/>
              <a:gd name="connsiteY9" fmla="*/ 36654 h 1098098"/>
              <a:gd name="connsiteX10" fmla="*/ 2208750 w 5878116"/>
              <a:gd name="connsiteY10" fmla="*/ 36654 h 1098098"/>
              <a:gd name="connsiteX11" fmla="*/ 2208750 w 5878116"/>
              <a:gd name="connsiteY11" fmla="*/ 883701 h 1098098"/>
              <a:gd name="connsiteX12" fmla="*/ 2208750 w 5878116"/>
              <a:gd name="connsiteY12" fmla="*/ 883701 h 1098098"/>
              <a:gd name="connsiteX13" fmla="*/ 2208750 w 5878116"/>
              <a:gd name="connsiteY13" fmla="*/ 101425 h 1098098"/>
              <a:gd name="connsiteX14" fmla="*/ 2208750 w 5878116"/>
              <a:gd name="connsiteY14" fmla="*/ 65273 h 1098098"/>
              <a:gd name="connsiteX15" fmla="*/ 0 w 5878116"/>
              <a:gd name="connsiteY15" fmla="*/ 65273 h 1098098"/>
              <a:gd name="connsiteX16" fmla="*/ 0 w 5878116"/>
              <a:gd name="connsiteY16" fmla="*/ 101425 h 1098098"/>
              <a:gd name="connsiteX17" fmla="*/ 41675 w 5878116"/>
              <a:gd name="connsiteY17" fmla="*/ 101425 h 1098098"/>
              <a:gd name="connsiteX18" fmla="*/ 41675 w 5878116"/>
              <a:gd name="connsiteY18" fmla="*/ 925877 h 1098098"/>
              <a:gd name="connsiteX19" fmla="*/ 41675 w 5878116"/>
              <a:gd name="connsiteY19" fmla="*/ 1098099 h 1098098"/>
              <a:gd name="connsiteX20" fmla="*/ 2208750 w 5878116"/>
              <a:gd name="connsiteY20" fmla="*/ 1098099 h 1098098"/>
              <a:gd name="connsiteX21" fmla="*/ 2208750 w 5878116"/>
              <a:gd name="connsiteY21" fmla="*/ 1098099 h 1098098"/>
              <a:gd name="connsiteX22" fmla="*/ 2209252 w 5878116"/>
              <a:gd name="connsiteY22" fmla="*/ 1098099 h 1098098"/>
              <a:gd name="connsiteX23" fmla="*/ 2416621 w 5878116"/>
              <a:gd name="connsiteY23" fmla="*/ 1098099 h 1098098"/>
              <a:gd name="connsiteX24" fmla="*/ 2469341 w 5878116"/>
              <a:gd name="connsiteY24" fmla="*/ 1098099 h 1098098"/>
              <a:gd name="connsiteX25" fmla="*/ 3407772 w 5878116"/>
              <a:gd name="connsiteY25" fmla="*/ 1098099 h 1098098"/>
              <a:gd name="connsiteX26" fmla="*/ 3460492 w 5878116"/>
              <a:gd name="connsiteY26" fmla="*/ 1098099 h 1098098"/>
              <a:gd name="connsiteX27" fmla="*/ 3668865 w 5878116"/>
              <a:gd name="connsiteY27" fmla="*/ 1098099 h 1098098"/>
              <a:gd name="connsiteX28" fmla="*/ 5836442 w 5878116"/>
              <a:gd name="connsiteY28" fmla="*/ 1098099 h 1098098"/>
              <a:gd name="connsiteX29" fmla="*/ 5836442 w 5878116"/>
              <a:gd name="connsiteY29" fmla="*/ 925877 h 1098098"/>
              <a:gd name="connsiteX30" fmla="*/ 5836442 w 5878116"/>
              <a:gd name="connsiteY30" fmla="*/ 101425 h 1098098"/>
              <a:gd name="connsiteX31" fmla="*/ 5878117 w 5878116"/>
              <a:gd name="connsiteY31" fmla="*/ 101425 h 1098098"/>
              <a:gd name="connsiteX32" fmla="*/ 5878117 w 5878116"/>
              <a:gd name="connsiteY32" fmla="*/ 65273 h 1098098"/>
              <a:gd name="connsiteX33" fmla="*/ 3669367 w 5878116"/>
              <a:gd name="connsiteY33" fmla="*/ 65273 h 1098098"/>
            </a:gdLst>
            <a:rect l="l" t="t" r="r" b="b"/>
            <a:pathLst>
              <a:path w="5878116" h="1098098">
                <a:moveTo>
                  <a:pt x="3669367" y="65273"/>
                </a:moveTo>
                <a:lnTo>
                  <a:pt x="3669367" y="101425"/>
                </a:lnTo>
                <a:lnTo>
                  <a:pt x="3669367" y="925877"/>
                </a:lnTo>
                <a:lnTo>
                  <a:pt x="3668865" y="925877"/>
                </a:lnTo>
                <a:lnTo>
                  <a:pt x="3668865" y="883701"/>
                </a:lnTo>
                <a:lnTo>
                  <a:pt x="3668865" y="36654"/>
                </a:lnTo>
                <a:lnTo>
                  <a:pt x="3719075" y="36654"/>
                </a:lnTo>
                <a:lnTo>
                  <a:pt x="3719075" y="0"/>
                </a:lnTo>
                <a:lnTo>
                  <a:pt x="2158540" y="0"/>
                </a:lnTo>
                <a:lnTo>
                  <a:pt x="2158540" y="36654"/>
                </a:lnTo>
                <a:lnTo>
                  <a:pt x="2208750" y="36654"/>
                </a:lnTo>
                <a:lnTo>
                  <a:pt x="2208750" y="883701"/>
                </a:lnTo>
                <a:lnTo>
                  <a:pt x="2208750" y="883701"/>
                </a:lnTo>
                <a:lnTo>
                  <a:pt x="2208750" y="101425"/>
                </a:lnTo>
                <a:lnTo>
                  <a:pt x="2208750" y="65273"/>
                </a:lnTo>
                <a:lnTo>
                  <a:pt x="0" y="65273"/>
                </a:lnTo>
                <a:lnTo>
                  <a:pt x="0" y="101425"/>
                </a:lnTo>
                <a:lnTo>
                  <a:pt x="41675" y="101425"/>
                </a:lnTo>
                <a:lnTo>
                  <a:pt x="41675" y="925877"/>
                </a:lnTo>
                <a:lnTo>
                  <a:pt x="41675" y="1098099"/>
                </a:lnTo>
                <a:lnTo>
                  <a:pt x="2208750" y="1098099"/>
                </a:lnTo>
                <a:lnTo>
                  <a:pt x="2208750" y="1098099"/>
                </a:lnTo>
                <a:lnTo>
                  <a:pt x="2209252" y="1098099"/>
                </a:lnTo>
                <a:lnTo>
                  <a:pt x="2416621" y="1098099"/>
                </a:lnTo>
                <a:lnTo>
                  <a:pt x="2469341" y="1098099"/>
                </a:lnTo>
                <a:lnTo>
                  <a:pt x="3407772" y="1098099"/>
                </a:lnTo>
                <a:lnTo>
                  <a:pt x="3460492" y="1098099"/>
                </a:lnTo>
                <a:lnTo>
                  <a:pt x="3668865" y="1098099"/>
                </a:lnTo>
                <a:lnTo>
                  <a:pt x="5836442" y="1098099"/>
                </a:lnTo>
                <a:lnTo>
                  <a:pt x="5836442" y="925877"/>
                </a:lnTo>
                <a:lnTo>
                  <a:pt x="5836442" y="101425"/>
                </a:lnTo>
                <a:lnTo>
                  <a:pt x="5878117" y="101425"/>
                </a:lnTo>
                <a:lnTo>
                  <a:pt x="5878117" y="65273"/>
                </a:lnTo>
                <a:lnTo>
                  <a:pt x="3669367" y="65273"/>
                </a:lnTo>
                <a:close/>
              </a:path>
            </a:pathLst>
          </a:custGeom>
          <a:gradFill xmlns:a="http://schemas.openxmlformats.org/drawingml/2006/main">
            <a:gsLst>
              <a:gs pos="0">
                <a:srgbClr val="1565A7"/>
              </a:gs>
              <a:gs pos="100000">
                <a:srgbClr val="0B609E"/>
              </a:gs>
            </a:gsLst>
            <a:lin ang="8100000" scaled="1"/>
          </a:gradFill>
          <a:ln xmlns:a="http://schemas.openxmlformats.org/drawingml/2006/main" w="50149" cap="flat">
            <a:noFill/>
            <a:prstDash val="solid"/>
            <a:miter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endParaRPr/>
          </a:p>
        </p:txBody>
      </p:sp>
      <p:pic>
        <p:nvPicPr>
          <p:cNvPr id="1030" name="图形 1029">
            <a:extLst xmlns:a="http://schemas.openxmlformats.org/drawingml/2006/main">
              <a:ext uri="{FF2B5EF4-FFF2-40B4-BE49-F238E27FC236}">
                <a16:creationId xmlns:a16="http://schemas.microsoft.com/office/drawing/2014/main" id="{EEAE47C7-73E7-4160-990D-7C43B64A933C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50e910c1712450a">
            <a:extLst>
              <a:ext uri="{96DAC541-7B7A-43D3-8B79-37D633B846F1}">
                <asvg:svgBlip xmlns:asvg="http://schemas.microsoft.com/office/drawing/2016/SVG/main" r:embed="R79af3a16aff54946"/>
              </a:ext>
            </a:extLst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0" flipH="0" flipV="0">
            <a:off x="7464842" y="3794503"/>
            <a:ext cx="6156744" cy="1177809"/>
          </a:xfrm>
          <a:prstGeom xmlns:a="http://schemas.openxmlformats.org/drawingml/2006/main" prst="rect">
            <a:avLst/>
          </a:prstGeom>
        </p:spPr>
      </p:pic>
      <p:sp>
        <p:nvSpPr>
          <p:cNvPr id="1032" name="图形 7">
            <a:extLst xmlns:a="http://schemas.openxmlformats.org/drawingml/2006/main">
              <a:ext uri="{FF2B5EF4-FFF2-40B4-BE49-F238E27FC236}">
                <a16:creationId xmlns:a16="http://schemas.microsoft.com/office/drawing/2014/main" id="{B66FE9F5-061F-42A5-A435-F71A42C54D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2968817" y="3070101"/>
            <a:ext cx="6254365" cy="1843075"/>
          </a:xfrm>
          <a:custGeom xmlns:a="http://schemas.openxmlformats.org/drawingml/2006/main">
            <a:gdLst>
              <a:gd name="connsiteX0" fmla="*/ 1819336 w 1819335"/>
              <a:gd name="connsiteY0" fmla="*/ 191262 h 536133"/>
              <a:gd name="connsiteX1" fmla="*/ 1819336 w 1819335"/>
              <a:gd name="connsiteY1" fmla="*/ 206477 h 536133"/>
              <a:gd name="connsiteX2" fmla="*/ 1804428 w 1819335"/>
              <a:gd name="connsiteY2" fmla="*/ 206477 h 536133"/>
              <a:gd name="connsiteX3" fmla="*/ 1804428 w 1819335"/>
              <a:gd name="connsiteY3" fmla="*/ 536134 h 536133"/>
              <a:gd name="connsiteX4" fmla="*/ 14908 w 1819335"/>
              <a:gd name="connsiteY4" fmla="*/ 536134 h 536133"/>
              <a:gd name="connsiteX5" fmla="*/ 14908 w 1819335"/>
              <a:gd name="connsiteY5" fmla="*/ 206477 h 536133"/>
              <a:gd name="connsiteX6" fmla="*/ 0 w 1819335"/>
              <a:gd name="connsiteY6" fmla="*/ 206477 h 536133"/>
              <a:gd name="connsiteX7" fmla="*/ 0 w 1819335"/>
              <a:gd name="connsiteY7" fmla="*/ 191262 h 536133"/>
              <a:gd name="connsiteX8" fmla="*/ 597378 w 1819335"/>
              <a:gd name="connsiteY8" fmla="*/ 191262 h 536133"/>
              <a:gd name="connsiteX9" fmla="*/ 597378 w 1819335"/>
              <a:gd name="connsiteY9" fmla="*/ 136857 h 536133"/>
              <a:gd name="connsiteX10" fmla="*/ 570560 w 1819335"/>
              <a:gd name="connsiteY10" fmla="*/ 136857 h 536133"/>
              <a:gd name="connsiteX11" fmla="*/ 570560 w 1819335"/>
              <a:gd name="connsiteY11" fmla="*/ 121719 h 536133"/>
              <a:gd name="connsiteX12" fmla="*/ 726705 w 1819335"/>
              <a:gd name="connsiteY12" fmla="*/ 121719 h 536133"/>
              <a:gd name="connsiteX13" fmla="*/ 726705 w 1819335"/>
              <a:gd name="connsiteY13" fmla="*/ 54866 h 536133"/>
              <a:gd name="connsiteX14" fmla="*/ 705880 w 1819335"/>
              <a:gd name="connsiteY14" fmla="*/ 54866 h 536133"/>
              <a:gd name="connsiteX15" fmla="*/ 705880 w 1819335"/>
              <a:gd name="connsiteY15" fmla="*/ 39574 h 536133"/>
              <a:gd name="connsiteX16" fmla="*/ 803855 w 1819335"/>
              <a:gd name="connsiteY16" fmla="*/ 39574 h 536133"/>
              <a:gd name="connsiteX17" fmla="*/ 803855 w 1819335"/>
              <a:gd name="connsiteY17" fmla="*/ 10604 h 536133"/>
              <a:gd name="connsiteX18" fmla="*/ 844659 w 1819335"/>
              <a:gd name="connsiteY18" fmla="*/ 10604 h 536133"/>
              <a:gd name="connsiteX19" fmla="*/ 844659 w 1819335"/>
              <a:gd name="connsiteY19" fmla="*/ 0 h 536133"/>
              <a:gd name="connsiteX20" fmla="*/ 974754 w 1819335"/>
              <a:gd name="connsiteY20" fmla="*/ 0 h 536133"/>
              <a:gd name="connsiteX21" fmla="*/ 974754 w 1819335"/>
              <a:gd name="connsiteY21" fmla="*/ 10604 h 536133"/>
              <a:gd name="connsiteX22" fmla="*/ 1015481 w 1819335"/>
              <a:gd name="connsiteY22" fmla="*/ 10604 h 536133"/>
              <a:gd name="connsiteX23" fmla="*/ 1015481 w 1819335"/>
              <a:gd name="connsiteY23" fmla="*/ 39574 h 536133"/>
              <a:gd name="connsiteX24" fmla="*/ 1113456 w 1819335"/>
              <a:gd name="connsiteY24" fmla="*/ 39574 h 536133"/>
              <a:gd name="connsiteX25" fmla="*/ 1113456 w 1819335"/>
              <a:gd name="connsiteY25" fmla="*/ 54866 h 536133"/>
              <a:gd name="connsiteX26" fmla="*/ 1092631 w 1819335"/>
              <a:gd name="connsiteY26" fmla="*/ 54866 h 536133"/>
              <a:gd name="connsiteX27" fmla="*/ 1092631 w 1819335"/>
              <a:gd name="connsiteY27" fmla="*/ 121719 h 536133"/>
              <a:gd name="connsiteX28" fmla="*/ 1248776 w 1819335"/>
              <a:gd name="connsiteY28" fmla="*/ 121719 h 536133"/>
              <a:gd name="connsiteX29" fmla="*/ 1248776 w 1819335"/>
              <a:gd name="connsiteY29" fmla="*/ 136857 h 536133"/>
              <a:gd name="connsiteX30" fmla="*/ 1221958 w 1819335"/>
              <a:gd name="connsiteY30" fmla="*/ 136857 h 536133"/>
              <a:gd name="connsiteX31" fmla="*/ 1221958 w 1819335"/>
              <a:gd name="connsiteY31" fmla="*/ 191262 h 536133"/>
              <a:gd name="connsiteX32" fmla="*/ 1819336 w 1819335"/>
              <a:gd name="connsiteY32" fmla="*/ 191262 h 536133"/>
            </a:gdLst>
            <a:rect l="l" t="t" r="r" b="b"/>
            <a:pathLst>
              <a:path w="1819335" h="536133">
                <a:moveTo>
                  <a:pt x="1819336" y="191262"/>
                </a:moveTo>
                <a:lnTo>
                  <a:pt x="1819336" y="206477"/>
                </a:lnTo>
                <a:lnTo>
                  <a:pt x="1804428" y="206477"/>
                </a:lnTo>
                <a:lnTo>
                  <a:pt x="1804428" y="536134"/>
                </a:lnTo>
                <a:lnTo>
                  <a:pt x="14908" y="536134"/>
                </a:lnTo>
                <a:lnTo>
                  <a:pt x="14908" y="206477"/>
                </a:lnTo>
                <a:lnTo>
                  <a:pt x="0" y="206477"/>
                </a:lnTo>
                <a:lnTo>
                  <a:pt x="0" y="191262"/>
                </a:lnTo>
                <a:lnTo>
                  <a:pt x="597378" y="191262"/>
                </a:lnTo>
                <a:lnTo>
                  <a:pt x="597378" y="136857"/>
                </a:lnTo>
                <a:lnTo>
                  <a:pt x="570560" y="136857"/>
                </a:lnTo>
                <a:lnTo>
                  <a:pt x="570560" y="121719"/>
                </a:lnTo>
                <a:lnTo>
                  <a:pt x="726705" y="121719"/>
                </a:lnTo>
                <a:lnTo>
                  <a:pt x="726705" y="54866"/>
                </a:lnTo>
                <a:lnTo>
                  <a:pt x="705880" y="54866"/>
                </a:lnTo>
                <a:lnTo>
                  <a:pt x="705880" y="39574"/>
                </a:lnTo>
                <a:lnTo>
                  <a:pt x="803855" y="39574"/>
                </a:lnTo>
                <a:lnTo>
                  <a:pt x="803855" y="10604"/>
                </a:lnTo>
                <a:lnTo>
                  <a:pt x="844659" y="10604"/>
                </a:lnTo>
                <a:lnTo>
                  <a:pt x="844659" y="0"/>
                </a:lnTo>
                <a:lnTo>
                  <a:pt x="974754" y="0"/>
                </a:lnTo>
                <a:lnTo>
                  <a:pt x="974754" y="10604"/>
                </a:lnTo>
                <a:lnTo>
                  <a:pt x="1015481" y="10604"/>
                </a:lnTo>
                <a:lnTo>
                  <a:pt x="1015481" y="39574"/>
                </a:lnTo>
                <a:lnTo>
                  <a:pt x="1113456" y="39574"/>
                </a:lnTo>
                <a:lnTo>
                  <a:pt x="1113456" y="54866"/>
                </a:lnTo>
                <a:lnTo>
                  <a:pt x="1092631" y="54866"/>
                </a:lnTo>
                <a:lnTo>
                  <a:pt x="1092631" y="121719"/>
                </a:lnTo>
                <a:lnTo>
                  <a:pt x="1248776" y="121719"/>
                </a:lnTo>
                <a:lnTo>
                  <a:pt x="1248776" y="136857"/>
                </a:lnTo>
                <a:lnTo>
                  <a:pt x="1221958" y="136857"/>
                </a:lnTo>
                <a:lnTo>
                  <a:pt x="1221958" y="191262"/>
                </a:lnTo>
                <a:lnTo>
                  <a:pt x="1819336" y="191262"/>
                </a:lnTo>
                <a:close/>
              </a:path>
            </a:pathLst>
          </a:custGeom>
          <a:gradFill xmlns:a="http://schemas.openxmlformats.org/drawingml/2006/main">
            <a:gsLst>
              <a:gs pos="0">
                <a:srgbClr val="1565A7"/>
              </a:gs>
              <a:gs pos="100000">
                <a:srgbClr val="0B609E"/>
              </a:gs>
            </a:gsLst>
            <a:lin ang="8100000" scaled="1"/>
          </a:gradFill>
          <a:ln xmlns:a="http://schemas.openxmlformats.org/drawingml/2006/main" w="7676" cap="flat">
            <a:noFill/>
            <a:prstDash val="solid"/>
            <a:miter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endParaRPr/>
          </a:p>
        </p:txBody>
      </p:sp>
      <p:pic>
        <p:nvPicPr>
          <p:cNvPr id="1033" name="图形 1032">
            <a:extLst xmlns:a="http://schemas.openxmlformats.org/drawingml/2006/main">
              <a:ext uri="{FF2B5EF4-FFF2-40B4-BE49-F238E27FC236}">
                <a16:creationId xmlns:a16="http://schemas.microsoft.com/office/drawing/2014/main" id="{2992E677-FFE5-4BE9-BAE2-4E43F24BBC92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cc649b1ea194853">
            <a:extLst>
              <a:ext uri="{96DAC541-7B7A-43D3-8B79-37D633B846F1}">
                <asvg:svgBlip xmlns:asvg="http://schemas.microsoft.com/office/drawing/2016/SVG/main" r:embed="R4c8eff63885242d8"/>
              </a:ext>
            </a:extLst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0" flipH="0" flipV="0">
            <a:off x="2968817" y="3117113"/>
            <a:ext cx="6254365" cy="1847496"/>
          </a:xfrm>
          <a:prstGeom xmlns:a="http://schemas.openxmlformats.org/drawingml/2006/main" prst="rect">
            <a:avLst/>
          </a:prstGeom>
        </p:spPr>
      </p:pic>
      <p:sp>
        <p:nvSpPr>
          <p:cNvPr id="4" name="图形 6">
            <a:extLst xmlns:a="http://schemas.openxmlformats.org/drawingml/2006/main">
              <a:ext uri="{FF2B5EF4-FFF2-40B4-BE49-F238E27FC236}">
                <a16:creationId xmlns:a16="http://schemas.microsoft.com/office/drawing/2014/main" id="{9627E8CE-24FD-41A9-BEC3-4CAD41E003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4925558"/>
            <a:ext cx="12192000" cy="148091"/>
          </a:xfrm>
          <a:prstGeom xmlns:a="http://schemas.openxmlformats.org/drawingml/2006/main" prst="rect">
            <a:avLst/>
          </a:prstGeom>
          <a:gradFill xmlns:a="http://schemas.openxmlformats.org/drawingml/2006/main" flip="none" rotWithShape="1">
            <a:gsLst>
              <a:gs pos="100000">
                <a:schemeClr val="accent4">
                  <a:lumMod val="40000"/>
                  <a:lumOff val="60000"/>
                </a:schemeClr>
              </a:gs>
              <a:gs pos="0">
                <a:schemeClr val="accent4">
                  <a:lumMod val="75000"/>
                </a:schemeClr>
              </a:gs>
            </a:gsLst>
            <a:lin ang="0" scaled="1"/>
            <a:tileRect/>
          </a:gradFill>
          <a:ln xmlns:a="http://schemas.openxmlformats.org/drawingml/2006/main" w="9525" cap="flat">
            <a:noFill/>
            <a:prstDash val="solid"/>
            <a:miter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034" name="text-4">
            <a:extLst xmlns:a="http://schemas.openxmlformats.org/drawingml/2006/main">
              <a:ext uri="{FF2B5EF4-FFF2-40B4-BE49-F238E27FC236}">
                <a16:creationId xmlns:a16="http://schemas.microsoft.com/office/drawing/2014/main" id="{5E60E332-2F06-45B9-B37D-88038DB2E2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343025"/>
            <a:ext cx="7429500" cy="1162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3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defPPr>
          </a:lstStyle>
          <a:p xmlns:a="http://schemas.openxmlformats.org/drawingml/2006/main">
            <a:pPr algn="l">
              <a:defRPr sz="33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33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XRD表征技术</a:t>
            </a:r>
          </a:p>
          <a:p xmlns:a="http://schemas.openxmlformats.org/drawingml/2006/main">
            <a:pPr algn="l">
              <a:defRPr sz="33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33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及MOF/COF图谱解析</a:t>
            </a:r>
          </a:p>
        </p:txBody>
      </p:sp>
      <p:pic>
        <p:nvPicPr>
          <p:cNvPr id="1035" name="">
            <a:extLst xmlns:a="http://schemas.openxmlformats.org/drawingml/2006/main">
              <a:ext uri="{FF2B5EF4-FFF2-40B4-BE49-F238E27FC236}">
                <a16:creationId xmlns:a16="http://schemas.microsoft.com/office/drawing/2014/main" id="{F6CD0EA1-A507-4566-A874-5AA4AE808958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8ae071f65f2476d"/>
          <a:stretch xmlns:a="http://schemas.openxmlformats.org/drawingml/2006/main"/>
        </p:blipFill>
        <p:spPr>
          <a:xfrm xmlns:a="http://schemas.openxmlformats.org/drawingml/2006/main">
            <a:off x="8382000" y="1306513"/>
            <a:ext cx="3381375" cy="2254250"/>
          </a:xfrm>
          <a:prstGeom xmlns:a="http://schemas.openxmlformats.org/drawingml/2006/main" prst="rect">
            <a:avLst/>
          </a:prstGeom>
        </p:spPr>
      </p:pic>
      <p:sp>
        <p:nvSpPr>
          <p:cNvPr id="1036" name="text-5">
            <a:extLst xmlns:a="http://schemas.openxmlformats.org/drawingml/2006/main">
              <a:ext uri="{FF2B5EF4-FFF2-40B4-BE49-F238E27FC236}">
                <a16:creationId xmlns:a16="http://schemas.microsoft.com/office/drawing/2014/main" id="{8FFA211C-F9C4-4CA8-A4DB-A2A7E0D65B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3486150"/>
            <a:ext cx="3333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ctr">
              <a:defRPr sz="1125" b="0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defPPr>
          </a:lstStyle>
          <a:p xmlns:a="http://schemas.openxmlformats.org/drawingml/2006/main">
            <a:pPr algn="ctr">
              <a:defRPr sz="1125" b="0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125" b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X射线与多孔晶体：概念示意</a:t>
            </a:r>
          </a:p>
        </p:txBody>
      </p:sp>
      <p:sp>
        <p:nvSpPr>
          <p:cNvPr id="1037" name="text-6">
            <a:extLst xmlns:a="http://schemas.openxmlformats.org/drawingml/2006/main">
              <a:ext uri="{FF2B5EF4-FFF2-40B4-BE49-F238E27FC236}">
                <a16:creationId xmlns:a16="http://schemas.microsoft.com/office/drawing/2014/main" id="{D2CD496A-B960-4EAF-87D4-4E2809F91E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714625"/>
            <a:ext cx="7239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defPPr>
          </a:lstStyle>
          <a:p xmlns:a="http://schemas.openxmlformats.org/drawingml/2006/main">
            <a:pPr algn="l">
              <a:defRPr sz="1875" b="0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875" b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《材料与化工现代研究方法》小组汇报</a:t>
            </a:r>
          </a:p>
        </p:txBody>
      </p:sp>
      <p:sp>
        <p:nvSpPr>
          <p:cNvPr id="1038" name="text-7">
            <a:extLst xmlns:a="http://schemas.openxmlformats.org/drawingml/2006/main">
              <a:ext uri="{FF2B5EF4-FFF2-40B4-BE49-F238E27FC236}">
                <a16:creationId xmlns:a16="http://schemas.microsoft.com/office/drawing/2014/main" id="{A8A3606B-ED07-426C-B26A-D22E72BEE1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305425"/>
            <a:ext cx="100584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ctr">
              <a:defRPr sz="1950" b="1">
                <a:solidFill>
                  <a:srgbClr val="005B94"/>
                </a:solidFill>
                <a:latin typeface="微软雅黑"/>
                <a:ea typeface="微软雅黑"/>
                <a:cs typeface="微软雅黑"/>
              </a:defRPr>
            </a:defPPr>
          </a:lstStyle>
          <a:p xmlns:a="http://schemas.openxmlformats.org/drawingml/2006/main">
            <a:pPr algn="ctr">
              <a:defRPr sz="1950" b="1">
                <a:solidFill>
                  <a:srgbClr val="005B94"/>
                </a:solidFill>
                <a:latin typeface="微软雅黑"/>
                <a:ea typeface="微软雅黑"/>
                <a:cs typeface="微软雅黑"/>
              </a:defRPr>
            </a:pPr>
            <a:r>
              <a:rPr sz="1950" b="1">
                <a:solidFill>
                  <a:srgbClr val="005B94"/>
                </a:solidFill>
                <a:latin typeface="微软雅黑"/>
                <a:ea typeface="微软雅黑"/>
                <a:cs typeface="微软雅黑"/>
              </a:rPr>
              <a:t>化学与工程技术专业 · 硕士一年级</a:t>
            </a:r>
          </a:p>
        </p:txBody>
      </p:sp>
      <p:sp>
        <p:nvSpPr>
          <p:cNvPr id="1039" name="text-8">
            <a:extLst xmlns:a="http://schemas.openxmlformats.org/drawingml/2006/main">
              <a:ext uri="{FF2B5EF4-FFF2-40B4-BE49-F238E27FC236}">
                <a16:creationId xmlns:a16="http://schemas.microsoft.com/office/drawing/2014/main" id="{92DF4AF6-5DB3-411B-B3C8-33BEE919AD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857875"/>
            <a:ext cx="100584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ctr">
              <a:defRPr sz="1600" b="0">
                <a:solidFill>
                  <a:srgbClr val="52636D"/>
                </a:solidFill>
                <a:latin typeface="微软雅黑"/>
                <a:ea typeface="微软雅黑"/>
                <a:cs typeface="微软雅黑"/>
              </a:defRPr>
            </a:defPPr>
          </a:lstStyle>
          <ns0:p xmlns:ns0="http://schemas.openxmlformats.org/drawingml/2006/main">
            <ns0:pPr algn="ctr">
              <ns0:defRPr sz="1600" b="0">
                <ns0:solidFill>
                  <ns0:srgbClr val="52636D"/>
                </ns0:solidFill>
                <ns0:latin typeface="微软雅黑"/>
                <ns0:ea typeface="微软雅黑"/>
                <ns0:cs typeface="微软雅黑"/>
              </ns0:defRPr>
            </ns0:pPr>
            <ns0:r>
              <ns0:rPr sz="1600" b="0">
                <ns0:solidFill>
                  <ns0:srgbClr val="52636D"/>
                </ns0:solidFill>
                <ns0:latin typeface="微软雅黑"/>
                <ns0:ea typeface="微软雅黑"/>
                <ns0:cs typeface="微软雅黑"/>
              </ns0:rPr>
              <ns0:t>汇报小组：________    组员：____________    2026年10月</ns0:t>
            </ns0:r>
          </ns0:p>
        </p:txBody>
      </p:sp>
    </p:spTree>
    <p:extLst>
      <p:ext uri="{BB962C8B-B14F-4D97-AF65-F5344CB8AC3E}">
        <p14:creationId xmlns:p14="http://schemas.microsoft.com/office/powerpoint/2010/main" val="1007951797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55FD20F-1364-4CDC-B3FE-8F45A8E92E98}"/>
              </a:ext>
            </a:extLst>
          </p:cNvPr>
          <p:cNvCxnSpPr>
            <a:stCxn xmlns:a="http://schemas.openxmlformats.org/drawingml/2006/main" id="8" idx="3"/>
            <a:endCxn xmlns:a="http://schemas.openxmlformats.org/drawingml/2006/main" id="9" idx="1"/>
          </p:cNvCxnSpPr>
          <p:nvPr/>
        </p:nvCxnSpPr>
        <p:spPr>
          <a:xfrm xmlns:a="http://schemas.openxmlformats.org/drawingml/2006/main">
            <a:off x="9477375" y="2419350"/>
            <a:ext cx="619125" cy="0"/>
          </a:xfrm>
          <a:prstGeom xmlns:a="http://schemas.openxmlformats.org/drawingml/2006/main" prst="straightConnector1">
            <a:avLst/>
          </a:prstGeom>
          <a:ln xmlns:a="http://schemas.openxmlformats.org/drawingml/2006/main" w="23813">
            <a:solidFill>
              <a:srgbClr val="2BA3C0"/>
            </a:solidFill>
            <a:prstDash val="solid"/>
            <a:tailEnd type="triangle" w="med" len="med"/>
          </a:ln>
        </p:spPr>
      </p:cxnSp>
      <p:cxnSp>
        <p:nvCxn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4534360-4356-41C2-B947-15603577CE98}"/>
              </a:ext>
            </a:extLst>
          </p:cNvPr>
          <p:cNvCxnSpPr>
            <a:stCxn xmlns:a="http://schemas.openxmlformats.org/drawingml/2006/main" id="7" idx="3"/>
            <a:endCxn xmlns:a="http://schemas.openxmlformats.org/drawingml/2006/main" id="8" idx="1"/>
          </p:cNvCxnSpPr>
          <p:nvPr/>
        </p:nvCxnSpPr>
        <p:spPr>
          <a:xfrm xmlns:a="http://schemas.openxmlformats.org/drawingml/2006/main">
            <a:off x="6096000" y="2419350"/>
            <a:ext cx="1000125" cy="0"/>
          </a:xfrm>
          <a:prstGeom xmlns:a="http://schemas.openxmlformats.org/drawingml/2006/main" prst="straightConnector1">
            <a:avLst/>
          </a:prstGeom>
          <a:ln xmlns:a="http://schemas.openxmlformats.org/drawingml/2006/main" w="23813">
            <a:solidFill>
              <a:srgbClr val="2BA3C0"/>
            </a:solidFill>
            <a:prstDash val="solid"/>
            <a:tailEnd type="triangle" w="med" len="med"/>
          </a:ln>
        </p:spPr>
      </p:cxnSp>
      <p:cxnSp>
        <p:nvCxn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3C17842-E25D-4577-86A3-054633BBED0B}"/>
              </a:ext>
            </a:extLst>
          </p:cNvPr>
          <p:cNvCxnSpPr>
            <a:stCxn xmlns:a="http://schemas.openxmlformats.org/drawingml/2006/main" id="6" idx="3"/>
            <a:endCxn xmlns:a="http://schemas.openxmlformats.org/drawingml/2006/main" id="7" idx="1"/>
          </p:cNvCxnSpPr>
          <p:nvPr/>
        </p:nvCxnSpPr>
        <p:spPr>
          <a:xfrm xmlns:a="http://schemas.openxmlformats.org/drawingml/2006/main">
            <a:off x="2667000" y="2419350"/>
            <a:ext cx="1000125" cy="0"/>
          </a:xfrm>
          <a:prstGeom xmlns:a="http://schemas.openxmlformats.org/drawingml/2006/main" prst="straightConnector1">
            <a:avLst/>
          </a:prstGeom>
          <a:ln xmlns:a="http://schemas.openxmlformats.org/drawingml/2006/main" w="23813">
            <a:solidFill>
              <a:srgbClr val="2BA3C0"/>
            </a:solidFill>
            <a:prstDash val="solid"/>
            <a:tailEnd type="triangle" w="med" len="med"/>
          </a:ln>
        </p:spPr>
      </p:cxnSp>
      <p:sp>
        <p:nvSpPr>
          <p:cNvPr id="19" name="text-0">
            <a:extLst xmlns:a="http://schemas.openxmlformats.org/drawingml/2006/main">
              <a:ext uri="{FF2B5EF4-FFF2-40B4-BE49-F238E27FC236}">
                <a16:creationId xmlns:a16="http://schemas.microsoft.com/office/drawing/2014/main" id="{3B0A1B7F-3270-4F71-8A01-33841F7FE8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" y="209550"/>
            <a:ext cx="8096250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55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defPPr>
          </a:lstStyle>
          <a:p xmlns:a="http://schemas.openxmlformats.org/drawingml/2006/main">
            <a:pPr algn="l">
              <a:defRPr sz="255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255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01  XRD基本原理与表征信息</a:t>
            </a:r>
          </a:p>
        </p:txBody>
      </p:sp>
      <p:sp>
        <p:nvSpPr>
          <p:cNvPr id="2" name="text-1">
            <a:extLst xmlns:a="http://schemas.openxmlformats.org/drawingml/2006/main">
              <a:ext uri="{FF2B5EF4-FFF2-40B4-BE49-F238E27FC236}">
                <a16:creationId xmlns:a16="http://schemas.microsoft.com/office/drawing/2014/main" id="{C15CE421-993A-474E-B805-D010F962F6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" y="6372225"/>
            <a:ext cx="61912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125" b="0">
                <a:solidFill>
                  <a:srgbClr val="52636D"/>
                </a:solidFill>
                <a:latin typeface="微软雅黑"/>
                <a:ea typeface="微软雅黑"/>
                <a:cs typeface="微软雅黑"/>
              </a:defRPr>
            </a:defPPr>
          </a:lstStyle>
          <a:p xmlns:a="http://schemas.openxmlformats.org/drawingml/2006/main">
            <a:pPr algn="l">
              <a:defRPr sz="1125" b="0">
                <a:solidFill>
                  <a:srgbClr val="52636D"/>
                </a:solidFill>
                <a:latin typeface="微软雅黑"/>
                <a:ea typeface="微软雅黑"/>
                <a:cs typeface="微软雅黑"/>
              </a:defRPr>
            </a:pPr>
            <a:r>
              <a:rPr sz="1125" b="0">
                <a:solidFill>
                  <a:srgbClr val="52636D"/>
                </a:solidFill>
                <a:latin typeface="微软雅黑"/>
                <a:ea typeface="微软雅黑"/>
                <a:cs typeface="微软雅黑"/>
              </a:rPr>
              <a:t>材料与化工现代研究方法</a:t>
            </a:r>
          </a:p>
        </p:txBody>
      </p:sp>
      <p:sp>
        <p:nvSpPr>
          <p:cNvPr id="3" name="text-2">
            <a:extLst xmlns:a="http://schemas.openxmlformats.org/drawingml/2006/main">
              <a:ext uri="{FF2B5EF4-FFF2-40B4-BE49-F238E27FC236}">
                <a16:creationId xmlns:a16="http://schemas.microsoft.com/office/drawing/2014/main" id="{196F8BAC-CF80-48B2-ABA4-3B0A428D01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39325" y="6353175"/>
            <a:ext cx="47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275" b="0">
                <a:solidFill>
                  <a:srgbClr val="005B94"/>
                </a:solidFill>
                <a:latin typeface="微软雅黑"/>
                <a:ea typeface="微软雅黑"/>
                <a:cs typeface="微软雅黑"/>
              </a:defRPr>
            </a:defPPr>
          </a:lstStyle>
          <a:p xmlns:a="http://schemas.openxmlformats.org/drawingml/2006/main">
            <a:pPr algn="r">
              <a:defRPr sz="1275" b="0">
                <a:solidFill>
                  <a:srgbClr val="005B94"/>
                </a:solidFill>
                <a:latin typeface="微软雅黑"/>
                <a:ea typeface="微软雅黑"/>
                <a:cs typeface="微软雅黑"/>
              </a:defRPr>
            </a:pPr>
            <a:r>
              <a:rPr sz="1275" b="0">
                <a:solidFill>
                  <a:srgbClr val="005B94"/>
                </a:solidFill>
                <a:latin typeface="微软雅黑"/>
                <a:ea typeface="微软雅黑"/>
                <a:cs typeface="微软雅黑"/>
              </a:rPr>
              <a:t>02</a:t>
            </a:r>
          </a:p>
        </p:txBody>
      </p:sp>
      <p:sp>
        <p:nvSpPr>
          <p:cNvPr id="4" name="text-3">
            <a:extLst xmlns:a="http://schemas.openxmlformats.org/drawingml/2006/main">
              <a:ext uri="{FF2B5EF4-FFF2-40B4-BE49-F238E27FC236}">
                <a16:creationId xmlns:a16="http://schemas.microsoft.com/office/drawing/2014/main" id="{FF3BE1DB-6114-480E-889B-A8E5AEE372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" y="5943600"/>
            <a:ext cx="1123950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975" b="0">
                <a:solidFill>
                  <a:srgbClr val="52636D"/>
                </a:solidFill>
                <a:latin typeface="微软雅黑"/>
                <a:ea typeface="微软雅黑"/>
                <a:cs typeface="微软雅黑"/>
              </a:defRPr>
            </a:defPPr>
          </a:lstStyle>
          <a:p xmlns:a="http://schemas.openxmlformats.org/drawingml/2006/main">
            <a:pPr algn="l">
              <a:defRPr sz="975" b="0">
                <a:solidFill>
                  <a:srgbClr val="52636D"/>
                </a:solidFill>
                <a:latin typeface="微软雅黑"/>
                <a:ea typeface="微软雅黑"/>
                <a:cs typeface="微软雅黑"/>
              </a:defRPr>
            </a:pPr>
            <a:r>
              <a:rPr sz="975" b="0">
                <a:solidFill>
                  <a:srgbClr val="52636D"/>
                </a:solidFill>
                <a:latin typeface="微软雅黑"/>
                <a:ea typeface="微软雅黑"/>
                <a:cs typeface="微软雅黑"/>
              </a:rPr>
              <a:t>概念图为原理示意；方法依据：Rigaku Powder diffraction；IUCr International Tables, Vol. H</a:t>
            </a:r>
          </a:p>
        </p:txBody>
      </p:sp>
      <p:sp>
        <p:nvSpPr>
          <p:cNvPr id="5" name="text-4">
            <a:extLst xmlns:a="http://schemas.openxmlformats.org/drawingml/2006/main">
              <a:ext uri="{FF2B5EF4-FFF2-40B4-BE49-F238E27FC236}">
                <a16:creationId xmlns:a16="http://schemas.microsoft.com/office/drawing/2014/main" id="{B1EF3B60-7822-4068-A31E-0421EB1744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1104900"/>
            <a:ext cx="11144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1">
                <a:solidFill>
                  <a:srgbClr val="005B94"/>
                </a:solidFill>
                <a:latin typeface="微软雅黑"/>
                <a:ea typeface="微软雅黑"/>
                <a:cs typeface="微软雅黑"/>
              </a:defRPr>
            </a:defPPr>
          </a:lstStyle>
          <a:p xmlns:a="http://schemas.openxmlformats.org/drawingml/2006/main">
            <a:pPr algn="l">
              <a:defRPr sz="2025" b="1">
                <a:solidFill>
                  <a:srgbClr val="005B94"/>
                </a:solidFill>
                <a:latin typeface="微软雅黑"/>
                <a:ea typeface="微软雅黑"/>
                <a:cs typeface="微软雅黑"/>
              </a:defRPr>
            </a:pPr>
            <a:r>
              <a:rPr sz="2025" b="1">
                <a:solidFill>
                  <a:srgbClr val="005B94"/>
                </a:solidFill>
                <a:latin typeface="微软雅黑"/>
                <a:ea typeface="微软雅黑"/>
                <a:cs typeface="微软雅黑"/>
              </a:rPr>
              <a:t>X射线与晶体周期排列相互作用，产生可用于结构分析的衍射信号</a:t>
            </a:r>
          </a:p>
        </p:txBody>
      </p:sp>
      <p:sp>
        <p:nvSpPr>
          <p:cNvPr id="6" name="concept-5">
            <a:extLst xmlns:a="http://schemas.openxmlformats.org/drawingml/2006/main">
              <a:ext uri="{FF2B5EF4-FFF2-40B4-BE49-F238E27FC236}">
                <a16:creationId xmlns:a16="http://schemas.microsoft.com/office/drawing/2014/main" id="{C98FFB97-8ADD-4E1D-AFFB-DD7570E870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1981200"/>
            <a:ext cx="2047875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005B94"/>
          </a:solidFill>
          <a:ln xmlns:a="http://schemas.openxmlformats.org/drawingml/2006/main" w="14288">
            <a:solidFill>
              <a:srgbClr val="2BA3C0"/>
            </a:solidFill>
            <a:prstDash val="solid"/>
          </a:ln>
        </p:spPr>
        <p:txBody>
          <a:bodyPr xmlns:a="http://schemas.openxmlformats.org/drawingml/2006/main" lIns="114300" tIns="114300" rIns="114300" bIns="114300" anchor="ctr"/>
          <a:lstStyle xmlns:a="http://schemas.openxmlformats.org/drawingml/2006/main">
            <a:defPPr algn="ctr">
              <a:defRPr sz="21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defPPr>
          </a:lstStyle>
          <a:p xmlns:a="http://schemas.openxmlformats.org/drawingml/2006/main">
            <a:pPr algn="ctr">
              <a:defRPr sz="21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21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入射X射线</a:t>
            </a:r>
          </a:p>
        </p:txBody>
      </p:sp>
      <p:sp>
        <p:nvSpPr>
          <p:cNvPr id="7" name="concept-6">
            <a:extLst xmlns:a="http://schemas.openxmlformats.org/drawingml/2006/main">
              <a:ext uri="{FF2B5EF4-FFF2-40B4-BE49-F238E27FC236}">
                <a16:creationId xmlns:a16="http://schemas.microsoft.com/office/drawing/2014/main" id="{50D342F8-C62B-4430-8CDC-BAC75554D8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67125" y="1981200"/>
            <a:ext cx="2428875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E9F5F9"/>
          </a:solidFill>
          <a:ln xmlns:a="http://schemas.openxmlformats.org/drawingml/2006/main" w="14288">
            <a:solidFill>
              <a:srgbClr val="2BA3C0"/>
            </a:solidFill>
            <a:prstDash val="solid"/>
          </a:ln>
        </p:spPr>
        <p:txBody>
          <a:bodyPr xmlns:a="http://schemas.openxmlformats.org/drawingml/2006/main" lIns="114300" tIns="114300" rIns="114300" bIns="114300" anchor="ctr"/>
          <a:lstStyle xmlns:a="http://schemas.openxmlformats.org/drawingml/2006/main">
            <a:defPPr algn="ctr">
              <a:defRPr sz="2025" b="1">
                <a:solidFill>
                  <a:srgbClr val="203746"/>
                </a:solidFill>
                <a:latin typeface="微软雅黑"/>
                <a:ea typeface="微软雅黑"/>
                <a:cs typeface="微软雅黑"/>
              </a:defRPr>
            </a:defPPr>
          </a:lstStyle>
          <a:p xmlns:a="http://schemas.openxmlformats.org/drawingml/2006/main">
            <a:pPr algn="ctr">
              <a:defRPr sz="2025" b="1">
                <a:solidFill>
                  <a:srgbClr val="203746"/>
                </a:solidFill>
                <a:latin typeface="微软雅黑"/>
                <a:ea typeface="微软雅黑"/>
                <a:cs typeface="微软雅黑"/>
              </a:defRPr>
            </a:pPr>
            <a:r>
              <a:rPr sz="2025" b="1">
                <a:solidFill>
                  <a:srgbClr val="203746"/>
                </a:solidFill>
                <a:latin typeface="微软雅黑"/>
                <a:ea typeface="微软雅黑"/>
                <a:cs typeface="微软雅黑"/>
              </a:rPr>
              <a:t>晶体粉末</a:t>
            </a:r>
          </a:p>
          <a:p xmlns:a="http://schemas.openxmlformats.org/drawingml/2006/main">
            <a:pPr algn="ctr">
              <a:defRPr sz="2025" b="1">
                <a:solidFill>
                  <a:srgbClr val="203746"/>
                </a:solidFill>
                <a:latin typeface="微软雅黑"/>
                <a:ea typeface="微软雅黑"/>
                <a:cs typeface="微软雅黑"/>
              </a:defRPr>
            </a:pPr>
            <a:r>
              <a:rPr sz="2025" b="1">
                <a:solidFill>
                  <a:srgbClr val="203746"/>
                </a:solidFill>
                <a:latin typeface="微软雅黑"/>
                <a:ea typeface="微软雅黑"/>
                <a:cs typeface="微软雅黑"/>
              </a:rPr>
              <a:t>原子周期排列</a:t>
            </a:r>
          </a:p>
        </p:txBody>
      </p:sp>
      <p:sp>
        <p:nvSpPr>
          <p:cNvPr id="8" name="concept-7">
            <a:extLst xmlns:a="http://schemas.openxmlformats.org/drawingml/2006/main">
              <a:ext uri="{FF2B5EF4-FFF2-40B4-BE49-F238E27FC236}">
                <a16:creationId xmlns:a16="http://schemas.microsoft.com/office/drawing/2014/main" id="{7511316F-72D4-4818-9C18-A5547BD8A3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96125" y="1981200"/>
            <a:ext cx="238125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E9F5F9"/>
          </a:solidFill>
          <a:ln xmlns:a="http://schemas.openxmlformats.org/drawingml/2006/main" w="14288">
            <a:solidFill>
              <a:srgbClr val="2BA3C0"/>
            </a:solidFill>
            <a:prstDash val="solid"/>
          </a:ln>
        </p:spPr>
        <p:txBody>
          <a:bodyPr xmlns:a="http://schemas.openxmlformats.org/drawingml/2006/main" lIns="114300" tIns="114300" rIns="114300" bIns="114300" anchor="ctr"/>
          <a:lstStyle xmlns:a="http://schemas.openxmlformats.org/drawingml/2006/main">
            <a:defPPr algn="ctr">
              <a:defRPr sz="2025" b="1">
                <a:solidFill>
                  <a:srgbClr val="203746"/>
                </a:solidFill>
                <a:latin typeface="微软雅黑"/>
                <a:ea typeface="微软雅黑"/>
                <a:cs typeface="微软雅黑"/>
              </a:defRPr>
            </a:defPPr>
          </a:lstStyle>
          <a:p xmlns:a="http://schemas.openxmlformats.org/drawingml/2006/main">
            <a:pPr algn="ctr">
              <a:defRPr sz="2025" b="1">
                <a:solidFill>
                  <a:srgbClr val="203746"/>
                </a:solidFill>
                <a:latin typeface="微软雅黑"/>
                <a:ea typeface="微软雅黑"/>
                <a:cs typeface="微软雅黑"/>
              </a:defRPr>
            </a:pPr>
            <a:r>
              <a:rPr sz="2025" b="1">
                <a:solidFill>
                  <a:srgbClr val="203746"/>
                </a:solidFill>
                <a:latin typeface="微软雅黑"/>
                <a:ea typeface="微软雅黑"/>
                <a:cs typeface="微软雅黑"/>
              </a:rPr>
              <a:t>衍射信号</a:t>
            </a:r>
          </a:p>
          <a:p xmlns:a="http://schemas.openxmlformats.org/drawingml/2006/main">
            <a:pPr algn="ctr">
              <a:defRPr sz="2025" b="1">
                <a:solidFill>
                  <a:srgbClr val="203746"/>
                </a:solidFill>
                <a:latin typeface="微软雅黑"/>
                <a:ea typeface="微软雅黑"/>
                <a:cs typeface="微软雅黑"/>
              </a:defRPr>
            </a:pPr>
            <a:r>
              <a:rPr sz="2025" b="1">
                <a:solidFill>
                  <a:srgbClr val="203746"/>
                </a:solidFill>
                <a:latin typeface="微软雅黑"/>
                <a:ea typeface="微软雅黑"/>
                <a:cs typeface="微软雅黑"/>
              </a:rPr>
              <a:t>强度随2θ变化</a:t>
            </a:r>
          </a:p>
        </p:txBody>
      </p:sp>
      <p:sp>
        <p:nvSpPr>
          <p:cNvPr id="9" name="concept-8">
            <a:extLst xmlns:a="http://schemas.openxmlformats.org/drawingml/2006/main">
              <a:ext uri="{FF2B5EF4-FFF2-40B4-BE49-F238E27FC236}">
                <a16:creationId xmlns:a16="http://schemas.microsoft.com/office/drawing/2014/main" id="{CBA24E0B-8532-4D4C-9803-D58583173C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1981200"/>
            <a:ext cx="1571625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005B94"/>
          </a:solidFill>
          <a:ln xmlns:a="http://schemas.openxmlformats.org/drawingml/2006/main" w="14288">
            <a:solidFill>
              <a:srgbClr val="2BA3C0"/>
            </a:solidFill>
            <a:prstDash val="solid"/>
          </a:ln>
        </p:spPr>
        <p:txBody>
          <a:bodyPr xmlns:a="http://schemas.openxmlformats.org/drawingml/2006/main" lIns="114300" tIns="114300" rIns="114300" bIns="114300" anchor="ctr"/>
          <a:lstStyle xmlns:a="http://schemas.openxmlformats.org/drawingml/2006/main">
            <a:defPPr algn="ctr">
              <a:defRPr sz="202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defPPr>
          </a:lstStyle>
          <a:p xmlns:a="http://schemas.openxmlformats.org/drawingml/2006/main">
            <a:pPr algn="ctr">
              <a:defRPr sz="202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202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结构分析</a:t>
            </a:r>
          </a:p>
        </p:txBody>
      </p:sp>
      <p:sp>
        <p:nvSpPr>
          <p:cNvPr id="13" name="text-12">
            <a:extLst xmlns:a="http://schemas.openxmlformats.org/drawingml/2006/main">
              <a:ext uri="{FF2B5EF4-FFF2-40B4-BE49-F238E27FC236}">
                <a16:creationId xmlns:a16="http://schemas.microsoft.com/office/drawing/2014/main" id="{29CDB1BE-E93B-495A-BB0A-554EF9D34D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3476625"/>
            <a:ext cx="5334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75" b="1">
                <a:solidFill>
                  <a:srgbClr val="005B94"/>
                </a:solidFill>
                <a:latin typeface="微软雅黑"/>
                <a:ea typeface="微软雅黑"/>
                <a:cs typeface="微软雅黑"/>
              </a:defRPr>
            </a:defPPr>
          </a:lstStyle>
          <a:p xmlns:a="http://schemas.openxmlformats.org/drawingml/2006/main">
            <a:pPr algn="l">
              <a:defRPr sz="2175" b="1">
                <a:solidFill>
                  <a:srgbClr val="005B94"/>
                </a:solidFill>
                <a:latin typeface="微软雅黑"/>
                <a:ea typeface="微软雅黑"/>
                <a:cs typeface="微软雅黑"/>
              </a:defRPr>
            </a:pPr>
            <a:r>
              <a:rPr sz="2175" b="1">
                <a:solidFill>
                  <a:srgbClr val="005B94"/>
                </a:solidFill>
                <a:latin typeface="微软雅黑"/>
                <a:ea typeface="微软雅黑"/>
                <a:cs typeface="微软雅黑"/>
              </a:rPr>
              <a:t>布拉格关系</a:t>
            </a:r>
          </a:p>
        </p:txBody>
      </p:sp>
      <p:sp>
        <p:nvSpPr>
          <p:cNvPr id="14" name="text-13">
            <a:extLst xmlns:a="http://schemas.openxmlformats.org/drawingml/2006/main">
              <a:ext uri="{FF2B5EF4-FFF2-40B4-BE49-F238E27FC236}">
                <a16:creationId xmlns:a16="http://schemas.microsoft.com/office/drawing/2014/main" id="{A5A379CB-7D33-4014-B03C-7A79648203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4010025"/>
            <a:ext cx="5429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450" b="1">
                <a:solidFill>
                  <a:srgbClr val="005B94"/>
                </a:solidFill>
                <a:latin typeface="微软雅黑"/>
                <a:ea typeface="微软雅黑"/>
                <a:cs typeface="微软雅黑"/>
              </a:defRPr>
            </a:defPPr>
          </a:lstStyle>
          <a:p xmlns:a="http://schemas.openxmlformats.org/drawingml/2006/main">
            <a:pPr algn="l">
              <a:defRPr sz="3450" b="1">
                <a:solidFill>
                  <a:srgbClr val="005B94"/>
                </a:solidFill>
                <a:latin typeface="微软雅黑"/>
                <a:ea typeface="微软雅黑"/>
                <a:cs typeface="微软雅黑"/>
              </a:defRPr>
            </a:pPr>
            <a:r>
              <a:rPr sz="3450" b="1">
                <a:solidFill>
                  <a:srgbClr val="005B94"/>
                </a:solidFill>
                <a:latin typeface="微软雅黑"/>
                <a:ea typeface="微软雅黑"/>
                <a:cs typeface="微软雅黑"/>
              </a:rPr>
              <a:t>nλ = 2d sinθ</a:t>
            </a:r>
          </a:p>
        </p:txBody>
      </p:sp>
      <p:sp>
        <p:nvSpPr>
          <p:cNvPr id="15" name="text-14">
            <a:extLst xmlns:a="http://schemas.openxmlformats.org/drawingml/2006/main">
              <a:ext uri="{FF2B5EF4-FFF2-40B4-BE49-F238E27FC236}">
                <a16:creationId xmlns:a16="http://schemas.microsoft.com/office/drawing/2014/main" id="{FC6396B7-0F61-465D-8D4C-AB7A4A1A09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4800600"/>
            <a:ext cx="5905500" cy="847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203746"/>
                </a:solidFill>
                <a:latin typeface="微软雅黑"/>
                <a:ea typeface="微软雅黑"/>
                <a:cs typeface="微软雅黑"/>
              </a:defRPr>
            </a:defPPr>
          </a:lstStyle>
          <ns0:p xmlns:ns0="http://schemas.openxmlformats.org/drawingml/2006/main">
            <ns0:pPr algn="l">
              <ns0:defRPr sz="1725" b="0">
                <ns0:solidFill>
                  <ns0:srgbClr val="203746"/>
                </ns0:solidFill>
                <ns0:latin typeface="微软雅黑"/>
                <ns0:ea typeface="微软雅黑"/>
                <ns0:cs typeface="微软雅黑"/>
              </ns0:defRPr>
            </ns0:pPr>
            <ns0:r>
              <ns0:rPr sz="1725" b="0">
                <ns0:solidFill>
                  <ns0:srgbClr val="203746"/>
                </ns0:solidFill>
                <ns0:latin typeface="微软雅黑"/>
                <ns0:ea typeface="微软雅黑"/>
                <ns0:cs typeface="微软雅黑"/>
              </ns0:rPr>
              <ns0:t>λ：波长；d：晶面间距；n：衍射级数</ns0:t>
            </ns0:r>
          </ns0:p>
          <ns1:p xmlns:ns1="http://schemas.openxmlformats.org/drawingml/2006/main">
            <ns1:pPr algn="l">
              <ns1:defRPr sz="1725" b="0">
                <ns1:solidFill>
                  <ns1:srgbClr val="203746"/>
                </ns1:solidFill>
                <ns1:latin typeface="微软雅黑"/>
                <ns1:ea typeface="微软雅黑"/>
                <ns1:cs typeface="微软雅黑"/>
              </ns1:defRPr>
            </ns1:pPr>
            <ns1:r>
              <ns1:rPr sz="1725" b="0">
                <ns1:solidFill>
                  <ns1:srgbClr val="203746"/>
                </ns1:solidFill>
                <ns1:latin typeface="微软雅黑"/>
                <ns1:ea typeface="微软雅黑"/>
                <ns1:cs typeface="微软雅黑"/>
              </ns1:rPr>
              <ns1:t>θ：射线与晶面的夹角；图谱横轴通常为2θ</ns1:t>
            </ns1:r>
          </ns1:p>
        </p:txBody>
      </p:sp>
      <p:sp>
        <p:nvSpPr>
          <p:cNvPr id="16" name="text-15">
            <a:extLst xmlns:a="http://schemas.openxmlformats.org/drawingml/2006/main">
              <a:ext uri="{FF2B5EF4-FFF2-40B4-BE49-F238E27FC236}">
                <a16:creationId xmlns:a16="http://schemas.microsoft.com/office/drawing/2014/main" id="{07E9324A-3F65-4243-98F0-12560FD5AB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96125" y="3476625"/>
            <a:ext cx="4476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75" b="1">
                <a:solidFill>
                  <a:srgbClr val="005B94"/>
                </a:solidFill>
                <a:latin typeface="微软雅黑"/>
                <a:ea typeface="微软雅黑"/>
                <a:cs typeface="微软雅黑"/>
              </a:defRPr>
            </a:defPPr>
          </a:lstStyle>
          <a:p xmlns:a="http://schemas.openxmlformats.org/drawingml/2006/main">
            <a:pPr algn="l">
              <a:defRPr sz="2175" b="1">
                <a:solidFill>
                  <a:srgbClr val="005B94"/>
                </a:solidFill>
                <a:latin typeface="微软雅黑"/>
                <a:ea typeface="微软雅黑"/>
                <a:cs typeface="微软雅黑"/>
              </a:defRPr>
            </a:pPr>
            <a:r>
              <a:rPr sz="2175" b="1">
                <a:solidFill>
                  <a:srgbClr val="005B94"/>
                </a:solidFill>
                <a:latin typeface="微软雅黑"/>
                <a:ea typeface="微软雅黑"/>
                <a:cs typeface="微软雅黑"/>
              </a:rPr>
              <a:t>MOF/COF中的典型用途</a:t>
            </a:r>
          </a:p>
        </p:txBody>
      </p:sp>
      <p:sp>
        <p:nvSpPr>
          <p:cNvPr id="17" name="text-16">
            <a:extLst xmlns:a="http://schemas.openxmlformats.org/drawingml/2006/main">
              <a:ext uri="{FF2B5EF4-FFF2-40B4-BE49-F238E27FC236}">
                <a16:creationId xmlns:a16="http://schemas.microsoft.com/office/drawing/2014/main" id="{71AE2D67-AC24-4AA1-B4B2-75C2857AC6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96125" y="4048125"/>
            <a:ext cx="4476750" cy="1200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203746"/>
                </a:solidFill>
                <a:latin typeface="微软雅黑"/>
                <a:ea typeface="微软雅黑"/>
                <a:cs typeface="微软雅黑"/>
              </a:defRPr>
            </a:defPPr>
          </a:lstStyle>
          <ns2:p xmlns:ns2="http://schemas.openxmlformats.org/drawingml/2006/main">
            <ns2:pPr algn="l">
              <ns2:defRPr sz="1800" b="0">
                <ns2:solidFill>
                  <ns2:srgbClr val="203746"/>
                </ns2:solidFill>
                <ns2:latin typeface="微软雅黑"/>
                <ns2:ea typeface="微软雅黑"/>
                <ns2:cs typeface="微软雅黑"/>
              </ns2:defRPr>
            </ns2:pPr>
            <ns2:r>
              <ns2:rPr sz="1800" b="0">
                <ns2:solidFill>
                  <ns2:srgbClr val="203746"/>
                </ns2:solidFill>
                <ns2:latin typeface="微软雅黑"/>
                <ns2:ea typeface="微软雅黑"/>
                <ns2:cs typeface="微软雅黑"/>
              </ns2:rPr>
              <ns2:t>物相鉴定：目标结构是否形成</ns2:t>
            </ns2:r>
          </ns2:p>
          <ns3:p xmlns:ns3="http://schemas.openxmlformats.org/drawingml/2006/main">
            <ns3:pPr algn="l">
              <ns3:defRPr sz="1800" b="0">
                <ns3:solidFill>
                  <ns3:srgbClr val="203746"/>
                </ns3:solidFill>
                <ns3:latin typeface="微软雅黑"/>
                <ns3:ea typeface="微软雅黑"/>
                <ns3:cs typeface="微软雅黑"/>
              </ns3:defRPr>
            </ns3:pPr>
            <ns3:r>
              <ns3:rPr sz="1800" b="0">
                <ns3:solidFill>
                  <ns3:srgbClr val="203746"/>
                </ns3:solidFill>
                <ns3:latin typeface="微软雅黑"/>
                <ns3:ea typeface="微软雅黑"/>
                <ns3:cs typeface="微软雅黑"/>
              </ns3:rPr>
              <ns3:t>结构稳定性：处理后周期结构是否保留</ns3:t>
            </ns3:r>
          </ns3:p>
          <ns4:p xmlns:ns4="http://schemas.openxmlformats.org/drawingml/2006/main">
            <ns4:pPr algn="l">
              <ns4:defRPr sz="1800" b="0">
                <ns4:solidFill>
                  <ns4:srgbClr val="203746"/>
                </ns4:solidFill>
                <ns4:latin typeface="微软雅黑"/>
                <ns4:ea typeface="微软雅黑"/>
                <ns4:cs typeface="微软雅黑"/>
              </ns4:defRPr>
            </ns4:pPr>
            <ns4:r>
              <ns4:rPr sz="1800" b="0">
                <ns4:solidFill>
                  <ns4:srgbClr val="203746"/>
                </ns4:solidFill>
                <ns4:latin typeface="微软雅黑"/>
                <ns4:ea typeface="微软雅黑"/>
                <ns4:cs typeface="微软雅黑"/>
              </ns4:rPr>
              <ns4:t>结晶特征：峰位和峰形如何变化</ns4:t>
            </ns4:r>
          </ns4:p>
        </p:txBody>
      </p:sp>
      <p:sp>
        <p:nvSpPr>
          <p:cNvPr id="18" name="text-17">
            <a:extLst xmlns:a="http://schemas.openxmlformats.org/drawingml/2006/main">
              <a:ext uri="{FF2B5EF4-FFF2-40B4-BE49-F238E27FC236}">
                <a16:creationId xmlns:a16="http://schemas.microsoft.com/office/drawing/2014/main" id="{87DE89F2-EEA7-46F0-A0B7-5B23F21940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96125" y="5429250"/>
            <a:ext cx="4572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425" b="1">
                <a:solidFill>
                  <a:srgbClr val="B37328"/>
                </a:solidFill>
                <a:latin typeface="微软雅黑"/>
                <a:ea typeface="微软雅黑"/>
                <a:cs typeface="微软雅黑"/>
              </a:defRPr>
            </a:defPPr>
          </a:lstStyle>
          <a:p xmlns:a="http://schemas.openxmlformats.org/drawingml/2006/main">
            <a:pPr algn="l">
              <a:defRPr sz="1425" b="1">
                <a:solidFill>
                  <a:srgbClr val="B37328"/>
                </a:solidFill>
                <a:latin typeface="微软雅黑"/>
                <a:ea typeface="微软雅黑"/>
                <a:cs typeface="微软雅黑"/>
              </a:defRPr>
            </a:pPr>
            <a:r>
              <a:rPr sz="1425" b="1">
                <a:solidFill>
                  <a:srgbClr val="B37328"/>
                </a:solidFill>
                <a:latin typeface="微软雅黑"/>
                <a:ea typeface="微软雅黑"/>
                <a:cs typeface="微软雅黑"/>
              </a:rPr>
              <a:t>MOF：金属有机框架；COF：共价有机框架</a:t>
            </a:r>
          </a:p>
        </p:txBody>
      </p:sp>
    </p:spTree>
    <p:extLst>
      <p:ext uri="{BB962C8B-B14F-4D97-AF65-F5344CB8AC3E}">
        <p14:creationId xmlns:p14="http://schemas.microsoft.com/office/powerpoint/2010/main" val="594460780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ext-0">
            <a:extLst xmlns:a="http://schemas.openxmlformats.org/drawingml/2006/main">
              <a:ext uri="{FF2B5EF4-FFF2-40B4-BE49-F238E27FC236}">
                <a16:creationId xmlns:a16="http://schemas.microsoft.com/office/drawing/2014/main" id="{4DC40CF4-090B-4765-A8AF-5818F52424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" y="209550"/>
            <a:ext cx="8096250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55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defPPr>
          </a:lstStyle>
          <a:p xmlns:a="http://schemas.openxmlformats.org/drawingml/2006/main">
            <a:pPr algn="l">
              <a:defRPr sz="255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255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02  测试方法与MOF/COF样品制备</a:t>
            </a:r>
          </a:p>
        </p:txBody>
      </p:sp>
      <p:sp>
        <p:nvSpPr>
          <p:cNvPr id="2" name="text-1">
            <a:extLst xmlns:a="http://schemas.openxmlformats.org/drawingml/2006/main">
              <a:ext uri="{FF2B5EF4-FFF2-40B4-BE49-F238E27FC236}">
                <a16:creationId xmlns:a16="http://schemas.microsoft.com/office/drawing/2014/main" id="{C6A6DB55-F5EB-4D5D-8AB5-8A3347D4A2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" y="6372225"/>
            <a:ext cx="61912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125" b="0">
                <a:solidFill>
                  <a:srgbClr val="52636D"/>
                </a:solidFill>
                <a:latin typeface="微软雅黑"/>
                <a:ea typeface="微软雅黑"/>
                <a:cs typeface="微软雅黑"/>
              </a:defRPr>
            </a:defPPr>
          </a:lstStyle>
          <a:p xmlns:a="http://schemas.openxmlformats.org/drawingml/2006/main">
            <a:pPr algn="l">
              <a:defRPr sz="1125" b="0">
                <a:solidFill>
                  <a:srgbClr val="52636D"/>
                </a:solidFill>
                <a:latin typeface="微软雅黑"/>
                <a:ea typeface="微软雅黑"/>
                <a:cs typeface="微软雅黑"/>
              </a:defRPr>
            </a:pPr>
            <a:r>
              <a:rPr sz="1125" b="0">
                <a:solidFill>
                  <a:srgbClr val="52636D"/>
                </a:solidFill>
                <a:latin typeface="微软雅黑"/>
                <a:ea typeface="微软雅黑"/>
                <a:cs typeface="微软雅黑"/>
              </a:rPr>
              <a:t>材料与化工现代研究方法</a:t>
            </a:r>
          </a:p>
        </p:txBody>
      </p:sp>
      <p:sp>
        <p:nvSpPr>
          <p:cNvPr id="3" name="text-2">
            <a:extLst xmlns:a="http://schemas.openxmlformats.org/drawingml/2006/main">
              <a:ext uri="{FF2B5EF4-FFF2-40B4-BE49-F238E27FC236}">
                <a16:creationId xmlns:a16="http://schemas.microsoft.com/office/drawing/2014/main" id="{8F09BA5C-B72A-4158-AFE8-77EBAD900A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39325" y="6353175"/>
            <a:ext cx="47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275" b="0">
                <a:solidFill>
                  <a:srgbClr val="005B94"/>
                </a:solidFill>
                <a:latin typeface="微软雅黑"/>
                <a:ea typeface="微软雅黑"/>
                <a:cs typeface="微软雅黑"/>
              </a:defRPr>
            </a:defPPr>
          </a:lstStyle>
          <a:p xmlns:a="http://schemas.openxmlformats.org/drawingml/2006/main">
            <a:pPr algn="r">
              <a:defRPr sz="1275" b="0">
                <a:solidFill>
                  <a:srgbClr val="005B94"/>
                </a:solidFill>
                <a:latin typeface="微软雅黑"/>
                <a:ea typeface="微软雅黑"/>
                <a:cs typeface="微软雅黑"/>
              </a:defRPr>
            </a:pPr>
            <a:r>
              <a:rPr sz="1275" b="0">
                <a:solidFill>
                  <a:srgbClr val="005B94"/>
                </a:solidFill>
                <a:latin typeface="微软雅黑"/>
                <a:ea typeface="微软雅黑"/>
                <a:cs typeface="微软雅黑"/>
              </a:rPr>
              <a:t>03</a:t>
            </a:r>
          </a:p>
        </p:txBody>
      </p:sp>
      <p:sp>
        <p:nvSpPr>
          <p:cNvPr id="4" name="text-3">
            <a:extLst xmlns:a="http://schemas.openxmlformats.org/drawingml/2006/main">
              <a:ext uri="{FF2B5EF4-FFF2-40B4-BE49-F238E27FC236}">
                <a16:creationId xmlns:a16="http://schemas.microsoft.com/office/drawing/2014/main" id="{92145556-E5DC-481B-9291-2F0F30AC35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" y="5943600"/>
            <a:ext cx="1123950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975" b="0">
                <a:solidFill>
                  <a:srgbClr val="52636D"/>
                </a:solidFill>
                <a:latin typeface="微软雅黑"/>
                <a:ea typeface="微软雅黑"/>
                <a:cs typeface="微软雅黑"/>
              </a:defRPr>
            </a:defPPr>
          </a:lstStyle>
          <a:p xmlns:a="http://schemas.openxmlformats.org/drawingml/2006/main">
            <a:pPr algn="l">
              <a:defRPr sz="975" b="0">
                <a:solidFill>
                  <a:srgbClr val="52636D"/>
                </a:solidFill>
                <a:latin typeface="微软雅黑"/>
                <a:ea typeface="微软雅黑"/>
                <a:cs typeface="微软雅黑"/>
              </a:defRPr>
            </a:pPr>
            <a:r>
              <a:rPr sz="975" b="0">
                <a:solidFill>
                  <a:srgbClr val="52636D"/>
                </a:solidFill>
                <a:latin typeface="微软雅黑"/>
                <a:ea typeface="微软雅黑"/>
                <a:cs typeface="微软雅黑"/>
              </a:rPr>
              <a:t>方法依据：Rigaku Powder X-ray Diffraction Basic Course；表中数值为教学起始设置，须按仪器与样品优化</a:t>
            </a:r>
          </a:p>
        </p:txBody>
      </p:sp>
      <p:graphicFrame>
        <p:nvGraphicFrame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38FFB9C-DE2E-4E06-B05F-AA7130B45C78}"/>
              </a:ext>
            </a:extLst>
          </p:cNvPr>
          <p:cNvGraphicFramePr/>
          <p:nvPr/>
        </p:nvGraphicFramePr>
        <p:xfrm>
          <a:off xmlns:a="http://schemas.openxmlformats.org/drawingml/2006/main" x="466725" y="1333500"/>
          <a:ext xmlns:a="http://schemas.openxmlformats.org/drawingml/2006/main" cx="11239500" cy="41719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1809750"/>
                <a:gridCol w="4857750"/>
                <a:gridCol w="4572000"/>
              </a:tblGrid>
              <a:tr h="834390">
                <a:tc>
                  <a:txBody>
                    <a:bodyPr lIns="95250" tIns="95250" rIns="95250" bIns="95250"/>
                    <a:lstStyle/>
                    <a:p>
                      <a:r>
                        <a:rPr sz="165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环节</a:t>
                      </a:r>
                    </a:p>
                  </a:txBody>
                  <a:tcPr marL="114300" marR="114300" marT="47625" marB="47625" anchor="ctr">
                    <a:lnL w="9525">
                      <a:solidFill>
                        <a:srgbClr val="D9E3E9"/>
                      </a:solidFill>
                      <a:prstDash val="solid"/>
                    </a:lnL>
                    <a:lnR w="9525">
                      <a:solidFill>
                        <a:srgbClr val="D9E3E9"/>
                      </a:solidFill>
                      <a:prstDash val="solid"/>
                    </a:lnR>
                    <a:lnT w="9525">
                      <a:solidFill>
                        <a:srgbClr val="D9E3E9"/>
                      </a:solidFill>
                      <a:prstDash val="solid"/>
                    </a:lnT>
                    <a:lnB w="9525">
                      <a:solidFill>
                        <a:srgbClr val="D9E3E9"/>
                      </a:solidFill>
                      <a:prstDash val="solid"/>
                    </a:lnB>
                    <a:solidFill>
                      <a:srgbClr val="005B94"/>
                    </a:solidFill>
                  </a:tcPr>
                </a:tc>
                <a:tc>
                  <a:txBody>
                    <a:bodyPr lIns="95250" tIns="95250" rIns="95250" bIns="95250"/>
                    <a:lstStyle/>
                    <a:p>
                      <a:r>
                        <a:rPr sz="165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建议操作</a:t>
                      </a:r>
                    </a:p>
                  </a:txBody>
                  <a:tcPr marL="114300" marR="114300" marT="47625" marB="47625" anchor="ctr">
                    <a:lnR w="9525">
                      <a:solidFill>
                        <a:srgbClr val="D9E3E9"/>
                      </a:solidFill>
                      <a:prstDash val="solid"/>
                    </a:lnR>
                    <a:lnT w="9525">
                      <a:solidFill>
                        <a:srgbClr val="D9E3E9"/>
                      </a:solidFill>
                      <a:prstDash val="solid"/>
                    </a:lnT>
                    <a:lnB w="9525">
                      <a:solidFill>
                        <a:srgbClr val="D9E3E9"/>
                      </a:solidFill>
                      <a:prstDash val="solid"/>
                    </a:lnB>
                    <a:solidFill>
                      <a:srgbClr val="005B94"/>
                    </a:solidFill>
                  </a:tcPr>
                </a:tc>
                <a:tc>
                  <a:txBody>
                    <a:bodyPr lIns="95250" tIns="95250" rIns="95250" bIns="95250"/>
                    <a:lstStyle/>
                    <a:p>
                      <a:r>
                        <a:rPr sz="165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注意事项</a:t>
                      </a:r>
                    </a:p>
                  </a:txBody>
                  <a:tcPr marL="114300" marR="114300" marT="47625" marB="47625" anchor="ctr">
                    <a:lnR w="9525">
                      <a:solidFill>
                        <a:srgbClr val="D9E3E9"/>
                      </a:solidFill>
                      <a:prstDash val="solid"/>
                    </a:lnR>
                    <a:lnT w="9525">
                      <a:solidFill>
                        <a:srgbClr val="D9E3E9"/>
                      </a:solidFill>
                      <a:prstDash val="solid"/>
                    </a:lnT>
                    <a:lnB w="9525">
                      <a:solidFill>
                        <a:srgbClr val="D9E3E9"/>
                      </a:solidFill>
                      <a:prstDash val="solid"/>
                    </a:lnB>
                    <a:solidFill>
                      <a:srgbClr val="005B94"/>
                    </a:solidFill>
                  </a:tcPr>
                </a:tc>
              </a:tr>
              <a:tr h="834390">
                <a:tc>
                  <a:txBody>
                    <a:bodyPr lIns="95250" tIns="95250" rIns="95250" bIns="95250"/>
                    <a:lstStyle/>
                    <a:p>
                      <a:r>
                        <a:rPr sz="1650" b="0">
                          <a:solidFill>
                            <a:srgbClr val="20374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模式选择</a:t>
                      </a:r>
                    </a:p>
                  </a:txBody>
                  <a:tcPr marL="114300" marR="114300" marT="47625" marB="47625" anchor="ctr">
                    <a:lnL w="9525">
                      <a:solidFill>
                        <a:srgbClr val="D9E3E9"/>
                      </a:solidFill>
                      <a:prstDash val="solid"/>
                    </a:lnL>
                    <a:lnR w="9525">
                      <a:solidFill>
                        <a:srgbClr val="D9E3E9"/>
                      </a:solidFill>
                      <a:prstDash val="solid"/>
                    </a:lnR>
                    <a:lnB w="9525">
                      <a:solidFill>
                        <a:srgbClr val="D9E3E9"/>
                      </a:solidFill>
                      <a:prstDash val="solid"/>
                    </a:lnB>
                    <a:solidFill>
                      <a:srgbClr val="F0F6F9"/>
                    </a:solidFill>
                  </a:tcPr>
                </a:tc>
                <a:tc>
                  <a:txBody>
                    <a:bodyPr lIns="95250" tIns="95250" rIns="95250" bIns="95250"/>
                    <a:lstStyle/>
                    <a:p>
                      <a:r>
                        <a:rPr sz="1650" b="0">
                          <a:solidFill>
                            <a:srgbClr val="20374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粉末：常规粉末衍射（PXRD）</a:t>
                      </a:r>
                    </a:p>
                    <a:p>
                      <a:r>
                        <a:rPr sz="1650" b="0">
                          <a:solidFill>
                            <a:srgbClr val="20374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薄膜：掠入射XRD，以较小角度入射</a:t>
                      </a:r>
                    </a:p>
                  </a:txBody>
                  <a:tcPr marL="114300" marR="114300" marT="47625" marB="47625" anchor="ctr">
                    <a:lnR w="9525">
                      <a:solidFill>
                        <a:srgbClr val="D9E3E9"/>
                      </a:solidFill>
                      <a:prstDash val="solid"/>
                    </a:lnR>
                    <a:lnB w="9525">
                      <a:solidFill>
                        <a:srgbClr val="D9E3E9"/>
                      </a:solidFill>
                      <a:prstDash val="solid"/>
                    </a:lnB>
                    <a:solidFill>
                      <a:srgbClr val="F0F6F9"/>
                    </a:solidFill>
                  </a:tcPr>
                </a:tc>
                <a:tc>
                  <a:txBody>
                    <a:bodyPr lIns="95250" tIns="95250" rIns="95250" bIns="95250"/>
                    <a:lstStyle/>
                    <a:p>
                      <a:r>
                        <a:rPr sz="1650" b="0">
                          <a:solidFill>
                            <a:srgbClr val="20374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本次以MOF/COF粉末样品为主</a:t>
                      </a:r>
                    </a:p>
                  </a:txBody>
                  <a:tcPr marL="114300" marR="114300" marT="47625" marB="47625" anchor="ctr">
                    <a:lnR w="9525">
                      <a:solidFill>
                        <a:srgbClr val="D9E3E9"/>
                      </a:solidFill>
                      <a:prstDash val="solid"/>
                    </a:lnR>
                    <a:lnB w="9525">
                      <a:solidFill>
                        <a:srgbClr val="D9E3E9"/>
                      </a:solidFill>
                      <a:prstDash val="solid"/>
                    </a:lnB>
                    <a:solidFill>
                      <a:srgbClr val="F0F6F9"/>
                    </a:solidFill>
                  </a:tcPr>
                </a:tc>
              </a:tr>
              <a:tr h="834390">
                <a:tc>
                  <a:txBody>
                    <a:bodyPr lIns="95250" tIns="95250" rIns="95250" bIns="95250"/>
                    <a:lstStyle/>
                    <a:p>
                      <a:r>
                        <a:rPr sz="1650" b="0">
                          <a:solidFill>
                            <a:srgbClr val="20374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样品制备</a:t>
                      </a:r>
                    </a:p>
                  </a:txBody>
                  <a:tcPr marL="114300" marR="114300" marT="47625" marB="47625" anchor="ctr">
                    <a:lnL w="9525">
                      <a:solidFill>
                        <a:srgbClr val="D9E3E9"/>
                      </a:solidFill>
                      <a:prstDash val="solid"/>
                    </a:lnL>
                    <a:lnR w="9525">
                      <a:solidFill>
                        <a:srgbClr val="D9E3E9"/>
                      </a:solidFill>
                      <a:prstDash val="solid"/>
                    </a:lnR>
                    <a:lnB w="9525">
                      <a:solidFill>
                        <a:srgbClr val="D9E3E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0" tIns="95250" rIns="95250" bIns="95250"/>
                    <a:lstStyle/>
                    <a:p>
                      <a:r>
                        <a:rPr sz="1650" b="0">
                          <a:solidFill>
                            <a:srgbClr val="20374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温和研磨、铺平，控制样品高度</a:t>
                      </a:r>
                    </a:p>
                    <a:p>
                      <a:r>
                        <a:rPr sz="1650" b="0">
                          <a:solidFill>
                            <a:srgbClr val="20374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易失溶剂样品可密封或用毛细管</a:t>
                      </a:r>
                    </a:p>
                  </a:txBody>
                  <a:tcPr marL="114300" marR="114300" marT="47625" marB="47625" anchor="ctr">
                    <a:lnR w="9525">
                      <a:solidFill>
                        <a:srgbClr val="D9E3E9"/>
                      </a:solidFill>
                      <a:prstDash val="solid"/>
                    </a:lnR>
                    <a:lnB w="9525">
                      <a:solidFill>
                        <a:srgbClr val="D9E3E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0" tIns="95250" rIns="95250" bIns="95250"/>
                    <a:lstStyle/>
                    <a:p>
                      <a:r>
                        <a:rPr sz="1650" b="0">
                          <a:solidFill>
                            <a:srgbClr val="20374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过度研磨可能损伤结构</a:t>
                      </a:r>
                    </a:p>
                    <a:p>
                      <a:r>
                        <a:rPr sz="1650" b="0">
                          <a:solidFill>
                            <a:srgbClr val="20374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压实可能改变相对峰强</a:t>
                      </a:r>
                    </a:p>
                  </a:txBody>
                  <a:tcPr marL="114300" marR="114300" marT="47625" marB="47625" anchor="ctr">
                    <a:lnR w="9525">
                      <a:solidFill>
                        <a:srgbClr val="D9E3E9"/>
                      </a:solidFill>
                      <a:prstDash val="solid"/>
                    </a:lnR>
                    <a:lnB w="9525">
                      <a:solidFill>
                        <a:srgbClr val="D9E3E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834390">
                <a:tc>
                  <a:txBody>
                    <a:bodyPr lIns="95250" tIns="95250" rIns="95250" bIns="95250"/>
                    <a:lstStyle/>
                    <a:p>
                      <a:r>
                        <a:rPr sz="1650" b="0">
                          <a:solidFill>
                            <a:srgbClr val="20374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扫描设置</a:t>
                      </a:r>
                    </a:p>
                  </a:txBody>
                  <a:tcPr marL="114300" marR="114300" marT="47625" marB="47625" anchor="ctr">
                    <a:lnL w="9525">
                      <a:solidFill>
                        <a:srgbClr val="D9E3E9"/>
                      </a:solidFill>
                      <a:prstDash val="solid"/>
                    </a:lnL>
                    <a:lnR w="9525">
                      <a:solidFill>
                        <a:srgbClr val="D9E3E9"/>
                      </a:solidFill>
                      <a:prstDash val="solid"/>
                    </a:lnR>
                    <a:lnB w="9525">
                      <a:solidFill>
                        <a:srgbClr val="D9E3E9"/>
                      </a:solidFill>
                      <a:prstDash val="solid"/>
                    </a:lnB>
                    <a:solidFill>
                      <a:srgbClr val="F0F6F9"/>
                    </a:solidFill>
                  </a:tcPr>
                </a:tc>
                <a:tc>
                  <a:txBody>
                    <a:bodyPr lIns="95250" tIns="95250" rIns="95250" bIns="95250"/>
                    <a:lstStyle/>
                    <a:p>
                      <a:r>
                        <a:rPr sz="1650" b="0">
                          <a:solidFill>
                            <a:srgbClr val="20374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常用铜靶，λ约1.5406 Å</a:t>
                      </a:r>
                    </a:p>
                    <a:p>
                      <a:r>
                        <a:rPr sz="1650" b="0">
                          <a:solidFill>
                            <a:srgbClr val="20374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2θ约2–40°，步长约0.02°</a:t>
                      </a:r>
                    </a:p>
                  </a:txBody>
                  <a:tcPr marL="114300" marR="114300" marT="47625" marB="47625" anchor="ctr">
                    <a:lnR w="9525">
                      <a:solidFill>
                        <a:srgbClr val="D9E3E9"/>
                      </a:solidFill>
                      <a:prstDash val="solid"/>
                    </a:lnR>
                    <a:lnB w="9525">
                      <a:solidFill>
                        <a:srgbClr val="D9E3E9"/>
                      </a:solidFill>
                      <a:prstDash val="solid"/>
                    </a:lnB>
                    <a:solidFill>
                      <a:srgbClr val="F0F6F9"/>
                    </a:solidFill>
                  </a:tcPr>
                </a:tc>
                <a:tc>
                  <a:txBody>
                    <a:bodyPr lIns="95250" tIns="95250" rIns="95250" bIns="95250"/>
                    <a:lstStyle/>
                    <a:p>
                      <a:r>
                        <a:rPr sz="1650" b="0">
                          <a:solidFill>
                            <a:srgbClr val="20374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低角峰接近起始角时，应进一步扩展范围</a:t>
                      </a:r>
                    </a:p>
                  </a:txBody>
                  <a:tcPr marL="114300" marR="114300" marT="47625" marB="47625" anchor="ctr">
                    <a:lnR w="9525">
                      <a:solidFill>
                        <a:srgbClr val="D9E3E9"/>
                      </a:solidFill>
                      <a:prstDash val="solid"/>
                    </a:lnR>
                    <a:lnB w="9525">
                      <a:solidFill>
                        <a:srgbClr val="D9E3E9"/>
                      </a:solidFill>
                      <a:prstDash val="solid"/>
                    </a:lnB>
                    <a:solidFill>
                      <a:srgbClr val="F0F6F9"/>
                    </a:solidFill>
                  </a:tcPr>
                </a:tc>
              </a:tr>
              <a:tr h="834390">
                <a:tc>
                  <a:txBody>
                    <a:bodyPr lIns="95250" tIns="95250" rIns="95250" bIns="95250"/>
                    <a:lstStyle/>
                    <a:p>
                      <a:r>
                        <a:rPr sz="1650" b="0">
                          <a:solidFill>
                            <a:srgbClr val="20374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质量控制</a:t>
                      </a:r>
                    </a:p>
                  </a:txBody>
                  <a:tcPr marL="114300" marR="114300" marT="47625" marB="47625" anchor="ctr">
                    <a:lnL w="9525">
                      <a:solidFill>
                        <a:srgbClr val="D9E3E9"/>
                      </a:solidFill>
                      <a:prstDash val="solid"/>
                    </a:lnL>
                    <a:lnR w="9525">
                      <a:solidFill>
                        <a:srgbClr val="D9E3E9"/>
                      </a:solidFill>
                      <a:prstDash val="solid"/>
                    </a:lnR>
                    <a:lnB w="9525">
                      <a:solidFill>
                        <a:srgbClr val="D9E3E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0" tIns="95250" rIns="95250" bIns="95250"/>
                    <a:lstStyle/>
                    <a:p>
                      <a:r>
                        <a:rPr sz="1650" b="0">
                          <a:solidFill>
                            <a:srgbClr val="20374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适当延长计数时间，提高信噪比</a:t>
                      </a:r>
                    </a:p>
                    <a:p>
                      <a:r>
                        <a:rPr sz="1650" b="0">
                          <a:solidFill>
                            <a:srgbClr val="20374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使用标准样品校准衍射角度</a:t>
                      </a:r>
                    </a:p>
                  </a:txBody>
                  <a:tcPr marL="114300" marR="114300" marT="47625" marB="47625" anchor="ctr">
                    <a:lnR w="9525">
                      <a:solidFill>
                        <a:srgbClr val="D9E3E9"/>
                      </a:solidFill>
                      <a:prstDash val="solid"/>
                    </a:lnR>
                    <a:lnB w="9525">
                      <a:solidFill>
                        <a:srgbClr val="D9E3E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0" tIns="95250" rIns="95250" bIns="95250"/>
                    <a:lstStyle/>
                    <a:p>
                      <a:r>
                        <a:rPr sz="1650" b="0">
                          <a:solidFill>
                            <a:srgbClr val="20374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注意样品架背景和仪器引起的峰形变化</a:t>
                      </a:r>
                    </a:p>
                  </a:txBody>
                  <a:tcPr marL="114300" marR="114300" marT="47625" marB="47625" anchor="ctr">
                    <a:lnR w="9525">
                      <a:solidFill>
                        <a:srgbClr val="D9E3E9"/>
                      </a:solidFill>
                      <a:prstDash val="solid"/>
                    </a:lnR>
                    <a:lnB w="9525">
                      <a:solidFill>
                        <a:srgbClr val="D9E3E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594460780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text-0">
            <a:extLst xmlns:a="http://schemas.openxmlformats.org/drawingml/2006/main">
              <a:ext uri="{FF2B5EF4-FFF2-40B4-BE49-F238E27FC236}">
                <a16:creationId xmlns:a16="http://schemas.microsoft.com/office/drawing/2014/main" id="{192CAAD7-4344-41DE-AF12-94509A3190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" y="209550"/>
            <a:ext cx="8096250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55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defPPr>
          </a:lstStyle>
          <a:p xmlns:a="http://schemas.openxmlformats.org/drawingml/2006/main">
            <a:pPr algn="l">
              <a:defRPr sz="255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255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03  常用分析软件及功能</a:t>
            </a:r>
          </a:p>
        </p:txBody>
      </p:sp>
      <p:sp>
        <p:nvSpPr>
          <p:cNvPr id="2" name="text-1">
            <a:extLst xmlns:a="http://schemas.openxmlformats.org/drawingml/2006/main">
              <a:ext uri="{FF2B5EF4-FFF2-40B4-BE49-F238E27FC236}">
                <a16:creationId xmlns:a16="http://schemas.microsoft.com/office/drawing/2014/main" id="{40B24AFD-AE7E-43A8-942B-D52E0192D8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" y="6372225"/>
            <a:ext cx="61912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125" b="0">
                <a:solidFill>
                  <a:srgbClr val="52636D"/>
                </a:solidFill>
                <a:latin typeface="微软雅黑"/>
                <a:ea typeface="微软雅黑"/>
                <a:cs typeface="微软雅黑"/>
              </a:defRPr>
            </a:defPPr>
          </a:lstStyle>
          <a:p xmlns:a="http://schemas.openxmlformats.org/drawingml/2006/main">
            <a:pPr algn="l">
              <a:defRPr sz="1125" b="0">
                <a:solidFill>
                  <a:srgbClr val="52636D"/>
                </a:solidFill>
                <a:latin typeface="微软雅黑"/>
                <a:ea typeface="微软雅黑"/>
                <a:cs typeface="微软雅黑"/>
              </a:defRPr>
            </a:pPr>
            <a:r>
              <a:rPr sz="1125" b="0">
                <a:solidFill>
                  <a:srgbClr val="52636D"/>
                </a:solidFill>
                <a:latin typeface="微软雅黑"/>
                <a:ea typeface="微软雅黑"/>
                <a:cs typeface="微软雅黑"/>
              </a:rPr>
              <a:t>材料与化工现代研究方法</a:t>
            </a:r>
          </a:p>
        </p:txBody>
      </p:sp>
      <p:sp>
        <p:nvSpPr>
          <p:cNvPr id="3" name="text-2">
            <a:extLst xmlns:a="http://schemas.openxmlformats.org/drawingml/2006/main">
              <a:ext uri="{FF2B5EF4-FFF2-40B4-BE49-F238E27FC236}">
                <a16:creationId xmlns:a16="http://schemas.microsoft.com/office/drawing/2014/main" id="{4E2A0AA2-054A-42B9-90C5-5B6D924B0E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39325" y="6353175"/>
            <a:ext cx="47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275" b="0">
                <a:solidFill>
                  <a:srgbClr val="005B94"/>
                </a:solidFill>
                <a:latin typeface="微软雅黑"/>
                <a:ea typeface="微软雅黑"/>
                <a:cs typeface="微软雅黑"/>
              </a:defRPr>
            </a:defPPr>
          </a:lstStyle>
          <a:p xmlns:a="http://schemas.openxmlformats.org/drawingml/2006/main">
            <a:pPr algn="r">
              <a:defRPr sz="1275" b="0">
                <a:solidFill>
                  <a:srgbClr val="005B94"/>
                </a:solidFill>
                <a:latin typeface="微软雅黑"/>
                <a:ea typeface="微软雅黑"/>
                <a:cs typeface="微软雅黑"/>
              </a:defRPr>
            </a:pPr>
            <a:r>
              <a:rPr sz="1275" b="0">
                <a:solidFill>
                  <a:srgbClr val="005B94"/>
                </a:solidFill>
                <a:latin typeface="微软雅黑"/>
                <a:ea typeface="微软雅黑"/>
                <a:cs typeface="微软雅黑"/>
              </a:rPr>
              <a:t>04</a:t>
            </a:r>
          </a:p>
        </p:txBody>
      </p:sp>
      <p:sp>
        <p:nvSpPr>
          <p:cNvPr id="4" name="text-3">
            <a:extLst xmlns:a="http://schemas.openxmlformats.org/drawingml/2006/main">
              <a:ext uri="{FF2B5EF4-FFF2-40B4-BE49-F238E27FC236}">
                <a16:creationId xmlns:a16="http://schemas.microsoft.com/office/drawing/2014/main" id="{DAFE4601-BE5D-483F-BB1C-908FE1099A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" y="5943600"/>
            <a:ext cx="1123950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975" b="0">
                <a:solidFill>
                  <a:srgbClr val="52636D"/>
                </a:solidFill>
                <a:latin typeface="微软雅黑"/>
                <a:ea typeface="微软雅黑"/>
                <a:cs typeface="微软雅黑"/>
              </a:defRPr>
            </a:defPPr>
          </a:lstStyle>
          <a:p xmlns:a="http://schemas.openxmlformats.org/drawingml/2006/main">
            <a:pPr algn="l">
              <a:defRPr sz="975" b="0">
                <a:solidFill>
                  <a:srgbClr val="52636D"/>
                </a:solidFill>
                <a:latin typeface="微软雅黑"/>
                <a:ea typeface="微软雅黑"/>
                <a:cs typeface="微软雅黑"/>
              </a:defRPr>
            </a:pPr>
            <a:r>
              <a:rPr sz="975" b="0">
                <a:solidFill>
                  <a:srgbClr val="52636D"/>
                </a:solidFill>
                <a:latin typeface="微软雅黑"/>
                <a:ea typeface="微软雅黑"/>
                <a:cs typeface="微软雅黑"/>
              </a:rPr>
              <a:t>软件功能依据：MDI、Crystal Impact、Bruker、GSAS-II、BIOVIA、OriginLab官方文档，完整链接见附录</a:t>
            </a:r>
          </a:p>
        </p:txBody>
      </p:sp>
      <p:graphicFrame>
        <p:nvGraphicFrame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AAA9BB0-5FF0-42C7-BD84-C6C6D6C04309}"/>
              </a:ext>
            </a:extLst>
          </p:cNvPr>
          <p:cNvGraphicFramePr/>
          <p:nvPr/>
        </p:nvGraphicFramePr>
        <p:xfrm>
          <a:off xmlns:a="http://schemas.openxmlformats.org/drawingml/2006/main" x="466725" y="1333500"/>
          <a:ext xmlns:a="http://schemas.openxmlformats.org/drawingml/2006/main" cx="11239500" cy="376237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286000"/>
                <a:gridCol w="3857625"/>
                <a:gridCol w="5095875"/>
              </a:tblGrid>
              <a:tr h="752475">
                <a:tc>
                  <a:txBody>
                    <a:bodyPr lIns="95250" tIns="95250" rIns="95250" bIns="95250"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任务</a:t>
                      </a:r>
                    </a:p>
                  </a:txBody>
                  <a:tcPr marL="114300" marR="114300" marT="47625" marB="47625" anchor="ctr">
                    <a:lnL w="9525">
                      <a:solidFill>
                        <a:srgbClr val="D9E3E9"/>
                      </a:solidFill>
                      <a:prstDash val="solid"/>
                    </a:lnL>
                    <a:lnR w="9525">
                      <a:solidFill>
                        <a:srgbClr val="D9E3E9"/>
                      </a:solidFill>
                      <a:prstDash val="solid"/>
                    </a:lnR>
                    <a:lnT w="9525">
                      <a:solidFill>
                        <a:srgbClr val="D9E3E9"/>
                      </a:solidFill>
                      <a:prstDash val="solid"/>
                    </a:lnT>
                    <a:lnB w="9525">
                      <a:solidFill>
                        <a:srgbClr val="D9E3E9"/>
                      </a:solidFill>
                      <a:prstDash val="solid"/>
                    </a:lnB>
                    <a:solidFill>
                      <a:srgbClr val="005B94"/>
                    </a:solidFill>
                  </a:tcPr>
                </a:tc>
                <a:tc>
                  <a:txBody>
                    <a:bodyPr lIns="95250" tIns="95250" rIns="95250" bIns="95250"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常用软件</a:t>
                      </a:r>
                    </a:p>
                  </a:txBody>
                  <a:tcPr marL="114300" marR="114300" marT="47625" marB="47625" anchor="ctr">
                    <a:lnR w="9525">
                      <a:solidFill>
                        <a:srgbClr val="D9E3E9"/>
                      </a:solidFill>
                      <a:prstDash val="solid"/>
                    </a:lnR>
                    <a:lnT w="9525">
                      <a:solidFill>
                        <a:srgbClr val="D9E3E9"/>
                      </a:solidFill>
                      <a:prstDash val="solid"/>
                    </a:lnT>
                    <a:lnB w="9525">
                      <a:solidFill>
                        <a:srgbClr val="D9E3E9"/>
                      </a:solidFill>
                      <a:prstDash val="solid"/>
                    </a:lnB>
                    <a:solidFill>
                      <a:srgbClr val="005B94"/>
                    </a:solidFill>
                  </a:tcPr>
                </a:tc>
                <a:tc>
                  <a:txBody>
                    <a:bodyPr lIns="95250" tIns="95250" rIns="95250" bIns="95250"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输出与注意点</a:t>
                      </a:r>
                    </a:p>
                  </a:txBody>
                  <a:tcPr marL="114300" marR="114300" marT="47625" marB="47625" anchor="ctr">
                    <a:lnR w="9525">
                      <a:solidFill>
                        <a:srgbClr val="D9E3E9"/>
                      </a:solidFill>
                      <a:prstDash val="solid"/>
                    </a:lnR>
                    <a:lnT w="9525">
                      <a:solidFill>
                        <a:srgbClr val="D9E3E9"/>
                      </a:solidFill>
                      <a:prstDash val="solid"/>
                    </a:lnT>
                    <a:lnB w="9525">
                      <a:solidFill>
                        <a:srgbClr val="D9E3E9"/>
                      </a:solidFill>
                      <a:prstDash val="solid"/>
                    </a:lnB>
                    <a:solidFill>
                      <a:srgbClr val="005B94"/>
                    </a:solidFill>
                  </a:tcPr>
                </a:tc>
              </a:tr>
              <a:tr h="752475">
                <a:tc>
                  <a:txBody>
                    <a:bodyPr lIns="95250" tIns="95250" rIns="95250" bIns="95250"/>
                    <a:lstStyle/>
                    <a:p>
                      <a:r>
                        <a:rPr sz="1725" b="0">
                          <a:solidFill>
                            <a:srgbClr val="20374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寻峰与物相鉴定</a:t>
                      </a:r>
                    </a:p>
                  </a:txBody>
                  <a:tcPr marL="114300" marR="114300" marT="47625" marB="47625" anchor="ctr">
                    <a:lnL w="9525">
                      <a:solidFill>
                        <a:srgbClr val="D9E3E9"/>
                      </a:solidFill>
                      <a:prstDash val="solid"/>
                    </a:lnL>
                    <a:lnR w="9525">
                      <a:solidFill>
                        <a:srgbClr val="D9E3E9"/>
                      </a:solidFill>
                      <a:prstDash val="solid"/>
                    </a:lnR>
                    <a:lnB w="9525">
                      <a:solidFill>
                        <a:srgbClr val="D9E3E9"/>
                      </a:solidFill>
                      <a:prstDash val="solid"/>
                    </a:lnB>
                    <a:solidFill>
                      <a:srgbClr val="F0F6F9"/>
                    </a:solidFill>
                  </a:tcPr>
                </a:tc>
                <a:tc>
                  <a:txBody>
                    <a:bodyPr lIns="95250" tIns="95250" rIns="95250" bIns="95250"/>
                    <a:lstStyle/>
                    <a:p>
                      <a:r>
                        <a:rPr sz="1725" b="0">
                          <a:solidFill>
                            <a:srgbClr val="20374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JADE、Match!、DIFFRAC.EVA</a:t>
                      </a:r>
                    </a:p>
                  </a:txBody>
                  <a:tcPr marL="114300" marR="114300" marT="47625" marB="47625" anchor="ctr">
                    <a:lnR w="9525">
                      <a:solidFill>
                        <a:srgbClr val="D9E3E9"/>
                      </a:solidFill>
                      <a:prstDash val="solid"/>
                    </a:lnR>
                    <a:lnB w="9525">
                      <a:solidFill>
                        <a:srgbClr val="D9E3E9"/>
                      </a:solidFill>
                      <a:prstDash val="solid"/>
                    </a:lnB>
                    <a:solidFill>
                      <a:srgbClr val="F0F6F9"/>
                    </a:solidFill>
                  </a:tcPr>
                </a:tc>
                <a:tc>
                  <a:txBody>
                    <a:bodyPr lIns="95250" tIns="95250" rIns="95250" bIns="95250"/>
                    <a:lstStyle/>
                    <a:p>
                      <a:r>
                        <a:rPr sz="1725" b="0">
                          <a:solidFill>
                            <a:srgbClr val="20374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与标准图谱或论文参考图进行匹配</a:t>
                      </a:r>
                    </a:p>
                  </a:txBody>
                  <a:tcPr marL="114300" marR="114300" marT="47625" marB="47625" anchor="ctr">
                    <a:lnR w="9525">
                      <a:solidFill>
                        <a:srgbClr val="D9E3E9"/>
                      </a:solidFill>
                      <a:prstDash val="solid"/>
                    </a:lnR>
                    <a:lnB w="9525">
                      <a:solidFill>
                        <a:srgbClr val="D9E3E9"/>
                      </a:solidFill>
                      <a:prstDash val="solid"/>
                    </a:lnB>
                    <a:solidFill>
                      <a:srgbClr val="F0F6F9"/>
                    </a:solidFill>
                  </a:tcPr>
                </a:tc>
              </a:tr>
              <a:tr h="752475">
                <a:tc>
                  <a:txBody>
                    <a:bodyPr lIns="95250" tIns="95250" rIns="95250" bIns="95250"/>
                    <a:lstStyle/>
                    <a:p>
                      <a:r>
                        <a:rPr sz="1725" b="0">
                          <a:solidFill>
                            <a:srgbClr val="20374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结构模拟</a:t>
                      </a:r>
                    </a:p>
                  </a:txBody>
                  <a:tcPr marL="114300" marR="114300" marT="47625" marB="47625" anchor="ctr">
                    <a:lnL w="9525">
                      <a:solidFill>
                        <a:srgbClr val="D9E3E9"/>
                      </a:solidFill>
                      <a:prstDash val="solid"/>
                    </a:lnL>
                    <a:lnR w="9525">
                      <a:solidFill>
                        <a:srgbClr val="D9E3E9"/>
                      </a:solidFill>
                      <a:prstDash val="solid"/>
                    </a:lnR>
                    <a:lnB w="9525">
                      <a:solidFill>
                        <a:srgbClr val="D9E3E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0" tIns="95250" rIns="95250" bIns="95250"/>
                    <a:lstStyle/>
                    <a:p>
                      <a:r>
                        <a:rPr sz="1725" b="0">
                          <a:solidFill>
                            <a:srgbClr val="20374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Materials Studio（Reflex）</a:t>
                      </a:r>
                    </a:p>
                  </a:txBody>
                  <a:tcPr marL="114300" marR="114300" marT="47625" marB="47625" anchor="ctr">
                    <a:lnR w="9525">
                      <a:solidFill>
                        <a:srgbClr val="D9E3E9"/>
                      </a:solidFill>
                      <a:prstDash val="solid"/>
                    </a:lnR>
                    <a:lnB w="9525">
                      <a:solidFill>
                        <a:srgbClr val="D9E3E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0" tIns="95250" rIns="95250" bIns="95250"/>
                    <a:lstStyle/>
                    <a:p>
                      <a:r>
                        <a:rPr sz="1725" b="0">
                          <a:solidFill>
                            <a:srgbClr val="20374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根据结构模型，计算理论衍射图谱</a:t>
                      </a:r>
                    </a:p>
                  </a:txBody>
                  <a:tcPr marL="114300" marR="114300" marT="47625" marB="47625" anchor="ctr">
                    <a:lnR w="9525">
                      <a:solidFill>
                        <a:srgbClr val="D9E3E9"/>
                      </a:solidFill>
                      <a:prstDash val="solid"/>
                    </a:lnR>
                    <a:lnB w="9525">
                      <a:solidFill>
                        <a:srgbClr val="D9E3E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752475">
                <a:tc>
                  <a:txBody>
                    <a:bodyPr lIns="95250" tIns="95250" rIns="95250" bIns="95250"/>
                    <a:lstStyle/>
                    <a:p>
                      <a:r>
                        <a:rPr sz="1725" b="0">
                          <a:solidFill>
                            <a:srgbClr val="20374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全谱拟合与分析</a:t>
                      </a:r>
                    </a:p>
                  </a:txBody>
                  <a:tcPr marL="114300" marR="114300" marT="47625" marB="47625" anchor="ctr">
                    <a:lnL w="9525">
                      <a:solidFill>
                        <a:srgbClr val="D9E3E9"/>
                      </a:solidFill>
                      <a:prstDash val="solid"/>
                    </a:lnL>
                    <a:lnR w="9525">
                      <a:solidFill>
                        <a:srgbClr val="D9E3E9"/>
                      </a:solidFill>
                      <a:prstDash val="solid"/>
                    </a:lnR>
                    <a:lnB w="9525">
                      <a:solidFill>
                        <a:srgbClr val="D9E3E9"/>
                      </a:solidFill>
                      <a:prstDash val="solid"/>
                    </a:lnB>
                    <a:solidFill>
                      <a:srgbClr val="F0F6F9"/>
                    </a:solidFill>
                  </a:tcPr>
                </a:tc>
                <a:tc>
                  <a:txBody>
                    <a:bodyPr lIns="95250" tIns="95250" rIns="95250" bIns="95250"/>
                    <a:lstStyle/>
                    <a:p>
                      <a:r>
                        <a:rPr sz="1725" b="0">
                          <a:solidFill>
                            <a:srgbClr val="20374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GSAS-II、TOPAS</a:t>
                      </a:r>
                    </a:p>
                  </a:txBody>
                  <a:tcPr marL="114300" marR="114300" marT="47625" marB="47625" anchor="ctr">
                    <a:lnR w="9525">
                      <a:solidFill>
                        <a:srgbClr val="D9E3E9"/>
                      </a:solidFill>
                      <a:prstDash val="solid"/>
                    </a:lnR>
                    <a:lnB w="9525">
                      <a:solidFill>
                        <a:srgbClr val="D9E3E9"/>
                      </a:solidFill>
                      <a:prstDash val="solid"/>
                    </a:lnB>
                    <a:solidFill>
                      <a:srgbClr val="F0F6F9"/>
                    </a:solidFill>
                  </a:tcPr>
                </a:tc>
                <a:tc>
                  <a:txBody>
                    <a:bodyPr lIns="95250" tIns="95250" rIns="95250" bIns="95250"/>
                    <a:lstStyle/>
                    <a:p>
                      <a:r>
                        <a:rPr sz="1725" b="0">
                          <a:solidFill>
                            <a:srgbClr val="20374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调整模型参数，评价计算与实验的一致性</a:t>
                      </a:r>
                    </a:p>
                  </a:txBody>
                  <a:tcPr marL="114300" marR="114300" marT="47625" marB="47625" anchor="ctr">
                    <a:lnR w="9525">
                      <a:solidFill>
                        <a:srgbClr val="D9E3E9"/>
                      </a:solidFill>
                      <a:prstDash val="solid"/>
                    </a:lnR>
                    <a:lnB w="9525">
                      <a:solidFill>
                        <a:srgbClr val="D9E3E9"/>
                      </a:solidFill>
                      <a:prstDash val="solid"/>
                    </a:lnB>
                    <a:solidFill>
                      <a:srgbClr val="F0F6F9"/>
                    </a:solidFill>
                  </a:tcPr>
                </a:tc>
              </a:tr>
              <a:tr h="752475">
                <a:tc>
                  <a:txBody>
                    <a:bodyPr lIns="95250" tIns="95250" rIns="95250" bIns="95250"/>
                    <a:lstStyle/>
                    <a:p>
                      <a:r>
                        <a:rPr sz="1725" b="0">
                          <a:solidFill>
                            <a:srgbClr val="20374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图谱整理与峰形分析</a:t>
                      </a:r>
                    </a:p>
                  </a:txBody>
                  <a:tcPr marL="114300" marR="114300" marT="47625" marB="47625" anchor="ctr">
                    <a:lnL w="9525">
                      <a:solidFill>
                        <a:srgbClr val="D9E3E9"/>
                      </a:solidFill>
                      <a:prstDash val="solid"/>
                    </a:lnL>
                    <a:lnR w="9525">
                      <a:solidFill>
                        <a:srgbClr val="D9E3E9"/>
                      </a:solidFill>
                      <a:prstDash val="solid"/>
                    </a:lnR>
                    <a:lnB w="9525">
                      <a:solidFill>
                        <a:srgbClr val="D9E3E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0" tIns="95250" rIns="95250" bIns="95250"/>
                    <a:lstStyle/>
                    <a:p>
                      <a:r>
                        <a:rPr sz="1725" b="0">
                          <a:solidFill>
                            <a:srgbClr val="20374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Origin / OriginPro</a:t>
                      </a:r>
                    </a:p>
                  </a:txBody>
                  <a:tcPr marL="114300" marR="114300" marT="47625" marB="47625" anchor="ctr">
                    <a:lnR w="9525">
                      <a:solidFill>
                        <a:srgbClr val="D9E3E9"/>
                      </a:solidFill>
                      <a:prstDash val="solid"/>
                    </a:lnR>
                    <a:lnB w="9525">
                      <a:solidFill>
                        <a:srgbClr val="D9E3E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0" tIns="95250" rIns="95250" bIns="95250"/>
                    <a:lstStyle/>
                    <a:p>
                      <a:r>
                        <a:rPr sz="1725" b="0">
                          <a:solidFill>
                            <a:srgbClr val="20374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整理图谱、分析峰宽，保留原始数据</a:t>
                      </a:r>
                    </a:p>
                  </a:txBody>
                  <a:tcPr marL="114300" marR="114300" marT="47625" marB="47625" anchor="ctr">
                    <a:lnR w="9525">
                      <a:solidFill>
                        <a:srgbClr val="D9E3E9"/>
                      </a:solidFill>
                      <a:prstDash val="solid"/>
                    </a:lnR>
                    <a:lnB w="9525">
                      <a:solidFill>
                        <a:srgbClr val="D9E3E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-4">
            <a:extLst xmlns:a="http://schemas.openxmlformats.org/drawingml/2006/main">
              <a:ext uri="{FF2B5EF4-FFF2-40B4-BE49-F238E27FC236}">
                <a16:creationId xmlns:a16="http://schemas.microsoft.com/office/drawing/2014/main" id="{CE1DEE3C-DB60-453C-87EE-393117AA39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5381625"/>
            <a:ext cx="10953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1">
                <a:solidFill>
                  <a:srgbClr val="B37328"/>
                </a:solidFill>
                <a:latin typeface="微软雅黑"/>
                <a:ea typeface="微软雅黑"/>
                <a:cs typeface="微软雅黑"/>
              </a:defRPr>
            </a:defPPr>
          </a:lstStyle>
          <a:p xmlns:a="http://schemas.openxmlformats.org/drawingml/2006/main">
            <a:pPr algn="l">
              <a:defRPr sz="1800" b="1">
                <a:solidFill>
                  <a:srgbClr val="B37328"/>
                </a:solidFill>
                <a:latin typeface="微软雅黑"/>
                <a:ea typeface="微软雅黑"/>
                <a:cs typeface="微软雅黑"/>
              </a:defRPr>
            </a:pPr>
            <a:r>
              <a:rPr sz="1800" b="1">
                <a:solidFill>
                  <a:srgbClr val="B37328"/>
                </a:solidFill>
                <a:latin typeface="微软雅黑"/>
                <a:ea typeface="微软雅黑"/>
                <a:cs typeface="微软雅黑"/>
              </a:rPr>
              <a:t>基本分析流程：数据导入、峰位比较、结构模拟与全谱拟合</a:t>
            </a:r>
          </a:p>
        </p:txBody>
      </p:sp>
    </p:spTree>
    <p:extLst>
      <p:ext uri="{BB962C8B-B14F-4D97-AF65-F5344CB8AC3E}">
        <p14:creationId xmlns:p14="http://schemas.microsoft.com/office/powerpoint/2010/main" val="594460780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text-0">
            <a:extLst xmlns:a="http://schemas.openxmlformats.org/drawingml/2006/main">
              <a:ext uri="{FF2B5EF4-FFF2-40B4-BE49-F238E27FC236}">
                <a16:creationId xmlns:a16="http://schemas.microsoft.com/office/drawing/2014/main" id="{F98BF0A8-D1D8-4442-AE4F-5D470338F8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" y="209550"/>
            <a:ext cx="8096250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55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defPPr>
          </a:lstStyle>
          <a:p xmlns:a="http://schemas.openxmlformats.org/drawingml/2006/main">
            <a:pPr algn="l">
              <a:defRPr sz="255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255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04  XRD图谱的主要分析要点</a:t>
            </a:r>
          </a:p>
        </p:txBody>
      </p:sp>
      <p:sp>
        <p:nvSpPr>
          <p:cNvPr id="2" name="text-1">
            <a:extLst xmlns:a="http://schemas.openxmlformats.org/drawingml/2006/main">
              <a:ext uri="{FF2B5EF4-FFF2-40B4-BE49-F238E27FC236}">
                <a16:creationId xmlns:a16="http://schemas.microsoft.com/office/drawing/2014/main" id="{2935E0FE-BC2F-47E5-8D70-E112802FCA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" y="6372225"/>
            <a:ext cx="61912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125" b="0">
                <a:solidFill>
                  <a:srgbClr val="52636D"/>
                </a:solidFill>
                <a:latin typeface="微软雅黑"/>
                <a:ea typeface="微软雅黑"/>
                <a:cs typeface="微软雅黑"/>
              </a:defRPr>
            </a:defPPr>
          </a:lstStyle>
          <a:p xmlns:a="http://schemas.openxmlformats.org/drawingml/2006/main">
            <a:pPr algn="l">
              <a:defRPr sz="1125" b="0">
                <a:solidFill>
                  <a:srgbClr val="52636D"/>
                </a:solidFill>
                <a:latin typeface="微软雅黑"/>
                <a:ea typeface="微软雅黑"/>
                <a:cs typeface="微软雅黑"/>
              </a:defRPr>
            </a:pPr>
            <a:r>
              <a:rPr sz="1125" b="0">
                <a:solidFill>
                  <a:srgbClr val="52636D"/>
                </a:solidFill>
                <a:latin typeface="微软雅黑"/>
                <a:ea typeface="微软雅黑"/>
                <a:cs typeface="微软雅黑"/>
              </a:rPr>
              <a:t>材料与化工现代研究方法</a:t>
            </a:r>
          </a:p>
        </p:txBody>
      </p:sp>
      <p:sp>
        <p:nvSpPr>
          <p:cNvPr id="3" name="text-2">
            <a:extLst xmlns:a="http://schemas.openxmlformats.org/drawingml/2006/main">
              <a:ext uri="{FF2B5EF4-FFF2-40B4-BE49-F238E27FC236}">
                <a16:creationId xmlns:a16="http://schemas.microsoft.com/office/drawing/2014/main" id="{A1BB8CCB-9856-43AE-A77C-E332A8FCAF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39325" y="6353175"/>
            <a:ext cx="47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275" b="0">
                <a:solidFill>
                  <a:srgbClr val="005B94"/>
                </a:solidFill>
                <a:latin typeface="微软雅黑"/>
                <a:ea typeface="微软雅黑"/>
                <a:cs typeface="微软雅黑"/>
              </a:defRPr>
            </a:defPPr>
          </a:lstStyle>
          <a:p xmlns:a="http://schemas.openxmlformats.org/drawingml/2006/main">
            <a:pPr algn="r">
              <a:defRPr sz="1275" b="0">
                <a:solidFill>
                  <a:srgbClr val="005B94"/>
                </a:solidFill>
                <a:latin typeface="微软雅黑"/>
                <a:ea typeface="微软雅黑"/>
                <a:cs typeface="微软雅黑"/>
              </a:defRPr>
            </a:pPr>
            <a:r>
              <a:rPr sz="1275" b="0">
                <a:solidFill>
                  <a:srgbClr val="005B94"/>
                </a:solidFill>
                <a:latin typeface="微软雅黑"/>
                <a:ea typeface="微软雅黑"/>
                <a:cs typeface="微软雅黑"/>
              </a:rPr>
              <a:t>05</a:t>
            </a:r>
          </a:p>
        </p:txBody>
      </p:sp>
      <p:sp>
        <p:nvSpPr>
          <p:cNvPr id="4" name="text-3">
            <a:extLst xmlns:a="http://schemas.openxmlformats.org/drawingml/2006/main">
              <a:ext uri="{FF2B5EF4-FFF2-40B4-BE49-F238E27FC236}">
                <a16:creationId xmlns:a16="http://schemas.microsoft.com/office/drawing/2014/main" id="{12BDB1A4-8CAF-4A7A-A215-8B192F5EA8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" y="5943600"/>
            <a:ext cx="1123950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975" b="0">
                <a:solidFill>
                  <a:srgbClr val="52636D"/>
                </a:solidFill>
                <a:latin typeface="微软雅黑"/>
                <a:ea typeface="微软雅黑"/>
                <a:cs typeface="微软雅黑"/>
              </a:defRPr>
            </a:defPPr>
          </a:lstStyle>
          <a:p xmlns:a="http://schemas.openxmlformats.org/drawingml/2006/main">
            <a:pPr algn="l">
              <a:defRPr sz="975" b="0">
                <a:solidFill>
                  <a:srgbClr val="52636D"/>
                </a:solidFill>
                <a:latin typeface="微软雅黑"/>
                <a:ea typeface="微软雅黑"/>
                <a:cs typeface="微软雅黑"/>
              </a:defRPr>
            </a:pPr>
            <a:r>
              <a:rPr sz="975" b="0">
                <a:solidFill>
                  <a:srgbClr val="52636D"/>
                </a:solidFill>
                <a:latin typeface="微软雅黑"/>
                <a:ea typeface="微软雅黑"/>
                <a:cs typeface="微软雅黑"/>
              </a:rPr>
              <a:t>方法依据：IUCr International Tables, Vol. H；IUCr (2024), EnvACS（完整链接见备注与附录）</a:t>
            </a:r>
          </a:p>
        </p:txBody>
      </p:sp>
      <p:graphicFrame>
        <p:nvGraphicFrame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D8F51DF-4766-4990-A269-DEFB3C95EB29}"/>
              </a:ext>
            </a:extLst>
          </p:cNvPr>
          <p:cNvGraphicFramePr/>
          <p:nvPr/>
        </p:nvGraphicFramePr>
        <p:xfrm>
          <a:off xmlns:a="http://schemas.openxmlformats.org/drawingml/2006/main" x="466725" y="1333500"/>
          <a:ext xmlns:a="http://schemas.openxmlformats.org/drawingml/2006/main" cx="11239500" cy="376237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286000"/>
                <a:gridCol w="4143375"/>
                <a:gridCol w="4810125"/>
              </a:tblGrid>
              <a:tr h="752475">
                <a:tc>
                  <a:txBody>
                    <a:bodyPr lIns="95250" tIns="95250" rIns="95250" bIns="95250"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分析要素</a:t>
                      </a:r>
                    </a:p>
                  </a:txBody>
                  <a:tcPr marL="114300" marR="114300" marT="47625" marB="47625" anchor="ctr">
                    <a:lnL w="9525">
                      <a:solidFill>
                        <a:srgbClr val="D9E3E9"/>
                      </a:solidFill>
                      <a:prstDash val="solid"/>
                    </a:lnL>
                    <a:lnR w="9525">
                      <a:solidFill>
                        <a:srgbClr val="D9E3E9"/>
                      </a:solidFill>
                      <a:prstDash val="solid"/>
                    </a:lnR>
                    <a:lnT w="9525">
                      <a:solidFill>
                        <a:srgbClr val="D9E3E9"/>
                      </a:solidFill>
                      <a:prstDash val="solid"/>
                    </a:lnT>
                    <a:lnB w="9525">
                      <a:solidFill>
                        <a:srgbClr val="D9E3E9"/>
                      </a:solidFill>
                      <a:prstDash val="solid"/>
                    </a:lnB>
                    <a:solidFill>
                      <a:srgbClr val="005B94"/>
                    </a:solidFill>
                  </a:tcPr>
                </a:tc>
                <a:tc>
                  <a:txBody>
                    <a:bodyPr lIns="95250" tIns="95250" rIns="95250" bIns="95250"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能够获得的信息</a:t>
                      </a:r>
                    </a:p>
                  </a:txBody>
                  <a:tcPr marL="114300" marR="114300" marT="47625" marB="47625" anchor="ctr">
                    <a:lnR w="9525">
                      <a:solidFill>
                        <a:srgbClr val="D9E3E9"/>
                      </a:solidFill>
                      <a:prstDash val="solid"/>
                    </a:lnR>
                    <a:lnT w="9525">
                      <a:solidFill>
                        <a:srgbClr val="D9E3E9"/>
                      </a:solidFill>
                      <a:prstDash val="solid"/>
                    </a:lnT>
                    <a:lnB w="9525">
                      <a:solidFill>
                        <a:srgbClr val="D9E3E9"/>
                      </a:solidFill>
                      <a:prstDash val="solid"/>
                    </a:lnB>
                    <a:solidFill>
                      <a:srgbClr val="005B94"/>
                    </a:solidFill>
                  </a:tcPr>
                </a:tc>
                <a:tc>
                  <a:txBody>
                    <a:bodyPr lIns="95250" tIns="95250" rIns="95250" bIns="95250"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需要注意</a:t>
                      </a:r>
                    </a:p>
                  </a:txBody>
                  <a:tcPr marL="114300" marR="114300" marT="47625" marB="47625" anchor="ctr">
                    <a:lnR w="9525">
                      <a:solidFill>
                        <a:srgbClr val="D9E3E9"/>
                      </a:solidFill>
                      <a:prstDash val="solid"/>
                    </a:lnR>
                    <a:lnT w="9525">
                      <a:solidFill>
                        <a:srgbClr val="D9E3E9"/>
                      </a:solidFill>
                      <a:prstDash val="solid"/>
                    </a:lnT>
                    <a:lnB w="9525">
                      <a:solidFill>
                        <a:srgbClr val="D9E3E9"/>
                      </a:solidFill>
                      <a:prstDash val="solid"/>
                    </a:lnB>
                    <a:solidFill>
                      <a:srgbClr val="005B94"/>
                    </a:solidFill>
                  </a:tcPr>
                </a:tc>
              </a:tr>
              <a:tr h="752475">
                <a:tc>
                  <a:txBody>
                    <a:bodyPr lIns="95250" tIns="95250" rIns="95250" bIns="95250"/>
                    <a:lstStyle/>
                    <a:p>
                      <a:r>
                        <a:rPr sz="1725" b="0">
                          <a:solidFill>
                            <a:srgbClr val="20374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峰位（2θ）</a:t>
                      </a:r>
                    </a:p>
                  </a:txBody>
                  <a:tcPr marL="114300" marR="114300" marT="47625" marB="47625" anchor="ctr">
                    <a:lnL w="9525">
                      <a:solidFill>
                        <a:srgbClr val="D9E3E9"/>
                      </a:solidFill>
                      <a:prstDash val="solid"/>
                    </a:lnL>
                    <a:lnR w="9525">
                      <a:solidFill>
                        <a:srgbClr val="D9E3E9"/>
                      </a:solidFill>
                      <a:prstDash val="solid"/>
                    </a:lnR>
                    <a:lnB w="9525">
                      <a:solidFill>
                        <a:srgbClr val="D9E3E9"/>
                      </a:solidFill>
                      <a:prstDash val="solid"/>
                    </a:lnB>
                    <a:solidFill>
                      <a:srgbClr val="F0F6F9"/>
                    </a:solidFill>
                  </a:tcPr>
                </a:tc>
                <a:tc>
                  <a:txBody>
                    <a:bodyPr lIns="95250" tIns="95250" rIns="95250" bIns="95250"/>
                    <a:lstStyle/>
                    <a:p>
                      <a:r>
                        <a:rPr sz="1725" b="0">
                          <a:solidFill>
                            <a:srgbClr val="20374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反映晶面间距</a:t>
                      </a:r>
                    </a:p>
                    <a:p>
                      <a:r>
                        <a:rPr sz="1725" b="0">
                          <a:solidFill>
                            <a:srgbClr val="20374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用于物相鉴定与结构比较</a:t>
                      </a:r>
                    </a:p>
                  </a:txBody>
                  <a:tcPr marL="114300" marR="114300" marT="47625" marB="47625" anchor="ctr">
                    <a:lnR w="9525">
                      <a:solidFill>
                        <a:srgbClr val="D9E3E9"/>
                      </a:solidFill>
                      <a:prstDash val="solid"/>
                    </a:lnR>
                    <a:lnB w="9525">
                      <a:solidFill>
                        <a:srgbClr val="D9E3E9"/>
                      </a:solidFill>
                      <a:prstDash val="solid"/>
                    </a:lnB>
                    <a:solidFill>
                      <a:srgbClr val="F0F6F9"/>
                    </a:solidFill>
                  </a:tcPr>
                </a:tc>
                <a:tc>
                  <a:txBody>
                    <a:bodyPr lIns="95250" tIns="95250" rIns="95250" bIns="95250"/>
                    <a:lstStyle/>
                    <a:p>
                      <a:r>
                        <a:rPr sz="1725" b="0">
                          <a:solidFill>
                            <a:srgbClr val="20374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解释峰位偏移前，应排除仪器和装样误差</a:t>
                      </a:r>
                    </a:p>
                  </a:txBody>
                  <a:tcPr marL="114300" marR="114300" marT="47625" marB="47625" anchor="ctr">
                    <a:lnR w="9525">
                      <a:solidFill>
                        <a:srgbClr val="D9E3E9"/>
                      </a:solidFill>
                      <a:prstDash val="solid"/>
                    </a:lnR>
                    <a:lnB w="9525">
                      <a:solidFill>
                        <a:srgbClr val="D9E3E9"/>
                      </a:solidFill>
                      <a:prstDash val="solid"/>
                    </a:lnB>
                    <a:solidFill>
                      <a:srgbClr val="F0F6F9"/>
                    </a:solidFill>
                  </a:tcPr>
                </a:tc>
              </a:tr>
              <a:tr h="752475">
                <a:tc>
                  <a:txBody>
                    <a:bodyPr lIns="95250" tIns="95250" rIns="95250" bIns="95250"/>
                    <a:lstStyle/>
                    <a:p>
                      <a:r>
                        <a:rPr sz="1725" b="0">
                          <a:solidFill>
                            <a:srgbClr val="20374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峰宽（半高宽）</a:t>
                      </a:r>
                    </a:p>
                  </a:txBody>
                  <a:tcPr marL="114300" marR="114300" marT="47625" marB="47625" anchor="ctr">
                    <a:lnL w="9525">
                      <a:solidFill>
                        <a:srgbClr val="D9E3E9"/>
                      </a:solidFill>
                      <a:prstDash val="solid"/>
                    </a:lnL>
                    <a:lnR w="9525">
                      <a:solidFill>
                        <a:srgbClr val="D9E3E9"/>
                      </a:solidFill>
                      <a:prstDash val="solid"/>
                    </a:lnR>
                    <a:lnB w="9525">
                      <a:solidFill>
                        <a:srgbClr val="D9E3E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0" tIns="95250" rIns="95250" bIns="95250"/>
                    <a:lstStyle/>
                    <a:p>
                      <a:r>
                        <a:rPr sz="1725" b="0">
                          <a:solidFill>
                            <a:srgbClr val="20374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与有序区域尺度、局部畸变等有关</a:t>
                      </a:r>
                    </a:p>
                  </a:txBody>
                  <a:tcPr marL="114300" marR="114300" marT="47625" marB="47625" anchor="ctr">
                    <a:lnR w="9525">
                      <a:solidFill>
                        <a:srgbClr val="D9E3E9"/>
                      </a:solidFill>
                      <a:prstDash val="solid"/>
                    </a:lnR>
                    <a:lnB w="9525">
                      <a:solidFill>
                        <a:srgbClr val="D9E3E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0" tIns="95250" rIns="95250" bIns="95250"/>
                    <a:lstStyle/>
                    <a:p>
                      <a:r>
                        <a:rPr sz="1725" b="0">
                          <a:solidFill>
                            <a:srgbClr val="20374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需考虑仪器展宽，晶畴尺寸不等于颗粒尺寸</a:t>
                      </a:r>
                    </a:p>
                  </a:txBody>
                  <a:tcPr marL="114300" marR="114300" marT="47625" marB="47625" anchor="ctr">
                    <a:lnR w="9525">
                      <a:solidFill>
                        <a:srgbClr val="D9E3E9"/>
                      </a:solidFill>
                      <a:prstDash val="solid"/>
                    </a:lnR>
                    <a:lnB w="9525">
                      <a:solidFill>
                        <a:srgbClr val="D9E3E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752475">
                <a:tc>
                  <a:txBody>
                    <a:bodyPr lIns="95250" tIns="95250" rIns="95250" bIns="95250"/>
                    <a:lstStyle/>
                    <a:p>
                      <a:r>
                        <a:rPr sz="1725" b="0">
                          <a:solidFill>
                            <a:srgbClr val="20374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相对峰强</a:t>
                      </a:r>
                    </a:p>
                  </a:txBody>
                  <a:tcPr marL="114300" marR="114300" marT="47625" marB="47625" anchor="ctr">
                    <a:lnL w="9525">
                      <a:solidFill>
                        <a:srgbClr val="D9E3E9"/>
                      </a:solidFill>
                      <a:prstDash val="solid"/>
                    </a:lnL>
                    <a:lnR w="9525">
                      <a:solidFill>
                        <a:srgbClr val="D9E3E9"/>
                      </a:solidFill>
                      <a:prstDash val="solid"/>
                    </a:lnR>
                    <a:lnB w="9525">
                      <a:solidFill>
                        <a:srgbClr val="D9E3E9"/>
                      </a:solidFill>
                      <a:prstDash val="solid"/>
                    </a:lnB>
                    <a:solidFill>
                      <a:srgbClr val="F0F6F9"/>
                    </a:solidFill>
                  </a:tcPr>
                </a:tc>
                <a:tc>
                  <a:txBody>
                    <a:bodyPr lIns="95250" tIns="95250" rIns="95250" bIns="95250"/>
                    <a:lstStyle/>
                    <a:p>
                      <a:r>
                        <a:rPr sz="1725" b="0">
                          <a:solidFill>
                            <a:srgbClr val="20374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与原子排列和晶粒取向等因素有关</a:t>
                      </a:r>
                    </a:p>
                  </a:txBody>
                  <a:tcPr marL="114300" marR="114300" marT="47625" marB="47625" anchor="ctr">
                    <a:lnR w="9525">
                      <a:solidFill>
                        <a:srgbClr val="D9E3E9"/>
                      </a:solidFill>
                      <a:prstDash val="solid"/>
                    </a:lnR>
                    <a:lnB w="9525">
                      <a:solidFill>
                        <a:srgbClr val="D9E3E9"/>
                      </a:solidFill>
                      <a:prstDash val="solid"/>
                    </a:lnB>
                    <a:solidFill>
                      <a:srgbClr val="F0F6F9"/>
                    </a:solidFill>
                  </a:tcPr>
                </a:tc>
                <a:tc>
                  <a:txBody>
                    <a:bodyPr lIns="95250" tIns="95250" rIns="95250" bIns="95250"/>
                    <a:lstStyle/>
                    <a:p>
                      <a:r>
                        <a:rPr sz="1725" b="0">
                          <a:solidFill>
                            <a:srgbClr val="20374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样品用量及归一化处理也会影响峰强</a:t>
                      </a:r>
                    </a:p>
                  </a:txBody>
                  <a:tcPr marL="114300" marR="114300" marT="47625" marB="47625" anchor="ctr">
                    <a:lnR w="9525">
                      <a:solidFill>
                        <a:srgbClr val="D9E3E9"/>
                      </a:solidFill>
                      <a:prstDash val="solid"/>
                    </a:lnR>
                    <a:lnB w="9525">
                      <a:solidFill>
                        <a:srgbClr val="D9E3E9"/>
                      </a:solidFill>
                      <a:prstDash val="solid"/>
                    </a:lnB>
                    <a:solidFill>
                      <a:srgbClr val="F0F6F9"/>
                    </a:solidFill>
                  </a:tcPr>
                </a:tc>
              </a:tr>
              <a:tr h="752475">
                <a:tc>
                  <a:txBody>
                    <a:bodyPr lIns="95250" tIns="95250" rIns="95250" bIns="95250"/>
                    <a:lstStyle/>
                    <a:p>
                      <a:r>
                        <a:rPr sz="1725" b="0">
                          <a:solidFill>
                            <a:srgbClr val="20374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全谱匹配与差值</a:t>
                      </a:r>
                    </a:p>
                  </a:txBody>
                  <a:tcPr marL="114300" marR="114300" marT="47625" marB="47625" anchor="ctr">
                    <a:lnL w="9525">
                      <a:solidFill>
                        <a:srgbClr val="D9E3E9"/>
                      </a:solidFill>
                      <a:prstDash val="solid"/>
                    </a:lnL>
                    <a:lnR w="9525">
                      <a:solidFill>
                        <a:srgbClr val="D9E3E9"/>
                      </a:solidFill>
                      <a:prstDash val="solid"/>
                    </a:lnR>
                    <a:lnB w="9525">
                      <a:solidFill>
                        <a:srgbClr val="D9E3E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0" tIns="95250" rIns="95250" bIns="95250"/>
                    <a:lstStyle/>
                    <a:p>
                      <a:r>
                        <a:rPr sz="1725" b="0">
                          <a:solidFill>
                            <a:srgbClr val="20374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与参考图谱进行全谱比对</a:t>
                      </a:r>
                    </a:p>
                    <a:p>
                      <a:r>
                        <a:rPr sz="1725" b="0">
                          <a:solidFill>
                            <a:srgbClr val="20374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检查一致性和有无杂峰</a:t>
                      </a:r>
                    </a:p>
                  </a:txBody>
                  <a:tcPr marL="114300" marR="114300" marT="47625" marB="47625" anchor="ctr">
                    <a:lnR w="9525">
                      <a:solidFill>
                        <a:srgbClr val="D9E3E9"/>
                      </a:solidFill>
                      <a:prstDash val="solid"/>
                    </a:lnR>
                    <a:lnB w="9525">
                      <a:solidFill>
                        <a:srgbClr val="D9E3E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0" tIns="95250" rIns="95250" bIns="95250"/>
                    <a:lstStyle/>
                    <a:p>
                      <a:r>
                        <a:rPr sz="1725" b="0">
                          <a:solidFill>
                            <a:srgbClr val="20374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结合多个衍射峰及差值曲线进行判断</a:t>
                      </a:r>
                    </a:p>
                  </a:txBody>
                  <a:tcPr marL="114300" marR="114300" marT="47625" marB="47625" anchor="ctr">
                    <a:lnR w="9525">
                      <a:solidFill>
                        <a:srgbClr val="D9E3E9"/>
                      </a:solidFill>
                      <a:prstDash val="solid"/>
                    </a:lnR>
                    <a:lnB w="9525">
                      <a:solidFill>
                        <a:srgbClr val="D9E3E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-4">
            <a:extLst xmlns:a="http://schemas.openxmlformats.org/drawingml/2006/main">
              <a:ext uri="{FF2B5EF4-FFF2-40B4-BE49-F238E27FC236}">
                <a16:creationId xmlns:a16="http://schemas.microsoft.com/office/drawing/2014/main" id="{15F4FB90-0D74-43DB-A904-82712E52DC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5353050"/>
            <a:ext cx="1090612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1">
                <a:solidFill>
                  <a:srgbClr val="B37328"/>
                </a:solidFill>
                <a:latin typeface="微软雅黑"/>
                <a:ea typeface="微软雅黑"/>
                <a:cs typeface="微软雅黑"/>
              </a:defRPr>
            </a:defPPr>
          </a:lstStyle>
          <a:p xmlns:a="http://schemas.openxmlformats.org/drawingml/2006/main">
            <a:pPr algn="l">
              <a:defRPr sz="1875" b="1">
                <a:solidFill>
                  <a:srgbClr val="B37328"/>
                </a:solidFill>
                <a:latin typeface="微软雅黑"/>
                <a:ea typeface="微软雅黑"/>
                <a:cs typeface="微软雅黑"/>
              </a:defRPr>
            </a:pPr>
            <a:r>
              <a:rPr sz="1875" b="1">
                <a:solidFill>
                  <a:srgbClr val="B37328"/>
                </a:solidFill>
                <a:latin typeface="微软雅黑"/>
                <a:ea typeface="微软雅黑"/>
                <a:cs typeface="微软雅黑"/>
              </a:rPr>
              <a:t>综合峰位、峰宽与相对峰强，评价图谱与目标结构的一致性</a:t>
            </a:r>
          </a:p>
        </p:txBody>
      </p:sp>
    </p:spTree>
    <p:extLst>
      <p:ext uri="{BB962C8B-B14F-4D97-AF65-F5344CB8AC3E}">
        <p14:creationId xmlns:p14="http://schemas.microsoft.com/office/powerpoint/2010/main" val="594460780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ext-0">
            <a:extLst xmlns:a="http://schemas.openxmlformats.org/drawingml/2006/main">
              <a:ext uri="{FF2B5EF4-FFF2-40B4-BE49-F238E27FC236}">
                <a16:creationId xmlns:a16="http://schemas.microsoft.com/office/drawing/2014/main" id="{DBB1099E-E37C-40C0-940C-0B505BFB2A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" y="209550"/>
            <a:ext cx="8096250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55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defPPr>
          </a:lstStyle>
          <a:p xmlns:a="http://schemas.openxmlformats.org/drawingml/2006/main">
            <a:pPr algn="l">
              <a:defRPr sz="255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255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05  XRD与其他常用表征技术的互补</a:t>
            </a:r>
          </a:p>
        </p:txBody>
      </p:sp>
      <p:sp>
        <p:nvSpPr>
          <p:cNvPr id="2" name="text-1">
            <a:extLst xmlns:a="http://schemas.openxmlformats.org/drawingml/2006/main">
              <a:ext uri="{FF2B5EF4-FFF2-40B4-BE49-F238E27FC236}">
                <a16:creationId xmlns:a16="http://schemas.microsoft.com/office/drawing/2014/main" id="{808741BD-4EBA-4E2F-BD3D-2A1BB01A58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" y="6372225"/>
            <a:ext cx="61912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125" b="0">
                <a:solidFill>
                  <a:srgbClr val="52636D"/>
                </a:solidFill>
                <a:latin typeface="微软雅黑"/>
                <a:ea typeface="微软雅黑"/>
                <a:cs typeface="微软雅黑"/>
              </a:defRPr>
            </a:defPPr>
          </a:lstStyle>
          <a:p xmlns:a="http://schemas.openxmlformats.org/drawingml/2006/main">
            <a:pPr algn="l">
              <a:defRPr sz="1125" b="0">
                <a:solidFill>
                  <a:srgbClr val="52636D"/>
                </a:solidFill>
                <a:latin typeface="微软雅黑"/>
                <a:ea typeface="微软雅黑"/>
                <a:cs typeface="微软雅黑"/>
              </a:defRPr>
            </a:pPr>
            <a:r>
              <a:rPr sz="1125" b="0">
                <a:solidFill>
                  <a:srgbClr val="52636D"/>
                </a:solidFill>
                <a:latin typeface="微软雅黑"/>
                <a:ea typeface="微软雅黑"/>
                <a:cs typeface="微软雅黑"/>
              </a:rPr>
              <a:t>材料与化工现代研究方法</a:t>
            </a:r>
          </a:p>
        </p:txBody>
      </p:sp>
      <p:sp>
        <p:nvSpPr>
          <p:cNvPr id="3" name="text-2">
            <a:extLst xmlns:a="http://schemas.openxmlformats.org/drawingml/2006/main">
              <a:ext uri="{FF2B5EF4-FFF2-40B4-BE49-F238E27FC236}">
                <a16:creationId xmlns:a16="http://schemas.microsoft.com/office/drawing/2014/main" id="{28F4E47D-3118-433F-89C7-6AC71D09D8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39325" y="6353175"/>
            <a:ext cx="47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275" b="0">
                <a:solidFill>
                  <a:srgbClr val="005B94"/>
                </a:solidFill>
                <a:latin typeface="微软雅黑"/>
                <a:ea typeface="微软雅黑"/>
                <a:cs typeface="微软雅黑"/>
              </a:defRPr>
            </a:defPPr>
          </a:lstStyle>
          <a:p xmlns:a="http://schemas.openxmlformats.org/drawingml/2006/main">
            <a:pPr algn="r">
              <a:defRPr sz="1275" b="0">
                <a:solidFill>
                  <a:srgbClr val="005B94"/>
                </a:solidFill>
                <a:latin typeface="微软雅黑"/>
                <a:ea typeface="微软雅黑"/>
                <a:cs typeface="微软雅黑"/>
              </a:defRPr>
            </a:pPr>
            <a:r>
              <a:rPr sz="1275" b="0">
                <a:solidFill>
                  <a:srgbClr val="005B94"/>
                </a:solidFill>
                <a:latin typeface="微软雅黑"/>
                <a:ea typeface="微软雅黑"/>
                <a:cs typeface="微软雅黑"/>
              </a:rPr>
              <a:t>06</a:t>
            </a:r>
          </a:p>
        </p:txBody>
      </p:sp>
      <p:sp>
        <p:nvSpPr>
          <p:cNvPr id="4" name="text-3">
            <a:extLst xmlns:a="http://schemas.openxmlformats.org/drawingml/2006/main">
              <a:ext uri="{FF2B5EF4-FFF2-40B4-BE49-F238E27FC236}">
                <a16:creationId xmlns:a16="http://schemas.microsoft.com/office/drawing/2014/main" id="{37FD8984-D2C1-4B1E-9E7D-547CC3E65A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" y="5943600"/>
            <a:ext cx="1123950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975" b="0">
                <a:solidFill>
                  <a:srgbClr val="52636D"/>
                </a:solidFill>
                <a:latin typeface="微软雅黑"/>
                <a:ea typeface="微软雅黑"/>
                <a:cs typeface="微软雅黑"/>
              </a:defRPr>
            </a:defPPr>
          </a:lstStyle>
          <a:p xmlns:a="http://schemas.openxmlformats.org/drawingml/2006/main">
            <a:pPr algn="l">
              <a:defRPr sz="975" b="0">
                <a:solidFill>
                  <a:srgbClr val="52636D"/>
                </a:solidFill>
                <a:latin typeface="微软雅黑"/>
                <a:ea typeface="微软雅黑"/>
                <a:cs typeface="微软雅黑"/>
              </a:defRPr>
            </a:pPr>
            <a:r>
              <a:rPr sz="975" b="0">
                <a:solidFill>
                  <a:srgbClr val="52636D"/>
                </a:solidFill>
                <a:latin typeface="微软雅黑"/>
                <a:ea typeface="微软雅黑"/>
                <a:cs typeface="微软雅黑"/>
              </a:rPr>
              <a:t>方法依据：所引论文[1]–[3]中的结构表征组合；各技术信息范围概括见备注</a:t>
            </a:r>
          </a:p>
        </p:txBody>
      </p:sp>
      <p:graphicFrame>
        <p:nvGraphicFrame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E66B392-77A6-4081-84C7-6A880DA1E27F}"/>
              </a:ext>
            </a:extLst>
          </p:cNvPr>
          <p:cNvGraphicFramePr/>
          <p:nvPr/>
        </p:nvGraphicFramePr>
        <p:xfrm>
          <a:off xmlns:a="http://schemas.openxmlformats.org/drawingml/2006/main" x="466725" y="1333500"/>
          <a:ext xmlns:a="http://schemas.openxmlformats.org/drawingml/2006/main" cx="11239500" cy="42672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286000"/>
                <a:gridCol w="4333875"/>
                <a:gridCol w="4619625"/>
              </a:tblGrid>
              <a:tr h="609600">
                <a:tc>
                  <a:txBody>
                    <a:bodyPr lIns="95250" tIns="95250" rIns="95250" bIns="95250"/>
                    <a:lstStyle/>
                    <a:p>
                      <a:r>
                        <a:rPr sz="165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技术</a:t>
                      </a:r>
                    </a:p>
                  </a:txBody>
                  <a:tcPr marL="114300" marR="114300" marT="47625" marB="47625" anchor="ctr">
                    <a:lnL w="9525">
                      <a:solidFill>
                        <a:srgbClr val="D9E3E9"/>
                      </a:solidFill>
                      <a:prstDash val="solid"/>
                    </a:lnL>
                    <a:lnR w="9525">
                      <a:solidFill>
                        <a:srgbClr val="D9E3E9"/>
                      </a:solidFill>
                      <a:prstDash val="solid"/>
                    </a:lnR>
                    <a:lnT w="9525">
                      <a:solidFill>
                        <a:srgbClr val="D9E3E9"/>
                      </a:solidFill>
                      <a:prstDash val="solid"/>
                    </a:lnT>
                    <a:lnB w="9525">
                      <a:solidFill>
                        <a:srgbClr val="D9E3E9"/>
                      </a:solidFill>
                      <a:prstDash val="solid"/>
                    </a:lnB>
                    <a:solidFill>
                      <a:srgbClr val="005B94"/>
                    </a:solidFill>
                  </a:tcPr>
                </a:tc>
                <a:tc>
                  <a:txBody>
                    <a:bodyPr lIns="95250" tIns="95250" rIns="95250" bIns="95250"/>
                    <a:lstStyle/>
                    <a:p>
                      <a:r>
                        <a:rPr sz="165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主要回答的问题</a:t>
                      </a:r>
                    </a:p>
                  </a:txBody>
                  <a:tcPr marL="114300" marR="114300" marT="47625" marB="47625" anchor="ctr">
                    <a:lnR w="9525">
                      <a:solidFill>
                        <a:srgbClr val="D9E3E9"/>
                      </a:solidFill>
                      <a:prstDash val="solid"/>
                    </a:lnR>
                    <a:lnT w="9525">
                      <a:solidFill>
                        <a:srgbClr val="D9E3E9"/>
                      </a:solidFill>
                      <a:prstDash val="solid"/>
                    </a:lnT>
                    <a:lnB w="9525">
                      <a:solidFill>
                        <a:srgbClr val="D9E3E9"/>
                      </a:solidFill>
                      <a:prstDash val="solid"/>
                    </a:lnB>
                    <a:solidFill>
                      <a:srgbClr val="005B94"/>
                    </a:solidFill>
                  </a:tcPr>
                </a:tc>
                <a:tc>
                  <a:txBody>
                    <a:bodyPr lIns="95250" tIns="95250" rIns="95250" bIns="95250"/>
                    <a:lstStyle/>
                    <a:p>
                      <a:r>
                        <a:rPr sz="165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与XRD结合的价值</a:t>
                      </a:r>
                    </a:p>
                  </a:txBody>
                  <a:tcPr marL="114300" marR="114300" marT="47625" marB="47625" anchor="ctr">
                    <a:lnR w="9525">
                      <a:solidFill>
                        <a:srgbClr val="D9E3E9"/>
                      </a:solidFill>
                      <a:prstDash val="solid"/>
                    </a:lnR>
                    <a:lnT w="9525">
                      <a:solidFill>
                        <a:srgbClr val="D9E3E9"/>
                      </a:solidFill>
                      <a:prstDash val="solid"/>
                    </a:lnT>
                    <a:lnB w="9525">
                      <a:solidFill>
                        <a:srgbClr val="D9E3E9"/>
                      </a:solidFill>
                      <a:prstDash val="solid"/>
                    </a:lnB>
                    <a:solidFill>
                      <a:srgbClr val="005B94"/>
                    </a:solidFill>
                  </a:tcPr>
                </a:tc>
              </a:tr>
              <a:tr h="609600">
                <a:tc>
                  <a:txBody>
                    <a:bodyPr lIns="95250" tIns="95250" rIns="95250" bIns="95250"/>
                    <a:lstStyle/>
                    <a:p>
                      <a:r>
                        <a:rPr sz="1650" b="0">
                          <a:solidFill>
                            <a:srgbClr val="20374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XRD / PXRD</a:t>
                      </a:r>
                    </a:p>
                  </a:txBody>
                  <a:tcPr marL="114300" marR="114300" marT="47625" marB="47625" anchor="ctr">
                    <a:lnL w="9525">
                      <a:solidFill>
                        <a:srgbClr val="D9E3E9"/>
                      </a:solidFill>
                      <a:prstDash val="solid"/>
                    </a:lnL>
                    <a:lnR w="9525">
                      <a:solidFill>
                        <a:srgbClr val="D9E3E9"/>
                      </a:solidFill>
                      <a:prstDash val="solid"/>
                    </a:lnR>
                    <a:lnB w="9525">
                      <a:solidFill>
                        <a:srgbClr val="D9E3E9"/>
                      </a:solidFill>
                      <a:prstDash val="solid"/>
                    </a:lnB>
                    <a:solidFill>
                      <a:srgbClr val="F0F6F9"/>
                    </a:solidFill>
                  </a:tcPr>
                </a:tc>
                <a:tc>
                  <a:txBody>
                    <a:bodyPr lIns="95250" tIns="95250" rIns="95250" bIns="95250"/>
                    <a:lstStyle/>
                    <a:p>
                      <a:r>
                        <a:rPr sz="1650" b="0">
                          <a:solidFill>
                            <a:srgbClr val="20374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平均晶体结构与物相组成</a:t>
                      </a:r>
                    </a:p>
                  </a:txBody>
                  <a:tcPr marL="114300" marR="114300" marT="47625" marB="47625" anchor="ctr">
                    <a:lnR w="9525">
                      <a:solidFill>
                        <a:srgbClr val="D9E3E9"/>
                      </a:solidFill>
                      <a:prstDash val="solid"/>
                    </a:lnR>
                    <a:lnB w="9525">
                      <a:solidFill>
                        <a:srgbClr val="D9E3E9"/>
                      </a:solidFill>
                      <a:prstDash val="solid"/>
                    </a:lnB>
                    <a:solidFill>
                      <a:srgbClr val="F0F6F9"/>
                    </a:solidFill>
                  </a:tcPr>
                </a:tc>
                <a:tc>
                  <a:txBody>
                    <a:bodyPr lIns="95250" tIns="95250" rIns="95250" bIns="95250"/>
                    <a:lstStyle/>
                    <a:p>
                      <a:r>
                        <a:rPr sz="1650" b="0">
                          <a:solidFill>
                            <a:srgbClr val="20374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提供整体结构信息，适合处理前后比较</a:t>
                      </a:r>
                    </a:p>
                  </a:txBody>
                  <a:tcPr marL="114300" marR="114300" marT="47625" marB="47625" anchor="ctr">
                    <a:lnR w="9525">
                      <a:solidFill>
                        <a:srgbClr val="D9E3E9"/>
                      </a:solidFill>
                      <a:prstDash val="solid"/>
                    </a:lnR>
                    <a:lnB w="9525">
                      <a:solidFill>
                        <a:srgbClr val="D9E3E9"/>
                      </a:solidFill>
                      <a:prstDash val="solid"/>
                    </a:lnB>
                    <a:solidFill>
                      <a:srgbClr val="F0F6F9"/>
                    </a:solidFill>
                  </a:tcPr>
                </a:tc>
              </a:tr>
              <a:tr h="609600">
                <a:tc>
                  <a:txBody>
                    <a:bodyPr lIns="95250" tIns="95250" rIns="95250" bIns="95250"/>
                    <a:lstStyle/>
                    <a:p>
                      <a:r>
                        <a:rPr sz="1650" b="0">
                          <a:solidFill>
                            <a:srgbClr val="20374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SEM / TEM</a:t>
                      </a:r>
                    </a:p>
                    <a:p>
                      <a:r>
                        <a:rPr sz="1650" b="0">
                          <a:solidFill>
                            <a:srgbClr val="20374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电子显微镜</a:t>
                      </a:r>
                    </a:p>
                  </a:txBody>
                  <a:tcPr marL="114300" marR="114300" marT="47625" marB="47625" anchor="ctr">
                    <a:lnL w="9525">
                      <a:solidFill>
                        <a:srgbClr val="D9E3E9"/>
                      </a:solidFill>
                      <a:prstDash val="solid"/>
                    </a:lnL>
                    <a:lnR w="9525">
                      <a:solidFill>
                        <a:srgbClr val="D9E3E9"/>
                      </a:solidFill>
                      <a:prstDash val="solid"/>
                    </a:lnR>
                    <a:lnB w="9525">
                      <a:solidFill>
                        <a:srgbClr val="D9E3E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0" tIns="95250" rIns="95250" bIns="95250"/>
                    <a:lstStyle/>
                    <a:p>
                      <a:r>
                        <a:rPr sz="1650" b="0">
                          <a:solidFill>
                            <a:srgbClr val="20374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颗粒形貌与尺寸，TEM可提供局部晶格信息</a:t>
                      </a:r>
                    </a:p>
                  </a:txBody>
                  <a:tcPr marL="114300" marR="114300" marT="47625" marB="47625" anchor="ctr">
                    <a:lnR w="9525">
                      <a:solidFill>
                        <a:srgbClr val="D9E3E9"/>
                      </a:solidFill>
                      <a:prstDash val="solid"/>
                    </a:lnR>
                    <a:lnB w="9525">
                      <a:solidFill>
                        <a:srgbClr val="D9E3E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0" tIns="95250" rIns="95250" bIns="95250"/>
                    <a:lstStyle/>
                    <a:p>
                      <a:r>
                        <a:rPr sz="1650" b="0">
                          <a:solidFill>
                            <a:srgbClr val="20374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补充局部结构与形貌信息</a:t>
                      </a:r>
                    </a:p>
                  </a:txBody>
                  <a:tcPr marL="114300" marR="114300" marT="47625" marB="47625" anchor="ctr">
                    <a:lnR w="9525">
                      <a:solidFill>
                        <a:srgbClr val="D9E3E9"/>
                      </a:solidFill>
                      <a:prstDash val="solid"/>
                    </a:lnR>
                    <a:lnB w="9525">
                      <a:solidFill>
                        <a:srgbClr val="D9E3E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09600">
                <a:tc>
                  <a:txBody>
                    <a:bodyPr lIns="95250" tIns="95250" rIns="95250" bIns="95250"/>
                    <a:lstStyle/>
                    <a:p>
                      <a:r>
                        <a:rPr sz="1650" b="0">
                          <a:solidFill>
                            <a:srgbClr val="20374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EDS（能谱）</a:t>
                      </a:r>
                    </a:p>
                  </a:txBody>
                  <a:tcPr marL="114300" marR="114300" marT="47625" marB="47625" anchor="ctr">
                    <a:lnL w="9525">
                      <a:solidFill>
                        <a:srgbClr val="D9E3E9"/>
                      </a:solidFill>
                      <a:prstDash val="solid"/>
                    </a:lnL>
                    <a:lnR w="9525">
                      <a:solidFill>
                        <a:srgbClr val="D9E3E9"/>
                      </a:solidFill>
                      <a:prstDash val="solid"/>
                    </a:lnR>
                    <a:lnB w="9525">
                      <a:solidFill>
                        <a:srgbClr val="D9E3E9"/>
                      </a:solidFill>
                      <a:prstDash val="solid"/>
                    </a:lnB>
                    <a:solidFill>
                      <a:srgbClr val="F0F6F9"/>
                    </a:solidFill>
                  </a:tcPr>
                </a:tc>
                <a:tc>
                  <a:txBody>
                    <a:bodyPr lIns="95250" tIns="95250" rIns="95250" bIns="95250"/>
                    <a:lstStyle/>
                    <a:p>
                      <a:r>
                        <a:rPr sz="1650" b="0">
                          <a:solidFill>
                            <a:srgbClr val="20374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元素种类及空间分布</a:t>
                      </a:r>
                    </a:p>
                  </a:txBody>
                  <a:tcPr marL="114300" marR="114300" marT="47625" marB="47625" anchor="ctr">
                    <a:lnR w="9525">
                      <a:solidFill>
                        <a:srgbClr val="D9E3E9"/>
                      </a:solidFill>
                      <a:prstDash val="solid"/>
                    </a:lnR>
                    <a:lnB w="9525">
                      <a:solidFill>
                        <a:srgbClr val="D9E3E9"/>
                      </a:solidFill>
                      <a:prstDash val="solid"/>
                    </a:lnB>
                    <a:solidFill>
                      <a:srgbClr val="F0F6F9"/>
                    </a:solidFill>
                  </a:tcPr>
                </a:tc>
                <a:tc>
                  <a:txBody>
                    <a:bodyPr lIns="95250" tIns="95250" rIns="95250" bIns="95250"/>
                    <a:lstStyle/>
                    <a:p>
                      <a:r>
                        <a:rPr sz="1650" b="0">
                          <a:solidFill>
                            <a:srgbClr val="20374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检查组成和分布，通常不能判断价态</a:t>
                      </a:r>
                    </a:p>
                  </a:txBody>
                  <a:tcPr marL="114300" marR="114300" marT="47625" marB="47625" anchor="ctr">
                    <a:lnR w="9525">
                      <a:solidFill>
                        <a:srgbClr val="D9E3E9"/>
                      </a:solidFill>
                      <a:prstDash val="solid"/>
                    </a:lnR>
                    <a:lnB w="9525">
                      <a:solidFill>
                        <a:srgbClr val="D9E3E9"/>
                      </a:solidFill>
                      <a:prstDash val="solid"/>
                    </a:lnB>
                    <a:solidFill>
                      <a:srgbClr val="F0F6F9"/>
                    </a:solidFill>
                  </a:tcPr>
                </a:tc>
              </a:tr>
              <a:tr h="609600">
                <a:tc>
                  <a:txBody>
                    <a:bodyPr lIns="95250" tIns="95250" rIns="95250" bIns="95250"/>
                    <a:lstStyle/>
                    <a:p>
                      <a:r>
                        <a:rPr sz="1650" b="0">
                          <a:solidFill>
                            <a:srgbClr val="20374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红外 / 拉曼光谱</a:t>
                      </a:r>
                    </a:p>
                  </a:txBody>
                  <a:tcPr marL="114300" marR="114300" marT="47625" marB="47625" anchor="ctr">
                    <a:lnL w="9525">
                      <a:solidFill>
                        <a:srgbClr val="D9E3E9"/>
                      </a:solidFill>
                      <a:prstDash val="solid"/>
                    </a:lnL>
                    <a:lnR w="9525">
                      <a:solidFill>
                        <a:srgbClr val="D9E3E9"/>
                      </a:solidFill>
                      <a:prstDash val="solid"/>
                    </a:lnR>
                    <a:lnB w="9525">
                      <a:solidFill>
                        <a:srgbClr val="D9E3E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0" tIns="95250" rIns="95250" bIns="95250"/>
                    <a:lstStyle/>
                    <a:p>
                      <a:r>
                        <a:rPr sz="1650" b="0">
                          <a:solidFill>
                            <a:srgbClr val="20374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化学键及官能团信息</a:t>
                      </a:r>
                    </a:p>
                  </a:txBody>
                  <a:tcPr marL="114300" marR="114300" marT="47625" marB="47625" anchor="ctr">
                    <a:lnR w="9525">
                      <a:solidFill>
                        <a:srgbClr val="D9E3E9"/>
                      </a:solidFill>
                      <a:prstDash val="solid"/>
                    </a:lnR>
                    <a:lnB w="9525">
                      <a:solidFill>
                        <a:srgbClr val="D9E3E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0" tIns="95250" rIns="95250" bIns="95250"/>
                    <a:lstStyle/>
                    <a:p>
                      <a:r>
                        <a:rPr sz="1650" b="0">
                          <a:solidFill>
                            <a:srgbClr val="20374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验证合成反应及官能团变化</a:t>
                      </a:r>
                    </a:p>
                  </a:txBody>
                  <a:tcPr marL="114300" marR="114300" marT="47625" marB="47625" anchor="ctr">
                    <a:lnR w="9525">
                      <a:solidFill>
                        <a:srgbClr val="D9E3E9"/>
                      </a:solidFill>
                      <a:prstDash val="solid"/>
                    </a:lnR>
                    <a:lnB w="9525">
                      <a:solidFill>
                        <a:srgbClr val="D9E3E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09600">
                <a:tc>
                  <a:txBody>
                    <a:bodyPr lIns="95250" tIns="95250" rIns="95250" bIns="95250"/>
                    <a:lstStyle/>
                    <a:p>
                      <a:r>
                        <a:rPr sz="1650" b="0">
                          <a:solidFill>
                            <a:srgbClr val="20374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XPS</a:t>
                      </a:r>
                    </a:p>
                    <a:p>
                      <a:r>
                        <a:rPr sz="1650" b="0">
                          <a:solidFill>
                            <a:srgbClr val="20374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X射线光电子能谱</a:t>
                      </a:r>
                    </a:p>
                  </a:txBody>
                  <a:tcPr marL="114300" marR="114300" marT="47625" marB="47625" anchor="ctr">
                    <a:lnL w="9525">
                      <a:solidFill>
                        <a:srgbClr val="D9E3E9"/>
                      </a:solidFill>
                      <a:prstDash val="solid"/>
                    </a:lnL>
                    <a:lnR w="9525">
                      <a:solidFill>
                        <a:srgbClr val="D9E3E9"/>
                      </a:solidFill>
                      <a:prstDash val="solid"/>
                    </a:lnR>
                    <a:lnB w="9525">
                      <a:solidFill>
                        <a:srgbClr val="D9E3E9"/>
                      </a:solidFill>
                      <a:prstDash val="solid"/>
                    </a:lnB>
                    <a:solidFill>
                      <a:srgbClr val="F0F6F9"/>
                    </a:solidFill>
                  </a:tcPr>
                </a:tc>
                <a:tc>
                  <a:txBody>
                    <a:bodyPr lIns="95250" tIns="95250" rIns="95250" bIns="95250"/>
                    <a:lstStyle/>
                    <a:p>
                      <a:r>
                        <a:rPr sz="1650" b="0">
                          <a:solidFill>
                            <a:srgbClr val="20374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表面元素组成与化学态</a:t>
                      </a:r>
                    </a:p>
                  </a:txBody>
                  <a:tcPr marL="114300" marR="114300" marT="47625" marB="47625" anchor="ctr">
                    <a:lnR w="9525">
                      <a:solidFill>
                        <a:srgbClr val="D9E3E9"/>
                      </a:solidFill>
                      <a:prstDash val="solid"/>
                    </a:lnR>
                    <a:lnB w="9525">
                      <a:solidFill>
                        <a:srgbClr val="D9E3E9"/>
                      </a:solidFill>
                      <a:prstDash val="solid"/>
                    </a:lnB>
                    <a:solidFill>
                      <a:srgbClr val="F0F6F9"/>
                    </a:solidFill>
                  </a:tcPr>
                </a:tc>
                <a:tc>
                  <a:txBody>
                    <a:bodyPr lIns="95250" tIns="95250" rIns="95250" bIns="95250"/>
                    <a:lstStyle/>
                    <a:p>
                      <a:r>
                        <a:rPr sz="1650" b="0">
                          <a:solidFill>
                            <a:srgbClr val="20374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帮助判断元素的价态和化学环境</a:t>
                      </a:r>
                    </a:p>
                  </a:txBody>
                  <a:tcPr marL="114300" marR="114300" marT="47625" marB="47625" anchor="ctr">
                    <a:lnR w="9525">
                      <a:solidFill>
                        <a:srgbClr val="D9E3E9"/>
                      </a:solidFill>
                      <a:prstDash val="solid"/>
                    </a:lnR>
                    <a:lnB w="9525">
                      <a:solidFill>
                        <a:srgbClr val="D9E3E9"/>
                      </a:solidFill>
                      <a:prstDash val="solid"/>
                    </a:lnB>
                    <a:solidFill>
                      <a:srgbClr val="F0F6F9"/>
                    </a:solidFill>
                  </a:tcPr>
                </a:tc>
              </a:tr>
              <a:tr h="609600">
                <a:tc>
                  <a:txBody>
                    <a:bodyPr lIns="95250" tIns="95250" rIns="95250" bIns="95250"/>
                    <a:lstStyle/>
                    <a:p>
                      <a:r>
                        <a:rPr sz="1650" b="0">
                          <a:solidFill>
                            <a:srgbClr val="20374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气体吸附</a:t>
                      </a:r>
                    </a:p>
                    <a:p>
                      <a:r>
                        <a:rPr sz="1650" b="0">
                          <a:solidFill>
                            <a:srgbClr val="20374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BET比表面积分析</a:t>
                      </a:r>
                    </a:p>
                  </a:txBody>
                  <a:tcPr marL="114300" marR="114300" marT="47625" marB="47625" anchor="ctr">
                    <a:lnL w="9525">
                      <a:solidFill>
                        <a:srgbClr val="D9E3E9"/>
                      </a:solidFill>
                      <a:prstDash val="solid"/>
                    </a:lnL>
                    <a:lnR w="9525">
                      <a:solidFill>
                        <a:srgbClr val="D9E3E9"/>
                      </a:solidFill>
                      <a:prstDash val="solid"/>
                    </a:lnR>
                    <a:lnB w="9525">
                      <a:solidFill>
                        <a:srgbClr val="D9E3E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0" tIns="95250" rIns="95250" bIns="95250"/>
                    <a:lstStyle/>
                    <a:p>
                      <a:r>
                        <a:rPr sz="1650" b="0">
                          <a:solidFill>
                            <a:srgbClr val="20374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孔隙可达性与比表面积</a:t>
                      </a:r>
                    </a:p>
                  </a:txBody>
                  <a:tcPr marL="114300" marR="114300" marT="47625" marB="47625" anchor="ctr">
                    <a:lnR w="9525">
                      <a:solidFill>
                        <a:srgbClr val="D9E3E9"/>
                      </a:solidFill>
                      <a:prstDash val="solid"/>
                    </a:lnR>
                    <a:lnB w="9525">
                      <a:solidFill>
                        <a:srgbClr val="D9E3E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0" tIns="95250" rIns="95250" bIns="95250"/>
                    <a:lstStyle/>
                    <a:p>
                      <a:r>
                        <a:rPr sz="1650" b="0">
                          <a:solidFill>
                            <a:srgbClr val="20374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检验孔道是否仍然开放</a:t>
                      </a:r>
                    </a:p>
                  </a:txBody>
                  <a:tcPr marL="114300" marR="114300" marT="47625" marB="47625" anchor="ctr">
                    <a:lnR w="9525">
                      <a:solidFill>
                        <a:srgbClr val="D9E3E9"/>
                      </a:solidFill>
                      <a:prstDash val="solid"/>
                    </a:lnR>
                    <a:lnB w="9525">
                      <a:solidFill>
                        <a:srgbClr val="D9E3E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594460780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text-0">
            <a:extLst xmlns:a="http://schemas.openxmlformats.org/drawingml/2006/main">
              <a:ext uri="{FF2B5EF4-FFF2-40B4-BE49-F238E27FC236}">
                <a16:creationId xmlns:a16="http://schemas.microsoft.com/office/drawing/2014/main" id="{E4836143-C8FC-4532-8326-7E9C816156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" y="209550"/>
            <a:ext cx="8096250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55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defPPr>
          </a:lstStyle>
          <a:p xmlns:a="http://schemas.openxmlformats.org/drawingml/2006/main">
            <a:pPr algn="l">
              <a:defRPr sz="255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255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06  案例①：TT-TPDA-COF的结构表征</a:t>
            </a:r>
          </a:p>
        </p:txBody>
      </p:sp>
      <p:sp>
        <p:nvSpPr>
          <p:cNvPr id="2" name="text-1">
            <a:extLst xmlns:a="http://schemas.openxmlformats.org/drawingml/2006/main">
              <a:ext uri="{FF2B5EF4-FFF2-40B4-BE49-F238E27FC236}">
                <a16:creationId xmlns:a16="http://schemas.microsoft.com/office/drawing/2014/main" id="{0F13F467-66AA-417C-8E02-EB36BB0E3D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" y="6372225"/>
            <a:ext cx="61912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125" b="0">
                <a:solidFill>
                  <a:srgbClr val="52636D"/>
                </a:solidFill>
                <a:latin typeface="微软雅黑"/>
                <a:ea typeface="微软雅黑"/>
                <a:cs typeface="微软雅黑"/>
              </a:defRPr>
            </a:defPPr>
          </a:lstStyle>
          <a:p xmlns:a="http://schemas.openxmlformats.org/drawingml/2006/main">
            <a:pPr algn="l">
              <a:defRPr sz="1125" b="0">
                <a:solidFill>
                  <a:srgbClr val="52636D"/>
                </a:solidFill>
                <a:latin typeface="微软雅黑"/>
                <a:ea typeface="微软雅黑"/>
                <a:cs typeface="微软雅黑"/>
              </a:defRPr>
            </a:pPr>
            <a:r>
              <a:rPr sz="1125" b="0">
                <a:solidFill>
                  <a:srgbClr val="52636D"/>
                </a:solidFill>
                <a:latin typeface="微软雅黑"/>
                <a:ea typeface="微软雅黑"/>
                <a:cs typeface="微软雅黑"/>
              </a:rPr>
              <a:t>材料与化工现代研究方法</a:t>
            </a:r>
          </a:p>
        </p:txBody>
      </p:sp>
      <p:sp>
        <p:nvSpPr>
          <p:cNvPr id="3" name="text-2">
            <a:extLst xmlns:a="http://schemas.openxmlformats.org/drawingml/2006/main">
              <a:ext uri="{FF2B5EF4-FFF2-40B4-BE49-F238E27FC236}">
                <a16:creationId xmlns:a16="http://schemas.microsoft.com/office/drawing/2014/main" id="{9FC73FEC-EC2C-403B-9D2B-EF981388E2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39325" y="6353175"/>
            <a:ext cx="47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275" b="0">
                <a:solidFill>
                  <a:srgbClr val="005B94"/>
                </a:solidFill>
                <a:latin typeface="微软雅黑"/>
                <a:ea typeface="微软雅黑"/>
                <a:cs typeface="微软雅黑"/>
              </a:defRPr>
            </a:defPPr>
          </a:lstStyle>
          <a:p xmlns:a="http://schemas.openxmlformats.org/drawingml/2006/main">
            <a:pPr algn="r">
              <a:defRPr sz="1275" b="0">
                <a:solidFill>
                  <a:srgbClr val="005B94"/>
                </a:solidFill>
                <a:latin typeface="微软雅黑"/>
                <a:ea typeface="微软雅黑"/>
                <a:cs typeface="微软雅黑"/>
              </a:defRPr>
            </a:pPr>
            <a:r>
              <a:rPr sz="1275" b="0">
                <a:solidFill>
                  <a:srgbClr val="005B94"/>
                </a:solidFill>
                <a:latin typeface="微软雅黑"/>
                <a:ea typeface="微软雅黑"/>
                <a:cs typeface="微软雅黑"/>
              </a:rPr>
              <a:t>07</a:t>
            </a:r>
          </a:p>
        </p:txBody>
      </p:sp>
      <p:sp>
        <p:nvSpPr>
          <p:cNvPr id="4" name="text-3">
            <a:extLst xmlns:a="http://schemas.openxmlformats.org/drawingml/2006/main">
              <a:ext uri="{FF2B5EF4-FFF2-40B4-BE49-F238E27FC236}">
                <a16:creationId xmlns:a16="http://schemas.microsoft.com/office/drawing/2014/main" id="{BDAE947E-978F-4F71-AB73-8B3E3FFF21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" y="5943600"/>
            <a:ext cx="1123950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975" b="0">
                <a:solidFill>
                  <a:srgbClr val="52636D"/>
                </a:solidFill>
                <a:latin typeface="微软雅黑"/>
                <a:ea typeface="微软雅黑"/>
                <a:cs typeface="微软雅黑"/>
              </a:defRPr>
            </a:defPPr>
          </a:lstStyle>
          <ns9:p xmlns:ns9="http://schemas.openxmlformats.org/drawingml/2006/main">
            <ns9:pPr algn="l">
              <ns9:defRPr sz="975" b="0">
                <ns9:solidFill>
                  <ns9:srgbClr val="52636D"/>
                </ns9:solidFill>
                <ns9:latin typeface="微软雅黑"/>
                <ns9:ea typeface="微软雅黑"/>
                <ns9:cs typeface="微软雅黑"/>
              </ns9:defRPr>
            </ns9:pPr>
            <ns9:r>
              <ns9:rPr sz="975" b="0">
                <ns9:solidFill>
                  <ns9:srgbClr val="52636D"/>
                </ns9:solidFill>
                <ns9:latin typeface="微软雅黑"/>
                <ns9:ea typeface="微软雅黑"/>
                <ns9:cs typeface="微软雅黑"/>
              </ns9:rPr>
              <ns9:t>Q. Xu et al. Adv. Funct. Mater. 35 (2025), 2506111. DOI: 10.1002/adfm.202506111；Fig. 1a，图谱沿用所给原稿，曲线未重绘</ns9:t>
            </ns9:r>
          </ns9:p>
        </p:txBody>
      </p:sp>
      <p:sp>
        <p:nvSpPr>
          <p:cNvPr id="5" name="text-4">
            <a:extLst xmlns:a="http://schemas.openxmlformats.org/drawingml/2006/main">
              <a:ext uri="{FF2B5EF4-FFF2-40B4-BE49-F238E27FC236}">
                <a16:creationId xmlns:a16="http://schemas.microsoft.com/office/drawing/2014/main" id="{ADFE40FE-4662-48F5-8F0F-376F08906F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981075"/>
            <a:ext cx="11049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00" b="0">
                <a:solidFill>
                  <a:srgbClr val="B37328"/>
                </a:solidFill>
                <a:latin typeface="微软雅黑"/>
                <a:ea typeface="微软雅黑"/>
                <a:cs typeface="微软雅黑"/>
              </a:defRPr>
            </a:defPPr>
          </a:lstStyle>
          <a:p xmlns:a="http://schemas.openxmlformats.org/drawingml/2006/main">
            <a:pPr algn="l">
              <a:defRPr sz="1500" b="0">
                <a:solidFill>
                  <a:srgbClr val="B37328"/>
                </a:solidFill>
                <a:latin typeface="微软雅黑"/>
                <a:ea typeface="微软雅黑"/>
                <a:cs typeface="微软雅黑"/>
              </a:defRPr>
            </a:pPr>
            <a:r>
              <a:rPr sz="1500" b="0">
                <a:solidFill>
                  <a:srgbClr val="B37328"/>
                </a:solidFill>
                <a:latin typeface="微软雅黑"/>
                <a:ea typeface="微软雅黑"/>
                <a:cs typeface="微软雅黑"/>
              </a:rPr>
              <a:t>研究主题：扩展π共轭的噻吩基COF用于锂离子电池正极</a:t>
            </a:r>
          </a:p>
        </p:txBody>
      </p:sp>
      <p:pic>
        <p:nvPic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58837BB-D4CF-4488-A8FF-0A263D7A7F6F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e67fa0a33e546ac"/>
          <a:stretch xmlns:a="http://schemas.openxmlformats.org/drawingml/2006/main"/>
        </p:blipFill>
        <p:spPr>
          <a:xfrm xmlns:a="http://schemas.openxmlformats.org/drawingml/2006/main">
            <a:off x="1329104" y="1352550"/>
            <a:ext cx="4009292" cy="3429000"/>
          </a:xfrm>
          <a:prstGeom xmlns:a="http://schemas.openxmlformats.org/drawingml/2006/main" prst="rect">
            <a:avLst/>
          </a:prstGeom>
        </p:spPr>
      </p:pic>
      <p:sp>
        <p:nvSpPr>
          <p:cNvPr id="7" name="text-5">
            <a:extLst xmlns:a="http://schemas.openxmlformats.org/drawingml/2006/main">
              <a:ext uri="{FF2B5EF4-FFF2-40B4-BE49-F238E27FC236}">
                <a16:creationId xmlns:a16="http://schemas.microsoft.com/office/drawing/2014/main" id="{7A378710-922C-4234-B251-35AE690E0F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914900"/>
            <a:ext cx="56197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350" b="0">
                <a:solidFill>
                  <a:srgbClr val="005B94"/>
                </a:solidFill>
                <a:latin typeface="微软雅黑"/>
                <a:ea typeface="微软雅黑"/>
                <a:cs typeface="微软雅黑"/>
              </a:defRPr>
            </a:defPPr>
          </a:lstStyle>
          <ns0:p xmlns:ns0="http://schemas.openxmlformats.org/drawingml/2006/main">
            <ns0:pPr algn="l">
              <ns0:defRPr sz="1350" b="0">
                <ns0:solidFill>
                  <ns0:srgbClr val="005B94"/>
                </ns0:solidFill>
                <ns0:latin typeface="微软雅黑"/>
                <ns0:ea typeface="微软雅黑"/>
                <ns0:cs typeface="微软雅黑"/>
              </ns0:defRPr>
            </ns0:pPr>
            <ns0:r>
              <ns0:rPr sz="1350" b="0">
                <ns0:solidFill>
                  <ns0:srgbClr val="005B94"/>
                </ns0:solidFill>
                <ns0:latin typeface="微软雅黑"/>
                <ns0:ea typeface="微软雅黑"/>
                <ns0:cs typeface="微软雅黑"/>
              </ns0:rPr>
              <ns0:t>Experimental：实验数据；Pawley Refined：全谱拟合</ns0:t>
            </ns0:r>
          </ns0:p>
          <ns1:p xmlns:ns1="http://schemas.openxmlformats.org/drawingml/2006/main">
            <ns1:pPr algn="l">
              <ns1:defRPr sz="1350" b="0">
                <ns1:solidFill>
                  <ns1:srgbClr val="005B94"/>
                </ns1:solidFill>
                <ns1:latin typeface="微软雅黑"/>
                <ns1:ea typeface="微软雅黑"/>
                <ns1:cs typeface="微软雅黑"/>
              </ns1:defRPr>
            </ns1:pPr>
            <ns1:r>
              <ns1:rPr sz="1350" b="0">
                <ns1:solidFill>
                  <ns1:srgbClr val="005B94"/>
                </ns1:solidFill>
                <ns1:latin typeface="微软雅黑"/>
                <ns1:ea typeface="微软雅黑"/>
                <ns1:cs typeface="微软雅黑"/>
              </ns1:rPr>
              <ns1:t>Simulated：模拟图谱；Bragg Positions：理论峰位</ns1:t>
            </ns1:r>
          </ns1:p>
          <ns2:p xmlns:ns2="http://schemas.openxmlformats.org/drawingml/2006/main">
            <ns2:pPr algn="l">
              <ns2:defRPr sz="1350" b="0">
                <ns2:solidFill>
                  <ns2:srgbClr val="005B94"/>
                </ns2:solidFill>
                <ns2:latin typeface="微软雅黑"/>
                <ns2:ea typeface="微软雅黑"/>
                <ns2:cs typeface="微软雅黑"/>
              </ns2:defRPr>
            </ns2:pPr>
            <ns2:r>
              <ns2:rPr sz="1350" b="0">
                <ns2:solidFill>
                  <ns2:srgbClr val="005B94"/>
                </ns2:solidFill>
                <ns2:latin typeface="微软雅黑"/>
                <ns2:ea typeface="微软雅黑"/>
                <ns2:cs typeface="微软雅黑"/>
              </ns2:rPr>
              <ns2:t>Difference：实验与拟合差值</ns2:t>
            </ns2:r>
          </ns2:p>
          <ns3:p xmlns:ns3="http://schemas.openxmlformats.org/drawingml/2006/main">
            <ns3:pPr algn="l">
              <ns3:defRPr sz="1350" b="0">
                <ns3:solidFill>
                  <ns3:srgbClr val="005B94"/>
                </ns3:solidFill>
                <ns3:latin typeface="微软雅黑"/>
                <ns3:ea typeface="微软雅黑"/>
                <ns3:cs typeface="微软雅黑"/>
              </ns3:defRPr>
            </ns3:pPr>
            <ns3:r>
              <ns3:rPr sz="1350" b="0">
                <ns3:solidFill>
                  <ns3:srgbClr val="005B94"/>
                </ns3:solidFill>
                <ns3:latin typeface="微软雅黑"/>
                <ns3:ea typeface="微软雅黑"/>
                <ns3:cs typeface="微软雅黑"/>
              </ns3:rPr>
              <ns3:t>Intensity (a.u.)：相对强度；2θ (degree)：衍射角（°）</ns3:t>
            </ns3:r>
          </ns3:p>
        </p:txBody>
      </p:sp>
      <p:sp>
        <p:nvSpPr>
          <p:cNvPr id="8" name="text-6">
            <a:extLst xmlns:a="http://schemas.openxmlformats.org/drawingml/2006/main">
              <a:ext uri="{FF2B5EF4-FFF2-40B4-BE49-F238E27FC236}">
                <a16:creationId xmlns:a16="http://schemas.microsoft.com/office/drawing/2014/main" id="{11F78167-8FB3-4C52-A24C-82DF013188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1438275"/>
            <a:ext cx="490537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1">
                <a:solidFill>
                  <a:srgbClr val="005B94"/>
                </a:solidFill>
                <a:latin typeface="微软雅黑"/>
                <a:ea typeface="微软雅黑"/>
                <a:cs typeface="微软雅黑"/>
              </a:defRPr>
            </a:defPPr>
          </a:lstStyle>
          <a:p xmlns:a="http://schemas.openxmlformats.org/drawingml/2006/main">
            <a:pPr algn="l">
              <a:defRPr sz="1950" b="1">
                <a:solidFill>
                  <a:srgbClr val="005B94"/>
                </a:solidFill>
                <a:latin typeface="微软雅黑"/>
                <a:ea typeface="微软雅黑"/>
                <a:cs typeface="微软雅黑"/>
              </a:defRPr>
            </a:pPr>
            <a:r>
              <a:rPr sz="1950" b="1">
                <a:solidFill>
                  <a:srgbClr val="005B94"/>
                </a:solidFill>
                <a:latin typeface="微软雅黑"/>
                <a:ea typeface="微软雅黑"/>
                <a:cs typeface="微软雅黑"/>
              </a:rPr>
              <a:t>低角衍射峰与结构特征</a:t>
            </a:r>
          </a:p>
        </p:txBody>
      </p:sp>
      <p:sp>
        <p:nvSpPr>
          <p:cNvPr id="9" name="text-7">
            <a:extLst xmlns:a="http://schemas.openxmlformats.org/drawingml/2006/main">
              <a:ext uri="{FF2B5EF4-FFF2-40B4-BE49-F238E27FC236}">
                <a16:creationId xmlns:a16="http://schemas.microsoft.com/office/drawing/2014/main" id="{637D93CF-59A8-4E06-B29C-D14E938C46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1914525"/>
            <a:ext cx="4905375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203746"/>
                </a:solidFill>
                <a:latin typeface="微软雅黑"/>
                <a:ea typeface="微软雅黑"/>
                <a:cs typeface="微软雅黑"/>
              </a:defRPr>
            </a:defPPr>
          </a:lstStyle>
          <a:p xmlns:a="http://schemas.openxmlformats.org/drawingml/2006/main">
            <a:pPr algn="l">
              <a:defRPr sz="1800" b="0">
                <a:solidFill>
                  <a:srgbClr val="203746"/>
                </a:solidFill>
                <a:latin typeface="微软雅黑"/>
                <a:ea typeface="微软雅黑"/>
                <a:cs typeface="微软雅黑"/>
              </a:defRPr>
            </a:pPr>
            <a:r>
              <a:rPr sz="1800" b="0">
                <a:solidFill>
                  <a:srgbClr val="203746"/>
                </a:solidFill>
                <a:latin typeface="微软雅黑"/>
                <a:ea typeface="微软雅黑"/>
                <a:cs typeface="微软雅黑"/>
              </a:rPr>
              <a:t>主峰位于2θ &lt; 5°的低角区域。</a:t>
            </a:r>
          </a:p>
          <a:p xmlns:a="http://schemas.openxmlformats.org/drawingml/2006/main">
            <a:pPr algn="l">
              <a:defRPr sz="1800" b="0">
                <a:solidFill>
                  <a:srgbClr val="203746"/>
                </a:solidFill>
                <a:latin typeface="微软雅黑"/>
                <a:ea typeface="微软雅黑"/>
                <a:cs typeface="微软雅黑"/>
              </a:defRPr>
            </a:pPr>
            <a:r>
              <a:rPr sz="1800" b="0">
                <a:solidFill>
                  <a:srgbClr val="203746"/>
                </a:solidFill>
                <a:latin typeface="微软雅黑"/>
                <a:ea typeface="微软雅黑"/>
                <a:cs typeface="微软雅黑"/>
              </a:rPr>
              <a:t>实验数据与Pawley全谱拟合线基本吻合。</a:t>
            </a:r>
          </a:p>
        </p:txBody>
      </p:sp>
      <p:sp>
        <p:nvSpPr>
          <p:cNvPr id="10" name="text-8">
            <a:extLst xmlns:a="http://schemas.openxmlformats.org/drawingml/2006/main">
              <a:ext uri="{FF2B5EF4-FFF2-40B4-BE49-F238E27FC236}">
                <a16:creationId xmlns:a16="http://schemas.microsoft.com/office/drawing/2014/main" id="{FD103687-BE64-4D83-9A17-DD1A52DEE9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3019425"/>
            <a:ext cx="490537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1">
                <a:solidFill>
                  <a:srgbClr val="005B94"/>
                </a:solidFill>
                <a:latin typeface="微软雅黑"/>
                <a:ea typeface="微软雅黑"/>
                <a:cs typeface="微软雅黑"/>
              </a:defRPr>
            </a:defPPr>
          </a:lstStyle>
          <a:p xmlns:a="http://schemas.openxmlformats.org/drawingml/2006/main">
            <a:pPr algn="l">
              <a:defRPr sz="1950" b="1">
                <a:solidFill>
                  <a:srgbClr val="005B94"/>
                </a:solidFill>
                <a:latin typeface="微软雅黑"/>
                <a:ea typeface="微软雅黑"/>
                <a:cs typeface="微软雅黑"/>
              </a:defRPr>
            </a:pPr>
            <a:r>
              <a:rPr sz="1950" b="1">
                <a:solidFill>
                  <a:srgbClr val="005B94"/>
                </a:solidFill>
                <a:latin typeface="微软雅黑"/>
                <a:ea typeface="微软雅黑"/>
                <a:cs typeface="微软雅黑"/>
              </a:rPr>
              <a:t>拟合结果与图谱匹配</a:t>
            </a:r>
          </a:p>
        </p:txBody>
      </p:sp>
      <p:sp>
        <p:nvSpPr>
          <p:cNvPr id="11" name="text-9">
            <a:extLst xmlns:a="http://schemas.openxmlformats.org/drawingml/2006/main">
              <a:ext uri="{FF2B5EF4-FFF2-40B4-BE49-F238E27FC236}">
                <a16:creationId xmlns:a16="http://schemas.microsoft.com/office/drawing/2014/main" id="{FEE07E7E-AD84-48AB-8627-6FBF4AEA2C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3476625"/>
            <a:ext cx="4905375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203746"/>
                </a:solidFill>
                <a:latin typeface="微软雅黑"/>
                <a:ea typeface="微软雅黑"/>
                <a:cs typeface="微软雅黑"/>
              </a:defRPr>
            </a:defPPr>
          </a:lstStyle>
          <ns4:p xmlns:ns4="http://schemas.openxmlformats.org/drawingml/2006/main">
            <ns4:pPr algn="l">
              <ns4:defRPr sz="1800" b="0">
                <ns4:solidFill>
                  <ns4:srgbClr val="203746"/>
                </ns4:solidFill>
                <ns4:latin typeface="微软雅黑"/>
                <ns4:ea typeface="微软雅黑"/>
                <ns4:cs typeface="微软雅黑"/>
              </ns4:defRPr>
            </ns4:pPr>
            <ns4:r>
              <ns4:rPr sz="1800" b="0">
                <ns4:solidFill>
                  <ns4:srgbClr val="203746"/>
                </ns4:solidFill>
                <ns4:latin typeface="微软雅黑"/>
                <ns4:ea typeface="微软雅黑"/>
                <ns4:cs typeface="微软雅黑"/>
              </ns4:rPr>
              <ns4:t>Rp = 3.86%，Rwp = 5.28%（拟合残差）</ns4:t>
            </ns4:r>
          </ns4:p>
          <ns5:p xmlns:ns5="http://schemas.openxmlformats.org/drawingml/2006/main">
            <ns5:pPr algn="l">
              <ns5:defRPr sz="1800" b="0">
                <ns5:solidFill>
                  <ns5:srgbClr val="203746"/>
                </ns5:solidFill>
                <ns5:latin typeface="微软雅黑"/>
                <ns5:ea typeface="微软雅黑"/>
                <ns5:cs typeface="微软雅黑"/>
              </ns5:defRPr>
            </ns5:pPr>
            <ns5:r>
              <ns5:rPr sz="1800" b="0">
                <ns5:solidFill>
                  <ns5:srgbClr val="203746"/>
                </ns5:solidFill>
                <ns5:latin typeface="微软雅黑"/>
                <ns5:ea typeface="微软雅黑"/>
                <ns5:cs typeface="微软雅黑"/>
              </ns5:rPr>
              <ns5:t>模拟峰位与实验特征峰总体对应。</ns5:t>
            </ns5:r>
          </ns5:p>
        </p:txBody>
      </p:sp>
      <p:sp>
        <p:nvSpPr>
          <p:cNvPr id="12" name="text-10">
            <a:extLst xmlns:a="http://schemas.openxmlformats.org/drawingml/2006/main">
              <a:ext uri="{FF2B5EF4-FFF2-40B4-BE49-F238E27FC236}">
                <a16:creationId xmlns:a16="http://schemas.microsoft.com/office/drawing/2014/main" id="{C50B4434-4641-413B-B97B-CEE310CC09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4676775"/>
            <a:ext cx="4905375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1">
                <a:solidFill>
                  <a:srgbClr val="B37328"/>
                </a:solidFill>
                <a:latin typeface="微软雅黑"/>
                <a:ea typeface="微软雅黑"/>
                <a:cs typeface="微软雅黑"/>
              </a:defRPr>
            </a:defPPr>
          </a:lstStyle>
          <ns6:p xmlns:ns6="http://schemas.openxmlformats.org/drawingml/2006/main">
            <ns6:pPr algn="l">
              <ns6:defRPr sz="1950" b="1">
                <ns6:solidFill>
                  <ns6:srgbClr val="005B94"/>
                </ns6:solidFill>
                <ns6:latin typeface="微软雅黑"/>
                <ns6:ea typeface="微软雅黑"/>
                <ns6:cs typeface="微软雅黑"/>
              </ns6:defRPr>
            </ns6:pPr>
            <ns6:r>
              <ns6:rPr sz="1950" b="1">
                <ns6:solidFill>
                  <ns6:srgbClr val="005B94"/>
                </ns6:solidFill>
                <ns6:latin typeface="微软雅黑"/>
                <ns6:ea typeface="微软雅黑"/>
                <ns6:cs typeface="微软雅黑"/>
              </ns6:rPr>
              <ns6:t>图谱分析</ns6:t>
            </ns6:r>
          </ns6:p>
          <ns7:p xmlns:ns7="http://schemas.openxmlformats.org/drawingml/2006/main">
            <ns7:pPr algn="l">
              <ns7:defRPr sz="1725" b="1">
                <ns7:solidFill>
                  <ns7:srgbClr val="B37328"/>
                </ns7:solidFill>
                <ns7:latin typeface="微软雅黑"/>
                <ns7:ea typeface="微软雅黑"/>
                <ns7:cs typeface="微软雅黑"/>
              </ns7:defRPr>
            </ns7:pPr>
            <ns7:r>
              <ns7:rPr sz="1725" b="1">
                <ns7:solidFill>
                  <ns7:srgbClr val="B37328"/>
                </ns7:solidFill>
                <ns7:latin typeface="微软雅黑"/>
                <ns7:ea typeface="微软雅黑"/>
                <ns7:cs typeface="微软雅黑"/>
              </ns7:rPr>
              <ns7:t>结合模拟，图谱与AA堆积模型相容。</ns7:t>
            </ns7:r>
          </ns7:p>
          <ns8:p xmlns:ns8="http://schemas.openxmlformats.org/drawingml/2006/main">
            <ns8:pPr algn="l">
              <ns8:defRPr sz="1725" b="1">
                <ns8:solidFill>
                  <ns8:srgbClr val="B37328"/>
                </ns8:solidFill>
                <ns8:latin typeface="微软雅黑"/>
                <ns8:ea typeface="微软雅黑"/>
                <ns8:cs typeface="微软雅黑"/>
              </ns8:defRPr>
            </ns8:pPr>
            <ns8:r>
              <ns8:rPr sz="1725" b="1">
                <ns8:solidFill>
                  <ns8:srgbClr val="B37328"/>
                </ns8:solidFill>
                <ns8:latin typeface="微软雅黑"/>
                <ns8:ea typeface="微软雅黑"/>
                <ns8:cs typeface="微软雅黑"/>
              </ns8:rPr>
              <ns8:t>仅凭峰强不能定量判断结晶度。</ns8:t>
            </ns8:r>
          </ns8:p>
        </p:txBody>
      </p:sp>
    </p:spTree>
    <p:extLst>
      <p:ext uri="{BB962C8B-B14F-4D97-AF65-F5344CB8AC3E}">
        <p14:creationId xmlns:p14="http://schemas.microsoft.com/office/powerpoint/2010/main" val="594460780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text-0">
            <a:extLst xmlns:a="http://schemas.openxmlformats.org/drawingml/2006/main">
              <a:ext uri="{FF2B5EF4-FFF2-40B4-BE49-F238E27FC236}">
                <a16:creationId xmlns:a16="http://schemas.microsoft.com/office/drawing/2014/main" id="{E717DFC5-AA53-4240-B844-4ED8B16F6B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" y="209550"/>
            <a:ext cx="8096250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55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defPPr>
          </a:lstStyle>
          <a:p xmlns:a="http://schemas.openxmlformats.org/drawingml/2006/main">
            <a:pPr algn="l">
              <a:defRPr sz="255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255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07  案例②：Np-TPDA-COF的对照分析</a:t>
            </a:r>
          </a:p>
        </p:txBody>
      </p:sp>
      <p:sp>
        <p:nvSpPr>
          <p:cNvPr id="2" name="text-1">
            <a:extLst xmlns:a="http://schemas.openxmlformats.org/drawingml/2006/main">
              <a:ext uri="{FF2B5EF4-FFF2-40B4-BE49-F238E27FC236}">
                <a16:creationId xmlns:a16="http://schemas.microsoft.com/office/drawing/2014/main" id="{51123919-EC2C-48CD-9D24-C0C97583B7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" y="6372225"/>
            <a:ext cx="61912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125" b="0">
                <a:solidFill>
                  <a:srgbClr val="52636D"/>
                </a:solidFill>
                <a:latin typeface="微软雅黑"/>
                <a:ea typeface="微软雅黑"/>
                <a:cs typeface="微软雅黑"/>
              </a:defRPr>
            </a:defPPr>
          </a:lstStyle>
          <a:p xmlns:a="http://schemas.openxmlformats.org/drawingml/2006/main">
            <a:pPr algn="l">
              <a:defRPr sz="1125" b="0">
                <a:solidFill>
                  <a:srgbClr val="52636D"/>
                </a:solidFill>
                <a:latin typeface="微软雅黑"/>
                <a:ea typeface="微软雅黑"/>
                <a:cs typeface="微软雅黑"/>
              </a:defRPr>
            </a:pPr>
            <a:r>
              <a:rPr sz="1125" b="0">
                <a:solidFill>
                  <a:srgbClr val="52636D"/>
                </a:solidFill>
                <a:latin typeface="微软雅黑"/>
                <a:ea typeface="微软雅黑"/>
                <a:cs typeface="微软雅黑"/>
              </a:rPr>
              <a:t>材料与化工现代研究方法</a:t>
            </a:r>
          </a:p>
        </p:txBody>
      </p:sp>
      <p:sp>
        <p:nvSpPr>
          <p:cNvPr id="3" name="text-2">
            <a:extLst xmlns:a="http://schemas.openxmlformats.org/drawingml/2006/main">
              <a:ext uri="{FF2B5EF4-FFF2-40B4-BE49-F238E27FC236}">
                <a16:creationId xmlns:a16="http://schemas.microsoft.com/office/drawing/2014/main" id="{D25050E2-8D98-4AE7-8831-D9C47494B9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39325" y="6353175"/>
            <a:ext cx="47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275" b="0">
                <a:solidFill>
                  <a:srgbClr val="005B94"/>
                </a:solidFill>
                <a:latin typeface="微软雅黑"/>
                <a:ea typeface="微软雅黑"/>
                <a:cs typeface="微软雅黑"/>
              </a:defRPr>
            </a:defPPr>
          </a:lstStyle>
          <a:p xmlns:a="http://schemas.openxmlformats.org/drawingml/2006/main">
            <a:pPr algn="r">
              <a:defRPr sz="1275" b="0">
                <a:solidFill>
                  <a:srgbClr val="005B94"/>
                </a:solidFill>
                <a:latin typeface="微软雅黑"/>
                <a:ea typeface="微软雅黑"/>
                <a:cs typeface="微软雅黑"/>
              </a:defRPr>
            </a:pPr>
            <a:r>
              <a:rPr sz="1275" b="0">
                <a:solidFill>
                  <a:srgbClr val="005B94"/>
                </a:solidFill>
                <a:latin typeface="微软雅黑"/>
                <a:ea typeface="微软雅黑"/>
                <a:cs typeface="微软雅黑"/>
              </a:rPr>
              <a:t>08</a:t>
            </a:r>
          </a:p>
        </p:txBody>
      </p:sp>
      <p:sp>
        <p:nvSpPr>
          <p:cNvPr id="4" name="text-3">
            <a:extLst xmlns:a="http://schemas.openxmlformats.org/drawingml/2006/main">
              <a:ext uri="{FF2B5EF4-FFF2-40B4-BE49-F238E27FC236}">
                <a16:creationId xmlns:a16="http://schemas.microsoft.com/office/drawing/2014/main" id="{83ABFDA9-0260-4A85-92EB-EE6D606716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" y="5943600"/>
            <a:ext cx="1123950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975" b="0">
                <a:solidFill>
                  <a:srgbClr val="52636D"/>
                </a:solidFill>
                <a:latin typeface="微软雅黑"/>
                <a:ea typeface="微软雅黑"/>
                <a:cs typeface="微软雅黑"/>
              </a:defRPr>
            </a:defPPr>
          </a:lstStyle>
          <ns9:p xmlns:ns9="http://schemas.openxmlformats.org/drawingml/2006/main">
            <ns9:pPr algn="l">
              <ns9:defRPr sz="975" b="0">
                <ns9:solidFill>
                  <ns9:srgbClr val="52636D"/>
                </ns9:solidFill>
                <ns9:latin typeface="微软雅黑"/>
                <ns9:ea typeface="微软雅黑"/>
                <ns9:cs typeface="微软雅黑"/>
              </ns9:defRPr>
            </ns9:pPr>
            <ns9:r>
              <ns9:rPr sz="975" b="0">
                <ns9:solidFill>
                  <ns9:srgbClr val="52636D"/>
                </ns9:solidFill>
                <ns9:latin typeface="微软雅黑"/>
                <ns9:ea typeface="微软雅黑"/>
                <ns9:cs typeface="微软雅黑"/>
              </ns9:rPr>
              <ns9:t>Q. Xu et al. Adv. Funct. Mater. 35 (2025), 2506111. DOI: 10.1002/adfm.202506111；Fig. 1b，图谱沿用所给原稿，曲线未重绘</ns9:t>
            </ns9:r>
          </ns9:p>
        </p:txBody>
      </p:sp>
      <p:sp>
        <p:nvSpPr>
          <p:cNvPr id="5" name="text-4">
            <a:extLst xmlns:a="http://schemas.openxmlformats.org/drawingml/2006/main">
              <a:ext uri="{FF2B5EF4-FFF2-40B4-BE49-F238E27FC236}">
                <a16:creationId xmlns:a16="http://schemas.microsoft.com/office/drawing/2014/main" id="{22D36303-D64C-4220-8360-B2E494DD60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981075"/>
            <a:ext cx="11049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00" b="0">
                <a:solidFill>
                  <a:srgbClr val="B37328"/>
                </a:solidFill>
                <a:latin typeface="微软雅黑"/>
                <a:ea typeface="微软雅黑"/>
                <a:cs typeface="微软雅黑"/>
              </a:defRPr>
            </a:defPPr>
          </a:lstStyle>
          <a:p xmlns:a="http://schemas.openxmlformats.org/drawingml/2006/main">
            <a:pPr algn="l">
              <a:defRPr sz="1500" b="0">
                <a:solidFill>
                  <a:srgbClr val="B37328"/>
                </a:solidFill>
                <a:latin typeface="微软雅黑"/>
                <a:ea typeface="微软雅黑"/>
                <a:cs typeface="微软雅黑"/>
              </a:defRPr>
            </a:pPr>
            <a:r>
              <a:rPr sz="1500" b="0">
                <a:solidFill>
                  <a:srgbClr val="B37328"/>
                </a:solidFill>
                <a:latin typeface="微软雅黑"/>
                <a:ea typeface="微软雅黑"/>
                <a:cs typeface="微软雅黑"/>
              </a:rPr>
              <a:t>研究主题：COF电池正极的结构对照，比较Np与噻吩基骨架</a:t>
            </a:r>
          </a:p>
        </p:txBody>
      </p:sp>
      <p:pic>
        <p:nvPic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4AB4A6A-547C-4051-BC6D-3B35A4927259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a66e7098f404057"/>
          <a:stretch xmlns:a="http://schemas.openxmlformats.org/drawingml/2006/main"/>
        </p:blipFill>
        <p:spPr>
          <a:xfrm xmlns:a="http://schemas.openxmlformats.org/drawingml/2006/main">
            <a:off x="1315915" y="1352550"/>
            <a:ext cx="4035669" cy="3429000"/>
          </a:xfrm>
          <a:prstGeom xmlns:a="http://schemas.openxmlformats.org/drawingml/2006/main" prst="rect">
            <a:avLst/>
          </a:prstGeom>
        </p:spPr>
      </p:pic>
      <p:sp>
        <p:nvSpPr>
          <p:cNvPr id="7" name="text-5">
            <a:extLst xmlns:a="http://schemas.openxmlformats.org/drawingml/2006/main">
              <a:ext uri="{FF2B5EF4-FFF2-40B4-BE49-F238E27FC236}">
                <a16:creationId xmlns:a16="http://schemas.microsoft.com/office/drawing/2014/main" id="{C0CDE599-0434-4E97-947D-BB3E0FD18E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914900"/>
            <a:ext cx="56197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350" b="0">
                <a:solidFill>
                  <a:srgbClr val="005B94"/>
                </a:solidFill>
                <a:latin typeface="微软雅黑"/>
                <a:ea typeface="微软雅黑"/>
                <a:cs typeface="微软雅黑"/>
              </a:defRPr>
            </a:defPPr>
          </a:lstStyle>
          <ns0:p xmlns:ns0="http://schemas.openxmlformats.org/drawingml/2006/main">
            <ns0:pPr algn="l">
              <ns0:defRPr sz="1350" b="0">
                <ns0:solidFill>
                  <ns0:srgbClr val="005B94"/>
                </ns0:solidFill>
                <ns0:latin typeface="微软雅黑"/>
                <ns0:ea typeface="微软雅黑"/>
                <ns0:cs typeface="微软雅黑"/>
              </ns0:defRPr>
            </ns0:pPr>
            <ns0:r>
              <ns0:rPr sz="1350" b="0">
                <ns0:solidFill>
                  <ns0:srgbClr val="005B94"/>
                </ns0:solidFill>
                <ns0:latin typeface="微软雅黑"/>
                <ns0:ea typeface="微软雅黑"/>
                <ns0:cs typeface="微软雅黑"/>
              </ns0:rPr>
              <ns0:t>Experimental：实验数据；Pawley Refined：全谱拟合</ns0:t>
            </ns0:r>
          </ns0:p>
          <ns1:p xmlns:ns1="http://schemas.openxmlformats.org/drawingml/2006/main">
            <ns1:pPr algn="l">
              <ns1:defRPr sz="1350" b="0">
                <ns1:solidFill>
                  <ns1:srgbClr val="005B94"/>
                </ns1:solidFill>
                <ns1:latin typeface="微软雅黑"/>
                <ns1:ea typeface="微软雅黑"/>
                <ns1:cs typeface="微软雅黑"/>
              </ns1:defRPr>
            </ns1:pPr>
            <ns1:r>
              <ns1:rPr sz="1350" b="0">
                <ns1:solidFill>
                  <ns1:srgbClr val="005B94"/>
                </ns1:solidFill>
                <ns1:latin typeface="微软雅黑"/>
                <ns1:ea typeface="微软雅黑"/>
                <ns1:cs typeface="微软雅黑"/>
              </ns1:rPr>
              <ns1:t>Simulated：模拟图谱；Bragg Positions：理论峰位</ns1:t>
            </ns1:r>
          </ns1:p>
          <ns2:p xmlns:ns2="http://schemas.openxmlformats.org/drawingml/2006/main">
            <ns2:pPr algn="l">
              <ns2:defRPr sz="1350" b="0">
                <ns2:solidFill>
                  <ns2:srgbClr val="005B94"/>
                </ns2:solidFill>
                <ns2:latin typeface="微软雅黑"/>
                <ns2:ea typeface="微软雅黑"/>
                <ns2:cs typeface="微软雅黑"/>
              </ns2:defRPr>
            </ns2:pPr>
            <ns2:r>
              <ns2:rPr sz="1350" b="0">
                <ns2:solidFill>
                  <ns2:srgbClr val="005B94"/>
                </ns2:solidFill>
                <ns2:latin typeface="微软雅黑"/>
                <ns2:ea typeface="微软雅黑"/>
                <ns2:cs typeface="微软雅黑"/>
              </ns2:rPr>
              <ns2:t>Difference：实验与拟合差值</ns2:t>
            </ns2:r>
          </ns2:p>
          <ns3:p xmlns:ns3="http://schemas.openxmlformats.org/drawingml/2006/main">
            <ns3:pPr algn="l">
              <ns3:defRPr sz="1350" b="0">
                <ns3:solidFill>
                  <ns3:srgbClr val="005B94"/>
                </ns3:solidFill>
                <ns3:latin typeface="微软雅黑"/>
                <ns3:ea typeface="微软雅黑"/>
                <ns3:cs typeface="微软雅黑"/>
              </ns3:defRPr>
            </ns3:pPr>
            <ns3:r>
              <ns3:rPr sz="1350" b="0">
                <ns3:solidFill>
                  <ns3:srgbClr val="005B94"/>
                </ns3:solidFill>
                <ns3:latin typeface="微软雅黑"/>
                <ns3:ea typeface="微软雅黑"/>
                <ns3:cs typeface="微软雅黑"/>
              </ns3:rPr>
              <ns3:t>Intensity (a.u.)：相对强度；2θ (degree)：衍射角（°）</ns3:t>
            </ns3:r>
          </ns3:p>
        </p:txBody>
      </p:sp>
      <p:sp>
        <p:nvSpPr>
          <p:cNvPr id="8" name="text-6">
            <a:extLst xmlns:a="http://schemas.openxmlformats.org/drawingml/2006/main">
              <a:ext uri="{FF2B5EF4-FFF2-40B4-BE49-F238E27FC236}">
                <a16:creationId xmlns:a16="http://schemas.microsoft.com/office/drawing/2014/main" id="{E6653DE9-3158-4093-9107-789631CE6C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1438275"/>
            <a:ext cx="490537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1">
                <a:solidFill>
                  <a:srgbClr val="005B94"/>
                </a:solidFill>
                <a:latin typeface="微软雅黑"/>
                <a:ea typeface="微软雅黑"/>
                <a:cs typeface="微软雅黑"/>
              </a:defRPr>
            </a:defPPr>
          </a:lstStyle>
          <a:p xmlns:a="http://schemas.openxmlformats.org/drawingml/2006/main">
            <a:pPr algn="l">
              <a:defRPr sz="1950" b="1">
                <a:solidFill>
                  <a:srgbClr val="005B94"/>
                </a:solidFill>
                <a:latin typeface="微软雅黑"/>
                <a:ea typeface="微软雅黑"/>
                <a:cs typeface="微软雅黑"/>
              </a:defRPr>
            </a:pPr>
            <a:r>
              <a:rPr sz="1950" b="1">
                <a:solidFill>
                  <a:srgbClr val="005B94"/>
                </a:solidFill>
                <a:latin typeface="微软雅黑"/>
                <a:ea typeface="微软雅黑"/>
                <a:cs typeface="微软雅黑"/>
              </a:rPr>
              <a:t>对照样品的衍射特征</a:t>
            </a:r>
          </a:p>
        </p:txBody>
      </p:sp>
      <p:sp>
        <p:nvSpPr>
          <p:cNvPr id="9" name="text-7">
            <a:extLst xmlns:a="http://schemas.openxmlformats.org/drawingml/2006/main">
              <a:ext uri="{FF2B5EF4-FFF2-40B4-BE49-F238E27FC236}">
                <a16:creationId xmlns:a16="http://schemas.microsoft.com/office/drawing/2014/main" id="{F9CC847B-D170-437C-8210-1BB48CC2DB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1914525"/>
            <a:ext cx="4905375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203746"/>
                </a:solidFill>
                <a:latin typeface="微软雅黑"/>
                <a:ea typeface="微软雅黑"/>
                <a:cs typeface="微软雅黑"/>
              </a:defRPr>
            </a:defPPr>
          </a:lstStyle>
          <a:p xmlns:a="http://schemas.openxmlformats.org/drawingml/2006/main">
            <a:pPr algn="l">
              <a:defRPr sz="1800" b="0">
                <a:solidFill>
                  <a:srgbClr val="203746"/>
                </a:solidFill>
                <a:latin typeface="微软雅黑"/>
                <a:ea typeface="微软雅黑"/>
                <a:cs typeface="微软雅黑"/>
              </a:defRPr>
            </a:pPr>
            <a:r>
              <a:rPr sz="1800" b="0">
                <a:solidFill>
                  <a:srgbClr val="203746"/>
                </a:solidFill>
                <a:latin typeface="微软雅黑"/>
                <a:ea typeface="微软雅黑"/>
                <a:cs typeface="微软雅黑"/>
              </a:rPr>
              <a:t>实验曲线与拟合曲线基本吻合，</a:t>
            </a:r>
          </a:p>
          <a:p xmlns:a="http://schemas.openxmlformats.org/drawingml/2006/main">
            <a:pPr algn="l">
              <a:defRPr sz="1800" b="0">
                <a:solidFill>
                  <a:srgbClr val="203746"/>
                </a:solidFill>
                <a:latin typeface="微软雅黑"/>
                <a:ea typeface="微软雅黑"/>
                <a:cs typeface="微软雅黑"/>
              </a:defRPr>
            </a:pPr>
            <a:r>
              <a:rPr sz="1800" b="0">
                <a:solidFill>
                  <a:srgbClr val="203746"/>
                </a:solidFill>
                <a:latin typeface="微软雅黑"/>
                <a:ea typeface="微软雅黑"/>
                <a:cs typeface="微软雅黑"/>
              </a:rPr>
              <a:t>较弱衍射峰也与理论峰位相对应。</a:t>
            </a:r>
          </a:p>
        </p:txBody>
      </p:sp>
      <p:sp>
        <p:nvSpPr>
          <p:cNvPr id="10" name="text-8">
            <a:extLst xmlns:a="http://schemas.openxmlformats.org/drawingml/2006/main">
              <a:ext uri="{FF2B5EF4-FFF2-40B4-BE49-F238E27FC236}">
                <a16:creationId xmlns:a16="http://schemas.microsoft.com/office/drawing/2014/main" id="{934C2225-2950-49EC-962E-A012A314ED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3019425"/>
            <a:ext cx="490537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1">
                <a:solidFill>
                  <a:srgbClr val="005B94"/>
                </a:solidFill>
                <a:latin typeface="微软雅黑"/>
                <a:ea typeface="微软雅黑"/>
                <a:cs typeface="微软雅黑"/>
              </a:defRPr>
            </a:defPPr>
          </a:lstStyle>
          <a:p xmlns:a="http://schemas.openxmlformats.org/drawingml/2006/main">
            <a:pPr algn="l">
              <a:defRPr sz="1950" b="1">
                <a:solidFill>
                  <a:srgbClr val="005B94"/>
                </a:solidFill>
                <a:latin typeface="微软雅黑"/>
                <a:ea typeface="微软雅黑"/>
                <a:cs typeface="微软雅黑"/>
              </a:defRPr>
            </a:pPr>
            <a:r>
              <a:rPr sz="1950" b="1">
                <a:solidFill>
                  <a:srgbClr val="005B94"/>
                </a:solidFill>
                <a:latin typeface="微软雅黑"/>
                <a:ea typeface="微软雅黑"/>
                <a:cs typeface="微软雅黑"/>
              </a:rPr>
              <a:t>拟合结果与图谱匹配</a:t>
            </a:r>
          </a:p>
        </p:txBody>
      </p:sp>
      <p:sp>
        <p:nvSpPr>
          <p:cNvPr id="11" name="text-9">
            <a:extLst xmlns:a="http://schemas.openxmlformats.org/drawingml/2006/main">
              <a:ext uri="{FF2B5EF4-FFF2-40B4-BE49-F238E27FC236}">
                <a16:creationId xmlns:a16="http://schemas.microsoft.com/office/drawing/2014/main" id="{C3BEE86E-2C32-4839-B55D-9679445B75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3476625"/>
            <a:ext cx="4905375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203746"/>
                </a:solidFill>
                <a:latin typeface="微软雅黑"/>
                <a:ea typeface="微软雅黑"/>
                <a:cs typeface="微软雅黑"/>
              </a:defRPr>
            </a:defPPr>
          </a:lstStyle>
          <ns4:p xmlns:ns4="http://schemas.openxmlformats.org/drawingml/2006/main">
            <ns4:pPr algn="l">
              <ns4:defRPr sz="1800" b="0">
                <ns4:solidFill>
                  <ns4:srgbClr val="203746"/>
                </ns4:solidFill>
                <ns4:latin typeface="微软雅黑"/>
                <ns4:ea typeface="微软雅黑"/>
                <ns4:cs typeface="微软雅黑"/>
              </ns4:defRPr>
            </ns4:pPr>
            <ns4:r>
              <ns4:rPr sz="1800" b="0">
                <ns4:solidFill>
                  <ns4:srgbClr val="203746"/>
                </ns4:solidFill>
                <ns4:latin typeface="微软雅黑"/>
                <ns4:ea typeface="微软雅黑"/>
                <ns4:cs typeface="微软雅黑"/>
              </ns4:rPr>
              <ns4:t>Rp = 3.47%，Rwp = 4.98%（拟合残差）</ns4:t>
            </ns4:r>
          </ns4:p>
          <ns5:p xmlns:ns5="http://schemas.openxmlformats.org/drawingml/2006/main">
            <ns5:pPr algn="l">
              <ns5:defRPr sz="1800" b="0">
                <ns5:solidFill>
                  <ns5:srgbClr val="203746"/>
                </ns5:solidFill>
                <ns5:latin typeface="微软雅黑"/>
                <ns5:ea typeface="微软雅黑"/>
                <ns5:cs typeface="微软雅黑"/>
              </ns5:defRPr>
            </ns5:pPr>
            <ns5:r>
              <ns5:rPr sz="1800" b="0">
                <ns5:solidFill>
                  <ns5:srgbClr val="203746"/>
                </ns5:solidFill>
                <ns5:latin typeface="微软雅黑"/>
                <ns5:ea typeface="微软雅黑"/>
                <ns5:cs typeface="微软雅黑"/>
              </ns5:rPr>
              <ns5:t>两种COF的峰位与各自模型对应。</ns5:t>
            </ns5:r>
          </ns5:p>
        </p:txBody>
      </p:sp>
      <p:sp>
        <p:nvSpPr>
          <p:cNvPr id="12" name="text-10">
            <a:extLst xmlns:a="http://schemas.openxmlformats.org/drawingml/2006/main">
              <a:ext uri="{FF2B5EF4-FFF2-40B4-BE49-F238E27FC236}">
                <a16:creationId xmlns:a16="http://schemas.microsoft.com/office/drawing/2014/main" id="{C5301CE3-2D6E-4243-AEB5-AAD517DED3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4676775"/>
            <a:ext cx="4905375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1">
                <a:solidFill>
                  <a:srgbClr val="B37328"/>
                </a:solidFill>
                <a:latin typeface="微软雅黑"/>
                <a:ea typeface="微软雅黑"/>
                <a:cs typeface="微软雅黑"/>
              </a:defRPr>
            </a:defPPr>
          </a:lstStyle>
          <ns6:p xmlns:ns6="http://schemas.openxmlformats.org/drawingml/2006/main">
            <ns6:pPr algn="l">
              <ns6:defRPr sz="1950" b="1">
                <ns6:solidFill>
                  <ns6:srgbClr val="005B94"/>
                </ns6:solidFill>
                <ns6:latin typeface="微软雅黑"/>
                <ns6:ea typeface="微软雅黑"/>
                <ns6:cs typeface="微软雅黑"/>
              </ns6:defRPr>
            </ns6:pPr>
            <ns6:r>
              <ns6:rPr sz="1950" b="1">
                <ns6:solidFill>
                  <ns6:srgbClr val="005B94"/>
                </ns6:solidFill>
                <ns6:latin typeface="微软雅黑"/>
                <ns6:ea typeface="微软雅黑"/>
                <ns6:cs typeface="微软雅黑"/>
              </ns6:rPr>
              <ns6:t>对照分析</ns6:t>
            </ns6:r>
          </ns6:p>
          <ns7:p xmlns:ns7="http://schemas.openxmlformats.org/drawingml/2006/main">
            <ns7:pPr algn="l">
              <ns7:defRPr sz="1725" b="1">
                <ns7:solidFill>
                  <ns7:srgbClr val="B37328"/>
                </ns7:solidFill>
                <ns7:latin typeface="微软雅黑"/>
                <ns7:ea typeface="微软雅黑"/>
                <ns7:cs typeface="微软雅黑"/>
              </ns7:defRPr>
            </ns7:pPr>
            <ns7:r>
              <ns7:rPr sz="1725" b="1">
                <ns7:solidFill>
                  <ns7:srgbClr val="B37328"/>
                </ns7:solidFill>
                <ns7:latin typeface="微软雅黑"/>
                <ns7:ea typeface="微软雅黑"/>
                <ns7:cs typeface="微软雅黑"/>
              </ns7:rPr>
              <ns7:t>拟合残差较低，不代表结晶度更高。</ns7:t>
            </ns7:r>
          </ns7:p>
          <ns8:p xmlns:ns8="http://schemas.openxmlformats.org/drawingml/2006/main">
            <ns8:pPr algn="l">
              <ns8:defRPr sz="1725" b="1">
                <ns8:solidFill>
                  <ns8:srgbClr val="B37328"/>
                </ns8:solidFill>
                <ns8:latin typeface="微软雅黑"/>
                <ns8:ea typeface="微软雅黑"/>
                <ns8:cs typeface="微软雅黑"/>
              </ns8:defRPr>
            </ns8:pPr>
            <ns8:r>
              <ns8:rPr sz="1725" b="1">
                <ns8:solidFill>
                  <ns8:srgbClr val="B37328"/>
                </ns8:solidFill>
                <ns8:latin typeface="微软雅黑"/>
                <ns8:ea typeface="微软雅黑"/>
                <ns8:cs typeface="微软雅黑"/>
              </ns8:rPr>
              <ns8:t>性能差异还需结合电化学测试解释。</ns8:t>
            </ns8:r>
          </ns8:p>
        </p:txBody>
      </p:sp>
    </p:spTree>
    <p:extLst>
      <p:ext uri="{BB962C8B-B14F-4D97-AF65-F5344CB8AC3E}">
        <p14:creationId xmlns:p14="http://schemas.microsoft.com/office/powerpoint/2010/main" val="594460780"/>
      </p:ext>
    </p:extLst>
  </p:cSld>
</p:sld>
</file>

<file path=ppt/slides/slide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text-0">
            <a:extLst xmlns:a="http://schemas.openxmlformats.org/drawingml/2006/main">
              <a:ext uri="{FF2B5EF4-FFF2-40B4-BE49-F238E27FC236}">
                <a16:creationId xmlns:a16="http://schemas.microsoft.com/office/drawing/2014/main" id="{192A4EAA-DCFF-4A62-8FDD-91068E369E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" y="209550"/>
            <a:ext cx="8096250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55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defPPr>
          </a:lstStyle>
          <a:p xmlns:a="http://schemas.openxmlformats.org/drawingml/2006/main">
            <a:pPr algn="l">
              <a:defRPr sz="255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255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08  MOF案例：UiO-66的尺寸与峰宽变化</a:t>
            </a:r>
          </a:p>
        </p:txBody>
      </p:sp>
      <p:sp>
        <p:nvSpPr>
          <p:cNvPr id="2" name="text-1">
            <a:extLst xmlns:a="http://schemas.openxmlformats.org/drawingml/2006/main">
              <a:ext uri="{FF2B5EF4-FFF2-40B4-BE49-F238E27FC236}">
                <a16:creationId xmlns:a16="http://schemas.microsoft.com/office/drawing/2014/main" id="{01A29D83-1752-41AA-8454-5F779A6B7D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" y="6372225"/>
            <a:ext cx="61912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125" b="0">
                <a:solidFill>
                  <a:srgbClr val="52636D"/>
                </a:solidFill>
                <a:latin typeface="微软雅黑"/>
                <a:ea typeface="微软雅黑"/>
                <a:cs typeface="微软雅黑"/>
              </a:defRPr>
            </a:defPPr>
          </a:lstStyle>
          <a:p xmlns:a="http://schemas.openxmlformats.org/drawingml/2006/main">
            <a:pPr algn="l">
              <a:defRPr sz="1125" b="0">
                <a:solidFill>
                  <a:srgbClr val="52636D"/>
                </a:solidFill>
                <a:latin typeface="微软雅黑"/>
                <a:ea typeface="微软雅黑"/>
                <a:cs typeface="微软雅黑"/>
              </a:defRPr>
            </a:pPr>
            <a:r>
              <a:rPr sz="1125" b="0">
                <a:solidFill>
                  <a:srgbClr val="52636D"/>
                </a:solidFill>
                <a:latin typeface="微软雅黑"/>
                <a:ea typeface="微软雅黑"/>
                <a:cs typeface="微软雅黑"/>
              </a:rPr>
              <a:t>材料与化工现代研究方法</a:t>
            </a:r>
          </a:p>
        </p:txBody>
      </p:sp>
      <p:sp>
        <p:nvSpPr>
          <p:cNvPr id="3" name="text-2">
            <a:extLst xmlns:a="http://schemas.openxmlformats.org/drawingml/2006/main">
              <a:ext uri="{FF2B5EF4-FFF2-40B4-BE49-F238E27FC236}">
                <a16:creationId xmlns:a16="http://schemas.microsoft.com/office/drawing/2014/main" id="{F924778D-6008-41AD-B64B-7227986F42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39325" y="6353175"/>
            <a:ext cx="47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275" b="0">
                <a:solidFill>
                  <a:srgbClr val="005B94"/>
                </a:solidFill>
                <a:latin typeface="微软雅黑"/>
                <a:ea typeface="微软雅黑"/>
                <a:cs typeface="微软雅黑"/>
              </a:defRPr>
            </a:defPPr>
          </a:lstStyle>
          <a:p xmlns:a="http://schemas.openxmlformats.org/drawingml/2006/main">
            <a:pPr algn="r">
              <a:defRPr sz="1275" b="0">
                <a:solidFill>
                  <a:srgbClr val="005B94"/>
                </a:solidFill>
                <a:latin typeface="微软雅黑"/>
                <a:ea typeface="微软雅黑"/>
                <a:cs typeface="微软雅黑"/>
              </a:defRPr>
            </a:pPr>
            <a:r>
              <a:rPr sz="1275" b="0">
                <a:solidFill>
                  <a:srgbClr val="005B94"/>
                </a:solidFill>
                <a:latin typeface="微软雅黑"/>
                <a:ea typeface="微软雅黑"/>
                <a:cs typeface="微软雅黑"/>
              </a:rPr>
              <a:t>09</a:t>
            </a:r>
          </a:p>
        </p:txBody>
      </p:sp>
      <p:sp>
        <p:nvSpPr>
          <p:cNvPr id="4" name="text-3">
            <a:extLst xmlns:a="http://schemas.openxmlformats.org/drawingml/2006/main">
              <a:ext uri="{FF2B5EF4-FFF2-40B4-BE49-F238E27FC236}">
                <a16:creationId xmlns:a16="http://schemas.microsoft.com/office/drawing/2014/main" id="{6FF22F7D-68C5-462E-BCF9-6129A86C02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" y="5943600"/>
            <a:ext cx="1123950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975" b="0">
                <a:solidFill>
                  <a:srgbClr val="52636D"/>
                </a:solidFill>
                <a:latin typeface="微软雅黑"/>
                <a:ea typeface="微软雅黑"/>
                <a:cs typeface="微软雅黑"/>
              </a:defRPr>
            </a:defPPr>
          </a:lstStyle>
          <a:p xmlns:a="http://schemas.openxmlformats.org/drawingml/2006/main">
            <a:pPr algn="l">
              <a:defRPr sz="975" b="0">
                <a:solidFill>
                  <a:srgbClr val="52636D"/>
                </a:solidFill>
                <a:latin typeface="微软雅黑"/>
                <a:ea typeface="微软雅黑"/>
                <a:cs typeface="微软雅黑"/>
              </a:defRPr>
            </a:pPr>
            <a:r>
              <a:rPr sz="975" b="0">
                <a:solidFill>
                  <a:srgbClr val="52636D"/>
                </a:solidFill>
                <a:latin typeface="微软雅黑"/>
                <a:ea typeface="微软雅黑"/>
                <a:cs typeface="微软雅黑"/>
              </a:rPr>
              <a:t>S. Dai et al. Nat. Commun. 15 (2024), 3434. DOI: 10.1038/s41467-024-47426-x；Fig. 2b局部裁剪，CC BY 4.0，https://creativecommons.org/licenses/by/4.0/</a:t>
            </a:r>
          </a:p>
        </p:txBody>
      </p:sp>
      <p:sp>
        <p:nvSpPr>
          <p:cNvPr id="5" name="text-4">
            <a:extLst xmlns:a="http://schemas.openxmlformats.org/drawingml/2006/main">
              <a:ext uri="{FF2B5EF4-FFF2-40B4-BE49-F238E27FC236}">
                <a16:creationId xmlns:a16="http://schemas.microsoft.com/office/drawing/2014/main" id="{D1ED7F82-32CB-43A0-A185-52CE4F4852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981075"/>
            <a:ext cx="11049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00" b="0">
                <a:solidFill>
                  <a:srgbClr val="B37328"/>
                </a:solidFill>
                <a:latin typeface="微软雅黑"/>
                <a:ea typeface="微软雅黑"/>
                <a:cs typeface="微软雅黑"/>
              </a:defRPr>
            </a:defPPr>
          </a:lstStyle>
          <a:p xmlns:a="http://schemas.openxmlformats.org/drawingml/2006/main">
            <a:pPr algn="l">
              <a:defRPr sz="1500" b="0">
                <a:solidFill>
                  <a:srgbClr val="B37328"/>
                </a:solidFill>
                <a:latin typeface="微软雅黑"/>
                <a:ea typeface="微软雅黑"/>
                <a:cs typeface="微软雅黑"/>
              </a:defRPr>
            </a:pPr>
            <a:r>
              <a:rPr sz="1500" b="0">
                <a:solidFill>
                  <a:srgbClr val="B37328"/>
                </a:solidFill>
                <a:latin typeface="微软雅黑"/>
                <a:ea typeface="微软雅黑"/>
                <a:cs typeface="微软雅黑"/>
              </a:rPr>
              <a:t>研究主题：高缺陷超小UiO-66纳米晶的制备及催化应用</a:t>
            </a:r>
          </a:p>
        </p:txBody>
      </p:sp>
      <p:pic>
        <p:nvPic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9B8A606-05A4-4727-A7F2-F731CB01BF9A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a0eace9fe5c4fe9"/>
          <a:stretch xmlns:a="http://schemas.openxmlformats.org/drawingml/2006/main"/>
        </p:blipFill>
        <p:spPr>
          <a:xfrm xmlns:a="http://schemas.openxmlformats.org/drawingml/2006/main">
            <a:off x="1689135" y="1352550"/>
            <a:ext cx="3289231" cy="3429000"/>
          </a:xfrm>
          <a:prstGeom xmlns:a="http://schemas.openxmlformats.org/drawingml/2006/main" prst="rect">
            <a:avLst/>
          </a:prstGeom>
        </p:spPr>
      </p:pic>
      <p:sp>
        <p:nvSpPr>
          <p:cNvPr id="7" name="text-5">
            <a:extLst xmlns:a="http://schemas.openxmlformats.org/drawingml/2006/main">
              <a:ext uri="{FF2B5EF4-FFF2-40B4-BE49-F238E27FC236}">
                <a16:creationId xmlns:a16="http://schemas.microsoft.com/office/drawing/2014/main" id="{9C7AB515-2FE2-49BF-AB40-2FABE56B54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914900"/>
            <a:ext cx="56197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350" b="0">
                <a:solidFill>
                  <a:srgbClr val="005B94"/>
                </a:solidFill>
                <a:latin typeface="微软雅黑"/>
                <a:ea typeface="微软雅黑"/>
                <a:cs typeface="微软雅黑"/>
              </a:defRPr>
            </a:defPPr>
          </a:lstStyle>
          <ns0:p xmlns:ns0="http://schemas.openxmlformats.org/drawingml/2006/main">
            <ns0:pPr algn="l">
              <ns0:defRPr sz="1350" b="0">
                <ns0:solidFill>
                  <ns0:srgbClr val="005B94"/>
                </ns0:solidFill>
                <ns0:latin typeface="微软雅黑"/>
                <ns0:ea typeface="微软雅黑"/>
                <ns0:cs typeface="微软雅黑"/>
              </ns0:defRPr>
            </ns0:pPr>
            <ns0:r>
              <ns0:rPr sz="1350" b="0">
                <ns0:solidFill>
                  <ns0:srgbClr val="005B94"/>
                </ns0:solidFill>
                <ns0:latin typeface="微软雅黑"/>
                <ns0:ea typeface="微软雅黑"/>
                <ns0:cs typeface="微软雅黑"/>
              </ns0:rPr>
              <ns0:t>Simulated：UiO-66模拟图谱</ns0:t>
            </ns0:r>
          </ns0:p>
          <ns1:p xmlns:ns1="http://schemas.openxmlformats.org/drawingml/2006/main">
            <ns1:pPr algn="l">
              <ns1:defRPr sz="1350" b="0">
                <ns1:solidFill>
                  <ns1:srgbClr val="005B94"/>
                </ns1:solidFill>
                <ns1:latin typeface="微软雅黑"/>
                <ns1:ea typeface="微软雅黑"/>
                <ns1:cs typeface="微软雅黑"/>
              </ns1:defRPr>
            </ns1:pPr>
            <ns1:r>
              <ns1:rPr sz="1350" b="0">
                <ns1:solidFill>
                  <ns1:srgbClr val="005B94"/>
                </ns1:solidFill>
                <ns1:latin typeface="微软雅黑"/>
                <ns1:ea typeface="微软雅黑"/>
                <ns1:cs typeface="微软雅黑"/>
              </ns1:rPr>
              <ns1:t>10–80 mL：合成时的乙醇用量</ns1:t>
            </ns1:r>
          </ns1:p>
          <ns2:p xmlns:ns2="http://schemas.openxmlformats.org/drawingml/2006/main">
            <ns2:pPr algn="l">
              <ns2:defRPr sz="1350" b="0">
                <ns2:solidFill>
                  <ns2:srgbClr val="005B94"/>
                </ns2:solidFill>
                <ns2:latin typeface="微软雅黑"/>
                <ns2:ea typeface="微软雅黑"/>
                <ns2:cs typeface="微软雅黑"/>
              </ns2:defRPr>
            </ns2:pPr>
            <ns2:r>
              <ns2:rPr sz="1350" b="0">
                <ns2:solidFill>
                  <ns2:srgbClr val="005B94"/>
                </ns2:solidFill>
                <ns2:latin typeface="微软雅黑"/>
                <ns2:ea typeface="微软雅黑"/>
                <ns2:cs typeface="微软雅黑"/>
              </ns2:rPr>
              <ns2:t>（111）、（200）等：晶面编号</ns2:t>
            </ns2:r>
          </ns2:p>
          <ns3:p xmlns:ns3="http://schemas.openxmlformats.org/drawingml/2006/main">
            <ns3:pPr algn="l">
              <ns3:defRPr sz="1350" b="0">
                <ns3:solidFill>
                  <ns3:srgbClr val="005B94"/>
                </ns3:solidFill>
                <ns3:latin typeface="微软雅黑"/>
                <ns3:ea typeface="微软雅黑"/>
                <ns3:cs typeface="微软雅黑"/>
              </ns3:defRPr>
            </ns3:pPr>
            <ns3:r>
              <ns3:rPr sz="1350" b="0">
                <ns3:solidFill>
                  <ns3:srgbClr val="005B94"/>
                </ns3:solidFill>
                <ns3:latin typeface="微软雅黑"/>
                <ns3:ea typeface="微软雅黑"/>
                <ns3:cs typeface="微软雅黑"/>
              </ns3:rPr>
              <ns3:t>2θ / °：衍射角，单位为度</ns3:t>
            </ns3:r>
          </ns3:p>
        </p:txBody>
      </p:sp>
      <p:sp>
        <p:nvSpPr>
          <p:cNvPr id="8" name="text-6">
            <a:extLst xmlns:a="http://schemas.openxmlformats.org/drawingml/2006/main">
              <a:ext uri="{FF2B5EF4-FFF2-40B4-BE49-F238E27FC236}">
                <a16:creationId xmlns:a16="http://schemas.microsoft.com/office/drawing/2014/main" id="{633DDBEC-31DF-44CD-8644-3F219FDF80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1438275"/>
            <a:ext cx="490537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1">
                <a:solidFill>
                  <a:srgbClr val="005B94"/>
                </a:solidFill>
                <a:latin typeface="微软雅黑"/>
                <a:ea typeface="微软雅黑"/>
                <a:cs typeface="微软雅黑"/>
              </a:defRPr>
            </a:defPPr>
          </a:lstStyle>
          <a:p xmlns:a="http://schemas.openxmlformats.org/drawingml/2006/main">
            <a:pPr algn="l">
              <a:defRPr sz="1950" b="1">
                <a:solidFill>
                  <a:srgbClr val="005B94"/>
                </a:solidFill>
                <a:latin typeface="微软雅黑"/>
                <a:ea typeface="微软雅黑"/>
                <a:cs typeface="微软雅黑"/>
              </a:defRPr>
            </a:pPr>
            <a:r>
              <a:rPr sz="1950" b="1">
                <a:solidFill>
                  <a:srgbClr val="005B94"/>
                </a:solidFill>
                <a:latin typeface="微软雅黑"/>
                <a:ea typeface="微软雅黑"/>
                <a:cs typeface="微软雅黑"/>
              </a:rPr>
              <a:t>衍射峰展宽现象</a:t>
            </a:r>
          </a:p>
        </p:txBody>
      </p:sp>
      <p:sp>
        <p:nvSpPr>
          <p:cNvPr id="9" name="text-7">
            <a:extLst xmlns:a="http://schemas.openxmlformats.org/drawingml/2006/main">
              <a:ext uri="{FF2B5EF4-FFF2-40B4-BE49-F238E27FC236}">
                <a16:creationId xmlns:a16="http://schemas.microsoft.com/office/drawing/2014/main" id="{E1AC870D-D040-4816-AB08-235D359679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1914525"/>
            <a:ext cx="4905375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203746"/>
                </a:solidFill>
                <a:latin typeface="微软雅黑"/>
                <a:ea typeface="微软雅黑"/>
                <a:cs typeface="微软雅黑"/>
              </a:defRPr>
            </a:defPPr>
          </a:lstStyle>
          <ns4:p xmlns:ns4="http://schemas.openxmlformats.org/drawingml/2006/main">
            <ns4:pPr algn="l">
              <ns4:defRPr sz="1800" b="0">
                <ns4:solidFill>
                  <ns4:srgbClr val="203746"/>
                </ns4:solidFill>
                <ns4:latin typeface="微软雅黑"/>
                <ns4:ea typeface="微软雅黑"/>
                <ns4:cs typeface="微软雅黑"/>
              </ns4:defRPr>
            </ns4:pPr>
            <ns4:r>
              <ns4:rPr sz="1800" b="0">
                <ns4:solidFill>
                  <ns4:srgbClr val="203746"/>
                </ns4:solidFill>
                <ns4:latin typeface="微软雅黑"/>
                <ns4:ea typeface="微软雅黑"/>
                <ns4:cs typeface="微软雅黑"/>
              </ns4:rPr>
              <ns4:t>随着乙醇用量增加，衍射峰逐渐展宽。</ns4:t>
            </ns4:r>
          </ns4:p>
          <ns5:p xmlns:ns5="http://schemas.openxmlformats.org/drawingml/2006/main">
            <ns5:pPr algn="l">
              <ns5:defRPr sz="1800" b="0">
                <ns5:solidFill>
                  <ns5:srgbClr val="203746"/>
                </ns5:solidFill>
                <ns5:latin typeface="微软雅黑"/>
                <ns5:ea typeface="微软雅黑"/>
                <ns5:cs typeface="微软雅黑"/>
              </ns5:defRPr>
            </ns5:pPr>
            <ns5:r>
              <ns5:rPr sz="1800" b="0">
                <ns5:solidFill>
                  <ns5:srgbClr val="203746"/>
                </ns5:solidFill>
                <ns5:latin typeface="微软雅黑"/>
                <ns5:ea typeface="微软雅黑"/>
                <ns5:cs typeface="微软雅黑"/>
              </ns5:rPr>
              <ns5:t>80 mL样品的相邻峰明显重叠。</ns5:t>
            </ns5:r>
          </ns5:p>
        </p:txBody>
      </p:sp>
      <p:sp>
        <p:nvSpPr>
          <p:cNvPr id="10" name="text-8">
            <a:extLst xmlns:a="http://schemas.openxmlformats.org/drawingml/2006/main">
              <a:ext uri="{FF2B5EF4-FFF2-40B4-BE49-F238E27FC236}">
                <a16:creationId xmlns:a16="http://schemas.microsoft.com/office/drawing/2014/main" id="{59951FCB-1108-419F-A068-A99D39D7CB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3019425"/>
            <a:ext cx="490537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1">
                <a:solidFill>
                  <a:srgbClr val="005B94"/>
                </a:solidFill>
                <a:latin typeface="微软雅黑"/>
                <a:ea typeface="微软雅黑"/>
                <a:cs typeface="微软雅黑"/>
              </a:defRPr>
            </a:defPPr>
          </a:lstStyle>
          <a:p xmlns:a="http://schemas.openxmlformats.org/drawingml/2006/main">
            <a:pPr algn="l">
              <a:defRPr sz="1950" b="1">
                <a:solidFill>
                  <a:srgbClr val="005B94"/>
                </a:solidFill>
                <a:latin typeface="微软雅黑"/>
                <a:ea typeface="微软雅黑"/>
                <a:cs typeface="微软雅黑"/>
              </a:defRPr>
            </a:pPr>
            <a:r>
              <a:rPr sz="1950" b="1">
                <a:solidFill>
                  <a:srgbClr val="005B94"/>
                </a:solidFill>
                <a:latin typeface="微软雅黑"/>
                <a:ea typeface="微软雅黑"/>
                <a:cs typeface="微软雅黑"/>
              </a:rPr>
              <a:t>透射电子显微镜（TEM）验证</a:t>
            </a:r>
          </a:p>
        </p:txBody>
      </p:sp>
      <p:sp>
        <p:nvSpPr>
          <p:cNvPr id="11" name="text-9">
            <a:extLst xmlns:a="http://schemas.openxmlformats.org/drawingml/2006/main">
              <a:ext uri="{FF2B5EF4-FFF2-40B4-BE49-F238E27FC236}">
                <a16:creationId xmlns:a16="http://schemas.microsoft.com/office/drawing/2014/main" id="{5B3F67B8-AFCB-4A21-A7A4-E82884FEF7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3476625"/>
            <a:ext cx="4905375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203746"/>
                </a:solidFill>
                <a:latin typeface="微软雅黑"/>
                <a:ea typeface="微软雅黑"/>
                <a:cs typeface="微软雅黑"/>
              </a:defRPr>
            </a:defPPr>
          </a:lstStyle>
          <ns6:p xmlns:ns6="http://schemas.openxmlformats.org/drawingml/2006/main">
            <ns6:pPr algn="l">
              <ns6:defRPr sz="1800" b="0">
                <ns6:solidFill>
                  <ns6:srgbClr val="203746"/>
                </ns6:solidFill>
                <ns6:latin typeface="微软雅黑"/>
                <ns6:ea typeface="微软雅黑"/>
                <ns6:cs typeface="微软雅黑"/>
              </ns6:defRPr>
            </ns6:pPr>
            <ns6:r>
              <ns6:rPr sz="1800" b="0">
                <ns6:solidFill>
                  <ns6:srgbClr val="203746"/>
                </ns6:solidFill>
                <ns6:latin typeface="微软雅黑"/>
                <ns6:ea typeface="微软雅黑"/>
                <ns6:cs typeface="微软雅黑"/>
              </ns6:rPr>
              <ns6:t>TEM平均粒径：40、14、9、5 nm。</ns6:t>
            </ns6:r>
          </ns6:p>
          <ns7:p xmlns:ns7="http://schemas.openxmlformats.org/drawingml/2006/main">
            <ns7:pPr algn="l">
              <ns7:defRPr sz="1800" b="0">
                <ns7:solidFill>
                  <ns7:srgbClr val="203746"/>
                </ns7:solidFill>
                <ns7:latin typeface="微软雅黑"/>
                <ns7:ea typeface="微软雅黑"/>
                <ns7:cs typeface="微软雅黑"/>
              </ns7:defRPr>
            </ns7:pPr>
            <ns7:r>
              <ns7:rPr sz="1800" b="0">
                <ns7:solidFill>
                  <ns7:srgbClr val="203746"/>
                </ns7:solidFill>
                <ns7:latin typeface="微软雅黑"/>
                <ns7:ea typeface="微软雅黑"/>
                <ns7:cs typeface="微软雅黑"/>
              </ns7:rPr>
              <ns7:t>超小颗粒中仍可观察到局部晶格。</ns7:t>
            </ns7:r>
          </ns7:p>
        </p:txBody>
      </p:sp>
      <p:sp>
        <p:nvSpPr>
          <p:cNvPr id="12" name="text-10">
            <a:extLst xmlns:a="http://schemas.openxmlformats.org/drawingml/2006/main">
              <a:ext uri="{FF2B5EF4-FFF2-40B4-BE49-F238E27FC236}">
                <a16:creationId xmlns:a16="http://schemas.microsoft.com/office/drawing/2014/main" id="{BA8C4BAB-0AB1-49A1-968D-24148F5E93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4676775"/>
            <a:ext cx="4905375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1">
                <a:solidFill>
                  <a:srgbClr val="B37328"/>
                </a:solidFill>
                <a:latin typeface="微软雅黑"/>
                <a:ea typeface="微软雅黑"/>
                <a:cs typeface="微软雅黑"/>
              </a:defRPr>
            </a:defPPr>
          </a:lstStyle>
          <a:p xmlns:a="http://schemas.openxmlformats.org/drawingml/2006/main">
            <a:pPr algn="l">
              <a:defRPr sz="1950" b="1">
                <a:solidFill>
                  <a:srgbClr val="005B94"/>
                </a:solidFill>
                <a:latin typeface="微软雅黑"/>
                <a:ea typeface="微软雅黑"/>
                <a:cs typeface="微软雅黑"/>
              </a:defRPr>
            </a:pPr>
            <a:r>
              <a:rPr sz="1950" b="1">
                <a:solidFill>
                  <a:srgbClr val="005B94"/>
                </a:solidFill>
                <a:latin typeface="微软雅黑"/>
                <a:ea typeface="微软雅黑"/>
                <a:cs typeface="微软雅黑"/>
              </a:rPr>
              <a:t>图谱分析</a:t>
            </a:r>
          </a:p>
          <a:p xmlns:a="http://schemas.openxmlformats.org/drawingml/2006/main">
            <a:pPr algn="l">
              <a:defRPr sz="1725" b="1">
                <a:solidFill>
                  <a:srgbClr val="B37328"/>
                </a:solidFill>
                <a:latin typeface="微软雅黑"/>
                <a:ea typeface="微软雅黑"/>
                <a:cs typeface="微软雅黑"/>
              </a:defRPr>
            </a:pPr>
            <a:r>
              <a:rPr sz="1725" b="1">
                <a:solidFill>
                  <a:srgbClr val="B37328"/>
                </a:solidFill>
                <a:latin typeface="微软雅黑"/>
                <a:ea typeface="微软雅黑"/>
                <a:cs typeface="微软雅黑"/>
              </a:rPr>
              <a:t>峰展宽与有序区域尺度减小相一致。</a:t>
            </a:r>
          </a:p>
          <a:p xmlns:a="http://schemas.openxmlformats.org/drawingml/2006/main">
            <a:pPr algn="l">
              <a:defRPr sz="1725" b="1">
                <a:solidFill>
                  <a:srgbClr val="B37328"/>
                </a:solidFill>
                <a:latin typeface="微软雅黑"/>
                <a:ea typeface="微软雅黑"/>
                <a:cs typeface="微软雅黑"/>
              </a:defRPr>
            </a:pPr>
            <a:r>
              <a:rPr sz="1725" b="1">
                <a:solidFill>
                  <a:srgbClr val="B37328"/>
                </a:solidFill>
                <a:latin typeface="微软雅黑"/>
                <a:ea typeface="微软雅黑"/>
                <a:cs typeface="微软雅黑"/>
              </a:rPr>
              <a:t>仅凭宽峰不能判定样品完全无定形。</a:t>
            </a:r>
          </a:p>
        </p:txBody>
      </p:sp>
    </p:spTree>
    <p:extLst>
      <p:ext uri="{BB962C8B-B14F-4D97-AF65-F5344CB8AC3E}">
        <p14:creationId xmlns:p14="http://schemas.microsoft.com/office/powerpoint/2010/main" val="594460780"/>
      </p:ext>
    </p:extLst>
  </p:cSld>
</p:sld>
</file>

<file path=ppt/slides/slide1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text-0">
            <a:extLst xmlns:a="http://schemas.openxmlformats.org/drawingml/2006/main">
              <a:ext uri="{FF2B5EF4-FFF2-40B4-BE49-F238E27FC236}">
                <a16:creationId xmlns:a16="http://schemas.microsoft.com/office/drawing/2014/main" id="{FBF5ACBE-9356-427E-B098-CFFCAC4164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" y="209550"/>
            <a:ext cx="8096250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55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defPPr>
          </a:lstStyle>
          <a:p xmlns:a="http://schemas.openxmlformats.org/drawingml/2006/main">
            <a:pPr algn="l">
              <a:defRPr sz="255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255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09  COF案例：ACOF-1的层间堆积结构</a:t>
            </a:r>
          </a:p>
        </p:txBody>
      </p:sp>
      <p:sp>
        <p:nvSpPr>
          <p:cNvPr id="2" name="text-1">
            <a:extLst xmlns:a="http://schemas.openxmlformats.org/drawingml/2006/main">
              <a:ext uri="{FF2B5EF4-FFF2-40B4-BE49-F238E27FC236}">
                <a16:creationId xmlns:a16="http://schemas.microsoft.com/office/drawing/2014/main" id="{0B11EFB1-F056-42B9-A7F8-EDACEE279B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" y="6372225"/>
            <a:ext cx="61912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125" b="0">
                <a:solidFill>
                  <a:srgbClr val="52636D"/>
                </a:solidFill>
                <a:latin typeface="微软雅黑"/>
                <a:ea typeface="微软雅黑"/>
                <a:cs typeface="微软雅黑"/>
              </a:defRPr>
            </a:defPPr>
          </a:lstStyle>
          <a:p xmlns:a="http://schemas.openxmlformats.org/drawingml/2006/main">
            <a:pPr algn="l">
              <a:defRPr sz="1125" b="0">
                <a:solidFill>
                  <a:srgbClr val="52636D"/>
                </a:solidFill>
                <a:latin typeface="微软雅黑"/>
                <a:ea typeface="微软雅黑"/>
                <a:cs typeface="微软雅黑"/>
              </a:defRPr>
            </a:pPr>
            <a:r>
              <a:rPr sz="1125" b="0">
                <a:solidFill>
                  <a:srgbClr val="52636D"/>
                </a:solidFill>
                <a:latin typeface="微软雅黑"/>
                <a:ea typeface="微软雅黑"/>
                <a:cs typeface="微软雅黑"/>
              </a:rPr>
              <a:t>材料与化工现代研究方法</a:t>
            </a:r>
          </a:p>
        </p:txBody>
      </p:sp>
      <p:sp>
        <p:nvSpPr>
          <p:cNvPr id="3" name="text-2">
            <a:extLst xmlns:a="http://schemas.openxmlformats.org/drawingml/2006/main">
              <a:ext uri="{FF2B5EF4-FFF2-40B4-BE49-F238E27FC236}">
                <a16:creationId xmlns:a16="http://schemas.microsoft.com/office/drawing/2014/main" id="{11F56081-D045-458A-8951-55D0258523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39325" y="6353175"/>
            <a:ext cx="47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275" b="0">
                <a:solidFill>
                  <a:srgbClr val="005B94"/>
                </a:solidFill>
                <a:latin typeface="微软雅黑"/>
                <a:ea typeface="微软雅黑"/>
                <a:cs typeface="微软雅黑"/>
              </a:defRPr>
            </a:defPPr>
          </a:lstStyle>
          <a:p xmlns:a="http://schemas.openxmlformats.org/drawingml/2006/main">
            <a:pPr algn="r">
              <a:defRPr sz="1275" b="0">
                <a:solidFill>
                  <a:srgbClr val="005B94"/>
                </a:solidFill>
                <a:latin typeface="微软雅黑"/>
                <a:ea typeface="微软雅黑"/>
                <a:cs typeface="微软雅黑"/>
              </a:defRPr>
            </a:pPr>
            <a:r>
              <a:rPr sz="1275" b="0">
                <a:solidFill>
                  <a:srgbClr val="005B94"/>
                </a:solidFill>
                <a:latin typeface="微软雅黑"/>
                <a:ea typeface="微软雅黑"/>
                <a:cs typeface="微软雅黑"/>
              </a:rPr>
              <a:t>10</a:t>
            </a:r>
          </a:p>
        </p:txBody>
      </p:sp>
      <p:sp>
        <p:nvSpPr>
          <p:cNvPr id="4" name="text-3">
            <a:extLst xmlns:a="http://schemas.openxmlformats.org/drawingml/2006/main">
              <a:ext uri="{FF2B5EF4-FFF2-40B4-BE49-F238E27FC236}">
                <a16:creationId xmlns:a16="http://schemas.microsoft.com/office/drawing/2014/main" id="{71FE24DC-AACF-4177-9FB5-83C6510110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" y="5943600"/>
            <a:ext cx="1123950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975" b="0">
                <a:solidFill>
                  <a:srgbClr val="52636D"/>
                </a:solidFill>
                <a:latin typeface="微软雅黑"/>
                <a:ea typeface="微软雅黑"/>
                <a:cs typeface="微软雅黑"/>
              </a:defRPr>
            </a:defPPr>
          </a:lstStyle>
          <a:p xmlns:a="http://schemas.openxmlformats.org/drawingml/2006/main">
            <a:pPr algn="l">
              <a:defRPr sz="975" b="0">
                <a:solidFill>
                  <a:srgbClr val="52636D"/>
                </a:solidFill>
                <a:latin typeface="微软雅黑"/>
                <a:ea typeface="微软雅黑"/>
                <a:cs typeface="微软雅黑"/>
              </a:defRPr>
            </a:pPr>
            <a:r>
              <a:rPr sz="975" b="0">
                <a:solidFill>
                  <a:srgbClr val="52636D"/>
                </a:solidFill>
                <a:latin typeface="微软雅黑"/>
                <a:ea typeface="微软雅黑"/>
                <a:cs typeface="微软雅黑"/>
              </a:rPr>
              <a:t>Y. Xie et al. Nat. Commun. 15 (2024), 2671. DOI: 10.1038/s41467-024-46942-0；Fig. 2d局部裁剪，CC BY 4.0，https://creativecommons.org/licenses/by/4.0/</a:t>
            </a:r>
          </a:p>
        </p:txBody>
      </p:sp>
      <p:sp>
        <p:nvSpPr>
          <p:cNvPr id="5" name="text-4">
            <a:extLst xmlns:a="http://schemas.openxmlformats.org/drawingml/2006/main">
              <a:ext uri="{FF2B5EF4-FFF2-40B4-BE49-F238E27FC236}">
                <a16:creationId xmlns:a16="http://schemas.microsoft.com/office/drawing/2014/main" id="{B6E47292-C899-4E28-BFAE-C1FE120AB9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981075"/>
            <a:ext cx="11049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00" b="0">
                <a:solidFill>
                  <a:srgbClr val="B37328"/>
                </a:solidFill>
                <a:latin typeface="微软雅黑"/>
                <a:ea typeface="微软雅黑"/>
                <a:cs typeface="微软雅黑"/>
              </a:defRPr>
            </a:defPPr>
          </a:lstStyle>
          <a:p xmlns:a="http://schemas.openxmlformats.org/drawingml/2006/main">
            <a:pPr algn="l">
              <a:defRPr sz="1500" b="0">
                <a:solidFill>
                  <a:srgbClr val="B37328"/>
                </a:solidFill>
                <a:latin typeface="微软雅黑"/>
                <a:ea typeface="微软雅黑"/>
                <a:cs typeface="微软雅黑"/>
              </a:defRPr>
            </a:pPr>
            <a:r>
              <a:rPr sz="1500" b="0">
                <a:solidFill>
                  <a:srgbClr val="B37328"/>
                </a:solidFill>
                <a:latin typeface="微软雅黑"/>
                <a:ea typeface="微软雅黑"/>
                <a:cs typeface="微软雅黑"/>
              </a:rPr>
              <a:t>研究主题：反平行堆积COF的孔道调控及碘污染物捕获</a:t>
            </a:r>
          </a:p>
        </p:txBody>
      </p:sp>
      <p:pic>
        <p:nvPic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0EB4677-DDC9-44CC-8AF9-CEF0D0246DCF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f27c837a643471f"/>
          <a:stretch xmlns:a="http://schemas.openxmlformats.org/drawingml/2006/main"/>
        </p:blipFill>
        <p:spPr>
          <a:xfrm xmlns:a="http://schemas.openxmlformats.org/drawingml/2006/main">
            <a:off x="1420878" y="1352550"/>
            <a:ext cx="3825744" cy="3429000"/>
          </a:xfrm>
          <a:prstGeom xmlns:a="http://schemas.openxmlformats.org/drawingml/2006/main" prst="rect">
            <a:avLst/>
          </a:prstGeom>
        </p:spPr>
      </p:pic>
      <p:sp>
        <p:nvSpPr>
          <p:cNvPr id="7" name="text-5">
            <a:extLst xmlns:a="http://schemas.openxmlformats.org/drawingml/2006/main">
              <a:ext uri="{FF2B5EF4-FFF2-40B4-BE49-F238E27FC236}">
                <a16:creationId xmlns:a16="http://schemas.microsoft.com/office/drawing/2014/main" id="{0CFC28B3-EDF1-46D6-9FA4-270711E1B4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914900"/>
            <a:ext cx="56197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75" b="0">
                <a:solidFill>
                  <a:srgbClr val="005B94"/>
                </a:solidFill>
                <a:latin typeface="微软雅黑"/>
                <a:ea typeface="微软雅黑"/>
                <a:cs typeface="微软雅黑"/>
              </a:defRPr>
            </a:defPPr>
          </a:lstStyle>
          <ns0:p xmlns:ns0="http://schemas.openxmlformats.org/drawingml/2006/main">
            <ns0:pPr algn="l">
              <ns0:defRPr sz="1275" b="0">
                <ns0:solidFill>
                  <ns0:srgbClr val="005B94"/>
                </ns0:solidFill>
                <ns0:latin typeface="微软雅黑"/>
                <ns0:ea typeface="微软雅黑"/>
                <ns0:cs typeface="微软雅黑"/>
              </ns0:defRPr>
            </ns0:pPr>
            <ns0:r>
              <ns0:rPr sz="1275" b="0">
                <ns0:solidFill>
                  <ns0:srgbClr val="005B94"/>
                </ns0:solidFill>
                <ns0:latin typeface="微软雅黑"/>
                <ns0:ea typeface="微软雅黑"/>
                <ns0:cs typeface="微软雅黑"/>
              </ns0:rPr>
              <ns0:t>antiparallel AA stacking：反平行AA堆积</ns0:t>
            </ns0:r>
          </ns0:p>
          <ns1:p xmlns:ns1="http://schemas.openxmlformats.org/drawingml/2006/main">
            <ns1:pPr algn="l">
              <ns1:defRPr sz="1275" b="0">
                <ns1:solidFill>
                  <ns1:srgbClr val="005B94"/>
                </ns1:solidFill>
                <ns1:latin typeface="微软雅黑"/>
                <ns1:ea typeface="微软雅黑"/>
                <ns1:cs typeface="微软雅黑"/>
              </ns1:defRPr>
            </ns1:pPr>
            <ns1:r>
              <ns1:rPr sz="1275" b="0">
                <ns1:solidFill>
                  <ns1:srgbClr val="005B94"/>
                </ns1:solidFill>
                <ns1:latin typeface="微软雅黑"/>
                <ns1:ea typeface="微软雅黑"/>
                <ns1:cs typeface="微软雅黑"/>
              </ns1:rPr>
              <ns1:t>相邻层方向相反，位置大致上下对应</ns1:t>
            </ns1:r>
          </ns1:p>
          <ns2:p xmlns:ns2="http://schemas.openxmlformats.org/drawingml/2006/main">
            <ns2:pPr algn="l">
              <ns2:defRPr sz="1275" b="0">
                <ns2:solidFill>
                  <ns2:srgbClr val="005B94"/>
                </ns2:solidFill>
                <ns2:latin typeface="微软雅黑"/>
                <ns2:ea typeface="微软雅黑"/>
                <ns2:cs typeface="微软雅黑"/>
              </ns2:defRPr>
            </ns2:pPr>
            <ns2:r>
              <ns2:rPr sz="1275" b="0">
                <ns2:solidFill>
                  <ns2:srgbClr val="005B94"/>
                </ns2:solidFill>
                <ns2:latin typeface="微软雅黑"/>
                <ns2:ea typeface="微软雅黑"/>
                <ns2:cs typeface="微软雅黑"/>
              </ns2:rPr>
              <ns2:t>黑：实验；红：拟合；蓝：模拟</ns2:t>
            </ns2:r>
          </ns2:p>
          <ns3:p xmlns:ns3="http://schemas.openxmlformats.org/drawingml/2006/main">
            <ns3:pPr algn="l">
              <ns3:defRPr sz="1275" b="0">
                <ns3:solidFill>
                  <ns3:srgbClr val="005B94"/>
                </ns3:solidFill>
                <ns3:latin typeface="微软雅黑"/>
                <ns3:ea typeface="微软雅黑"/>
                <ns3:cs typeface="微软雅黑"/>
              </ns3:defRPr>
            </ns3:pPr>
            <ns3:r>
              <ns3:rPr sz="1275" b="0">
                <ns3:solidFill>
                  <ns3:srgbClr val="005B94"/>
                </ns3:solidFill>
                <ns3:latin typeface="微软雅黑"/>
                <ns3:ea typeface="微软雅黑"/>
                <ns3:cs typeface="微软雅黑"/>
              </ns3:rPr>
              <ns3:t>绿：理论峰位；灰：实验与拟合差值</ns3:t>
            </ns3:r>
          </ns3:p>
          <ns4:p xmlns:ns4="http://schemas.openxmlformats.org/drawingml/2006/main">
            <ns4:pPr algn="l">
              <ns4:defRPr sz="1275" b="0">
                <ns4:solidFill>
                  <ns4:srgbClr val="005B94"/>
                </ns4:solidFill>
                <ns4:latin typeface="微软雅黑"/>
                <ns4:ea typeface="微软雅黑"/>
                <ns4:cs typeface="微软雅黑"/>
              </ns4:defRPr>
            </ns4:pPr>
            <ns4:r>
              <ns4:rPr sz="1275" b="0">
                <ns4:solidFill>
                  <ns4:srgbClr val="005B94"/>
                </ns4:solidFill>
                <ns4:latin typeface="微软雅黑"/>
                <ns4:ea typeface="微软雅黑"/>
                <ns4:cs typeface="微软雅黑"/>
              </ns4:rPr>
              <ns4:t>（100）等为晶面编号；2θ为衍射角</ns4:t>
            </ns4:r>
          </ns4:p>
        </p:txBody>
      </p:sp>
      <p:sp>
        <p:nvSpPr>
          <p:cNvPr id="8" name="text-6">
            <a:extLst xmlns:a="http://schemas.openxmlformats.org/drawingml/2006/main">
              <a:ext uri="{FF2B5EF4-FFF2-40B4-BE49-F238E27FC236}">
                <a16:creationId xmlns:a16="http://schemas.microsoft.com/office/drawing/2014/main" id="{0791F37D-A3A6-4AA8-AE67-5F54A5AE31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1438275"/>
            <a:ext cx="490537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1">
                <a:solidFill>
                  <a:srgbClr val="005B94"/>
                </a:solidFill>
                <a:latin typeface="微软雅黑"/>
                <a:ea typeface="微软雅黑"/>
                <a:cs typeface="微软雅黑"/>
              </a:defRPr>
            </a:defPPr>
          </a:lstStyle>
          <a:p xmlns:a="http://schemas.openxmlformats.org/drawingml/2006/main">
            <a:pPr algn="l">
              <a:defRPr sz="1950" b="1">
                <a:solidFill>
                  <a:srgbClr val="005B94"/>
                </a:solidFill>
                <a:latin typeface="微软雅黑"/>
                <a:ea typeface="微软雅黑"/>
                <a:cs typeface="微软雅黑"/>
              </a:defRPr>
            </a:pPr>
            <a:r>
              <a:rPr sz="1950" b="1">
                <a:solidFill>
                  <a:srgbClr val="005B94"/>
                </a:solidFill>
                <a:latin typeface="微软雅黑"/>
                <a:ea typeface="微软雅黑"/>
                <a:cs typeface="微软雅黑"/>
              </a:rPr>
              <a:t>峰位与晶面归属</a:t>
            </a:r>
          </a:p>
        </p:txBody>
      </p:sp>
      <p:sp>
        <p:nvSpPr>
          <p:cNvPr id="9" name="text-7">
            <a:extLst xmlns:a="http://schemas.openxmlformats.org/drawingml/2006/main">
              <a:ext uri="{FF2B5EF4-FFF2-40B4-BE49-F238E27FC236}">
                <a16:creationId xmlns:a16="http://schemas.microsoft.com/office/drawing/2014/main" id="{1CB383BE-5E9D-4468-8F49-049C4C27C4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1914525"/>
            <a:ext cx="4905375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00" b="0">
                <a:solidFill>
                  <a:srgbClr val="203746"/>
                </a:solidFill>
                <a:latin typeface="微软雅黑"/>
                <a:ea typeface="微软雅黑"/>
                <a:cs typeface="微软雅黑"/>
              </a:defRPr>
            </a:defPPr>
          </a:lstStyle>
          <ns5:p xmlns:ns5="http://schemas.openxmlformats.org/drawingml/2006/main">
            <ns5:pPr algn="l">
              <ns5:defRPr sz="1700" b="0">
                <ns5:solidFill>
                  <ns5:srgbClr val="203746"/>
                </ns5:solidFill>
                <ns5:latin typeface="微软雅黑"/>
                <ns5:ea typeface="微软雅黑"/>
                <ns5:cs typeface="微软雅黑"/>
              </ns5:defRPr>
            </ns5:pPr>
            <ns5:r>
              <ns5:rPr sz="1700" b="0">
                <ns5:solidFill>
                  <ns5:srgbClr val="203746"/>
                </ns5:solidFill>
                <ns5:latin typeface="微软雅黑"/>
                <ns5:ea typeface="微软雅黑"/>
                <ns5:cs typeface="微软雅黑"/>
              </ns5:rPr>
              <ns5:t>2θ约2.5°、4.2°、4.9°、6.5°、8.4°。</ns5:t>
            </ns5:r>
          </ns5:p>
          <ns6:p xmlns:ns6="http://schemas.openxmlformats.org/drawingml/2006/main">
            <ns6:pPr algn="l">
              <ns6:defRPr sz="1700" b="0">
                <ns6:solidFill>
                  <ns6:srgbClr val="203746"/>
                </ns6:solidFill>
                <ns6:latin typeface="微软雅黑"/>
                <ns6:ea typeface="微软雅黑"/>
                <ns6:cs typeface="微软雅黑"/>
              </ns6:defRPr>
            </ns6:pPr>
            <ns6:r>
              <ns6:rPr sz="1700" b="0">
                <ns6:solidFill>
                  <ns6:srgbClr val="203746"/>
                </ns6:solidFill>
                <ns6:latin typeface="微软雅黑"/>
                <ns6:ea typeface="微软雅黑"/>
                <ns6:cs typeface="微软雅黑"/>
              </ns6:rPr>
              <ns6:t>对应(100)、(110)、(200)、(210)、(310)。</ns6:t>
            </ns6:r>
          </ns6:p>
        </p:txBody>
      </p:sp>
      <p:sp>
        <p:nvSpPr>
          <p:cNvPr id="10" name="text-8">
            <a:extLst xmlns:a="http://schemas.openxmlformats.org/drawingml/2006/main">
              <a:ext uri="{FF2B5EF4-FFF2-40B4-BE49-F238E27FC236}">
                <a16:creationId xmlns:a16="http://schemas.microsoft.com/office/drawing/2014/main" id="{8E05A513-0E2B-4CCA-982D-5D938EC99D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3019425"/>
            <a:ext cx="490537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1">
                <a:solidFill>
                  <a:srgbClr val="005B94"/>
                </a:solidFill>
                <a:latin typeface="微软雅黑"/>
                <a:ea typeface="微软雅黑"/>
                <a:cs typeface="微软雅黑"/>
              </a:defRPr>
            </a:defPPr>
          </a:lstStyle>
          <a:p xmlns:a="http://schemas.openxmlformats.org/drawingml/2006/main">
            <a:pPr algn="l">
              <a:defRPr sz="1950" b="1">
                <a:solidFill>
                  <a:srgbClr val="005B94"/>
                </a:solidFill>
                <a:latin typeface="微软雅黑"/>
                <a:ea typeface="微软雅黑"/>
                <a:cs typeface="微软雅黑"/>
              </a:defRPr>
            </a:pPr>
            <a:r>
              <a:rPr sz="1950" b="1">
                <a:solidFill>
                  <a:srgbClr val="005B94"/>
                </a:solidFill>
                <a:latin typeface="微软雅黑"/>
                <a:ea typeface="微软雅黑"/>
                <a:cs typeface="微软雅黑"/>
              </a:rPr>
              <a:t>结构拟合与辅助表征</a:t>
            </a:r>
          </a:p>
        </p:txBody>
      </p:sp>
      <p:sp>
        <p:nvSpPr>
          <p:cNvPr id="11" name="text-9">
            <a:extLst xmlns:a="http://schemas.openxmlformats.org/drawingml/2006/main">
              <a:ext uri="{FF2B5EF4-FFF2-40B4-BE49-F238E27FC236}">
                <a16:creationId xmlns:a16="http://schemas.microsoft.com/office/drawing/2014/main" id="{15162807-3E59-4B4A-948E-23C1FF73D4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3476625"/>
            <a:ext cx="4905375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203746"/>
                </a:solidFill>
                <a:latin typeface="微软雅黑"/>
                <a:ea typeface="微软雅黑"/>
                <a:cs typeface="微软雅黑"/>
              </a:defRPr>
            </a:defPPr>
          </a:lstStyle>
          <ns7:p xmlns:ns7="http://schemas.openxmlformats.org/drawingml/2006/main">
            <ns7:pPr algn="l">
              <ns7:defRPr sz="1800" b="0">
                <ns7:solidFill>
                  <ns7:srgbClr val="203746"/>
                </ns7:solidFill>
                <ns7:latin typeface="微软雅黑"/>
                <ns7:ea typeface="微软雅黑"/>
                <ns7:cs typeface="微软雅黑"/>
              </ns7:defRPr>
            </ns7:pPr>
            <ns7:r>
              <ns7:rPr sz="1800" b="0">
                <ns7:solidFill>
                  <ns7:srgbClr val="203746"/>
                </ns7:solidFill>
                <ns7:latin typeface="微软雅黑"/>
                <ns7:ea typeface="微软雅黑"/>
                <ns7:cs typeface="微软雅黑"/>
              </ns7:rPr>
              <ns7:t>Rwp = 5.71%（Pawley全谱拟合）。</ns7:t>
            </ns7:r>
          </ns7:p>
          <ns8:p xmlns:ns8="http://schemas.openxmlformats.org/drawingml/2006/main">
            <ns8:pPr algn="l">
              <ns8:defRPr sz="1800" b="0">
                <ns8:solidFill>
                  <ns8:srgbClr val="203746"/>
                </ns8:solidFill>
                <ns8:latin typeface="微软雅黑"/>
                <ns8:ea typeface="微软雅黑"/>
                <ns8:cs typeface="微软雅黑"/>
              </ns8:defRPr>
            </ns8:pPr>
            <ns8:r>
              <ns8:rPr sz="1800" b="0">
                <ns8:solidFill>
                  <ns8:srgbClr val="203746"/>
                </ns8:solidFill>
                <ns8:latin typeface="微软雅黑"/>
                <ns8:ea typeface="微软雅黑"/>
                <ns8:cs typeface="微软雅黑"/>
              </ns8:rPr>
              <ns8:t>X射线散射及高分辨TEM提供补充证据。</ns8:t>
            </ns8:r>
          </ns8:p>
        </p:txBody>
      </p:sp>
      <p:sp>
        <p:nvSpPr>
          <p:cNvPr id="12" name="text-10">
            <a:extLst xmlns:a="http://schemas.openxmlformats.org/drawingml/2006/main">
              <a:ext uri="{FF2B5EF4-FFF2-40B4-BE49-F238E27FC236}">
                <a16:creationId xmlns:a16="http://schemas.microsoft.com/office/drawing/2014/main" id="{41704B7C-8155-4381-83AB-6DEA9D4F7D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4676775"/>
            <a:ext cx="4905375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1">
                <a:solidFill>
                  <a:srgbClr val="B37328"/>
                </a:solidFill>
                <a:latin typeface="微软雅黑"/>
                <a:ea typeface="微软雅黑"/>
                <a:cs typeface="微软雅黑"/>
              </a:defRPr>
            </a:defPPr>
          </a:lstStyle>
          <a:p xmlns:a="http://schemas.openxmlformats.org/drawingml/2006/main">
            <a:pPr algn="l">
              <a:defRPr sz="1950" b="1">
                <a:solidFill>
                  <a:srgbClr val="005B94"/>
                </a:solidFill>
                <a:latin typeface="微软雅黑"/>
                <a:ea typeface="微软雅黑"/>
                <a:cs typeface="微软雅黑"/>
              </a:defRPr>
            </a:pPr>
            <a:r>
              <a:rPr sz="1950" b="1">
                <a:solidFill>
                  <a:srgbClr val="005B94"/>
                </a:solidFill>
                <a:latin typeface="微软雅黑"/>
                <a:ea typeface="微软雅黑"/>
                <a:cs typeface="微软雅黑"/>
              </a:rPr>
              <a:t>图谱分析</a:t>
            </a:r>
          </a:p>
          <a:p xmlns:a="http://schemas.openxmlformats.org/drawingml/2006/main">
            <a:pPr algn="l">
              <a:defRPr sz="1725" b="1">
                <a:solidFill>
                  <a:srgbClr val="B37328"/>
                </a:solidFill>
                <a:latin typeface="微软雅黑"/>
                <a:ea typeface="微软雅黑"/>
                <a:cs typeface="微软雅黑"/>
              </a:defRPr>
            </a:pPr>
            <a:r>
              <a:rPr sz="1725" b="1">
                <a:solidFill>
                  <a:srgbClr val="B37328"/>
                </a:solidFill>
                <a:latin typeface="微软雅黑"/>
                <a:ea typeface="微软雅黑"/>
                <a:cs typeface="微软雅黑"/>
              </a:rPr>
              <a:t>多种证据支持反平行AA堆积模型。</a:t>
            </a:r>
          </a:p>
          <a:p xmlns:a="http://schemas.openxmlformats.org/drawingml/2006/main">
            <a:pPr algn="l">
              <a:defRPr sz="1725" b="1">
                <a:solidFill>
                  <a:srgbClr val="B37328"/>
                </a:solidFill>
                <a:latin typeface="微软雅黑"/>
                <a:ea typeface="微软雅黑"/>
                <a:cs typeface="微软雅黑"/>
              </a:defRPr>
            </a:pPr>
            <a:r>
              <a:rPr sz="1725" b="1">
                <a:solidFill>
                  <a:srgbClr val="B37328"/>
                </a:solidFill>
                <a:latin typeface="微软雅黑"/>
                <a:ea typeface="微软雅黑"/>
                <a:cs typeface="微软雅黑"/>
              </a:rPr>
              <a:t>拟合良好并不代表结构模型唯一。</a:t>
            </a:r>
          </a:p>
        </p:txBody>
      </p:sp>
    </p:spTree>
    <p:extLst>
      <p:ext uri="{BB962C8B-B14F-4D97-AF65-F5344CB8AC3E}">
        <p14:creationId xmlns:p14="http://schemas.microsoft.com/office/powerpoint/2010/main" val="594460780"/>
      </p:ext>
    </p:extLst>
  </p:cSld>
</p:sld>
</file>

<file path=ppt/slides/slide1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E21A523-0B1E-4A03-9A29-7828748BF34A}"/>
              </a:ext>
            </a:extLst>
          </p:cNvPr>
          <p:cNvCxnSpPr>
            <a:stCxn xmlns:a="http://schemas.openxmlformats.org/drawingml/2006/main" id="18" idx="3"/>
            <a:endCxn xmlns:a="http://schemas.openxmlformats.org/drawingml/2006/main" id="19" idx="1"/>
          </p:cNvCxnSpPr>
          <p:nvPr/>
        </p:nvCxnSpPr>
        <p:spPr>
          <a:xfrm xmlns:a="http://schemas.openxmlformats.org/drawingml/2006/main">
            <a:off x="3286125" y="4586288"/>
            <a:ext cx="742950" cy="0"/>
          </a:xfrm>
          <a:prstGeom xmlns:a="http://schemas.openxmlformats.org/drawingml/2006/main" prst="straightConnector1">
            <a:avLst/>
          </a:prstGeom>
          <a:ln xmlns:a="http://schemas.openxmlformats.org/drawingml/2006/main" w="23813">
            <a:solidFill>
              <a:srgbClr val="2BA3C0"/>
            </a:solidFill>
            <a:prstDash val="solid"/>
            <a:tailEnd type="triangle" w="med" len="med"/>
          </a:ln>
        </p:spPr>
      </p:cxnSp>
      <p:cxnSp>
        <p:nvCxn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E48DA7E-A6A2-4187-A376-F4B95609F28D}"/>
              </a:ext>
            </a:extLst>
          </p:cNvPr>
          <p:cNvCxnSpPr>
            <a:stCxn xmlns:a="http://schemas.openxmlformats.org/drawingml/2006/main" id="13" idx="3"/>
            <a:endCxn xmlns:a="http://schemas.openxmlformats.org/drawingml/2006/main" id="14" idx="1"/>
          </p:cNvCxnSpPr>
          <p:nvPr/>
        </p:nvCxnSpPr>
        <p:spPr>
          <a:xfrm xmlns:a="http://schemas.openxmlformats.org/drawingml/2006/main">
            <a:off x="3286125" y="3433763"/>
            <a:ext cx="742950" cy="0"/>
          </a:xfrm>
          <a:prstGeom xmlns:a="http://schemas.openxmlformats.org/drawingml/2006/main" prst="straightConnector1">
            <a:avLst/>
          </a:prstGeom>
          <a:ln xmlns:a="http://schemas.openxmlformats.org/drawingml/2006/main" w="23813">
            <a:solidFill>
              <a:srgbClr val="2BA3C0"/>
            </a:solidFill>
            <a:prstDash val="solid"/>
            <a:tailEnd type="triangle" w="med" len="med"/>
          </a:ln>
        </p:spPr>
      </p:cxnSp>
      <p:cxnSp>
        <p:nvCxn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1807909-994B-47D3-8D14-97EB4BD11E20}"/>
              </a:ext>
            </a:extLst>
          </p:cNvPr>
          <p:cNvCxnSpPr>
            <a:stCxn xmlns:a="http://schemas.openxmlformats.org/drawingml/2006/main" id="8" idx="3"/>
            <a:endCxn xmlns:a="http://schemas.openxmlformats.org/drawingml/2006/main" id="9" idx="1"/>
          </p:cNvCxnSpPr>
          <p:nvPr/>
        </p:nvCxnSpPr>
        <p:spPr>
          <a:xfrm xmlns:a="http://schemas.openxmlformats.org/drawingml/2006/main">
            <a:off x="3286125" y="2281238"/>
            <a:ext cx="742950" cy="0"/>
          </a:xfrm>
          <a:prstGeom xmlns:a="http://schemas.openxmlformats.org/drawingml/2006/main" prst="straightConnector1">
            <a:avLst/>
          </a:prstGeom>
          <a:ln xmlns:a="http://schemas.openxmlformats.org/drawingml/2006/main" w="23813">
            <a:solidFill>
              <a:srgbClr val="2BA3C0"/>
            </a:solidFill>
            <a:prstDash val="solid"/>
            <a:tailEnd type="triangle" w="med" len="med"/>
          </a:ln>
        </p:spPr>
      </p:cxnSp>
      <p:sp>
        <p:nvSpPr>
          <p:cNvPr id="24" name="text-0">
            <a:extLst xmlns:a="http://schemas.openxmlformats.org/drawingml/2006/main">
              <a:ext uri="{FF2B5EF4-FFF2-40B4-BE49-F238E27FC236}">
                <a16:creationId xmlns:a16="http://schemas.microsoft.com/office/drawing/2014/main" id="{ABE0ABB7-A26D-463C-9A20-3F31F5DBC7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" y="209550"/>
            <a:ext cx="8096250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55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defPPr>
          </a:lstStyle>
          <a:p xmlns:a="http://schemas.openxmlformats.org/drawingml/2006/main">
            <a:pPr algn="l">
              <a:defRPr sz="255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255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10  案例归纳与结构—性能关系</a:t>
            </a:r>
          </a:p>
        </p:txBody>
      </p:sp>
      <p:sp>
        <p:nvSpPr>
          <p:cNvPr id="2" name="text-1">
            <a:extLst xmlns:a="http://schemas.openxmlformats.org/drawingml/2006/main">
              <a:ext uri="{FF2B5EF4-FFF2-40B4-BE49-F238E27FC236}">
                <a16:creationId xmlns:a16="http://schemas.microsoft.com/office/drawing/2014/main" id="{56DCBEFD-3963-4352-8236-E4D75A89D5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" y="6372225"/>
            <a:ext cx="61912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125" b="0">
                <a:solidFill>
                  <a:srgbClr val="52636D"/>
                </a:solidFill>
                <a:latin typeface="微软雅黑"/>
                <a:ea typeface="微软雅黑"/>
                <a:cs typeface="微软雅黑"/>
              </a:defRPr>
            </a:defPPr>
          </a:lstStyle>
          <a:p xmlns:a="http://schemas.openxmlformats.org/drawingml/2006/main">
            <a:pPr algn="l">
              <a:defRPr sz="1125" b="0">
                <a:solidFill>
                  <a:srgbClr val="52636D"/>
                </a:solidFill>
                <a:latin typeface="微软雅黑"/>
                <a:ea typeface="微软雅黑"/>
                <a:cs typeface="微软雅黑"/>
              </a:defRPr>
            </a:pPr>
            <a:r>
              <a:rPr sz="1125" b="0">
                <a:solidFill>
                  <a:srgbClr val="52636D"/>
                </a:solidFill>
                <a:latin typeface="微软雅黑"/>
                <a:ea typeface="微软雅黑"/>
                <a:cs typeface="微软雅黑"/>
              </a:rPr>
              <a:t>材料与化工现代研究方法</a:t>
            </a:r>
          </a:p>
        </p:txBody>
      </p:sp>
      <p:sp>
        <p:nvSpPr>
          <p:cNvPr id="3" name="text-2">
            <a:extLst xmlns:a="http://schemas.openxmlformats.org/drawingml/2006/main">
              <a:ext uri="{FF2B5EF4-FFF2-40B4-BE49-F238E27FC236}">
                <a16:creationId xmlns:a16="http://schemas.microsoft.com/office/drawing/2014/main" id="{8DE42812-3682-4773-B80D-E340DA97D1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39325" y="6353175"/>
            <a:ext cx="47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275" b="0">
                <a:solidFill>
                  <a:srgbClr val="005B94"/>
                </a:solidFill>
                <a:latin typeface="微软雅黑"/>
                <a:ea typeface="微软雅黑"/>
                <a:cs typeface="微软雅黑"/>
              </a:defRPr>
            </a:defPPr>
          </a:lstStyle>
          <a:p xmlns:a="http://schemas.openxmlformats.org/drawingml/2006/main">
            <a:pPr algn="r">
              <a:defRPr sz="1275" b="0">
                <a:solidFill>
                  <a:srgbClr val="005B94"/>
                </a:solidFill>
                <a:latin typeface="微软雅黑"/>
                <a:ea typeface="微软雅黑"/>
                <a:cs typeface="微软雅黑"/>
              </a:defRPr>
            </a:pPr>
            <a:r>
              <a:rPr sz="1275" b="0">
                <a:solidFill>
                  <a:srgbClr val="005B94"/>
                </a:solidFill>
                <a:latin typeface="微软雅黑"/>
                <a:ea typeface="微软雅黑"/>
                <a:cs typeface="微软雅黑"/>
              </a:rPr>
              <a:t>11</a:t>
            </a:r>
          </a:p>
        </p:txBody>
      </p:sp>
      <p:sp>
        <p:nvSpPr>
          <p:cNvPr id="4" name="text-3">
            <a:extLst xmlns:a="http://schemas.openxmlformats.org/drawingml/2006/main">
              <a:ext uri="{FF2B5EF4-FFF2-40B4-BE49-F238E27FC236}">
                <a16:creationId xmlns:a16="http://schemas.microsoft.com/office/drawing/2014/main" id="{B7242AFF-0C73-4C86-9711-E6003ACFD8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" y="5943600"/>
            <a:ext cx="1123950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975" b="0">
                <a:solidFill>
                  <a:srgbClr val="52636D"/>
                </a:solidFill>
                <a:latin typeface="微软雅黑"/>
                <a:ea typeface="微软雅黑"/>
                <a:cs typeface="微软雅黑"/>
              </a:defRPr>
            </a:defPPr>
          </a:lstStyle>
          <a:p xmlns:a="http://schemas.openxmlformats.org/drawingml/2006/main">
            <a:pPr algn="l">
              <a:defRPr sz="975" b="0">
                <a:solidFill>
                  <a:srgbClr val="52636D"/>
                </a:solidFill>
                <a:latin typeface="微软雅黑"/>
                <a:ea typeface="微软雅黑"/>
                <a:cs typeface="微软雅黑"/>
              </a:defRPr>
            </a:pPr>
            <a:r>
              <a:rPr sz="975" b="0">
                <a:solidFill>
                  <a:srgbClr val="52636D"/>
                </a:solidFill>
                <a:latin typeface="微软雅黑"/>
                <a:ea typeface="微软雅黑"/>
                <a:cs typeface="微软雅黑"/>
              </a:rPr>
              <a:t>概念图概括文献[1]–[3]的证据关系；结构解释须结合辅助表征与性能测试</a:t>
            </a:r>
          </a:p>
        </p:txBody>
      </p:sp>
      <p:sp>
        <p:nvSpPr>
          <p:cNvPr id="5" name="text-4">
            <a:extLst xmlns:a="http://schemas.openxmlformats.org/drawingml/2006/main">
              <a:ext uri="{FF2B5EF4-FFF2-40B4-BE49-F238E27FC236}">
                <a16:creationId xmlns:a16="http://schemas.microsoft.com/office/drawing/2014/main" id="{5E212D72-EE62-4D42-9BCD-572D711FB8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1219200"/>
            <a:ext cx="2667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ctr">
              <a:defRPr sz="2025" b="1">
                <a:solidFill>
                  <a:srgbClr val="005B94"/>
                </a:solidFill>
                <a:latin typeface="微软雅黑"/>
                <a:ea typeface="微软雅黑"/>
                <a:cs typeface="微软雅黑"/>
              </a:defRPr>
            </a:defPPr>
          </a:lstStyle>
          <a:p xmlns:a="http://schemas.openxmlformats.org/drawingml/2006/main">
            <a:pPr algn="ctr">
              <a:defRPr sz="2025" b="1">
                <a:solidFill>
                  <a:srgbClr val="005B94"/>
                </a:solidFill>
                <a:latin typeface="微软雅黑"/>
                <a:ea typeface="微软雅黑"/>
                <a:cs typeface="微软雅黑"/>
              </a:defRPr>
            </a:pPr>
            <a:r>
              <a:rPr sz="2025" b="1">
                <a:solidFill>
                  <a:srgbClr val="005B94"/>
                </a:solidFill>
                <a:latin typeface="微软雅黑"/>
                <a:ea typeface="微软雅黑"/>
                <a:cs typeface="微软雅黑"/>
              </a:rPr>
              <a:t>研究对象</a:t>
            </a:r>
          </a:p>
        </p:txBody>
      </p:sp>
      <p:sp>
        <p:nvSpPr>
          <p:cNvPr id="6" name="text-5">
            <a:extLst xmlns:a="http://schemas.openxmlformats.org/drawingml/2006/main">
              <a:ext uri="{FF2B5EF4-FFF2-40B4-BE49-F238E27FC236}">
                <a16:creationId xmlns:a16="http://schemas.microsoft.com/office/drawing/2014/main" id="{D5F5F998-BAA6-4381-AF8F-1CC1DDD7B0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29075" y="1219200"/>
            <a:ext cx="3333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ctr">
              <a:defRPr sz="2025" b="1">
                <a:solidFill>
                  <a:srgbClr val="005B94"/>
                </a:solidFill>
                <a:latin typeface="微软雅黑"/>
                <a:ea typeface="微软雅黑"/>
                <a:cs typeface="微软雅黑"/>
              </a:defRPr>
            </a:defPPr>
          </a:lstStyle>
          <a:p xmlns:a="http://schemas.openxmlformats.org/drawingml/2006/main">
            <a:pPr algn="ctr">
              <a:defRPr sz="2025" b="1">
                <a:solidFill>
                  <a:srgbClr val="005B94"/>
                </a:solidFill>
                <a:latin typeface="微软雅黑"/>
                <a:ea typeface="微软雅黑"/>
                <a:cs typeface="微软雅黑"/>
              </a:defRPr>
            </a:pPr>
            <a:r>
              <a:rPr sz="2025" b="1">
                <a:solidFill>
                  <a:srgbClr val="005B94"/>
                </a:solidFill>
                <a:latin typeface="微软雅黑"/>
                <a:ea typeface="微软雅黑"/>
                <a:cs typeface="微软雅黑"/>
              </a:rPr>
              <a:t>XRD结构证据</a:t>
            </a:r>
          </a:p>
        </p:txBody>
      </p:sp>
      <p:sp>
        <p:nvSpPr>
          <p:cNvPr id="7" name="text-6">
            <a:extLst xmlns:a="http://schemas.openxmlformats.org/drawingml/2006/main">
              <a:ext uri="{FF2B5EF4-FFF2-40B4-BE49-F238E27FC236}">
                <a16:creationId xmlns:a16="http://schemas.microsoft.com/office/drawing/2014/main" id="{0C80E760-6610-4655-A4F8-192BFDE257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1219200"/>
            <a:ext cx="3143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ctr">
              <a:defRPr sz="2025" b="1">
                <a:solidFill>
                  <a:srgbClr val="005B94"/>
                </a:solidFill>
                <a:latin typeface="微软雅黑"/>
                <a:ea typeface="微软雅黑"/>
                <a:cs typeface="微软雅黑"/>
              </a:defRPr>
            </a:defPPr>
          </a:lstStyle>
          <a:p xmlns:a="http://schemas.openxmlformats.org/drawingml/2006/main">
            <a:pPr algn="ctr">
              <a:defRPr sz="2025" b="1">
                <a:solidFill>
                  <a:srgbClr val="005B94"/>
                </a:solidFill>
                <a:latin typeface="微软雅黑"/>
                <a:ea typeface="微软雅黑"/>
                <a:cs typeface="微软雅黑"/>
              </a:defRPr>
            </a:pPr>
            <a:r>
              <a:rPr sz="2025" b="1">
                <a:solidFill>
                  <a:srgbClr val="005B94"/>
                </a:solidFill>
                <a:latin typeface="微软雅黑"/>
                <a:ea typeface="微软雅黑"/>
                <a:cs typeface="微软雅黑"/>
              </a:rPr>
              <a:t>辅助表征与性能验证</a:t>
            </a:r>
          </a:p>
        </p:txBody>
      </p:sp>
      <p:sp>
        <p:nvSpPr>
          <p:cNvPr id="8" name="concept-7">
            <a:extLst xmlns:a="http://schemas.openxmlformats.org/drawingml/2006/main">
              <a:ext uri="{FF2B5EF4-FFF2-40B4-BE49-F238E27FC236}">
                <a16:creationId xmlns:a16="http://schemas.microsoft.com/office/drawing/2014/main" id="{5AF734DB-A395-465B-9590-8B72F34727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1838325"/>
            <a:ext cx="2667000" cy="885825"/>
          </a:xfrm>
          <a:prstGeom xmlns:a="http://schemas.openxmlformats.org/drawingml/2006/main" prst="roundRect">
            <a:avLst>
              <a:gd name="adj" fmla="val 8602"/>
            </a:avLst>
          </a:prstGeom>
          <a:solidFill xmlns:a="http://schemas.openxmlformats.org/drawingml/2006/main">
            <a:srgbClr val="F0F7FA"/>
          </a:solidFill>
          <a:ln xmlns:a="http://schemas.openxmlformats.org/drawingml/2006/main" w="14288">
            <a:solidFill>
              <a:srgbClr val="2BA3C0"/>
            </a:solidFill>
            <a:prstDash val="solid"/>
          </a:ln>
        </p:spPr>
        <p:txBody>
          <a:bodyPr xmlns:a="http://schemas.openxmlformats.org/drawingml/2006/main" lIns="114300" tIns="114300" rIns="114300" bIns="114300" anchor="ctr"/>
          <a:lstStyle xmlns:a="http://schemas.openxmlformats.org/drawingml/2006/main">
            <a:defPPr algn="ctr">
              <a:defRPr sz="1725" b="1">
                <a:solidFill>
                  <a:srgbClr val="203746"/>
                </a:solidFill>
                <a:latin typeface="微软雅黑"/>
                <a:ea typeface="微软雅黑"/>
                <a:cs typeface="微软雅黑"/>
              </a:defRPr>
            </a:defPPr>
          </a:lstStyle>
          <a:p xmlns:a="http://schemas.openxmlformats.org/drawingml/2006/main">
            <a:pPr algn="ctr">
              <a:defRPr sz="1725" b="1">
                <a:solidFill>
                  <a:srgbClr val="203746"/>
                </a:solidFill>
                <a:latin typeface="微软雅黑"/>
                <a:ea typeface="微软雅黑"/>
                <a:cs typeface="微软雅黑"/>
              </a:defRPr>
            </a:pPr>
            <a:r>
              <a:rPr sz="1725" b="1">
                <a:solidFill>
                  <a:srgbClr val="203746"/>
                </a:solidFill>
                <a:latin typeface="微软雅黑"/>
                <a:ea typeface="微软雅黑"/>
                <a:cs typeface="微软雅黑"/>
              </a:rPr>
              <a:t>COF电池正极</a:t>
            </a:r>
          </a:p>
          <a:p xmlns:a="http://schemas.openxmlformats.org/drawingml/2006/main">
            <a:pPr algn="ctr">
              <a:defRPr sz="1725" b="1">
                <a:solidFill>
                  <a:srgbClr val="203746"/>
                </a:solidFill>
                <a:latin typeface="微软雅黑"/>
                <a:ea typeface="微软雅黑"/>
                <a:cs typeface="微软雅黑"/>
              </a:defRPr>
            </a:pPr>
            <a:r>
              <a:rPr sz="1725" b="1">
                <a:solidFill>
                  <a:srgbClr val="203746"/>
                </a:solidFill>
                <a:latin typeface="微软雅黑"/>
                <a:ea typeface="微软雅黑"/>
                <a:cs typeface="微软雅黑"/>
              </a:rPr>
              <a:t>TT / Np-TPDA-COF</a:t>
            </a:r>
          </a:p>
        </p:txBody>
      </p:sp>
      <p:sp>
        <p:nvSpPr>
          <p:cNvPr id="9" name="concept-8">
            <a:extLst xmlns:a="http://schemas.openxmlformats.org/drawingml/2006/main">
              <a:ext uri="{FF2B5EF4-FFF2-40B4-BE49-F238E27FC236}">
                <a16:creationId xmlns:a16="http://schemas.microsoft.com/office/drawing/2014/main" id="{E9ABC748-A816-4303-BD5C-6F8D1320D8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29075" y="1838325"/>
            <a:ext cx="3333750" cy="885825"/>
          </a:xfrm>
          <a:prstGeom xmlns:a="http://schemas.openxmlformats.org/drawingml/2006/main" prst="roundRect">
            <a:avLst>
              <a:gd name="adj" fmla="val 8602"/>
            </a:avLst>
          </a:prstGeom>
          <a:solidFill xmlns:a="http://schemas.openxmlformats.org/drawingml/2006/main">
            <a:srgbClr val="E3F2F7"/>
          </a:solidFill>
          <a:ln xmlns:a="http://schemas.openxmlformats.org/drawingml/2006/main" w="14288">
            <a:solidFill>
              <a:srgbClr val="2BA3C0"/>
            </a:solidFill>
            <a:prstDash val="solid"/>
          </a:ln>
        </p:spPr>
        <p:txBody>
          <a:bodyPr xmlns:a="http://schemas.openxmlformats.org/drawingml/2006/main" lIns="114300" tIns="114300" rIns="114300" bIns="114300" anchor="ctr"/>
          <a:lstStyle xmlns:a="http://schemas.openxmlformats.org/drawingml/2006/main">
            <a:defPPr algn="ctr">
              <a:defRPr sz="1725" b="1">
                <a:solidFill>
                  <a:srgbClr val="203746"/>
                </a:solidFill>
                <a:latin typeface="微软雅黑"/>
                <a:ea typeface="微软雅黑"/>
                <a:cs typeface="微软雅黑"/>
              </a:defRPr>
            </a:defPPr>
          </a:lstStyle>
          <ns0:p xmlns:ns0="http://schemas.openxmlformats.org/drawingml/2006/main">
            <ns0:pPr algn="ctr">
              <ns0:defRPr sz="1725" b="1">
                <ns0:solidFill>
                  <ns0:srgbClr val="203746"/>
                </ns0:solidFill>
                <ns0:latin typeface="微软雅黑"/>
                <ns0:ea typeface="微软雅黑"/>
                <ns0:cs typeface="微软雅黑"/>
              </ns0:defRPr>
            </ns0:pPr>
            <ns0:r>
              <ns0:rPr sz="1725" b="1">
                <ns0:solidFill>
                  <ns0:srgbClr val="203746"/>
                </ns0:solidFill>
                <ns0:latin typeface="微软雅黑"/>
                <ns0:ea typeface="微软雅黑"/>
                <ns0:cs typeface="微软雅黑"/>
              </ns0:rPr>
              <ns0:t>实验与模拟图谱匹配</ns0:t>
            </ns0:r>
          </ns0:p>
          <ns1:p xmlns:ns1="http://schemas.openxmlformats.org/drawingml/2006/main">
            <ns1:pPr algn="ctr">
              <ns1:defRPr sz="1725" b="1">
                <ns1:solidFill>
                  <ns1:srgbClr val="203746"/>
                </ns1:solidFill>
                <ns1:latin typeface="微软雅黑"/>
                <ns1:ea typeface="微软雅黑"/>
                <ns1:cs typeface="微软雅黑"/>
              </ns1:defRPr>
            </ns1:pPr>
            <ns1:r>
              <ns1:rPr sz="1725" b="1">
                <ns1:solidFill>
                  <ns1:srgbClr val="203746"/>
                </ns1:solidFill>
                <ns1:latin typeface="微软雅黑"/>
                <ns1:ea typeface="微软雅黑"/>
                <ns1:cs typeface="微软雅黑"/>
              </ns1:rPr>
              <ns1:t>结合其他证据分析堆积</ns1:t>
            </ns1:r>
          </ns1:p>
        </p:txBody>
      </p:sp>
      <p:sp>
        <p:nvSpPr>
          <p:cNvPr id="10" name="concept-9">
            <a:extLst xmlns:a="http://schemas.openxmlformats.org/drawingml/2006/main">
              <a:ext uri="{FF2B5EF4-FFF2-40B4-BE49-F238E27FC236}">
                <a16:creationId xmlns:a16="http://schemas.microsoft.com/office/drawing/2014/main" id="{764F1E6B-E6B6-4E90-91E9-F70E3F66E1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1838325"/>
            <a:ext cx="3143250" cy="885825"/>
          </a:xfrm>
          <a:prstGeom xmlns:a="http://schemas.openxmlformats.org/drawingml/2006/main" prst="roundRect">
            <a:avLst>
              <a:gd name="adj" fmla="val 8602"/>
            </a:avLst>
          </a:prstGeom>
          <a:solidFill xmlns:a="http://schemas.openxmlformats.org/drawingml/2006/main">
            <a:srgbClr val="F0F7FA"/>
          </a:solidFill>
          <a:ln xmlns:a="http://schemas.openxmlformats.org/drawingml/2006/main" w="14288">
            <a:solidFill>
              <a:srgbClr val="2BA3C0"/>
            </a:solidFill>
            <a:prstDash val="solid"/>
          </a:ln>
        </p:spPr>
        <p:txBody>
          <a:bodyPr xmlns:a="http://schemas.openxmlformats.org/drawingml/2006/main" lIns="114300" tIns="114300" rIns="114300" bIns="114300" anchor="ctr"/>
          <a:lstStyle xmlns:a="http://schemas.openxmlformats.org/drawingml/2006/main">
            <a:defPPr algn="ctr">
              <a:defRPr sz="1725" b="1">
                <a:solidFill>
                  <a:srgbClr val="203746"/>
                </a:solidFill>
                <a:latin typeface="微软雅黑"/>
                <a:ea typeface="微软雅黑"/>
                <a:cs typeface="微软雅黑"/>
              </a:defRPr>
            </a:defPPr>
          </a:lstStyle>
          <a:p xmlns:a="http://schemas.openxmlformats.org/drawingml/2006/main">
            <a:pPr algn="ctr">
              <a:defRPr sz="1725" b="1">
                <a:solidFill>
                  <a:srgbClr val="203746"/>
                </a:solidFill>
                <a:latin typeface="微软雅黑"/>
                <a:ea typeface="微软雅黑"/>
                <a:cs typeface="微软雅黑"/>
              </a:defRPr>
            </a:pPr>
            <a:r>
              <a:rPr sz="1725" b="1">
                <a:solidFill>
                  <a:srgbClr val="203746"/>
                </a:solidFill>
                <a:latin typeface="微软雅黑"/>
                <a:ea typeface="微软雅黑"/>
                <a:cs typeface="微软雅黑"/>
              </a:rPr>
              <a:t>充放电、导电性测试</a:t>
            </a:r>
          </a:p>
          <a:p xmlns:a="http://schemas.openxmlformats.org/drawingml/2006/main">
            <a:pPr algn="ctr">
              <a:defRPr sz="1725" b="1">
                <a:solidFill>
                  <a:srgbClr val="203746"/>
                </a:solidFill>
                <a:latin typeface="微软雅黑"/>
                <a:ea typeface="微软雅黑"/>
                <a:cs typeface="微软雅黑"/>
              </a:defRPr>
            </a:pPr>
            <a:r>
              <a:rPr sz="1725" b="1">
                <a:solidFill>
                  <a:srgbClr val="203746"/>
                </a:solidFill>
                <a:latin typeface="微软雅黑"/>
                <a:ea typeface="微软雅黑"/>
                <a:cs typeface="微软雅黑"/>
              </a:rPr>
              <a:t>分析电池储能性能</a:t>
            </a:r>
          </a:p>
        </p:txBody>
      </p:sp>
      <p:sp>
        <p:nvSpPr>
          <p:cNvPr id="12" name="text-11">
            <a:extLst xmlns:a="http://schemas.openxmlformats.org/drawingml/2006/main">
              <a:ext uri="{FF2B5EF4-FFF2-40B4-BE49-F238E27FC236}">
                <a16:creationId xmlns:a16="http://schemas.microsoft.com/office/drawing/2014/main" id="{D1A3293F-A9CD-4DEE-BC67-116BE32718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77150" y="2076450"/>
            <a:ext cx="5143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ctr">
              <a:defRPr sz="2550" b="1">
                <a:solidFill>
                  <a:srgbClr val="2BA3C0"/>
                </a:solidFill>
                <a:latin typeface="微软雅黑"/>
                <a:ea typeface="微软雅黑"/>
                <a:cs typeface="微软雅黑"/>
              </a:defRPr>
            </a:defPPr>
          </a:lstStyle>
          <a:p xmlns:a="http://schemas.openxmlformats.org/drawingml/2006/main">
            <a:pPr algn="ctr">
              <a:defRPr sz="2550" b="1">
                <a:solidFill>
                  <a:srgbClr val="2BA3C0"/>
                </a:solidFill>
                <a:latin typeface="微软雅黑"/>
                <a:ea typeface="微软雅黑"/>
                <a:cs typeface="微软雅黑"/>
              </a:defRPr>
            </a:pPr>
            <a:r>
              <a:rPr sz="2550" b="1">
                <a:solidFill>
                  <a:srgbClr val="2BA3C0"/>
                </a:solidFill>
                <a:latin typeface="微软雅黑"/>
                <a:ea typeface="微软雅黑"/>
                <a:cs typeface="微软雅黑"/>
              </a:rPr>
              <a:t>＋</a:t>
            </a:r>
          </a:p>
        </p:txBody>
      </p:sp>
      <p:sp>
        <p:nvSpPr>
          <p:cNvPr id="13" name="concept-12">
            <a:extLst xmlns:a="http://schemas.openxmlformats.org/drawingml/2006/main">
              <a:ext uri="{FF2B5EF4-FFF2-40B4-BE49-F238E27FC236}">
                <a16:creationId xmlns:a16="http://schemas.microsoft.com/office/drawing/2014/main" id="{B0AD07AE-F47C-4F75-99C5-3C7F3C9996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990850"/>
            <a:ext cx="2667000" cy="885825"/>
          </a:xfrm>
          <a:prstGeom xmlns:a="http://schemas.openxmlformats.org/drawingml/2006/main" prst="roundRect">
            <a:avLst>
              <a:gd name="adj" fmla="val 8602"/>
            </a:avLst>
          </a:prstGeom>
          <a:solidFill xmlns:a="http://schemas.openxmlformats.org/drawingml/2006/main">
            <a:srgbClr val="F0F7FA"/>
          </a:solidFill>
          <a:ln xmlns:a="http://schemas.openxmlformats.org/drawingml/2006/main" w="14288">
            <a:solidFill>
              <a:srgbClr val="2BA3C0"/>
            </a:solidFill>
            <a:prstDash val="solid"/>
          </a:ln>
        </p:spPr>
        <p:txBody>
          <a:bodyPr xmlns:a="http://schemas.openxmlformats.org/drawingml/2006/main" lIns="114300" tIns="114300" rIns="114300" bIns="114300" anchor="ctr"/>
          <a:lstStyle xmlns:a="http://schemas.openxmlformats.org/drawingml/2006/main">
            <a:defPPr algn="ctr">
              <a:defRPr sz="1725" b="1">
                <a:solidFill>
                  <a:srgbClr val="203746"/>
                </a:solidFill>
                <a:latin typeface="微软雅黑"/>
                <a:ea typeface="微软雅黑"/>
                <a:cs typeface="微软雅黑"/>
              </a:defRPr>
            </a:defPPr>
          </a:lstStyle>
          <a:p xmlns:a="http://schemas.openxmlformats.org/drawingml/2006/main">
            <a:pPr algn="ctr">
              <a:defRPr sz="1725" b="1">
                <a:solidFill>
                  <a:srgbClr val="203746"/>
                </a:solidFill>
                <a:latin typeface="微软雅黑"/>
                <a:ea typeface="微软雅黑"/>
                <a:cs typeface="微软雅黑"/>
              </a:defRPr>
            </a:pPr>
            <a:r>
              <a:rPr sz="1725" b="1">
                <a:solidFill>
                  <a:srgbClr val="203746"/>
                </a:solidFill>
                <a:latin typeface="微软雅黑"/>
                <a:ea typeface="微软雅黑"/>
                <a:cs typeface="微软雅黑"/>
              </a:rPr>
              <a:t>超小UiO-66纳米晶</a:t>
            </a:r>
          </a:p>
          <a:p xmlns:a="http://schemas.openxmlformats.org/drawingml/2006/main">
            <a:pPr algn="ctr">
              <a:defRPr sz="1725" b="1">
                <a:solidFill>
                  <a:srgbClr val="203746"/>
                </a:solidFill>
                <a:latin typeface="微软雅黑"/>
                <a:ea typeface="微软雅黑"/>
                <a:cs typeface="微软雅黑"/>
              </a:defRPr>
            </a:pPr>
            <a:r>
              <a:rPr sz="1725" b="1">
                <a:solidFill>
                  <a:srgbClr val="203746"/>
                </a:solidFill>
                <a:latin typeface="微软雅黑"/>
                <a:ea typeface="微软雅黑"/>
                <a:cs typeface="微软雅黑"/>
              </a:rPr>
              <a:t>MOF催化材料</a:t>
            </a:r>
          </a:p>
        </p:txBody>
      </p:sp>
      <p:sp>
        <p:nvSpPr>
          <p:cNvPr id="14" name="concept-13">
            <a:extLst xmlns:a="http://schemas.openxmlformats.org/drawingml/2006/main">
              <a:ext uri="{FF2B5EF4-FFF2-40B4-BE49-F238E27FC236}">
                <a16:creationId xmlns:a16="http://schemas.microsoft.com/office/drawing/2014/main" id="{71CD243B-2DED-4756-AE63-61E23A2698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29075" y="2990850"/>
            <a:ext cx="3333750" cy="885825"/>
          </a:xfrm>
          <a:prstGeom xmlns:a="http://schemas.openxmlformats.org/drawingml/2006/main" prst="roundRect">
            <a:avLst>
              <a:gd name="adj" fmla="val 8602"/>
            </a:avLst>
          </a:prstGeom>
          <a:solidFill xmlns:a="http://schemas.openxmlformats.org/drawingml/2006/main">
            <a:srgbClr val="E3F2F7"/>
          </a:solidFill>
          <a:ln xmlns:a="http://schemas.openxmlformats.org/drawingml/2006/main" w="14288">
            <a:solidFill>
              <a:srgbClr val="2BA3C0"/>
            </a:solidFill>
            <a:prstDash val="solid"/>
          </a:ln>
        </p:spPr>
        <p:txBody>
          <a:bodyPr xmlns:a="http://schemas.openxmlformats.org/drawingml/2006/main" lIns="114300" tIns="114300" rIns="114300" bIns="114300" anchor="ctr"/>
          <a:lstStyle xmlns:a="http://schemas.openxmlformats.org/drawingml/2006/main">
            <a:defPPr algn="ctr">
              <a:defRPr sz="1725" b="1">
                <a:solidFill>
                  <a:srgbClr val="203746"/>
                </a:solidFill>
                <a:latin typeface="微软雅黑"/>
                <a:ea typeface="微软雅黑"/>
                <a:cs typeface="微软雅黑"/>
              </a:defRPr>
            </a:defPPr>
          </a:lstStyle>
          <a:p xmlns:a="http://schemas.openxmlformats.org/drawingml/2006/main">
            <a:pPr algn="ctr">
              <a:defRPr sz="1725" b="1">
                <a:solidFill>
                  <a:srgbClr val="203746"/>
                </a:solidFill>
                <a:latin typeface="微软雅黑"/>
                <a:ea typeface="微软雅黑"/>
                <a:cs typeface="微软雅黑"/>
              </a:defRPr>
            </a:pPr>
            <a:r>
              <a:rPr sz="1725" b="1">
                <a:solidFill>
                  <a:srgbClr val="203746"/>
                </a:solidFill>
                <a:latin typeface="微软雅黑"/>
                <a:ea typeface="微软雅黑"/>
                <a:cs typeface="微软雅黑"/>
              </a:rPr>
              <a:t>衍射峰展宽</a:t>
            </a:r>
          </a:p>
          <a:p xmlns:a="http://schemas.openxmlformats.org/drawingml/2006/main">
            <a:pPr algn="ctr">
              <a:defRPr sz="1725" b="1">
                <a:solidFill>
                  <a:srgbClr val="203746"/>
                </a:solidFill>
                <a:latin typeface="微软雅黑"/>
                <a:ea typeface="微软雅黑"/>
                <a:cs typeface="微软雅黑"/>
              </a:defRPr>
            </a:pPr>
            <a:r>
              <a:rPr sz="1725" b="1">
                <a:solidFill>
                  <a:srgbClr val="203746"/>
                </a:solidFill>
                <a:latin typeface="微软雅黑"/>
                <a:ea typeface="微软雅黑"/>
                <a:cs typeface="微软雅黑"/>
              </a:rPr>
              <a:t>结合TEM分析尺寸变化</a:t>
            </a:r>
          </a:p>
        </p:txBody>
      </p:sp>
      <p:sp>
        <p:nvSpPr>
          <p:cNvPr id="15" name="concept-14">
            <a:extLst xmlns:a="http://schemas.openxmlformats.org/drawingml/2006/main">
              <a:ext uri="{FF2B5EF4-FFF2-40B4-BE49-F238E27FC236}">
                <a16:creationId xmlns:a16="http://schemas.microsoft.com/office/drawing/2014/main" id="{9E021AD7-3397-42B4-B6F4-738F0FCB5D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2990850"/>
            <a:ext cx="3143250" cy="885825"/>
          </a:xfrm>
          <a:prstGeom xmlns:a="http://schemas.openxmlformats.org/drawingml/2006/main" prst="roundRect">
            <a:avLst>
              <a:gd name="adj" fmla="val 8602"/>
            </a:avLst>
          </a:prstGeom>
          <a:solidFill xmlns:a="http://schemas.openxmlformats.org/drawingml/2006/main">
            <a:srgbClr val="F0F7FA"/>
          </a:solidFill>
          <a:ln xmlns:a="http://schemas.openxmlformats.org/drawingml/2006/main" w="14288">
            <a:solidFill>
              <a:srgbClr val="2BA3C0"/>
            </a:solidFill>
            <a:prstDash val="solid"/>
          </a:ln>
        </p:spPr>
        <p:txBody>
          <a:bodyPr xmlns:a="http://schemas.openxmlformats.org/drawingml/2006/main" lIns="114300" tIns="114300" rIns="114300" bIns="114300" anchor="ctr"/>
          <a:lstStyle xmlns:a="http://schemas.openxmlformats.org/drawingml/2006/main">
            <a:defPPr algn="ctr">
              <a:defRPr sz="1725" b="1">
                <a:solidFill>
                  <a:srgbClr val="203746"/>
                </a:solidFill>
                <a:latin typeface="微软雅黑"/>
                <a:ea typeface="微软雅黑"/>
                <a:cs typeface="微软雅黑"/>
              </a:defRPr>
            </a:defPPr>
          </a:lstStyle>
          <a:p xmlns:a="http://schemas.openxmlformats.org/drawingml/2006/main">
            <a:pPr algn="ctr">
              <a:defRPr sz="1725" b="1">
                <a:solidFill>
                  <a:srgbClr val="203746"/>
                </a:solidFill>
                <a:latin typeface="微软雅黑"/>
                <a:ea typeface="微软雅黑"/>
                <a:cs typeface="微软雅黑"/>
              </a:defRPr>
            </a:pPr>
            <a:r>
              <a:rPr sz="1725" b="1">
                <a:solidFill>
                  <a:srgbClr val="203746"/>
                </a:solidFill>
                <a:latin typeface="微软雅黑"/>
                <a:ea typeface="微软雅黑"/>
                <a:cs typeface="微软雅黑"/>
              </a:rPr>
              <a:t>热分析及组成表征</a:t>
            </a:r>
          </a:p>
          <a:p xmlns:a="http://schemas.openxmlformats.org/drawingml/2006/main">
            <a:pPr algn="ctr">
              <a:defRPr sz="1725" b="1">
                <a:solidFill>
                  <a:srgbClr val="203746"/>
                </a:solidFill>
                <a:latin typeface="微软雅黑"/>
                <a:ea typeface="微软雅黑"/>
                <a:cs typeface="微软雅黑"/>
              </a:defRPr>
            </a:pPr>
            <a:r>
              <a:rPr sz="1725" b="1">
                <a:solidFill>
                  <a:srgbClr val="203746"/>
                </a:solidFill>
                <a:latin typeface="微软雅黑"/>
                <a:ea typeface="微软雅黑"/>
                <a:cs typeface="微软雅黑"/>
              </a:rPr>
              <a:t>催化性能测试</a:t>
            </a:r>
          </a:p>
        </p:txBody>
      </p:sp>
      <p:sp>
        <p:nvSpPr>
          <p:cNvPr id="17" name="text-16">
            <a:extLst xmlns:a="http://schemas.openxmlformats.org/drawingml/2006/main">
              <a:ext uri="{FF2B5EF4-FFF2-40B4-BE49-F238E27FC236}">
                <a16:creationId xmlns:a16="http://schemas.microsoft.com/office/drawing/2014/main" id="{BF18B9AD-1B52-4E9A-B0A4-9E58F85A75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77150" y="3228975"/>
            <a:ext cx="5143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ctr">
              <a:defRPr sz="2550" b="1">
                <a:solidFill>
                  <a:srgbClr val="2BA3C0"/>
                </a:solidFill>
                <a:latin typeface="微软雅黑"/>
                <a:ea typeface="微软雅黑"/>
                <a:cs typeface="微软雅黑"/>
              </a:defRPr>
            </a:defPPr>
          </a:lstStyle>
          <a:p xmlns:a="http://schemas.openxmlformats.org/drawingml/2006/main">
            <a:pPr algn="ctr">
              <a:defRPr sz="2550" b="1">
                <a:solidFill>
                  <a:srgbClr val="2BA3C0"/>
                </a:solidFill>
                <a:latin typeface="微软雅黑"/>
                <a:ea typeface="微软雅黑"/>
                <a:cs typeface="微软雅黑"/>
              </a:defRPr>
            </a:pPr>
            <a:r>
              <a:rPr sz="2550" b="1">
                <a:solidFill>
                  <a:srgbClr val="2BA3C0"/>
                </a:solidFill>
                <a:latin typeface="微软雅黑"/>
                <a:ea typeface="微软雅黑"/>
                <a:cs typeface="微软雅黑"/>
              </a:rPr>
              <a:t>＋</a:t>
            </a:r>
          </a:p>
        </p:txBody>
      </p:sp>
      <p:sp>
        <p:nvSpPr>
          <p:cNvPr id="18" name="concept-17">
            <a:extLst xmlns:a="http://schemas.openxmlformats.org/drawingml/2006/main">
              <a:ext uri="{FF2B5EF4-FFF2-40B4-BE49-F238E27FC236}">
                <a16:creationId xmlns:a16="http://schemas.microsoft.com/office/drawing/2014/main" id="{F8866126-7CCA-4A06-AD61-F9C3A3FE71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4143375"/>
            <a:ext cx="2667000" cy="885825"/>
          </a:xfrm>
          <a:prstGeom xmlns:a="http://schemas.openxmlformats.org/drawingml/2006/main" prst="roundRect">
            <a:avLst>
              <a:gd name="adj" fmla="val 8602"/>
            </a:avLst>
          </a:prstGeom>
          <a:solidFill xmlns:a="http://schemas.openxmlformats.org/drawingml/2006/main">
            <a:srgbClr val="F0F7FA"/>
          </a:solidFill>
          <a:ln xmlns:a="http://schemas.openxmlformats.org/drawingml/2006/main" w="14288">
            <a:solidFill>
              <a:srgbClr val="2BA3C0"/>
            </a:solidFill>
            <a:prstDash val="solid"/>
          </a:ln>
        </p:spPr>
        <p:txBody>
          <a:bodyPr xmlns:a="http://schemas.openxmlformats.org/drawingml/2006/main" lIns="114300" tIns="114300" rIns="114300" bIns="114300" anchor="ctr"/>
          <a:lstStyle xmlns:a="http://schemas.openxmlformats.org/drawingml/2006/main">
            <a:defPPr algn="ctr">
              <a:defRPr sz="1725" b="1">
                <a:solidFill>
                  <a:srgbClr val="203746"/>
                </a:solidFill>
                <a:latin typeface="微软雅黑"/>
                <a:ea typeface="微软雅黑"/>
                <a:cs typeface="微软雅黑"/>
              </a:defRPr>
            </a:defPPr>
          </a:lstStyle>
          <a:p xmlns:a="http://schemas.openxmlformats.org/drawingml/2006/main">
            <a:pPr algn="ctr">
              <a:defRPr sz="1725" b="1">
                <a:solidFill>
                  <a:srgbClr val="203746"/>
                </a:solidFill>
                <a:latin typeface="微软雅黑"/>
                <a:ea typeface="微软雅黑"/>
                <a:cs typeface="微软雅黑"/>
              </a:defRPr>
            </a:pPr>
            <a:r>
              <a:rPr sz="1725" b="1">
                <a:solidFill>
                  <a:srgbClr val="203746"/>
                </a:solidFill>
                <a:latin typeface="微软雅黑"/>
                <a:ea typeface="微软雅黑"/>
                <a:cs typeface="微软雅黑"/>
              </a:rPr>
              <a:t>反平行堆积ACOF-1</a:t>
            </a:r>
          </a:p>
          <a:p xmlns:a="http://schemas.openxmlformats.org/drawingml/2006/main">
            <a:pPr algn="ctr">
              <a:defRPr sz="1725" b="1">
                <a:solidFill>
                  <a:srgbClr val="203746"/>
                </a:solidFill>
                <a:latin typeface="微软雅黑"/>
                <a:ea typeface="微软雅黑"/>
                <a:cs typeface="微软雅黑"/>
              </a:defRPr>
            </a:pPr>
            <a:r>
              <a:rPr sz="1725" b="1">
                <a:solidFill>
                  <a:srgbClr val="203746"/>
                </a:solidFill>
                <a:latin typeface="微软雅黑"/>
                <a:ea typeface="微软雅黑"/>
                <a:cs typeface="微软雅黑"/>
              </a:rPr>
              <a:t>COF碘吸附材料</a:t>
            </a:r>
          </a:p>
        </p:txBody>
      </p:sp>
      <p:sp>
        <p:nvSpPr>
          <p:cNvPr id="19" name="concept-18">
            <a:extLst xmlns:a="http://schemas.openxmlformats.org/drawingml/2006/main">
              <a:ext uri="{FF2B5EF4-FFF2-40B4-BE49-F238E27FC236}">
                <a16:creationId xmlns:a16="http://schemas.microsoft.com/office/drawing/2014/main" id="{939A51C0-D841-457A-91D3-4A7BEE6F37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29075" y="4143375"/>
            <a:ext cx="3333750" cy="885825"/>
          </a:xfrm>
          <a:prstGeom xmlns:a="http://schemas.openxmlformats.org/drawingml/2006/main" prst="roundRect">
            <a:avLst>
              <a:gd name="adj" fmla="val 8602"/>
            </a:avLst>
          </a:prstGeom>
          <a:solidFill xmlns:a="http://schemas.openxmlformats.org/drawingml/2006/main">
            <a:srgbClr val="E3F2F7"/>
          </a:solidFill>
          <a:ln xmlns:a="http://schemas.openxmlformats.org/drawingml/2006/main" w="14288">
            <a:solidFill>
              <a:srgbClr val="2BA3C0"/>
            </a:solidFill>
            <a:prstDash val="solid"/>
          </a:ln>
        </p:spPr>
        <p:txBody>
          <a:bodyPr xmlns:a="http://schemas.openxmlformats.org/drawingml/2006/main" lIns="114300" tIns="114300" rIns="114300" bIns="114300" anchor="ctr"/>
          <a:lstStyle xmlns:a="http://schemas.openxmlformats.org/drawingml/2006/main">
            <a:defPPr algn="ctr">
              <a:defRPr sz="1725" b="1">
                <a:solidFill>
                  <a:srgbClr val="203746"/>
                </a:solidFill>
                <a:latin typeface="微软雅黑"/>
                <a:ea typeface="微软雅黑"/>
                <a:cs typeface="微软雅黑"/>
              </a:defRPr>
            </a:defPPr>
          </a:lstStyle>
          <ns2:p xmlns:ns2="http://schemas.openxmlformats.org/drawingml/2006/main">
            <ns2:pPr algn="ctr">
              <ns2:defRPr sz="1725" b="1">
                <ns2:solidFill>
                  <ns2:srgbClr val="203746"/>
                </ns2:solidFill>
                <ns2:latin typeface="微软雅黑"/>
                <ns2:ea typeface="微软雅黑"/>
                <ns2:cs typeface="微软雅黑"/>
              </ns2:defRPr>
            </ns2:pPr>
            <ns2:r>
              <ns2:rPr sz="1725" b="1">
                <ns2:solidFill>
                  <ns2:srgbClr val="203746"/>
                </ns2:solidFill>
                <ns2:latin typeface="微软雅黑"/>
                <ns2:ea typeface="微软雅黑"/>
                <ns2:cs typeface="微软雅黑"/>
              </ns2:rPr>
              <ns2:t>多峰匹配与全谱拟合</ns2:t>
            </ns2:r>
          </ns2:p>
          <ns3:p xmlns:ns3="http://schemas.openxmlformats.org/drawingml/2006/main">
            <ns3:pPr algn="ctr">
              <ns3:defRPr sz="1725" b="1">
                <ns3:solidFill>
                  <ns3:srgbClr val="203746"/>
                </ns3:solidFill>
                <ns3:latin typeface="微软雅黑"/>
                <ns3:ea typeface="微软雅黑"/>
                <ns3:cs typeface="微软雅黑"/>
              </ns3:defRPr>
            </ns3:pPr>
            <ns3:r>
              <ns3:rPr sz="1725" b="1">
                <ns3:solidFill>
                  <ns3:srgbClr val="203746"/>
                </ns3:solidFill>
                <ns3:latin typeface="微软雅黑"/>
                <ns3:ea typeface="微软雅黑"/>
                <ns3:cs typeface="微软雅黑"/>
              </ns3:rPr>
              <ns3:t>结合其他证据分析堆积</ns3:t>
            </ns3:r>
          </ns3:p>
        </p:txBody>
      </p:sp>
      <p:sp>
        <p:nvSpPr>
          <p:cNvPr id="20" name="concept-19">
            <a:extLst xmlns:a="http://schemas.openxmlformats.org/drawingml/2006/main">
              <a:ext uri="{FF2B5EF4-FFF2-40B4-BE49-F238E27FC236}">
                <a16:creationId xmlns:a16="http://schemas.microsoft.com/office/drawing/2014/main" id="{BBBDF2C2-97BA-4983-93C4-14F8A956B4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4143375"/>
            <a:ext cx="3143250" cy="885825"/>
          </a:xfrm>
          <a:prstGeom xmlns:a="http://schemas.openxmlformats.org/drawingml/2006/main" prst="roundRect">
            <a:avLst>
              <a:gd name="adj" fmla="val 8602"/>
            </a:avLst>
          </a:prstGeom>
          <a:solidFill xmlns:a="http://schemas.openxmlformats.org/drawingml/2006/main">
            <a:srgbClr val="F0F7FA"/>
          </a:solidFill>
          <a:ln xmlns:a="http://schemas.openxmlformats.org/drawingml/2006/main" w="14288">
            <a:solidFill>
              <a:srgbClr val="2BA3C0"/>
            </a:solidFill>
            <a:prstDash val="solid"/>
          </a:ln>
        </p:spPr>
        <p:txBody>
          <a:bodyPr xmlns:a="http://schemas.openxmlformats.org/drawingml/2006/main" lIns="114300" tIns="114300" rIns="114300" bIns="114300" anchor="ctr"/>
          <a:lstStyle xmlns:a="http://schemas.openxmlformats.org/drawingml/2006/main">
            <a:defPPr algn="ctr">
              <a:defRPr sz="1725" b="1">
                <a:solidFill>
                  <a:srgbClr val="203746"/>
                </a:solidFill>
                <a:latin typeface="微软雅黑"/>
                <a:ea typeface="微软雅黑"/>
                <a:cs typeface="微软雅黑"/>
              </a:defRPr>
            </a:defPPr>
          </a:lstStyle>
          <a:p xmlns:a="http://schemas.openxmlformats.org/drawingml/2006/main">
            <a:pPr algn="ctr">
              <a:defRPr sz="1725" b="1">
                <a:solidFill>
                  <a:srgbClr val="203746"/>
                </a:solidFill>
                <a:latin typeface="微软雅黑"/>
                <a:ea typeface="微软雅黑"/>
                <a:cs typeface="微软雅黑"/>
              </a:defRPr>
            </a:pPr>
            <a:r>
              <a:rPr sz="1725" b="1">
                <a:solidFill>
                  <a:srgbClr val="203746"/>
                </a:solidFill>
                <a:latin typeface="微软雅黑"/>
                <a:ea typeface="微软雅黑"/>
                <a:cs typeface="微软雅黑"/>
              </a:rPr>
              <a:t>光谱、显微和吸附测试</a:t>
            </a:r>
          </a:p>
          <a:p xmlns:a="http://schemas.openxmlformats.org/drawingml/2006/main">
            <a:pPr algn="ctr">
              <a:defRPr sz="1725" b="1">
                <a:solidFill>
                  <a:srgbClr val="203746"/>
                </a:solidFill>
                <a:latin typeface="微软雅黑"/>
                <a:ea typeface="微软雅黑"/>
                <a:cs typeface="微软雅黑"/>
              </a:defRPr>
            </a:pPr>
            <a:r>
              <a:rPr sz="1725" b="1">
                <a:solidFill>
                  <a:srgbClr val="203746"/>
                </a:solidFill>
                <a:latin typeface="微软雅黑"/>
                <a:ea typeface="微软雅黑"/>
                <a:cs typeface="微软雅黑"/>
              </a:rPr>
              <a:t>评价碘捕获能力</a:t>
            </a:r>
          </a:p>
        </p:txBody>
      </p:sp>
      <p:sp>
        <p:nvSpPr>
          <p:cNvPr id="22" name="text-21">
            <a:extLst xmlns:a="http://schemas.openxmlformats.org/drawingml/2006/main">
              <a:ext uri="{FF2B5EF4-FFF2-40B4-BE49-F238E27FC236}">
                <a16:creationId xmlns:a16="http://schemas.microsoft.com/office/drawing/2014/main" id="{0B94C823-7387-48FC-8935-FF08F7A431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77150" y="4381500"/>
            <a:ext cx="5143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ctr">
              <a:defRPr sz="2550" b="1">
                <a:solidFill>
                  <a:srgbClr val="2BA3C0"/>
                </a:solidFill>
                <a:latin typeface="微软雅黑"/>
                <a:ea typeface="微软雅黑"/>
                <a:cs typeface="微软雅黑"/>
              </a:defRPr>
            </a:defPPr>
          </a:lstStyle>
          <a:p xmlns:a="http://schemas.openxmlformats.org/drawingml/2006/main">
            <a:pPr algn="ctr">
              <a:defRPr sz="2550" b="1">
                <a:solidFill>
                  <a:srgbClr val="2BA3C0"/>
                </a:solidFill>
                <a:latin typeface="微软雅黑"/>
                <a:ea typeface="微软雅黑"/>
                <a:cs typeface="微软雅黑"/>
              </a:defRPr>
            </a:pPr>
            <a:r>
              <a:rPr sz="2550" b="1">
                <a:solidFill>
                  <a:srgbClr val="2BA3C0"/>
                </a:solidFill>
                <a:latin typeface="微软雅黑"/>
                <a:ea typeface="微软雅黑"/>
                <a:cs typeface="微软雅黑"/>
              </a:rPr>
              <a:t>＋</a:t>
            </a:r>
          </a:p>
        </p:txBody>
      </p:sp>
      <p:sp>
        <p:nvSpPr>
          <p:cNvPr id="23" name="text-22">
            <a:extLst xmlns:a="http://schemas.openxmlformats.org/drawingml/2006/main">
              <a:ext uri="{FF2B5EF4-FFF2-40B4-BE49-F238E27FC236}">
                <a16:creationId xmlns:a16="http://schemas.microsoft.com/office/drawing/2014/main" id="{6C9778EB-A313-4EEE-A492-3B9388F8B9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5429250"/>
            <a:ext cx="110013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ctr">
              <a:defRPr sz="2025" b="1">
                <a:solidFill>
                  <a:srgbClr val="B37328"/>
                </a:solidFill>
                <a:latin typeface="微软雅黑"/>
                <a:ea typeface="微软雅黑"/>
                <a:cs typeface="微软雅黑"/>
              </a:defRPr>
            </a:defPPr>
          </a:lstStyle>
          <a:p xmlns:a="http://schemas.openxmlformats.org/drawingml/2006/main">
            <a:pPr algn="ctr">
              <a:defRPr sz="2025" b="1">
                <a:solidFill>
                  <a:srgbClr val="B37328"/>
                </a:solidFill>
                <a:latin typeface="微软雅黑"/>
                <a:ea typeface="微软雅黑"/>
                <a:cs typeface="微软雅黑"/>
              </a:defRPr>
            </a:pPr>
            <a:r>
              <a:rPr sz="2025" b="1">
                <a:solidFill>
                  <a:srgbClr val="B37328"/>
                </a:solidFill>
                <a:latin typeface="微软雅黑"/>
                <a:ea typeface="微软雅黑"/>
                <a:cs typeface="微软雅黑"/>
              </a:rPr>
              <a:t>结构证据与功能测试相互印证，建立材料结构与性能的联系</a:t>
            </a:r>
          </a:p>
        </p:txBody>
      </p:sp>
    </p:spTree>
    <p:extLst>
      <p:ext uri="{BB962C8B-B14F-4D97-AF65-F5344CB8AC3E}">
        <p14:creationId xmlns:p14="http://schemas.microsoft.com/office/powerpoint/2010/main" val="594460780"/>
      </p:ext>
    </p:extLst>
  </p:cSld>
</p:sld>
</file>

<file path=ppt/slides/slide1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31E2CD4-F291-46BC-ABC3-BB85471F7B51}"/>
              </a:ext>
            </a:extLst>
          </p:cNvPr>
          <p:cNvCxnSpPr>
            <a:stCxn xmlns:a="http://schemas.openxmlformats.org/drawingml/2006/main" id="9" idx="1"/>
            <a:endCxn xmlns:a="http://schemas.openxmlformats.org/drawingml/2006/main" id="5" idx="2"/>
          </p:cNvCxnSpPr>
          <p:nvPr/>
        </p:nvCxnSpPr>
        <p:spPr>
          <a:xfrm xmlns:a="http://schemas.openxmlformats.org/drawingml/2006/main" flipH="1" flipV="1">
            <a:off x="6096000" y="4000500"/>
            <a:ext cx="2276475" cy="828675"/>
          </a:xfrm>
          <a:prstGeom xmlns:a="http://schemas.openxmlformats.org/drawingml/2006/main" prst="bentConnector2">
            <a:avLst/>
          </a:prstGeom>
          <a:ln xmlns:a="http://schemas.openxmlformats.org/drawingml/2006/main" w="23813">
            <a:solidFill>
              <a:srgbClr val="2BA3C0"/>
            </a:solidFill>
            <a:prstDash val="solid"/>
            <a:tailEnd type="triangle" w="med" len="med"/>
          </a:ln>
        </p:spPr>
      </p:cxnSp>
      <p:cxnSp>
        <p:nvCxn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C0D1F93-7215-412B-9873-A73065E46BE7}"/>
              </a:ext>
            </a:extLst>
          </p:cNvPr>
          <p:cNvCxnSpPr>
            <a:stCxn xmlns:a="http://schemas.openxmlformats.org/drawingml/2006/main" id="8" idx="3"/>
            <a:endCxn xmlns:a="http://schemas.openxmlformats.org/drawingml/2006/main" id="5" idx="2"/>
          </p:cNvCxnSpPr>
          <p:nvPr/>
        </p:nvCxnSpPr>
        <p:spPr>
          <a:xfrm xmlns:a="http://schemas.openxmlformats.org/drawingml/2006/main" flipV="1">
            <a:off x="3810000" y="4000500"/>
            <a:ext cx="2286000" cy="828675"/>
          </a:xfrm>
          <a:prstGeom xmlns:a="http://schemas.openxmlformats.org/drawingml/2006/main" prst="bentConnector2">
            <a:avLst/>
          </a:prstGeom>
          <a:ln xmlns:a="http://schemas.openxmlformats.org/drawingml/2006/main" w="23813">
            <a:solidFill>
              <a:srgbClr val="2BA3C0"/>
            </a:solidFill>
            <a:prstDash val="solid"/>
            <a:tailEnd type="triangle" w="med" len="med"/>
          </a:ln>
        </p:spPr>
      </p:cxnSp>
      <p:cxnSp>
        <p:nvCxn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A2D5A19-4744-4678-B9AA-FA6DD092E60C}"/>
              </a:ext>
            </a:extLst>
          </p:cNvPr>
          <p:cNvCxnSpPr>
            <a:stCxn xmlns:a="http://schemas.openxmlformats.org/drawingml/2006/main" id="7" idx="1"/>
            <a:endCxn xmlns:a="http://schemas.openxmlformats.org/drawingml/2006/main" id="5" idx="0"/>
          </p:cNvCxnSpPr>
          <p:nvPr/>
        </p:nvCxnSpPr>
        <p:spPr>
          <a:xfrm xmlns:a="http://schemas.openxmlformats.org/drawingml/2006/main" flipH="1">
            <a:off x="6096000" y="1952625"/>
            <a:ext cx="2276475" cy="790575"/>
          </a:xfrm>
          <a:prstGeom xmlns:a="http://schemas.openxmlformats.org/drawingml/2006/main" prst="bentConnector2">
            <a:avLst/>
          </a:prstGeom>
          <a:ln xmlns:a="http://schemas.openxmlformats.org/drawingml/2006/main" w="23813">
            <a:solidFill>
              <a:srgbClr val="2BA3C0"/>
            </a:solidFill>
            <a:prstDash val="solid"/>
            <a:tailEnd type="triangle" w="med" len="med"/>
          </a:ln>
        </p:spPr>
      </p:cxnSp>
      <p:cxnSp>
        <p:nvCxn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50AAC55-EBD9-4207-A991-8ED1CED0207B}"/>
              </a:ext>
            </a:extLst>
          </p:cNvPr>
          <p:cNvCxnSpPr>
            <a:stCxn xmlns:a="http://schemas.openxmlformats.org/drawingml/2006/main" id="6" idx="3"/>
            <a:endCxn xmlns:a="http://schemas.openxmlformats.org/drawingml/2006/main" id="5" idx="0"/>
          </p:cNvCxnSpPr>
          <p:nvPr/>
        </p:nvCxnSpPr>
        <p:spPr>
          <a:xfrm xmlns:a="http://schemas.openxmlformats.org/drawingml/2006/main">
            <a:off x="3810000" y="1952625"/>
            <a:ext cx="2286000" cy="790575"/>
          </a:xfrm>
          <a:prstGeom xmlns:a="http://schemas.openxmlformats.org/drawingml/2006/main" prst="bentConnector2">
            <a:avLst/>
          </a:prstGeom>
          <a:ln xmlns:a="http://schemas.openxmlformats.org/drawingml/2006/main" w="23813">
            <a:solidFill>
              <a:srgbClr val="2BA3C0"/>
            </a:solidFill>
            <a:prstDash val="solid"/>
            <a:tailEnd type="triangle" w="med" len="med"/>
          </a:ln>
        </p:spPr>
      </p:cxnSp>
      <p:sp>
        <p:nvSpPr>
          <p:cNvPr id="15" name="text-0">
            <a:extLst xmlns:a="http://schemas.openxmlformats.org/drawingml/2006/main">
              <a:ext uri="{FF2B5EF4-FFF2-40B4-BE49-F238E27FC236}">
                <a16:creationId xmlns:a16="http://schemas.microsoft.com/office/drawing/2014/main" id="{052FEEC2-52AC-4DE5-A3F4-53AF568D81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" y="209550"/>
            <a:ext cx="8096250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55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defPPr>
          </a:lstStyle>
          <a:p xmlns:a="http://schemas.openxmlformats.org/drawingml/2006/main">
            <a:pPr algn="l">
              <a:defRPr sz="255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255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11  总结：XRD图谱解析的基本思路</a:t>
            </a:r>
          </a:p>
        </p:txBody>
      </p:sp>
      <p:sp>
        <p:nvSpPr>
          <p:cNvPr id="2" name="text-1">
            <a:extLst xmlns:a="http://schemas.openxmlformats.org/drawingml/2006/main">
              <a:ext uri="{FF2B5EF4-FFF2-40B4-BE49-F238E27FC236}">
                <a16:creationId xmlns:a16="http://schemas.microsoft.com/office/drawing/2014/main" id="{653AD045-03E3-408F-85E7-E65FEBBA8A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" y="6372225"/>
            <a:ext cx="61912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125" b="0">
                <a:solidFill>
                  <a:srgbClr val="52636D"/>
                </a:solidFill>
                <a:latin typeface="微软雅黑"/>
                <a:ea typeface="微软雅黑"/>
                <a:cs typeface="微软雅黑"/>
              </a:defRPr>
            </a:defPPr>
          </a:lstStyle>
          <a:p xmlns:a="http://schemas.openxmlformats.org/drawingml/2006/main">
            <a:pPr algn="l">
              <a:defRPr sz="1125" b="0">
                <a:solidFill>
                  <a:srgbClr val="52636D"/>
                </a:solidFill>
                <a:latin typeface="微软雅黑"/>
                <a:ea typeface="微软雅黑"/>
                <a:cs typeface="微软雅黑"/>
              </a:defRPr>
            </a:pPr>
            <a:r>
              <a:rPr sz="1125" b="0">
                <a:solidFill>
                  <a:srgbClr val="52636D"/>
                </a:solidFill>
                <a:latin typeface="微软雅黑"/>
                <a:ea typeface="微软雅黑"/>
                <a:cs typeface="微软雅黑"/>
              </a:rPr>
              <a:t>材料与化工现代研究方法</a:t>
            </a:r>
          </a:p>
        </p:txBody>
      </p:sp>
      <p:sp>
        <p:nvSpPr>
          <p:cNvPr id="3" name="text-2">
            <a:extLst xmlns:a="http://schemas.openxmlformats.org/drawingml/2006/main">
              <a:ext uri="{FF2B5EF4-FFF2-40B4-BE49-F238E27FC236}">
                <a16:creationId xmlns:a16="http://schemas.microsoft.com/office/drawing/2014/main" id="{48A22C5F-EE77-4D45-B16F-0CF09028D6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39325" y="6353175"/>
            <a:ext cx="47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275" b="0">
                <a:solidFill>
                  <a:srgbClr val="005B94"/>
                </a:solidFill>
                <a:latin typeface="微软雅黑"/>
                <a:ea typeface="微软雅黑"/>
                <a:cs typeface="微软雅黑"/>
              </a:defRPr>
            </a:defPPr>
          </a:lstStyle>
          <a:p xmlns:a="http://schemas.openxmlformats.org/drawingml/2006/main">
            <a:pPr algn="r">
              <a:defRPr sz="1275" b="0">
                <a:solidFill>
                  <a:srgbClr val="005B94"/>
                </a:solidFill>
                <a:latin typeface="微软雅黑"/>
                <a:ea typeface="微软雅黑"/>
                <a:cs typeface="微软雅黑"/>
              </a:defRPr>
            </a:pPr>
            <a:r>
              <a:rPr sz="1275" b="0">
                <a:solidFill>
                  <a:srgbClr val="005B94"/>
                </a:solidFill>
                <a:latin typeface="微软雅黑"/>
                <a:ea typeface="微软雅黑"/>
                <a:cs typeface="微软雅黑"/>
              </a:rPr>
              <a:t>12</a:t>
            </a:r>
          </a:p>
        </p:txBody>
      </p:sp>
      <p:sp>
        <p:nvSpPr>
          <p:cNvPr id="4" name="text-3">
            <a:extLst xmlns:a="http://schemas.openxmlformats.org/drawingml/2006/main">
              <a:ext uri="{FF2B5EF4-FFF2-40B4-BE49-F238E27FC236}">
                <a16:creationId xmlns:a16="http://schemas.microsoft.com/office/drawing/2014/main" id="{B0F8007D-488F-483B-8217-88005FE3CA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" y="5943600"/>
            <a:ext cx="1123950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975" b="0">
                <a:solidFill>
                  <a:srgbClr val="52636D"/>
                </a:solidFill>
                <a:latin typeface="微软雅黑"/>
                <a:ea typeface="微软雅黑"/>
                <a:cs typeface="微软雅黑"/>
              </a:defRPr>
            </a:defPPr>
          </a:lstStyle>
          <a:p xmlns:a="http://schemas.openxmlformats.org/drawingml/2006/main">
            <a:pPr algn="l">
              <a:defRPr sz="975" b="0">
                <a:solidFill>
                  <a:srgbClr val="52636D"/>
                </a:solidFill>
                <a:latin typeface="微软雅黑"/>
                <a:ea typeface="微软雅黑"/>
                <a:cs typeface="微软雅黑"/>
              </a:defRPr>
            </a:pPr>
            <a:r>
              <a:rPr sz="975" b="0">
                <a:solidFill>
                  <a:srgbClr val="52636D"/>
                </a:solidFill>
                <a:latin typeface="微软雅黑"/>
                <a:ea typeface="微软雅黑"/>
                <a:cs typeface="微软雅黑"/>
              </a:rPr>
              <a:t>概念图总结分析流程；参考文献与补充说明见附录</a:t>
            </a:r>
          </a:p>
        </p:txBody>
      </p:sp>
      <p:sp>
        <p:nvSpPr>
          <p:cNvPr id="5" name="concept-4">
            <a:extLst xmlns:a="http://schemas.openxmlformats.org/drawingml/2006/main">
              <a:ext uri="{FF2B5EF4-FFF2-40B4-BE49-F238E27FC236}">
                <a16:creationId xmlns:a16="http://schemas.microsoft.com/office/drawing/2014/main" id="{0EEE02C6-370C-4974-9755-D031B030D1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43425" y="2743200"/>
            <a:ext cx="3105150" cy="1257300"/>
          </a:xfrm>
          <a:prstGeom xmlns:a="http://schemas.openxmlformats.org/drawingml/2006/main" prst="roundRect">
            <a:avLst>
              <a:gd name="adj" fmla="val 6061"/>
            </a:avLst>
          </a:prstGeom>
          <a:solidFill xmlns:a="http://schemas.openxmlformats.org/drawingml/2006/main">
            <a:srgbClr val="005B94"/>
          </a:solidFill>
          <a:ln xmlns:a="http://schemas.openxmlformats.org/drawingml/2006/main" w="14288">
            <a:solidFill>
              <a:srgbClr val="2BA3C0"/>
            </a:solidFill>
            <a:prstDash val="solid"/>
          </a:ln>
        </p:spPr>
        <p:txBody>
          <a:bodyPr xmlns:a="http://schemas.openxmlformats.org/drawingml/2006/main" lIns="114300" tIns="114300" rIns="114300" bIns="114300" anchor="ctr"/>
          <a:lstStyle xmlns:a="http://schemas.openxmlformats.org/drawingml/2006/main">
            <a:defPPr algn="ctr">
              <a:defRPr sz="217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defPPr>
          </a:lstStyle>
          <a:p xmlns:a="http://schemas.openxmlformats.org/drawingml/2006/main">
            <a:pPr algn="ctr">
              <a:defRPr sz="217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217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XRD图谱解析</a:t>
            </a:r>
          </a:p>
          <a:p xmlns:a="http://schemas.openxmlformats.org/drawingml/2006/main">
            <a:pPr algn="ctr">
              <a:defRPr sz="217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217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结构证据的综合判断</a:t>
            </a:r>
          </a:p>
        </p:txBody>
      </p:sp>
      <p:sp>
        <p:nvSpPr>
          <p:cNvPr id="6" name="concept-5">
            <a:extLst xmlns:a="http://schemas.openxmlformats.org/drawingml/2006/main">
              <a:ext uri="{FF2B5EF4-FFF2-40B4-BE49-F238E27FC236}">
                <a16:creationId xmlns:a16="http://schemas.microsoft.com/office/drawing/2014/main" id="{3FA1D567-0F37-4372-9DAA-DD2117F67E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1419225"/>
            <a:ext cx="3190875" cy="1066800"/>
          </a:xfrm>
          <a:prstGeom xmlns:a="http://schemas.openxmlformats.org/drawingml/2006/main" prst="roundRect">
            <a:avLst>
              <a:gd name="adj" fmla="val 7143"/>
            </a:avLst>
          </a:prstGeom>
          <a:solidFill xmlns:a="http://schemas.openxmlformats.org/drawingml/2006/main">
            <a:srgbClr val="F0F7FA"/>
          </a:solidFill>
          <a:ln xmlns:a="http://schemas.openxmlformats.org/drawingml/2006/main" w="14288">
            <a:solidFill>
              <a:srgbClr val="2BA3C0"/>
            </a:solidFill>
            <a:prstDash val="solid"/>
          </a:ln>
        </p:spPr>
        <p:txBody>
          <a:bodyPr xmlns:a="http://schemas.openxmlformats.org/drawingml/2006/main" lIns="114300" tIns="114300" rIns="114300" bIns="114300" anchor="ctr"/>
          <a:lstStyle xmlns:a="http://schemas.openxmlformats.org/drawingml/2006/main">
            <a:defPPr algn="ctr">
              <a:defRPr sz="1800" b="1">
                <a:solidFill>
                  <a:srgbClr val="203746"/>
                </a:solidFill>
                <a:latin typeface="微软雅黑"/>
                <a:ea typeface="微软雅黑"/>
                <a:cs typeface="微软雅黑"/>
              </a:defRPr>
            </a:defPPr>
          </a:lstStyle>
          <a:p xmlns:a="http://schemas.openxmlformats.org/drawingml/2006/main">
            <a:pPr algn="ctr">
              <a:defRPr sz="1800" b="1">
                <a:solidFill>
                  <a:srgbClr val="203746"/>
                </a:solidFill>
                <a:latin typeface="微软雅黑"/>
                <a:ea typeface="微软雅黑"/>
                <a:cs typeface="微软雅黑"/>
              </a:defRPr>
            </a:pPr>
            <a:r>
              <a:rPr sz="1800" b="1">
                <a:solidFill>
                  <a:srgbClr val="203746"/>
                </a:solidFill>
                <a:latin typeface="微软雅黑"/>
                <a:ea typeface="微软雅黑"/>
                <a:cs typeface="微软雅黑"/>
              </a:rPr>
              <a:t>规范测试</a:t>
            </a:r>
          </a:p>
          <a:p xmlns:a="http://schemas.openxmlformats.org/drawingml/2006/main">
            <a:pPr algn="ctr">
              <a:defRPr sz="1800" b="1">
                <a:solidFill>
                  <a:srgbClr val="203746"/>
                </a:solidFill>
                <a:latin typeface="微软雅黑"/>
                <a:ea typeface="微软雅黑"/>
                <a:cs typeface="微软雅黑"/>
              </a:defRPr>
            </a:pPr>
            <a:r>
              <a:rPr sz="1800" b="1">
                <a:solidFill>
                  <a:srgbClr val="203746"/>
                </a:solidFill>
                <a:latin typeface="微软雅黑"/>
                <a:ea typeface="微软雅黑"/>
                <a:cs typeface="微软雅黑"/>
              </a:rPr>
              <a:t>制样、扫描范围、仪器校准</a:t>
            </a:r>
          </a:p>
        </p:txBody>
      </p:sp>
      <p:sp>
        <p:nvSpPr>
          <p:cNvPr id="7" name="concept-6">
            <a:extLst xmlns:a="http://schemas.openxmlformats.org/drawingml/2006/main">
              <a:ext uri="{FF2B5EF4-FFF2-40B4-BE49-F238E27FC236}">
                <a16:creationId xmlns:a16="http://schemas.microsoft.com/office/drawing/2014/main" id="{51942F1F-D81F-42B1-A3A7-C35259D7AE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72475" y="1419225"/>
            <a:ext cx="3190875" cy="1066800"/>
          </a:xfrm>
          <a:prstGeom xmlns:a="http://schemas.openxmlformats.org/drawingml/2006/main" prst="roundRect">
            <a:avLst>
              <a:gd name="adj" fmla="val 7143"/>
            </a:avLst>
          </a:prstGeom>
          <a:solidFill xmlns:a="http://schemas.openxmlformats.org/drawingml/2006/main">
            <a:srgbClr val="F0F7FA"/>
          </a:solidFill>
          <a:ln xmlns:a="http://schemas.openxmlformats.org/drawingml/2006/main" w="14288">
            <a:solidFill>
              <a:srgbClr val="2BA3C0"/>
            </a:solidFill>
            <a:prstDash val="solid"/>
          </a:ln>
        </p:spPr>
        <p:txBody>
          <a:bodyPr xmlns:a="http://schemas.openxmlformats.org/drawingml/2006/main" lIns="114300" tIns="114300" rIns="114300" bIns="114300" anchor="ctr"/>
          <a:lstStyle xmlns:a="http://schemas.openxmlformats.org/drawingml/2006/main">
            <a:defPPr algn="ctr">
              <a:defRPr sz="1800" b="1">
                <a:solidFill>
                  <a:srgbClr val="203746"/>
                </a:solidFill>
                <a:latin typeface="微软雅黑"/>
                <a:ea typeface="微软雅黑"/>
                <a:cs typeface="微软雅黑"/>
              </a:defRPr>
            </a:defPPr>
          </a:lstStyle>
          <a:p xmlns:a="http://schemas.openxmlformats.org/drawingml/2006/main">
            <a:pPr algn="ctr">
              <a:defRPr sz="1800" b="1">
                <a:solidFill>
                  <a:srgbClr val="203746"/>
                </a:solidFill>
                <a:latin typeface="微软雅黑"/>
                <a:ea typeface="微软雅黑"/>
                <a:cs typeface="微软雅黑"/>
              </a:defRPr>
            </a:pPr>
            <a:r>
              <a:rPr sz="1800" b="1">
                <a:solidFill>
                  <a:srgbClr val="203746"/>
                </a:solidFill>
                <a:latin typeface="微软雅黑"/>
                <a:ea typeface="微软雅黑"/>
                <a:cs typeface="微软雅黑"/>
              </a:rPr>
              <a:t>峰位与物相</a:t>
            </a:r>
          </a:p>
          <a:p xmlns:a="http://schemas.openxmlformats.org/drawingml/2006/main">
            <a:pPr algn="ctr">
              <a:defRPr sz="1800" b="1">
                <a:solidFill>
                  <a:srgbClr val="203746"/>
                </a:solidFill>
                <a:latin typeface="微软雅黑"/>
                <a:ea typeface="微软雅黑"/>
                <a:cs typeface="微软雅黑"/>
              </a:defRPr>
            </a:pPr>
            <a:r>
              <a:rPr sz="1800" b="1">
                <a:solidFill>
                  <a:srgbClr val="203746"/>
                </a:solidFill>
                <a:latin typeface="微软雅黑"/>
                <a:ea typeface="微软雅黑"/>
                <a:cs typeface="微软雅黑"/>
              </a:rPr>
              <a:t>晶面间距、目标结构匹配</a:t>
            </a:r>
          </a:p>
        </p:txBody>
      </p:sp>
      <p:sp>
        <p:nvSpPr>
          <p:cNvPr id="8" name="concept-7">
            <a:extLst xmlns:a="http://schemas.openxmlformats.org/drawingml/2006/main">
              <a:ext uri="{FF2B5EF4-FFF2-40B4-BE49-F238E27FC236}">
                <a16:creationId xmlns:a16="http://schemas.microsoft.com/office/drawing/2014/main" id="{90C04F17-D9BA-4A84-82DD-AECE191BF0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4295775"/>
            <a:ext cx="3190875" cy="1066800"/>
          </a:xfrm>
          <a:prstGeom xmlns:a="http://schemas.openxmlformats.org/drawingml/2006/main" prst="roundRect">
            <a:avLst>
              <a:gd name="adj" fmla="val 7143"/>
            </a:avLst>
          </a:prstGeom>
          <a:solidFill xmlns:a="http://schemas.openxmlformats.org/drawingml/2006/main">
            <a:srgbClr val="F0F7FA"/>
          </a:solidFill>
          <a:ln xmlns:a="http://schemas.openxmlformats.org/drawingml/2006/main" w="14288">
            <a:solidFill>
              <a:srgbClr val="2BA3C0"/>
            </a:solidFill>
            <a:prstDash val="solid"/>
          </a:ln>
        </p:spPr>
        <p:txBody>
          <a:bodyPr xmlns:a="http://schemas.openxmlformats.org/drawingml/2006/main" lIns="114300" tIns="114300" rIns="114300" bIns="114300" anchor="ctr"/>
          <a:lstStyle xmlns:a="http://schemas.openxmlformats.org/drawingml/2006/main">
            <a:defPPr algn="ctr">
              <a:defRPr sz="1800" b="1">
                <a:solidFill>
                  <a:srgbClr val="203746"/>
                </a:solidFill>
                <a:latin typeface="微软雅黑"/>
                <a:ea typeface="微软雅黑"/>
                <a:cs typeface="微软雅黑"/>
              </a:defRPr>
            </a:defPPr>
          </a:lstStyle>
          <a:p xmlns:a="http://schemas.openxmlformats.org/drawingml/2006/main">
            <a:pPr algn="ctr">
              <a:defRPr sz="1800" b="1">
                <a:solidFill>
                  <a:srgbClr val="203746"/>
                </a:solidFill>
                <a:latin typeface="微软雅黑"/>
                <a:ea typeface="微软雅黑"/>
                <a:cs typeface="微软雅黑"/>
              </a:defRPr>
            </a:pPr>
            <a:r>
              <a:rPr sz="1800" b="1">
                <a:solidFill>
                  <a:srgbClr val="203746"/>
                </a:solidFill>
                <a:latin typeface="微软雅黑"/>
                <a:ea typeface="微软雅黑"/>
                <a:cs typeface="微软雅黑"/>
              </a:rPr>
              <a:t>峰宽与结晶特征</a:t>
            </a:r>
          </a:p>
          <a:p xmlns:a="http://schemas.openxmlformats.org/drawingml/2006/main">
            <a:pPr algn="ctr">
              <a:defRPr sz="1800" b="1">
                <a:solidFill>
                  <a:srgbClr val="203746"/>
                </a:solidFill>
                <a:latin typeface="微软雅黑"/>
                <a:ea typeface="微软雅黑"/>
                <a:cs typeface="微软雅黑"/>
              </a:defRPr>
            </a:pPr>
            <a:r>
              <a:rPr sz="1800" b="1">
                <a:solidFill>
                  <a:srgbClr val="203746"/>
                </a:solidFill>
                <a:latin typeface="微软雅黑"/>
                <a:ea typeface="微软雅黑"/>
                <a:cs typeface="微软雅黑"/>
              </a:rPr>
              <a:t>有序区域尺度及影响因素</a:t>
            </a:r>
          </a:p>
        </p:txBody>
      </p:sp>
      <p:sp>
        <p:nvSpPr>
          <p:cNvPr id="9" name="concept-8">
            <a:extLst xmlns:a="http://schemas.openxmlformats.org/drawingml/2006/main">
              <a:ext uri="{FF2B5EF4-FFF2-40B4-BE49-F238E27FC236}">
                <a16:creationId xmlns:a16="http://schemas.microsoft.com/office/drawing/2014/main" id="{7069829F-98FB-409A-A1E8-0DC6CC4AA1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72475" y="4295775"/>
            <a:ext cx="3190875" cy="1066800"/>
          </a:xfrm>
          <a:prstGeom xmlns:a="http://schemas.openxmlformats.org/drawingml/2006/main" prst="roundRect">
            <a:avLst>
              <a:gd name="adj" fmla="val 7143"/>
            </a:avLst>
          </a:prstGeom>
          <a:solidFill xmlns:a="http://schemas.openxmlformats.org/drawingml/2006/main">
            <a:srgbClr val="F0F7FA"/>
          </a:solidFill>
          <a:ln xmlns:a="http://schemas.openxmlformats.org/drawingml/2006/main" w="14288">
            <a:solidFill>
              <a:srgbClr val="2BA3C0"/>
            </a:solidFill>
            <a:prstDash val="solid"/>
          </a:ln>
        </p:spPr>
        <p:txBody>
          <a:bodyPr xmlns:a="http://schemas.openxmlformats.org/drawingml/2006/main" lIns="114300" tIns="114300" rIns="114300" bIns="114300" anchor="ctr"/>
          <a:lstStyle xmlns:a="http://schemas.openxmlformats.org/drawingml/2006/main">
            <a:defPPr algn="ctr">
              <a:defRPr sz="1800" b="1">
                <a:solidFill>
                  <a:srgbClr val="203746"/>
                </a:solidFill>
                <a:latin typeface="微软雅黑"/>
                <a:ea typeface="微软雅黑"/>
                <a:cs typeface="微软雅黑"/>
              </a:defRPr>
            </a:defPPr>
          </a:lstStyle>
          <a:p xmlns:a="http://schemas.openxmlformats.org/drawingml/2006/main">
            <a:pPr algn="ctr">
              <a:defRPr sz="1800" b="1">
                <a:solidFill>
                  <a:srgbClr val="203746"/>
                </a:solidFill>
                <a:latin typeface="微软雅黑"/>
                <a:ea typeface="微软雅黑"/>
                <a:cs typeface="微软雅黑"/>
              </a:defRPr>
            </a:pPr>
            <a:r>
              <a:rPr sz="1800" b="1">
                <a:solidFill>
                  <a:srgbClr val="203746"/>
                </a:solidFill>
                <a:latin typeface="微软雅黑"/>
                <a:ea typeface="微软雅黑"/>
                <a:cs typeface="微软雅黑"/>
              </a:rPr>
              <a:t>联合表征</a:t>
            </a:r>
          </a:p>
          <a:p xmlns:a="http://schemas.openxmlformats.org/drawingml/2006/main">
            <a:pPr algn="ctr">
              <a:defRPr sz="1800" b="1">
                <a:solidFill>
                  <a:srgbClr val="203746"/>
                </a:solidFill>
                <a:latin typeface="微软雅黑"/>
                <a:ea typeface="微软雅黑"/>
                <a:cs typeface="微软雅黑"/>
              </a:defRPr>
            </a:pPr>
            <a:r>
              <a:rPr sz="1800" b="1">
                <a:solidFill>
                  <a:srgbClr val="203746"/>
                </a:solidFill>
                <a:latin typeface="微软雅黑"/>
                <a:ea typeface="微软雅黑"/>
                <a:cs typeface="微软雅黑"/>
              </a:rPr>
              <a:t>显微、光谱、吸附</a:t>
            </a:r>
          </a:p>
          <a:p xmlns:a="http://schemas.openxmlformats.org/drawingml/2006/main">
            <a:pPr algn="ctr">
              <a:defRPr sz="1800" b="1">
                <a:solidFill>
                  <a:srgbClr val="203746"/>
                </a:solidFill>
                <a:latin typeface="微软雅黑"/>
                <a:ea typeface="微软雅黑"/>
                <a:cs typeface="微软雅黑"/>
              </a:defRPr>
            </a:pPr>
            <a:r>
              <a:rPr sz="1800" b="1">
                <a:solidFill>
                  <a:srgbClr val="203746"/>
                </a:solidFill>
                <a:latin typeface="微软雅黑"/>
                <a:ea typeface="微软雅黑"/>
                <a:cs typeface="微软雅黑"/>
              </a:rPr>
              <a:t>及性能测试</a:t>
            </a:r>
          </a:p>
        </p:txBody>
      </p:sp>
      <p:sp>
        <p:nvSpPr>
          <p:cNvPr id="14" name="text-13">
            <a:extLst xmlns:a="http://schemas.openxmlformats.org/drawingml/2006/main">
              <a:ext uri="{FF2B5EF4-FFF2-40B4-BE49-F238E27FC236}">
                <a16:creationId xmlns:a16="http://schemas.microsoft.com/office/drawing/2014/main" id="{A09FC85C-4754-4DE7-A136-CD071AFD32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5572125"/>
            <a:ext cx="10953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ctr">
              <a:defRPr sz="1875" b="1">
                <a:solidFill>
                  <a:srgbClr val="B37328"/>
                </a:solidFill>
                <a:latin typeface="微软雅黑"/>
                <a:ea typeface="微软雅黑"/>
                <a:cs typeface="微软雅黑"/>
              </a:defRPr>
            </a:defPPr>
          </a:lstStyle>
          <a:p xmlns:a="http://schemas.openxmlformats.org/drawingml/2006/main">
            <a:pPr algn="ctr">
              <a:defRPr sz="1875" b="1">
                <a:solidFill>
                  <a:srgbClr val="B37328"/>
                </a:solidFill>
                <a:latin typeface="微软雅黑"/>
                <a:ea typeface="微软雅黑"/>
                <a:cs typeface="微软雅黑"/>
              </a:defRPr>
            </a:pPr>
            <a:r>
              <a:rPr sz="1875" b="1">
                <a:solidFill>
                  <a:srgbClr val="B37328"/>
                </a:solidFill>
                <a:latin typeface="微软雅黑"/>
                <a:ea typeface="微软雅黑"/>
                <a:cs typeface="微软雅黑"/>
              </a:rPr>
              <a:t>分析原则：综合多个衍射峰，说明证据范围，避免由单一图谱过度推断</a:t>
            </a:r>
          </a:p>
        </p:txBody>
      </p:sp>
    </p:spTree>
    <p:extLst>
      <p:ext uri="{BB962C8B-B14F-4D97-AF65-F5344CB8AC3E}">
        <p14:creationId xmlns:p14="http://schemas.microsoft.com/office/powerpoint/2010/main" val="594460780"/>
      </p:ext>
    </p:extLst>
  </p:cSld>
</p:sld>
</file>

<file path=ppt/slides/slide1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ext-0">
            <a:extLst xmlns:a="http://schemas.openxmlformats.org/drawingml/2006/main">
              <a:ext uri="{FF2B5EF4-FFF2-40B4-BE49-F238E27FC236}">
                <a16:creationId xmlns:a16="http://schemas.microsoft.com/office/drawing/2014/main" id="{4A29B073-E77F-49D6-895B-745C6CAF48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" y="209550"/>
            <a:ext cx="8096250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55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defPPr>
          </a:lstStyle>
          <a:p xmlns:a="http://schemas.openxmlformats.org/drawingml/2006/main">
            <a:pPr algn="l">
              <a:defRPr sz="255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255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附录A  XRD数据分析基本流程</a:t>
            </a:r>
          </a:p>
        </p:txBody>
      </p:sp>
      <p:sp>
        <p:nvSpPr>
          <p:cNvPr id="2" name="text-1">
            <a:extLst xmlns:a="http://schemas.openxmlformats.org/drawingml/2006/main">
              <a:ext uri="{FF2B5EF4-FFF2-40B4-BE49-F238E27FC236}">
                <a16:creationId xmlns:a16="http://schemas.microsoft.com/office/drawing/2014/main" id="{12C019FA-D332-460C-87ED-AAE476D755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" y="6372225"/>
            <a:ext cx="61912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125" b="0">
                <a:solidFill>
                  <a:srgbClr val="52636D"/>
                </a:solidFill>
                <a:latin typeface="微软雅黑"/>
                <a:ea typeface="微软雅黑"/>
                <a:cs typeface="微软雅黑"/>
              </a:defRPr>
            </a:defPPr>
          </a:lstStyle>
          <a:p xmlns:a="http://schemas.openxmlformats.org/drawingml/2006/main">
            <a:pPr algn="l">
              <a:defRPr sz="1125" b="0">
                <a:solidFill>
                  <a:srgbClr val="52636D"/>
                </a:solidFill>
                <a:latin typeface="微软雅黑"/>
                <a:ea typeface="微软雅黑"/>
                <a:cs typeface="微软雅黑"/>
              </a:defRPr>
            </a:pPr>
            <a:r>
              <a:rPr sz="1125" b="0">
                <a:solidFill>
                  <a:srgbClr val="52636D"/>
                </a:solidFill>
                <a:latin typeface="微软雅黑"/>
                <a:ea typeface="微软雅黑"/>
                <a:cs typeface="微软雅黑"/>
              </a:rPr>
              <a:t>附录</a:t>
            </a:r>
          </a:p>
        </p:txBody>
      </p:sp>
      <p:sp>
        <p:nvSpPr>
          <p:cNvPr id="3" name="text-2">
            <a:extLst xmlns:a="http://schemas.openxmlformats.org/drawingml/2006/main">
              <a:ext uri="{FF2B5EF4-FFF2-40B4-BE49-F238E27FC236}">
                <a16:creationId xmlns:a16="http://schemas.microsoft.com/office/drawing/2014/main" id="{AA8AB283-33D9-4F88-9F50-401C6EFEE3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39325" y="6353175"/>
            <a:ext cx="47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275" b="0">
                <a:solidFill>
                  <a:srgbClr val="005B94"/>
                </a:solidFill>
                <a:latin typeface="微软雅黑"/>
                <a:ea typeface="微软雅黑"/>
                <a:cs typeface="微软雅黑"/>
              </a:defRPr>
            </a:defPPr>
          </a:lstStyle>
          <a:p xmlns:a="http://schemas.openxmlformats.org/drawingml/2006/main">
            <a:pPr algn="r">
              <a:defRPr sz="1275" b="0">
                <a:solidFill>
                  <a:srgbClr val="005B94"/>
                </a:solidFill>
                <a:latin typeface="微软雅黑"/>
                <a:ea typeface="微软雅黑"/>
                <a:cs typeface="微软雅黑"/>
              </a:defRPr>
            </a:pPr>
            <a:r>
              <a:rPr sz="1275" b="0">
                <a:solidFill>
                  <a:srgbClr val="005B94"/>
                </a:solidFill>
                <a:latin typeface="微软雅黑"/>
                <a:ea typeface="微软雅黑"/>
                <a:cs typeface="微软雅黑"/>
              </a:rPr>
              <a:t>13</a:t>
            </a:r>
          </a:p>
        </p:txBody>
      </p:sp>
      <p:sp>
        <p:nvSpPr>
          <p:cNvPr id="4" name="text-3">
            <a:extLst xmlns:a="http://schemas.openxmlformats.org/drawingml/2006/main">
              <a:ext uri="{FF2B5EF4-FFF2-40B4-BE49-F238E27FC236}">
                <a16:creationId xmlns:a16="http://schemas.microsoft.com/office/drawing/2014/main" id="{E88C733F-2B55-4369-B641-6F8CA82763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" y="5943600"/>
            <a:ext cx="1123950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975" b="0">
                <a:solidFill>
                  <a:srgbClr val="52636D"/>
                </a:solidFill>
                <a:latin typeface="微软雅黑"/>
                <a:ea typeface="微软雅黑"/>
                <a:cs typeface="微软雅黑"/>
              </a:defRPr>
            </a:defPPr>
          </a:lstStyle>
          <a:p xmlns:a="http://schemas.openxmlformats.org/drawingml/2006/main">
            <a:pPr algn="l">
              <a:defRPr sz="975" b="0">
                <a:solidFill>
                  <a:srgbClr val="52636D"/>
                </a:solidFill>
                <a:latin typeface="微软雅黑"/>
                <a:ea typeface="微软雅黑"/>
                <a:cs typeface="微软雅黑"/>
              </a:defRPr>
            </a:pPr>
            <a:r>
              <a:rPr sz="975" b="0">
                <a:solidFill>
                  <a:srgbClr val="52636D"/>
                </a:solidFill>
                <a:latin typeface="微软雅黑"/>
                <a:ea typeface="微软雅黑"/>
                <a:cs typeface="微软雅黑"/>
              </a:rPr>
              <a:t>教学操作建议；软件具体菜单随版本变化，以官方文档为准</a:t>
            </a:r>
          </a:p>
        </p:txBody>
      </p:sp>
      <p:graphicFrame>
        <p:nvGraphicFrame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9E24206-203A-4EBE-8748-338E11D89B79}"/>
              </a:ext>
            </a:extLst>
          </p:cNvPr>
          <p:cNvGraphicFramePr/>
          <p:nvPr/>
        </p:nvGraphicFramePr>
        <p:xfrm>
          <a:off xmlns:a="http://schemas.openxmlformats.org/drawingml/2006/main" x="466725" y="1333500"/>
          <a:ext xmlns:a="http://schemas.openxmlformats.org/drawingml/2006/main" cx="11239500" cy="41910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762250"/>
                <a:gridCol w="8477250"/>
              </a:tblGrid>
              <a:tr h="698500">
                <a:tc>
                  <a:txBody>
                    <a:bodyPr lIns="95250" tIns="95250" rIns="95250" bIns="95250"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步骤</a:t>
                      </a:r>
                    </a:p>
                  </a:txBody>
                  <a:tcPr marL="114300" marR="114300" marT="47625" marB="47625" anchor="ctr">
                    <a:lnL w="9525">
                      <a:solidFill>
                        <a:srgbClr val="D9E3E9"/>
                      </a:solidFill>
                      <a:prstDash val="solid"/>
                    </a:lnL>
                    <a:lnR w="9525">
                      <a:solidFill>
                        <a:srgbClr val="D9E3E9"/>
                      </a:solidFill>
                      <a:prstDash val="solid"/>
                    </a:lnR>
                    <a:lnT w="9525">
                      <a:solidFill>
                        <a:srgbClr val="D9E3E9"/>
                      </a:solidFill>
                      <a:prstDash val="solid"/>
                    </a:lnT>
                    <a:lnB w="9525">
                      <a:solidFill>
                        <a:srgbClr val="D9E3E9"/>
                      </a:solidFill>
                      <a:prstDash val="solid"/>
                    </a:lnB>
                    <a:solidFill>
                      <a:srgbClr val="005B94"/>
                    </a:solidFill>
                  </a:tcPr>
                </a:tc>
                <a:tc>
                  <a:txBody>
                    <a:bodyPr lIns="95250" tIns="95250" rIns="95250" bIns="95250"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应保留或输出的内容</a:t>
                      </a:r>
                    </a:p>
                  </a:txBody>
                  <a:tcPr marL="114300" marR="114300" marT="47625" marB="47625" anchor="ctr">
                    <a:lnR w="9525">
                      <a:solidFill>
                        <a:srgbClr val="D9E3E9"/>
                      </a:solidFill>
                      <a:prstDash val="solid"/>
                    </a:lnR>
                    <a:lnT w="9525">
                      <a:solidFill>
                        <a:srgbClr val="D9E3E9"/>
                      </a:solidFill>
                      <a:prstDash val="solid"/>
                    </a:lnT>
                    <a:lnB w="9525">
                      <a:solidFill>
                        <a:srgbClr val="D9E3E9"/>
                      </a:solidFill>
                      <a:prstDash val="solid"/>
                    </a:lnB>
                    <a:solidFill>
                      <a:srgbClr val="005B94"/>
                    </a:solidFill>
                  </a:tcPr>
                </a:tc>
              </a:tr>
              <a:tr h="698500">
                <a:tc>
                  <a:txBody>
                    <a:bodyPr lIns="95250" tIns="95250" rIns="95250" bIns="95250"/>
                    <a:lstStyle/>
                    <a:p>
                      <a:r>
                        <a:rPr sz="1725" b="0">
                          <a:solidFill>
                            <a:srgbClr val="20374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1  导入原始数据</a:t>
                      </a:r>
                    </a:p>
                  </a:txBody>
                  <a:tcPr marL="114300" marR="114300" marT="47625" marB="47625" anchor="ctr">
                    <a:lnL w="9525">
                      <a:solidFill>
                        <a:srgbClr val="D9E3E9"/>
                      </a:solidFill>
                      <a:prstDash val="solid"/>
                    </a:lnL>
                    <a:lnR w="9525">
                      <a:solidFill>
                        <a:srgbClr val="D9E3E9"/>
                      </a:solidFill>
                      <a:prstDash val="solid"/>
                    </a:lnR>
                    <a:lnB w="9525">
                      <a:solidFill>
                        <a:srgbClr val="D9E3E9"/>
                      </a:solidFill>
                      <a:prstDash val="solid"/>
                    </a:lnB>
                    <a:solidFill>
                      <a:srgbClr val="F0F6F9"/>
                    </a:solidFill>
                  </a:tcPr>
                </a:tc>
                <a:tc>
                  <a:txBody>
                    <a:bodyPr lIns="95250" tIns="95250" rIns="95250" bIns="95250"/>
                    <a:lstStyle/>
                    <a:p>
                      <a:r>
                        <a:rPr sz="1725" b="0">
                          <a:solidFill>
                            <a:srgbClr val="20374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保存原始数据，记录样品状态和测量条件</a:t>
                      </a:r>
                    </a:p>
                  </a:txBody>
                  <a:tcPr marL="114300" marR="114300" marT="47625" marB="47625" anchor="ctr">
                    <a:lnR w="9525">
                      <a:solidFill>
                        <a:srgbClr val="D9E3E9"/>
                      </a:solidFill>
                      <a:prstDash val="solid"/>
                    </a:lnR>
                    <a:lnB w="9525">
                      <a:solidFill>
                        <a:srgbClr val="D9E3E9"/>
                      </a:solidFill>
                      <a:prstDash val="solid"/>
                    </a:lnB>
                    <a:solidFill>
                      <a:srgbClr val="F0F6F9"/>
                    </a:solidFill>
                  </a:tcPr>
                </a:tc>
              </a:tr>
              <a:tr h="698500">
                <a:tc>
                  <a:txBody>
                    <a:bodyPr lIns="95250" tIns="95250" rIns="95250" bIns="95250"/>
                    <a:lstStyle/>
                    <a:p>
                      <a:r>
                        <a:rPr sz="1725" b="0">
                          <a:solidFill>
                            <a:srgbClr val="20374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2  检查与校正</a:t>
                      </a:r>
                    </a:p>
                  </a:txBody>
                  <a:tcPr marL="114300" marR="114300" marT="47625" marB="47625" anchor="ctr">
                    <a:lnL w="9525">
                      <a:solidFill>
                        <a:srgbClr val="D9E3E9"/>
                      </a:solidFill>
                      <a:prstDash val="solid"/>
                    </a:lnL>
                    <a:lnR w="9525">
                      <a:solidFill>
                        <a:srgbClr val="D9E3E9"/>
                      </a:solidFill>
                      <a:prstDash val="solid"/>
                    </a:lnR>
                    <a:lnB w="9525">
                      <a:solidFill>
                        <a:srgbClr val="D9E3E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0" tIns="95250" rIns="95250" bIns="95250"/>
                    <a:lstStyle/>
                    <a:p>
                      <a:r>
                        <a:rPr sz="1725" b="0">
                          <a:solidFill>
                            <a:srgbClr val="20374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先检查样品架和背景信号，按仪器要求进行校正</a:t>
                      </a:r>
                    </a:p>
                  </a:txBody>
                  <a:tcPr marL="114300" marR="114300" marT="47625" marB="47625" anchor="ctr">
                    <a:lnR w="9525">
                      <a:solidFill>
                        <a:srgbClr val="D9E3E9"/>
                      </a:solidFill>
                      <a:prstDash val="solid"/>
                    </a:lnR>
                    <a:lnB w="9525">
                      <a:solidFill>
                        <a:srgbClr val="D9E3E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98500">
                <a:tc>
                  <a:txBody>
                    <a:bodyPr lIns="95250" tIns="95250" rIns="95250" bIns="95250"/>
                    <a:lstStyle/>
                    <a:p>
                      <a:r>
                        <a:rPr sz="1725" b="0">
                          <a:solidFill>
                            <a:srgbClr val="20374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3  寻峰与全谱比对</a:t>
                      </a:r>
                    </a:p>
                  </a:txBody>
                  <a:tcPr marL="114300" marR="114300" marT="47625" marB="47625" anchor="ctr">
                    <a:lnL w="9525">
                      <a:solidFill>
                        <a:srgbClr val="D9E3E9"/>
                      </a:solidFill>
                      <a:prstDash val="solid"/>
                    </a:lnL>
                    <a:lnR w="9525">
                      <a:solidFill>
                        <a:srgbClr val="D9E3E9"/>
                      </a:solidFill>
                      <a:prstDash val="solid"/>
                    </a:lnR>
                    <a:lnB w="9525">
                      <a:solidFill>
                        <a:srgbClr val="D9E3E9"/>
                      </a:solidFill>
                      <a:prstDash val="solid"/>
                    </a:lnB>
                    <a:solidFill>
                      <a:srgbClr val="F0F6F9"/>
                    </a:solidFill>
                  </a:tcPr>
                </a:tc>
                <a:tc>
                  <a:txBody>
                    <a:bodyPr lIns="95250" tIns="95250" rIns="95250" bIns="95250"/>
                    <a:lstStyle/>
                    <a:p>
                      <a:r>
                        <a:rPr sz="1725" b="0">
                          <a:solidFill>
                            <a:srgbClr val="20374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记录峰的位置和宽度，与参考图谱比较，留意额外出现的峰</a:t>
                      </a:r>
                    </a:p>
                  </a:txBody>
                  <a:tcPr marL="114300" marR="114300" marT="47625" marB="47625" anchor="ctr">
                    <a:lnR w="9525">
                      <a:solidFill>
                        <a:srgbClr val="D9E3E9"/>
                      </a:solidFill>
                      <a:prstDash val="solid"/>
                    </a:lnR>
                    <a:lnB w="9525">
                      <a:solidFill>
                        <a:srgbClr val="D9E3E9"/>
                      </a:solidFill>
                      <a:prstDash val="solid"/>
                    </a:lnB>
                    <a:solidFill>
                      <a:srgbClr val="F0F6F9"/>
                    </a:solidFill>
                  </a:tcPr>
                </a:tc>
              </a:tr>
              <a:tr h="698500">
                <a:tc>
                  <a:txBody>
                    <a:bodyPr lIns="95250" tIns="95250" rIns="95250" bIns="95250"/>
                    <a:lstStyle/>
                    <a:p>
                      <a:r>
                        <a:rPr sz="1725" b="0">
                          <a:solidFill>
                            <a:srgbClr val="20374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4  拟合与模型检验</a:t>
                      </a:r>
                    </a:p>
                  </a:txBody>
                  <a:tcPr marL="114300" marR="114300" marT="47625" marB="47625" anchor="ctr">
                    <a:lnL w="9525">
                      <a:solidFill>
                        <a:srgbClr val="D9E3E9"/>
                      </a:solidFill>
                      <a:prstDash val="solid"/>
                    </a:lnL>
                    <a:lnR w="9525">
                      <a:solidFill>
                        <a:srgbClr val="D9E3E9"/>
                      </a:solidFill>
                      <a:prstDash val="solid"/>
                    </a:lnR>
                    <a:lnB w="9525">
                      <a:solidFill>
                        <a:srgbClr val="D9E3E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0" tIns="95250" rIns="95250" bIns="95250"/>
                    <a:lstStyle/>
                    <a:p>
                      <a:r>
                        <a:rPr sz="1725" b="0">
                          <a:solidFill>
                            <a:srgbClr val="20374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学习比较实验曲线与计算曲线，记录拟合误差及所用设置</a:t>
                      </a:r>
                    </a:p>
                  </a:txBody>
                  <a:tcPr marL="114300" marR="114300" marT="47625" marB="47625" anchor="ctr">
                    <a:lnR w="9525">
                      <a:solidFill>
                        <a:srgbClr val="D9E3E9"/>
                      </a:solidFill>
                      <a:prstDash val="solid"/>
                    </a:lnR>
                    <a:lnB w="9525">
                      <a:solidFill>
                        <a:srgbClr val="D9E3E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98500">
                <a:tc>
                  <a:txBody>
                    <a:bodyPr lIns="95250" tIns="95250" rIns="95250" bIns="95250"/>
                    <a:lstStyle/>
                    <a:p>
                      <a:r>
                        <a:rPr sz="1725" b="0">
                          <a:solidFill>
                            <a:srgbClr val="20374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5  联合表征与归档</a:t>
                      </a:r>
                    </a:p>
                  </a:txBody>
                  <a:tcPr marL="114300" marR="114300" marT="47625" marB="47625" anchor="ctr">
                    <a:lnL w="9525">
                      <a:solidFill>
                        <a:srgbClr val="D9E3E9"/>
                      </a:solidFill>
                      <a:prstDash val="solid"/>
                    </a:lnL>
                    <a:lnR w="9525">
                      <a:solidFill>
                        <a:srgbClr val="D9E3E9"/>
                      </a:solidFill>
                      <a:prstDash val="solid"/>
                    </a:lnR>
                    <a:lnB w="9525">
                      <a:solidFill>
                        <a:srgbClr val="D9E3E9"/>
                      </a:solidFill>
                      <a:prstDash val="solid"/>
                    </a:lnB>
                    <a:solidFill>
                      <a:srgbClr val="F0F6F9"/>
                    </a:solidFill>
                  </a:tcPr>
                </a:tc>
                <a:tc>
                  <a:txBody>
                    <a:bodyPr lIns="95250" tIns="95250" rIns="95250" bIns="95250"/>
                    <a:lstStyle/>
                    <a:p>
                      <a:r>
                        <a:rPr sz="1725" b="0">
                          <a:solidFill>
                            <a:srgbClr val="20374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保存软件工程和操作记录，结合其他测试进行判断</a:t>
                      </a:r>
                    </a:p>
                  </a:txBody>
                  <a:tcPr marL="114300" marR="114300" marT="47625" marB="47625" anchor="ctr">
                    <a:lnR w="9525">
                      <a:solidFill>
                        <a:srgbClr val="D9E3E9"/>
                      </a:solidFill>
                      <a:prstDash val="solid"/>
                    </a:lnR>
                    <a:lnB w="9525">
                      <a:solidFill>
                        <a:srgbClr val="D9E3E9"/>
                      </a:solidFill>
                      <a:prstDash val="solid"/>
                    </a:lnB>
                    <a:solidFill>
                      <a:srgbClr val="F0F6F9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594460780"/>
      </p:ext>
    </p:extLst>
  </p:cSld>
</p:sld>
</file>

<file path=ppt/slides/slide1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text-0">
            <a:extLst xmlns:a="http://schemas.openxmlformats.org/drawingml/2006/main">
              <a:ext uri="{FF2B5EF4-FFF2-40B4-BE49-F238E27FC236}">
                <a16:creationId xmlns:a16="http://schemas.microsoft.com/office/drawing/2014/main" id="{C124F423-C9B5-4A1C-A60E-68ACFA3610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" y="209550"/>
            <a:ext cx="8096250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55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defPPr>
          </a:lstStyle>
          <a:p xmlns:a="http://schemas.openxmlformats.org/drawingml/2006/main">
            <a:pPr algn="l">
              <a:defRPr sz="255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255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附录B  晶面间距与有序区域尺度估算</a:t>
            </a:r>
          </a:p>
        </p:txBody>
      </p:sp>
      <p:sp>
        <p:nvSpPr>
          <p:cNvPr id="2" name="text-1">
            <a:extLst xmlns:a="http://schemas.openxmlformats.org/drawingml/2006/main">
              <a:ext uri="{FF2B5EF4-FFF2-40B4-BE49-F238E27FC236}">
                <a16:creationId xmlns:a16="http://schemas.microsoft.com/office/drawing/2014/main" id="{5253D3F5-DD26-4B30-8802-05EA7835C2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" y="6372225"/>
            <a:ext cx="61912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125" b="0">
                <a:solidFill>
                  <a:srgbClr val="52636D"/>
                </a:solidFill>
                <a:latin typeface="微软雅黑"/>
                <a:ea typeface="微软雅黑"/>
                <a:cs typeface="微软雅黑"/>
              </a:defRPr>
            </a:defPPr>
          </a:lstStyle>
          <a:p xmlns:a="http://schemas.openxmlformats.org/drawingml/2006/main">
            <a:pPr algn="l">
              <a:defRPr sz="1125" b="0">
                <a:solidFill>
                  <a:srgbClr val="52636D"/>
                </a:solidFill>
                <a:latin typeface="微软雅黑"/>
                <a:ea typeface="微软雅黑"/>
                <a:cs typeface="微软雅黑"/>
              </a:defRPr>
            </a:pPr>
            <a:r>
              <a:rPr sz="1125" b="0">
                <a:solidFill>
                  <a:srgbClr val="52636D"/>
                </a:solidFill>
                <a:latin typeface="微软雅黑"/>
                <a:ea typeface="微软雅黑"/>
                <a:cs typeface="微软雅黑"/>
              </a:rPr>
              <a:t>附录</a:t>
            </a:r>
          </a:p>
        </p:txBody>
      </p:sp>
      <p:sp>
        <p:nvSpPr>
          <p:cNvPr id="3" name="text-2">
            <a:extLst xmlns:a="http://schemas.openxmlformats.org/drawingml/2006/main">
              <a:ext uri="{FF2B5EF4-FFF2-40B4-BE49-F238E27FC236}">
                <a16:creationId xmlns:a16="http://schemas.microsoft.com/office/drawing/2014/main" id="{73BD5462-A79D-4997-8C40-7F3DA4F39F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39325" y="6353175"/>
            <a:ext cx="47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275" b="0">
                <a:solidFill>
                  <a:srgbClr val="005B94"/>
                </a:solidFill>
                <a:latin typeface="微软雅黑"/>
                <a:ea typeface="微软雅黑"/>
                <a:cs typeface="微软雅黑"/>
              </a:defRPr>
            </a:defPPr>
          </a:lstStyle>
          <a:p xmlns:a="http://schemas.openxmlformats.org/drawingml/2006/main">
            <a:pPr algn="r">
              <a:defRPr sz="1275" b="0">
                <a:solidFill>
                  <a:srgbClr val="005B94"/>
                </a:solidFill>
                <a:latin typeface="微软雅黑"/>
                <a:ea typeface="微软雅黑"/>
                <a:cs typeface="微软雅黑"/>
              </a:defRPr>
            </a:pPr>
            <a:r>
              <a:rPr sz="1275" b="0">
                <a:solidFill>
                  <a:srgbClr val="005B94"/>
                </a:solidFill>
                <a:latin typeface="微软雅黑"/>
                <a:ea typeface="微软雅黑"/>
                <a:cs typeface="微软雅黑"/>
              </a:rPr>
              <a:t>14</a:t>
            </a:r>
          </a:p>
        </p:txBody>
      </p:sp>
      <p:sp>
        <p:nvSpPr>
          <p:cNvPr id="4" name="text-3">
            <a:extLst xmlns:a="http://schemas.openxmlformats.org/drawingml/2006/main">
              <a:ext uri="{FF2B5EF4-FFF2-40B4-BE49-F238E27FC236}">
                <a16:creationId xmlns:a16="http://schemas.microsoft.com/office/drawing/2014/main" id="{B7A849EA-8057-491B-B7FA-B8F6C4C816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" y="5943600"/>
            <a:ext cx="1123950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975" b="0">
                <a:solidFill>
                  <a:srgbClr val="52636D"/>
                </a:solidFill>
                <a:latin typeface="微软雅黑"/>
                <a:ea typeface="微软雅黑"/>
                <a:cs typeface="微软雅黑"/>
              </a:defRPr>
            </a:defPPr>
          </a:lstStyle>
          <a:p xmlns:a="http://schemas.openxmlformats.org/drawingml/2006/main">
            <a:pPr algn="l">
              <a:defRPr sz="975" b="0">
                <a:solidFill>
                  <a:srgbClr val="52636D"/>
                </a:solidFill>
                <a:latin typeface="微软雅黑"/>
                <a:ea typeface="微软雅黑"/>
                <a:cs typeface="微软雅黑"/>
              </a:defRPr>
            </a:pPr>
            <a:r>
              <a:rPr sz="975" b="0">
                <a:solidFill>
                  <a:srgbClr val="52636D"/>
                </a:solidFill>
                <a:latin typeface="微软雅黑"/>
                <a:ea typeface="微软雅黑"/>
                <a:cs typeface="微软雅黑"/>
              </a:rPr>
              <a:t>计算采用教学假设值，不是从论文图片精确拟合得到的实验结果</a:t>
            </a:r>
          </a:p>
        </p:txBody>
      </p:sp>
      <p:sp>
        <p:nvSpPr>
          <p:cNvPr id="5" name="text-4">
            <a:extLst xmlns:a="http://schemas.openxmlformats.org/drawingml/2006/main">
              <a:ext uri="{FF2B5EF4-FFF2-40B4-BE49-F238E27FC236}">
                <a16:creationId xmlns:a16="http://schemas.microsoft.com/office/drawing/2014/main" id="{BD85AAC3-CAFE-4826-85C7-F02C5AB6F7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1352550"/>
            <a:ext cx="105727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625" b="1">
                <a:solidFill>
                  <a:srgbClr val="005B94"/>
                </a:solidFill>
                <a:latin typeface="微软雅黑"/>
                <a:ea typeface="微软雅黑"/>
                <a:cs typeface="微软雅黑"/>
              </a:defRPr>
            </a:defPPr>
          </a:lstStyle>
          <a:p xmlns:a="http://schemas.openxmlformats.org/drawingml/2006/main">
            <a:pPr algn="l">
              <a:defRPr sz="2625" b="1">
                <a:solidFill>
                  <a:srgbClr val="005B94"/>
                </a:solidFill>
                <a:latin typeface="微软雅黑"/>
                <a:ea typeface="微软雅黑"/>
                <a:cs typeface="微软雅黑"/>
              </a:defRPr>
            </a:pPr>
            <a:r>
              <a:rPr sz="2625" b="1">
                <a:solidFill>
                  <a:srgbClr val="005B94"/>
                </a:solidFill>
                <a:latin typeface="微软雅黑"/>
                <a:ea typeface="微软雅黑"/>
                <a:cs typeface="微软雅黑"/>
              </a:rPr>
              <a:t>布拉格关系：d = λ / (2 sinθ)</a:t>
            </a:r>
          </a:p>
        </p:txBody>
      </p:sp>
      <p:sp>
        <p:nvSpPr>
          <p:cNvPr id="6" name="text-5">
            <a:extLst xmlns:a="http://schemas.openxmlformats.org/drawingml/2006/main">
              <a:ext uri="{FF2B5EF4-FFF2-40B4-BE49-F238E27FC236}">
                <a16:creationId xmlns:a16="http://schemas.microsoft.com/office/drawing/2014/main" id="{752E195C-0D19-4E13-8765-E3C6352BA9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095500"/>
            <a:ext cx="10668000" cy="1181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203746"/>
                </a:solidFill>
                <a:latin typeface="微软雅黑"/>
                <a:ea typeface="微软雅黑"/>
                <a:cs typeface="微软雅黑"/>
              </a:defRPr>
            </a:defPPr>
          </a:lstStyle>
          <a:p xmlns:a="http://schemas.openxmlformats.org/drawingml/2006/main">
            <a:pPr algn="l">
              <a:defRPr sz="2025" b="0">
                <a:solidFill>
                  <a:srgbClr val="203746"/>
                </a:solidFill>
                <a:latin typeface="微软雅黑"/>
                <a:ea typeface="微软雅黑"/>
                <a:cs typeface="微软雅黑"/>
              </a:defRPr>
            </a:pPr>
            <a:r>
              <a:rPr sz="2025" b="0">
                <a:solidFill>
                  <a:srgbClr val="203746"/>
                </a:solidFill>
                <a:latin typeface="微软雅黑"/>
                <a:ea typeface="微软雅黑"/>
                <a:cs typeface="微软雅黑"/>
              </a:rPr>
              <a:t>示例：Cu Kα，λ = 0.15406 nm，2θ = 2.50°</a:t>
            </a:r>
          </a:p>
          <a:p xmlns:a="http://schemas.openxmlformats.org/drawingml/2006/main">
            <a:pPr algn="l">
              <a:defRPr sz="2025" b="0">
                <a:solidFill>
                  <a:srgbClr val="203746"/>
                </a:solidFill>
                <a:latin typeface="微软雅黑"/>
                <a:ea typeface="微软雅黑"/>
                <a:cs typeface="微软雅黑"/>
              </a:defRPr>
            </a:pPr>
            <a:r>
              <a:rPr sz="2025" b="0">
                <a:solidFill>
                  <a:srgbClr val="203746"/>
                </a:solidFill>
                <a:latin typeface="微软雅黑"/>
                <a:ea typeface="微软雅黑"/>
                <a:cs typeface="微软雅黑"/>
              </a:rPr>
              <a:t>θ = 1.25°，d ≈ 3.53 nm</a:t>
            </a:r>
          </a:p>
          <a:p xmlns:a="http://schemas.openxmlformats.org/drawingml/2006/main">
            <a:pPr algn="l">
              <a:defRPr sz="2025" b="0">
                <a:solidFill>
                  <a:srgbClr val="203746"/>
                </a:solidFill>
                <a:latin typeface="微软雅黑"/>
                <a:ea typeface="微软雅黑"/>
                <a:cs typeface="微软雅黑"/>
              </a:defRPr>
            </a:pPr>
            <a:r>
              <a:rPr sz="2025" b="0">
                <a:solidFill>
                  <a:srgbClr val="203746"/>
                </a:solidFill>
                <a:latin typeface="微软雅黑"/>
                <a:ea typeface="微软雅黑"/>
                <a:cs typeface="微软雅黑"/>
              </a:rPr>
              <a:t>该值是晶面间距，不能直接作为孔径。</a:t>
            </a:r>
          </a:p>
        </p:txBody>
      </p:sp>
      <p:sp>
        <p:nvSpPr>
          <p:cNvPr id="7" name="text-6">
            <a:extLst xmlns:a="http://schemas.openxmlformats.org/drawingml/2006/main">
              <a:ext uri="{FF2B5EF4-FFF2-40B4-BE49-F238E27FC236}">
                <a16:creationId xmlns:a16="http://schemas.microsoft.com/office/drawing/2014/main" id="{40B66707-D4AE-4412-9BE6-C298EA4611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3657600"/>
            <a:ext cx="105727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625" b="1">
                <a:solidFill>
                  <a:srgbClr val="005B94"/>
                </a:solidFill>
                <a:latin typeface="微软雅黑"/>
                <a:ea typeface="微软雅黑"/>
                <a:cs typeface="微软雅黑"/>
              </a:defRPr>
            </a:defPPr>
          </a:lstStyle>
          <a:p xmlns:a="http://schemas.openxmlformats.org/drawingml/2006/main">
            <a:pPr algn="l">
              <a:defRPr sz="2625" b="1">
                <a:solidFill>
                  <a:srgbClr val="005B94"/>
                </a:solidFill>
                <a:latin typeface="微软雅黑"/>
                <a:ea typeface="微软雅黑"/>
                <a:cs typeface="微软雅黑"/>
              </a:defRPr>
            </a:pPr>
            <a:r>
              <a:rPr sz="2625" b="1">
                <a:solidFill>
                  <a:srgbClr val="005B94"/>
                </a:solidFill>
                <a:latin typeface="微软雅黑"/>
                <a:ea typeface="微软雅黑"/>
                <a:cs typeface="微软雅黑"/>
              </a:rPr>
              <a:t>谢乐公式（Scherrer）：D = Kλ / (β cosθ)</a:t>
            </a:r>
          </a:p>
        </p:txBody>
      </p:sp>
      <p:sp>
        <p:nvSpPr>
          <p:cNvPr id="8" name="text-7">
            <a:extLst xmlns:a="http://schemas.openxmlformats.org/drawingml/2006/main">
              <a:ext uri="{FF2B5EF4-FFF2-40B4-BE49-F238E27FC236}">
                <a16:creationId xmlns:a16="http://schemas.microsoft.com/office/drawing/2014/main" id="{6F6C2DAB-9542-46E6-9D8D-C5F883CB15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4429125"/>
            <a:ext cx="10668000" cy="1285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0">
                <a:solidFill>
                  <a:srgbClr val="203746"/>
                </a:solidFill>
                <a:latin typeface="微软雅黑"/>
                <a:ea typeface="微软雅黑"/>
                <a:cs typeface="微软雅黑"/>
              </a:defRPr>
            </a:defPPr>
          </a:lstStyle>
          <ns0:p xmlns:ns0="http://schemas.openxmlformats.org/drawingml/2006/main">
            <ns0:pPr algn="l">
              <ns0:defRPr sz="1950" b="0">
                <ns0:solidFill>
                  <ns0:srgbClr val="203746"/>
                </ns0:solidFill>
                <ns0:latin typeface="微软雅黑"/>
                <ns0:ea typeface="微软雅黑"/>
                <ns0:cs typeface="微软雅黑"/>
              </ns0:defRPr>
            </ns0:pPr>
            <ns0:r>
              <ns0:rPr sz="1950" b="0">
                <ns0:solidFill>
                  <ns0:srgbClr val="203746"/>
                </ns0:solidFill>
                <ns0:latin typeface="微软雅黑"/>
                <ns0:ea typeface="微软雅黑"/>
                <ns0:cs typeface="微软雅黑"/>
              </ns0:rPr>
              <ns0:t>示例：K = 0.9，2θ = 7.4°，校正后β = 1.5° = 0.02618 rad</ns0:t>
            </ns0:r>
          </ns0:p>
          <ns1:p xmlns:ns1="http://schemas.openxmlformats.org/drawingml/2006/main">
            <ns1:pPr algn="l">
              <ns1:defRPr sz="1950" b="0">
                <ns1:solidFill>
                  <ns1:srgbClr val="203746"/>
                </ns1:solidFill>
                <ns1:latin typeface="微软雅黑"/>
                <ns1:ea typeface="微软雅黑"/>
                <ns1:cs typeface="微软雅黑"/>
              </ns1:defRPr>
            </ns1:pPr>
            <ns1:r>
              <ns1:rPr sz="1950" b="0">
                <ns1:solidFill>
                  <ns1:srgbClr val="203746"/>
                </ns1:solidFill>
                <ns1:latin typeface="微软雅黑"/>
                <ns1:ea typeface="微软雅黑"/>
                <ns1:cs typeface="微软雅黑"/>
              </ns1:rPr>
              <ns1:t>得到D ≈ 5.31 nm，表示该方向相干衍射区域的尺度。</ns1:t>
            </ns1:r>
          </ns1:p>
          <ns2:p xmlns:ns2="http://schemas.openxmlformats.org/drawingml/2006/main">
            <ns2:pPr algn="l">
              <ns2:defRPr sz="1950" b="0">
                <ns2:solidFill>
                  <ns2:srgbClr val="203746"/>
                </ns2:solidFill>
                <ns2:latin typeface="微软雅黑"/>
                <ns2:ea typeface="微软雅黑"/>
                <ns2:cs typeface="微软雅黑"/>
              </ns2:defRPr>
            </ns2:pPr>
            <ns2:r>
              <ns2:rPr sz="1950" b="0">
                <ns2:solidFill>
                  <ns2:srgbClr val="203746"/>
                </ns2:solidFill>
                <ns2:latin typeface="微软雅黑"/>
                <ns2:ea typeface="微软雅黑"/>
                <ns2:cs typeface="微软雅黑"/>
              </ns2:rPr>
              <ns2:t>β在此取半高宽，须考虑仪器展宽；D不一定等于颗粒大小。</ns2:t>
            </ns2:r>
          </ns2:p>
        </p:txBody>
      </p:sp>
    </p:spTree>
    <p:extLst>
      <p:ext uri="{BB962C8B-B14F-4D97-AF65-F5344CB8AC3E}">
        <p14:creationId xmlns:p14="http://schemas.microsoft.com/office/powerpoint/2010/main" val="594460780"/>
      </p:ext>
    </p:extLst>
  </p:cSld>
</p:sld>
</file>

<file path=ppt/slides/slide1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ext-0">
            <a:extLst xmlns:a="http://schemas.openxmlformats.org/drawingml/2006/main">
              <a:ext uri="{FF2B5EF4-FFF2-40B4-BE49-F238E27FC236}">
                <a16:creationId xmlns:a16="http://schemas.microsoft.com/office/drawing/2014/main" id="{55BE1CAF-17FB-4F3A-88C0-30BAACD52A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" y="209550"/>
            <a:ext cx="8096250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55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defPPr>
          </a:lstStyle>
          <a:p xmlns:a="http://schemas.openxmlformats.org/drawingml/2006/main">
            <a:pPr algn="l">
              <a:defRPr sz="255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255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附录C  图谱英文术语与中文释义</a:t>
            </a:r>
          </a:p>
        </p:txBody>
      </p:sp>
      <p:sp>
        <p:nvSpPr>
          <p:cNvPr id="2" name="text-1">
            <a:extLst xmlns:a="http://schemas.openxmlformats.org/drawingml/2006/main">
              <a:ext uri="{FF2B5EF4-FFF2-40B4-BE49-F238E27FC236}">
                <a16:creationId xmlns:a16="http://schemas.microsoft.com/office/drawing/2014/main" id="{DA81F4D2-8DAF-4780-BB3E-9AB75256A2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" y="6372225"/>
            <a:ext cx="61912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125" b="0">
                <a:solidFill>
                  <a:srgbClr val="52636D"/>
                </a:solidFill>
                <a:latin typeface="微软雅黑"/>
                <a:ea typeface="微软雅黑"/>
                <a:cs typeface="微软雅黑"/>
              </a:defRPr>
            </a:defPPr>
          </a:lstStyle>
          <a:p xmlns:a="http://schemas.openxmlformats.org/drawingml/2006/main">
            <a:pPr algn="l">
              <a:defRPr sz="1125" b="0">
                <a:solidFill>
                  <a:srgbClr val="52636D"/>
                </a:solidFill>
                <a:latin typeface="微软雅黑"/>
                <a:ea typeface="微软雅黑"/>
                <a:cs typeface="微软雅黑"/>
              </a:defRPr>
            </a:pPr>
            <a:r>
              <a:rPr sz="1125" b="0">
                <a:solidFill>
                  <a:srgbClr val="52636D"/>
                </a:solidFill>
                <a:latin typeface="微软雅黑"/>
                <a:ea typeface="微软雅黑"/>
                <a:cs typeface="微软雅黑"/>
              </a:rPr>
              <a:t>附录</a:t>
            </a:r>
          </a:p>
        </p:txBody>
      </p:sp>
      <p:sp>
        <p:nvSpPr>
          <p:cNvPr id="3" name="text-2">
            <a:extLst xmlns:a="http://schemas.openxmlformats.org/drawingml/2006/main">
              <a:ext uri="{FF2B5EF4-FFF2-40B4-BE49-F238E27FC236}">
                <a16:creationId xmlns:a16="http://schemas.microsoft.com/office/drawing/2014/main" id="{D89C2484-118F-4441-BAEC-C0C34DEC6C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39325" y="6353175"/>
            <a:ext cx="47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275" b="0">
                <a:solidFill>
                  <a:srgbClr val="005B94"/>
                </a:solidFill>
                <a:latin typeface="微软雅黑"/>
                <a:ea typeface="微软雅黑"/>
                <a:cs typeface="微软雅黑"/>
              </a:defRPr>
            </a:defPPr>
          </a:lstStyle>
          <a:p xmlns:a="http://schemas.openxmlformats.org/drawingml/2006/main">
            <a:pPr algn="r">
              <a:defRPr sz="1275" b="0">
                <a:solidFill>
                  <a:srgbClr val="005B94"/>
                </a:solidFill>
                <a:latin typeface="微软雅黑"/>
                <a:ea typeface="微软雅黑"/>
                <a:cs typeface="微软雅黑"/>
              </a:defRPr>
            </a:pPr>
            <a:r>
              <a:rPr sz="1275" b="0">
                <a:solidFill>
                  <a:srgbClr val="005B94"/>
                </a:solidFill>
                <a:latin typeface="微软雅黑"/>
                <a:ea typeface="微软雅黑"/>
                <a:cs typeface="微软雅黑"/>
              </a:rPr>
              <a:t>15</a:t>
            </a:r>
          </a:p>
        </p:txBody>
      </p:sp>
      <p:sp>
        <p:nvSpPr>
          <p:cNvPr id="4" name="text-3">
            <a:extLst xmlns:a="http://schemas.openxmlformats.org/drawingml/2006/main">
              <a:ext uri="{FF2B5EF4-FFF2-40B4-BE49-F238E27FC236}">
                <a16:creationId xmlns:a16="http://schemas.microsoft.com/office/drawing/2014/main" id="{36D76445-588E-428C-9851-6C26929856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" y="5943600"/>
            <a:ext cx="1123950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975" b="0">
                <a:solidFill>
                  <a:srgbClr val="52636D"/>
                </a:solidFill>
                <a:latin typeface="微软雅黑"/>
                <a:ea typeface="微软雅黑"/>
                <a:cs typeface="微软雅黑"/>
              </a:defRPr>
            </a:defPPr>
          </a:lstStyle>
          <a:p xmlns:a="http://schemas.openxmlformats.org/drawingml/2006/main">
            <a:pPr algn="l">
              <a:defRPr sz="975" b="0">
                <a:solidFill>
                  <a:srgbClr val="52636D"/>
                </a:solidFill>
                <a:latin typeface="微软雅黑"/>
                <a:ea typeface="微软雅黑"/>
                <a:cs typeface="微软雅黑"/>
              </a:defRPr>
            </a:pPr>
            <a:r>
              <a:rPr sz="975" b="0">
                <a:solidFill>
                  <a:srgbClr val="52636D"/>
                </a:solidFill>
                <a:latin typeface="微软雅黑"/>
                <a:ea typeface="微软雅黑"/>
                <a:cs typeface="微软雅黑"/>
              </a:rPr>
              <a:t>保留论文原图中的英文，在旁边用中文帮助理解</a:t>
            </a:r>
          </a:p>
        </p:txBody>
      </p:sp>
      <p:graphicFrame>
        <p:nvGraphicFrame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9AF6061-A891-4F2B-9C42-6943858AE583}"/>
              </a:ext>
            </a:extLst>
          </p:cNvPr>
          <p:cNvGraphicFramePr/>
          <p:nvPr/>
        </p:nvGraphicFramePr>
        <p:xfrm>
          <a:off xmlns:a="http://schemas.openxmlformats.org/drawingml/2006/main" x="466725" y="1333500"/>
          <a:ext xmlns:a="http://schemas.openxmlformats.org/drawingml/2006/main" cx="11239500" cy="42672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333750"/>
                <a:gridCol w="2857500"/>
                <a:gridCol w="5048250"/>
              </a:tblGrid>
              <a:tr h="609600">
                <a:tc>
                  <a:txBody>
                    <a:bodyPr lIns="95250" tIns="95250" rIns="95250" bIns="95250"/>
                    <a:lstStyle/>
                    <a:p>
                      <a:r>
                        <a:rPr sz="165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原图英文</a:t>
                      </a:r>
                    </a:p>
                  </a:txBody>
                  <a:tcPr marL="114300" marR="114300" marT="47625" marB="47625" anchor="ctr">
                    <a:lnL w="9525">
                      <a:solidFill>
                        <a:srgbClr val="D9E3E9"/>
                      </a:solidFill>
                      <a:prstDash val="solid"/>
                    </a:lnL>
                    <a:lnR w="9525">
                      <a:solidFill>
                        <a:srgbClr val="D9E3E9"/>
                      </a:solidFill>
                      <a:prstDash val="solid"/>
                    </a:lnR>
                    <a:lnT w="9525">
                      <a:solidFill>
                        <a:srgbClr val="D9E3E9"/>
                      </a:solidFill>
                      <a:prstDash val="solid"/>
                    </a:lnT>
                    <a:lnB w="9525">
                      <a:solidFill>
                        <a:srgbClr val="D9E3E9"/>
                      </a:solidFill>
                      <a:prstDash val="solid"/>
                    </a:lnB>
                    <a:solidFill>
                      <a:srgbClr val="005B94"/>
                    </a:solidFill>
                  </a:tcPr>
                </a:tc>
                <a:tc>
                  <a:txBody>
                    <a:bodyPr lIns="95250" tIns="95250" rIns="95250" bIns="95250"/>
                    <a:lstStyle/>
                    <a:p>
                      <a:r>
                        <a:rPr sz="165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中文含义</a:t>
                      </a:r>
                    </a:p>
                  </a:txBody>
                  <a:tcPr marL="114300" marR="114300" marT="47625" marB="47625" anchor="ctr">
                    <a:lnR w="9525">
                      <a:solidFill>
                        <a:srgbClr val="D9E3E9"/>
                      </a:solidFill>
                      <a:prstDash val="solid"/>
                    </a:lnR>
                    <a:lnT w="9525">
                      <a:solidFill>
                        <a:srgbClr val="D9E3E9"/>
                      </a:solidFill>
                      <a:prstDash val="solid"/>
                    </a:lnT>
                    <a:lnB w="9525">
                      <a:solidFill>
                        <a:srgbClr val="D9E3E9"/>
                      </a:solidFill>
                      <a:prstDash val="solid"/>
                    </a:lnB>
                    <a:solidFill>
                      <a:srgbClr val="005B94"/>
                    </a:solidFill>
                  </a:tcPr>
                </a:tc>
                <a:tc>
                  <a:txBody>
                    <a:bodyPr lIns="95250" tIns="95250" rIns="95250" bIns="95250"/>
                    <a:lstStyle/>
                    <a:p>
                      <a:r>
                        <a:rPr sz="165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图谱中的作用</a:t>
                      </a:r>
                    </a:p>
                  </a:txBody>
                  <a:tcPr marL="114300" marR="114300" marT="47625" marB="47625" anchor="ctr">
                    <a:lnR w="9525">
                      <a:solidFill>
                        <a:srgbClr val="D9E3E9"/>
                      </a:solidFill>
                      <a:prstDash val="solid"/>
                    </a:lnR>
                    <a:lnT w="9525">
                      <a:solidFill>
                        <a:srgbClr val="D9E3E9"/>
                      </a:solidFill>
                      <a:prstDash val="solid"/>
                    </a:lnT>
                    <a:lnB w="9525">
                      <a:solidFill>
                        <a:srgbClr val="D9E3E9"/>
                      </a:solidFill>
                      <a:prstDash val="solid"/>
                    </a:lnB>
                    <a:solidFill>
                      <a:srgbClr val="005B94"/>
                    </a:solidFill>
                  </a:tcPr>
                </a:tc>
              </a:tr>
              <a:tr h="609600">
                <a:tc>
                  <a:txBody>
                    <a:bodyPr lIns="95250" tIns="95250" rIns="95250" bIns="95250"/>
                    <a:lstStyle/>
                    <a:p>
                      <a:r>
                        <a:rPr sz="1650" b="0">
                          <a:solidFill>
                            <a:srgbClr val="20374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Experimental / Observed</a:t>
                      </a:r>
                    </a:p>
                  </a:txBody>
                  <a:tcPr marL="114300" marR="114300" marT="47625" marB="47625" anchor="ctr">
                    <a:lnL w="9525">
                      <a:solidFill>
                        <a:srgbClr val="D9E3E9"/>
                      </a:solidFill>
                      <a:prstDash val="solid"/>
                    </a:lnL>
                    <a:lnR w="9525">
                      <a:solidFill>
                        <a:srgbClr val="D9E3E9"/>
                      </a:solidFill>
                      <a:prstDash val="solid"/>
                    </a:lnR>
                    <a:lnB w="9525">
                      <a:solidFill>
                        <a:srgbClr val="D9E3E9"/>
                      </a:solidFill>
                      <a:prstDash val="solid"/>
                    </a:lnB>
                    <a:solidFill>
                      <a:srgbClr val="F0F6F9"/>
                    </a:solidFill>
                  </a:tcPr>
                </a:tc>
                <a:tc>
                  <a:txBody>
                    <a:bodyPr lIns="95250" tIns="95250" rIns="95250" bIns="95250"/>
                    <a:lstStyle/>
                    <a:p>
                      <a:r>
                        <a:rPr sz="1650" b="0">
                          <a:solidFill>
                            <a:srgbClr val="20374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实验数据</a:t>
                      </a:r>
                    </a:p>
                  </a:txBody>
                  <a:tcPr marL="114300" marR="114300" marT="47625" marB="47625" anchor="ctr">
                    <a:lnR w="9525">
                      <a:solidFill>
                        <a:srgbClr val="D9E3E9"/>
                      </a:solidFill>
                      <a:prstDash val="solid"/>
                    </a:lnR>
                    <a:lnB w="9525">
                      <a:solidFill>
                        <a:srgbClr val="D9E3E9"/>
                      </a:solidFill>
                      <a:prstDash val="solid"/>
                    </a:lnB>
                    <a:solidFill>
                      <a:srgbClr val="F0F6F9"/>
                    </a:solidFill>
                  </a:tcPr>
                </a:tc>
                <a:tc>
                  <a:txBody>
                    <a:bodyPr lIns="95250" tIns="95250" rIns="95250" bIns="95250"/>
                    <a:lstStyle/>
                    <a:p>
                      <a:r>
                        <a:rPr sz="1650" b="0">
                          <a:solidFill>
                            <a:srgbClr val="20374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实际测量得到的点或曲线</a:t>
                      </a:r>
                    </a:p>
                  </a:txBody>
                  <a:tcPr marL="114300" marR="114300" marT="47625" marB="47625" anchor="ctr">
                    <a:lnR w="9525">
                      <a:solidFill>
                        <a:srgbClr val="D9E3E9"/>
                      </a:solidFill>
                      <a:prstDash val="solid"/>
                    </a:lnR>
                    <a:lnB w="9525">
                      <a:solidFill>
                        <a:srgbClr val="D9E3E9"/>
                      </a:solidFill>
                      <a:prstDash val="solid"/>
                    </a:lnB>
                    <a:solidFill>
                      <a:srgbClr val="F0F6F9"/>
                    </a:solidFill>
                  </a:tcPr>
                </a:tc>
              </a:tr>
              <a:tr h="609600">
                <a:tc>
                  <a:txBody>
                    <a:bodyPr lIns="95250" tIns="95250" rIns="95250" bIns="95250"/>
                    <a:lstStyle/>
                    <a:p>
                      <a:r>
                        <a:rPr sz="1650" b="0">
                          <a:solidFill>
                            <a:srgbClr val="20374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Pawley Refined / Fitting</a:t>
                      </a:r>
                    </a:p>
                  </a:txBody>
                  <a:tcPr marL="114300" marR="114300" marT="47625" marB="47625" anchor="ctr">
                    <a:lnL w="9525">
                      <a:solidFill>
                        <a:srgbClr val="D9E3E9"/>
                      </a:solidFill>
                      <a:prstDash val="solid"/>
                    </a:lnL>
                    <a:lnR w="9525">
                      <a:solidFill>
                        <a:srgbClr val="D9E3E9"/>
                      </a:solidFill>
                      <a:prstDash val="solid"/>
                    </a:lnR>
                    <a:lnB w="9525">
                      <a:solidFill>
                        <a:srgbClr val="D9E3E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0" tIns="95250" rIns="95250" bIns="95250"/>
                    <a:lstStyle/>
                    <a:p>
                      <a:r>
                        <a:rPr sz="1650" b="0">
                          <a:solidFill>
                            <a:srgbClr val="20374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全谱拟合线 / 拟合曲线</a:t>
                      </a:r>
                    </a:p>
                  </a:txBody>
                  <a:tcPr marL="114300" marR="114300" marT="47625" marB="47625" anchor="ctr">
                    <a:lnR w="9525">
                      <a:solidFill>
                        <a:srgbClr val="D9E3E9"/>
                      </a:solidFill>
                      <a:prstDash val="solid"/>
                    </a:lnR>
                    <a:lnB w="9525">
                      <a:solidFill>
                        <a:srgbClr val="D9E3E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0" tIns="95250" rIns="95250" bIns="95250"/>
                    <a:lstStyle/>
                    <a:p>
                      <a:r>
                        <a:rPr sz="1650" b="0">
                          <a:solidFill>
                            <a:srgbClr val="20374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通过拟合参数，使计算曲线接近实验数据</a:t>
                      </a:r>
                    </a:p>
                  </a:txBody>
                  <a:tcPr marL="114300" marR="114300" marT="47625" marB="47625" anchor="ctr">
                    <a:lnR w="9525">
                      <a:solidFill>
                        <a:srgbClr val="D9E3E9"/>
                      </a:solidFill>
                      <a:prstDash val="solid"/>
                    </a:lnR>
                    <a:lnB w="9525">
                      <a:solidFill>
                        <a:srgbClr val="D9E3E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09600">
                <a:tc>
                  <a:txBody>
                    <a:bodyPr lIns="95250" tIns="95250" rIns="95250" bIns="95250"/>
                    <a:lstStyle/>
                    <a:p>
                      <a:r>
                        <a:rPr sz="1650" b="0">
                          <a:solidFill>
                            <a:srgbClr val="20374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Simulated</a:t>
                      </a:r>
                    </a:p>
                  </a:txBody>
                  <a:tcPr marL="114300" marR="114300" marT="47625" marB="47625" anchor="ctr">
                    <a:lnL w="9525">
                      <a:solidFill>
                        <a:srgbClr val="D9E3E9"/>
                      </a:solidFill>
                      <a:prstDash val="solid"/>
                    </a:lnL>
                    <a:lnR w="9525">
                      <a:solidFill>
                        <a:srgbClr val="D9E3E9"/>
                      </a:solidFill>
                      <a:prstDash val="solid"/>
                    </a:lnR>
                    <a:lnB w="9525">
                      <a:solidFill>
                        <a:srgbClr val="D9E3E9"/>
                      </a:solidFill>
                      <a:prstDash val="solid"/>
                    </a:lnB>
                    <a:solidFill>
                      <a:srgbClr val="F0F6F9"/>
                    </a:solidFill>
                  </a:tcPr>
                </a:tc>
                <a:tc>
                  <a:txBody>
                    <a:bodyPr lIns="95250" tIns="95250" rIns="95250" bIns="95250"/>
                    <a:lstStyle/>
                    <a:p>
                      <a:r>
                        <a:rPr sz="1650" b="0">
                          <a:solidFill>
                            <a:srgbClr val="20374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模拟图谱</a:t>
                      </a:r>
                    </a:p>
                  </a:txBody>
                  <a:tcPr marL="114300" marR="114300" marT="47625" marB="47625" anchor="ctr">
                    <a:lnR w="9525">
                      <a:solidFill>
                        <a:srgbClr val="D9E3E9"/>
                      </a:solidFill>
                      <a:prstDash val="solid"/>
                    </a:lnR>
                    <a:lnB w="9525">
                      <a:solidFill>
                        <a:srgbClr val="D9E3E9"/>
                      </a:solidFill>
                      <a:prstDash val="solid"/>
                    </a:lnB>
                    <a:solidFill>
                      <a:srgbClr val="F0F6F9"/>
                    </a:solidFill>
                  </a:tcPr>
                </a:tc>
                <a:tc>
                  <a:txBody>
                    <a:bodyPr lIns="95250" tIns="95250" rIns="95250" bIns="95250"/>
                    <a:lstStyle/>
                    <a:p>
                      <a:r>
                        <a:rPr sz="1650" b="0">
                          <a:solidFill>
                            <a:srgbClr val="20374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由所提出的结构模型计算得到的图谱</a:t>
                      </a:r>
                    </a:p>
                  </a:txBody>
                  <a:tcPr marL="114300" marR="114300" marT="47625" marB="47625" anchor="ctr">
                    <a:lnR w="9525">
                      <a:solidFill>
                        <a:srgbClr val="D9E3E9"/>
                      </a:solidFill>
                      <a:prstDash val="solid"/>
                    </a:lnR>
                    <a:lnB w="9525">
                      <a:solidFill>
                        <a:srgbClr val="D9E3E9"/>
                      </a:solidFill>
                      <a:prstDash val="solid"/>
                    </a:lnB>
                    <a:solidFill>
                      <a:srgbClr val="F0F6F9"/>
                    </a:solidFill>
                  </a:tcPr>
                </a:tc>
              </a:tr>
              <a:tr h="609600">
                <a:tc>
                  <a:txBody>
                    <a:bodyPr lIns="95250" tIns="95250" rIns="95250" bIns="95250"/>
                    <a:lstStyle/>
                    <a:p>
                      <a:r>
                        <a:rPr sz="1650" b="0">
                          <a:solidFill>
                            <a:srgbClr val="20374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Bragg Positions</a:t>
                      </a:r>
                    </a:p>
                  </a:txBody>
                  <a:tcPr marL="114300" marR="114300" marT="47625" marB="47625" anchor="ctr">
                    <a:lnL w="9525">
                      <a:solidFill>
                        <a:srgbClr val="D9E3E9"/>
                      </a:solidFill>
                      <a:prstDash val="solid"/>
                    </a:lnL>
                    <a:lnR w="9525">
                      <a:solidFill>
                        <a:srgbClr val="D9E3E9"/>
                      </a:solidFill>
                      <a:prstDash val="solid"/>
                    </a:lnR>
                    <a:lnB w="9525">
                      <a:solidFill>
                        <a:srgbClr val="D9E3E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0" tIns="95250" rIns="95250" bIns="95250"/>
                    <a:lstStyle/>
                    <a:p>
                      <a:r>
                        <a:rPr sz="1650" b="0">
                          <a:solidFill>
                            <a:srgbClr val="20374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理论峰位</a:t>
                      </a:r>
                    </a:p>
                  </a:txBody>
                  <a:tcPr marL="114300" marR="114300" marT="47625" marB="47625" anchor="ctr">
                    <a:lnR w="9525">
                      <a:solidFill>
                        <a:srgbClr val="D9E3E9"/>
                      </a:solidFill>
                      <a:prstDash val="solid"/>
                    </a:lnR>
                    <a:lnB w="9525">
                      <a:solidFill>
                        <a:srgbClr val="D9E3E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0" tIns="95250" rIns="95250" bIns="95250"/>
                    <a:lstStyle/>
                    <a:p>
                      <a:r>
                        <a:rPr sz="1650" b="0">
                          <a:solidFill>
                            <a:srgbClr val="20374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理论上可能出现衍射峰的位置</a:t>
                      </a:r>
                    </a:p>
                  </a:txBody>
                  <a:tcPr marL="114300" marR="114300" marT="47625" marB="47625" anchor="ctr">
                    <a:lnR w="9525">
                      <a:solidFill>
                        <a:srgbClr val="D9E3E9"/>
                      </a:solidFill>
                      <a:prstDash val="solid"/>
                    </a:lnR>
                    <a:lnB w="9525">
                      <a:solidFill>
                        <a:srgbClr val="D9E3E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09600">
                <a:tc>
                  <a:txBody>
                    <a:bodyPr lIns="95250" tIns="95250" rIns="95250" bIns="95250"/>
                    <a:lstStyle/>
                    <a:p>
                      <a:r>
                        <a:rPr sz="1650" b="0">
                          <a:solidFill>
                            <a:srgbClr val="20374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Difference</a:t>
                      </a:r>
                    </a:p>
                  </a:txBody>
                  <a:tcPr marL="114300" marR="114300" marT="47625" marB="47625" anchor="ctr">
                    <a:lnL w="9525">
                      <a:solidFill>
                        <a:srgbClr val="D9E3E9"/>
                      </a:solidFill>
                      <a:prstDash val="solid"/>
                    </a:lnL>
                    <a:lnR w="9525">
                      <a:solidFill>
                        <a:srgbClr val="D9E3E9"/>
                      </a:solidFill>
                      <a:prstDash val="solid"/>
                    </a:lnR>
                    <a:lnB w="9525">
                      <a:solidFill>
                        <a:srgbClr val="D9E3E9"/>
                      </a:solidFill>
                      <a:prstDash val="solid"/>
                    </a:lnB>
                    <a:solidFill>
                      <a:srgbClr val="F0F6F9"/>
                    </a:solidFill>
                  </a:tcPr>
                </a:tc>
                <a:tc>
                  <a:txBody>
                    <a:bodyPr lIns="95250" tIns="95250" rIns="95250" bIns="95250"/>
                    <a:lstStyle/>
                    <a:p>
                      <a:r>
                        <a:rPr sz="1650" b="0">
                          <a:solidFill>
                            <a:srgbClr val="20374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实验与拟合的差值</a:t>
                      </a:r>
                    </a:p>
                  </a:txBody>
                  <a:tcPr marL="114300" marR="114300" marT="47625" marB="47625" anchor="ctr">
                    <a:lnR w="9525">
                      <a:solidFill>
                        <a:srgbClr val="D9E3E9"/>
                      </a:solidFill>
                      <a:prstDash val="solid"/>
                    </a:lnR>
                    <a:lnB w="9525">
                      <a:solidFill>
                        <a:srgbClr val="D9E3E9"/>
                      </a:solidFill>
                      <a:prstDash val="solid"/>
                    </a:lnB>
                    <a:solidFill>
                      <a:srgbClr val="F0F6F9"/>
                    </a:solidFill>
                  </a:tcPr>
                </a:tc>
                <a:tc>
                  <a:txBody>
                    <a:bodyPr lIns="95250" tIns="95250" rIns="95250" bIns="95250"/>
                    <a:lstStyle/>
                    <a:p>
                      <a:r>
                        <a:rPr sz="1650" b="0">
                          <a:solidFill>
                            <a:srgbClr val="20374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反映实验与拟合的偏差，通常位于图谱下方</a:t>
                      </a:r>
                    </a:p>
                  </a:txBody>
                  <a:tcPr marL="114300" marR="114300" marT="47625" marB="47625" anchor="ctr">
                    <a:lnR w="9525">
                      <a:solidFill>
                        <a:srgbClr val="D9E3E9"/>
                      </a:solidFill>
                      <a:prstDash val="solid"/>
                    </a:lnR>
                    <a:lnB w="9525">
                      <a:solidFill>
                        <a:srgbClr val="D9E3E9"/>
                      </a:solidFill>
                      <a:prstDash val="solid"/>
                    </a:lnB>
                    <a:solidFill>
                      <a:srgbClr val="F0F6F9"/>
                    </a:solidFill>
                  </a:tcPr>
                </a:tc>
              </a:tr>
              <a:tr h="609600">
                <a:tc>
                  <a:txBody>
                    <a:bodyPr lIns="95250" tIns="95250" rIns="95250" bIns="95250"/>
                    <a:lstStyle/>
                    <a:p>
                      <a:r>
                        <a:rPr sz="1650" b="0">
                          <a:solidFill>
                            <a:srgbClr val="20374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Rp / Rwp</a:t>
                      </a:r>
                    </a:p>
                  </a:txBody>
                  <a:tcPr marL="114300" marR="114300" marT="47625" marB="47625" anchor="ctr">
                    <a:lnL w="9525">
                      <a:solidFill>
                        <a:srgbClr val="D9E3E9"/>
                      </a:solidFill>
                      <a:prstDash val="solid"/>
                    </a:lnL>
                    <a:lnR w="9525">
                      <a:solidFill>
                        <a:srgbClr val="D9E3E9"/>
                      </a:solidFill>
                      <a:prstDash val="solid"/>
                    </a:lnR>
                    <a:lnB w="9525">
                      <a:solidFill>
                        <a:srgbClr val="D9E3E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0" tIns="95250" rIns="95250" bIns="95250"/>
                    <a:lstStyle/>
                    <a:p>
                      <a:r>
                        <a:rPr sz="1650" b="0">
                          <a:solidFill>
                            <a:srgbClr val="20374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拟合残差指标</a:t>
                      </a:r>
                    </a:p>
                  </a:txBody>
                  <a:tcPr marL="114300" marR="114300" marT="47625" marB="47625" anchor="ctr">
                    <a:lnR w="9525">
                      <a:solidFill>
                        <a:srgbClr val="D9E3E9"/>
                      </a:solidFill>
                      <a:prstDash val="solid"/>
                    </a:lnR>
                    <a:lnB w="9525">
                      <a:solidFill>
                        <a:srgbClr val="D9E3E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0" tIns="95250" rIns="95250" bIns="95250"/>
                    <a:lstStyle/>
                    <a:p>
                      <a:r>
                        <a:rPr sz="1650" b="0">
                          <a:solidFill>
                            <a:srgbClr val="20374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衡量实验与拟合的偏差，不能代表结晶度</a:t>
                      </a:r>
                    </a:p>
                  </a:txBody>
                  <a:tcPr marL="114300" marR="114300" marT="47625" marB="47625" anchor="ctr">
                    <a:lnR w="9525">
                      <a:solidFill>
                        <a:srgbClr val="D9E3E9"/>
                      </a:solidFill>
                      <a:prstDash val="solid"/>
                    </a:lnR>
                    <a:lnB w="9525">
                      <a:solidFill>
                        <a:srgbClr val="D9E3E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594460780"/>
      </p:ext>
    </p:extLst>
  </p:cSld>
</p:sld>
</file>

<file path=ppt/slides/slide1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text-0">
            <a:extLst xmlns:a="http://schemas.openxmlformats.org/drawingml/2006/main">
              <a:ext uri="{FF2B5EF4-FFF2-40B4-BE49-F238E27FC236}">
                <a16:creationId xmlns:a16="http://schemas.microsoft.com/office/drawing/2014/main" id="{D35EBC8E-5C0C-449D-8529-6F157BBA5C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" y="209550"/>
            <a:ext cx="8096250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55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defPPr>
          </a:lstStyle>
          <a:p xmlns:a="http://schemas.openxmlformats.org/drawingml/2006/main">
            <a:pPr algn="l">
              <a:defRPr sz="255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255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附录D  案例文献与原图对应关系</a:t>
            </a:r>
          </a:p>
        </p:txBody>
      </p:sp>
      <p:sp>
        <p:nvSpPr>
          <p:cNvPr id="2" name="text-1">
            <a:extLst xmlns:a="http://schemas.openxmlformats.org/drawingml/2006/main">
              <a:ext uri="{FF2B5EF4-FFF2-40B4-BE49-F238E27FC236}">
                <a16:creationId xmlns:a16="http://schemas.microsoft.com/office/drawing/2014/main" id="{3931C749-E2C4-4044-A142-857F9BA330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" y="6372225"/>
            <a:ext cx="61912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125" b="0">
                <a:solidFill>
                  <a:srgbClr val="52636D"/>
                </a:solidFill>
                <a:latin typeface="微软雅黑"/>
                <a:ea typeface="微软雅黑"/>
                <a:cs typeface="微软雅黑"/>
              </a:defRPr>
            </a:defPPr>
          </a:lstStyle>
          <a:p xmlns:a="http://schemas.openxmlformats.org/drawingml/2006/main">
            <a:pPr algn="l">
              <a:defRPr sz="1125" b="0">
                <a:solidFill>
                  <a:srgbClr val="52636D"/>
                </a:solidFill>
                <a:latin typeface="微软雅黑"/>
                <a:ea typeface="微软雅黑"/>
                <a:cs typeface="微软雅黑"/>
              </a:defRPr>
            </a:pPr>
            <a:r>
              <a:rPr sz="1125" b="0">
                <a:solidFill>
                  <a:srgbClr val="52636D"/>
                </a:solidFill>
                <a:latin typeface="微软雅黑"/>
                <a:ea typeface="微软雅黑"/>
                <a:cs typeface="微软雅黑"/>
              </a:rPr>
              <a:t>附录</a:t>
            </a:r>
          </a:p>
        </p:txBody>
      </p:sp>
      <p:sp>
        <p:nvSpPr>
          <p:cNvPr id="3" name="text-2">
            <a:extLst xmlns:a="http://schemas.openxmlformats.org/drawingml/2006/main">
              <a:ext uri="{FF2B5EF4-FFF2-40B4-BE49-F238E27FC236}">
                <a16:creationId xmlns:a16="http://schemas.microsoft.com/office/drawing/2014/main" id="{2B2773F3-5D52-4D9E-AA1C-E502622EA0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39325" y="6353175"/>
            <a:ext cx="47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275" b="0">
                <a:solidFill>
                  <a:srgbClr val="005B94"/>
                </a:solidFill>
                <a:latin typeface="微软雅黑"/>
                <a:ea typeface="微软雅黑"/>
                <a:cs typeface="微软雅黑"/>
              </a:defRPr>
            </a:defPPr>
          </a:lstStyle>
          <a:p xmlns:a="http://schemas.openxmlformats.org/drawingml/2006/main">
            <a:pPr algn="r">
              <a:defRPr sz="1275" b="0">
                <a:solidFill>
                  <a:srgbClr val="005B94"/>
                </a:solidFill>
                <a:latin typeface="微软雅黑"/>
                <a:ea typeface="微软雅黑"/>
                <a:cs typeface="微软雅黑"/>
              </a:defRPr>
            </a:pPr>
            <a:r>
              <a:rPr sz="1275" b="0">
                <a:solidFill>
                  <a:srgbClr val="005B94"/>
                </a:solidFill>
                <a:latin typeface="微软雅黑"/>
                <a:ea typeface="微软雅黑"/>
                <a:cs typeface="微软雅黑"/>
              </a:rPr>
              <a:t>16</a:t>
            </a:r>
          </a:p>
        </p:txBody>
      </p:sp>
      <p:sp>
        <p:nvSpPr>
          <p:cNvPr id="4" name="text-3">
            <a:extLst xmlns:a="http://schemas.openxmlformats.org/drawingml/2006/main">
              <a:ext uri="{FF2B5EF4-FFF2-40B4-BE49-F238E27FC236}">
                <a16:creationId xmlns:a16="http://schemas.microsoft.com/office/drawing/2014/main" id="{0CF1BC09-68BC-496A-B6A2-537FCF8F28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" y="5943600"/>
            <a:ext cx="1123950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975" b="0">
                <a:solidFill>
                  <a:srgbClr val="52636D"/>
                </a:solidFill>
                <a:latin typeface="微软雅黑"/>
                <a:ea typeface="微软雅黑"/>
                <a:cs typeface="微软雅黑"/>
              </a:defRPr>
            </a:defPPr>
          </a:lstStyle>
          <ns0:p xmlns:ns0="http://schemas.openxmlformats.org/drawingml/2006/main">
            <ns0:pPr algn="l">
              <ns0:defRPr sz="975" b="0">
                <ns0:solidFill>
                  <ns0:srgbClr val="52636D"/>
                </ns0:solidFill>
                <ns0:latin typeface="微软雅黑"/>
                <ns0:ea typeface="微软雅黑"/>
                <ns0:cs typeface="微软雅黑"/>
              </ns0:defRPr>
            </ns0:pPr>
            <ns0:r>
              <ns0:rPr sz="975" b="0">
                <ns0:solidFill>
                  <ns0:srgbClr val="52636D"/>
                </ns0:solidFill>
                <ns0:latin typeface="微软雅黑"/>
                <ns0:ea typeface="微软雅黑"/>
                <ns0:cs typeface="微软雅黑"/>
              </ns0:rPr>
              <ns0:t>案例文献发表于2024—2025年；图源、图号及DOI对应关系如下</ns0:t>
            </ns0:r>
          </ns0:p>
        </p:txBody>
      </p:sp>
      <p:sp>
        <p:nvSpPr>
          <p:cNvPr id="5" name="text-4">
            <a:extLst xmlns:a="http://schemas.openxmlformats.org/drawingml/2006/main">
              <a:ext uri="{FF2B5EF4-FFF2-40B4-BE49-F238E27FC236}">
                <a16:creationId xmlns:a16="http://schemas.microsoft.com/office/drawing/2014/main" id="{7F2AD2BE-F8F6-4E01-B6C1-527F1DEB1A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200150"/>
            <a:ext cx="10953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75" b="1">
                <a:solidFill>
                  <a:srgbClr val="005B94"/>
                </a:solidFill>
                <a:latin typeface="微软雅黑"/>
                <a:ea typeface="微软雅黑"/>
                <a:cs typeface="微软雅黑"/>
              </a:defRPr>
            </a:defPPr>
          </a:lstStyle>
          <a:p xmlns:a="http://schemas.openxmlformats.org/drawingml/2006/main">
            <a:pPr algn="l">
              <a:defRPr sz="1575" b="1">
                <a:solidFill>
                  <a:srgbClr val="005B94"/>
                </a:solidFill>
                <a:latin typeface="微软雅黑"/>
                <a:ea typeface="微软雅黑"/>
                <a:cs typeface="微软雅黑"/>
              </a:defRPr>
            </a:pPr>
            <a:r>
              <a:rPr sz="1575" b="1">
                <a:solidFill>
                  <a:srgbClr val="005B94"/>
                </a:solidFill>
                <a:latin typeface="微软雅黑"/>
                <a:ea typeface="微软雅黑"/>
                <a:cs typeface="微软雅黑"/>
              </a:rPr>
              <a:t>[1] Q. Xu, K. Fu, Z. Liu, et al.</a:t>
            </a:r>
          </a:p>
        </p:txBody>
      </p:sp>
      <p:sp>
        <p:nvSpPr>
          <p:cNvPr id="6" name="text-5">
            <a:extLst xmlns:a="http://schemas.openxmlformats.org/drawingml/2006/main">
              <a:ext uri="{FF2B5EF4-FFF2-40B4-BE49-F238E27FC236}">
                <a16:creationId xmlns:a16="http://schemas.microsoft.com/office/drawing/2014/main" id="{2ABAFFDD-68A9-4E83-821F-B517D153EC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504950"/>
            <a:ext cx="10953750" cy="561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00" b="0">
                <a:solidFill>
                  <a:srgbClr val="203746"/>
                </a:solidFill>
                <a:latin typeface="微软雅黑"/>
                <a:ea typeface="微软雅黑"/>
                <a:cs typeface="微软雅黑"/>
              </a:defRPr>
            </a:defPPr>
          </a:lstStyle>
          <a:p xmlns:a="http://schemas.openxmlformats.org/drawingml/2006/main">
            <a:pPr algn="l">
              <a:defRPr sz="1500" b="0">
                <a:solidFill>
                  <a:srgbClr val="203746"/>
                </a:solidFill>
                <a:latin typeface="微软雅黑"/>
                <a:ea typeface="微软雅黑"/>
                <a:cs typeface="微软雅黑"/>
              </a:defRPr>
            </a:pPr>
            <a:r>
              <a:rPr sz="1500" b="0">
                <a:solidFill>
                  <a:srgbClr val="203746"/>
                </a:solidFill>
                <a:latin typeface="微软雅黑"/>
                <a:ea typeface="微软雅黑"/>
                <a:cs typeface="微软雅黑"/>
              </a:rPr>
              <a:t>Thiophene-Based Bipolar-Type Covalent Organic Frameworks with Extended π-Conjugation as Superior Cathode for Lithium-Ion Batteries. Advanced Functional Materials 35 (2025), 2506111.</a:t>
            </a:r>
          </a:p>
        </p:txBody>
      </p:sp>
      <p:sp>
        <p:nvSpPr>
          <p:cNvPr id="7" name="text-6">
            <a:extLst xmlns:a="http://schemas.openxmlformats.org/drawingml/2006/main">
              <a:ext uri="{FF2B5EF4-FFF2-40B4-BE49-F238E27FC236}">
                <a16:creationId xmlns:a16="http://schemas.microsoft.com/office/drawing/2014/main" id="{0C8A6ADB-2E79-4DD4-9290-F614F2C340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105025"/>
            <a:ext cx="10953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350" b="0">
                <a:solidFill>
                  <a:srgbClr val="005B94"/>
                </a:solidFill>
                <a:latin typeface="微软雅黑"/>
                <a:ea typeface="微软雅黑"/>
                <a:cs typeface="微软雅黑"/>
              </a:defRPr>
            </a:defPPr>
          </a:lstStyle>
          <a:p xmlns:a="http://schemas.openxmlformats.org/drawingml/2006/main">
            <a:pPr algn="l">
              <a:defRPr sz="1350" b="0">
                <a:solidFill>
                  <a:srgbClr val="005B94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0">
                <a:solidFill>
                  <a:srgbClr val="005B94"/>
                </a:solidFill>
                <a:latin typeface="微软雅黑"/>
                <a:ea typeface="微软雅黑"/>
                <a:cs typeface="微软雅黑"/>
                <a:hlinkClick xmlns:r="http://schemas.openxmlformats.org/officeDocument/2006/relationships" r:id="R7f9290b7131c4f9a"/>
              </a:rPr>
              <a:t>https://doi.org/10.1002/adfm.202506111</a:t>
            </a:r>
          </a:p>
        </p:txBody>
      </p:sp>
      <p:sp>
        <p:nvSpPr>
          <p:cNvPr id="8" name="text-7">
            <a:extLst xmlns:a="http://schemas.openxmlformats.org/drawingml/2006/main">
              <a:ext uri="{FF2B5EF4-FFF2-40B4-BE49-F238E27FC236}">
                <a16:creationId xmlns:a16="http://schemas.microsoft.com/office/drawing/2014/main" id="{CB7928EF-834D-4C05-87AB-5B6FD130CC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390775"/>
            <a:ext cx="10953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350" b="0">
                <a:solidFill>
                  <a:srgbClr val="52636D"/>
                </a:solidFill>
                <a:latin typeface="微软雅黑"/>
                <a:ea typeface="微软雅黑"/>
                <a:cs typeface="微软雅黑"/>
              </a:defRPr>
            </a:defPPr>
          </a:lstStyle>
          <ns1:p xmlns:ns1="http://schemas.openxmlformats.org/drawingml/2006/main">
            <ns1:pPr algn="l">
              <ns1:defRPr sz="1350" b="0">
                <ns1:solidFill>
                  <ns1:srgbClr val="52636D"/>
                </ns1:solidFill>
                <ns1:latin typeface="微软雅黑"/>
                <ns1:ea typeface="微软雅黑"/>
                <ns1:cs typeface="微软雅黑"/>
              </ns1:defRPr>
            </ns1:pPr>
            <ns1:r>
              <ns1:rPr sz="1350" b="0">
                <ns1:solidFill>
                  <ns1:srgbClr val="52636D"/>
                </ns1:solidFill>
                <ns1:latin typeface="微软雅黑"/>
                <ns1:ea typeface="微软雅黑"/>
                <ns1:cs typeface="微软雅黑"/>
              </ns1:rPr>
              <ns1:t>主讲第7、8页：原论文Fig. 1a、1b，图谱沿用所给原稿第7、8页。</ns1:t>
            </ns1:r>
          </ns1:p>
        </p:txBody>
      </p:sp>
      <p:sp>
        <p:nvSpPr>
          <p:cNvPr id="9" name="text-8">
            <a:extLst xmlns:a="http://schemas.openxmlformats.org/drawingml/2006/main">
              <a:ext uri="{FF2B5EF4-FFF2-40B4-BE49-F238E27FC236}">
                <a16:creationId xmlns:a16="http://schemas.microsoft.com/office/drawing/2014/main" id="{6E6C1666-34AA-4B33-88C2-81989822B1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724150"/>
            <a:ext cx="10953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75" b="1">
                <a:solidFill>
                  <a:srgbClr val="005B94"/>
                </a:solidFill>
                <a:latin typeface="微软雅黑"/>
                <a:ea typeface="微软雅黑"/>
                <a:cs typeface="微软雅黑"/>
              </a:defRPr>
            </a:defPPr>
          </a:lstStyle>
          <a:p xmlns:a="http://schemas.openxmlformats.org/drawingml/2006/main">
            <a:pPr algn="l">
              <a:defRPr sz="1575" b="1">
                <a:solidFill>
                  <a:srgbClr val="005B94"/>
                </a:solidFill>
                <a:latin typeface="微软雅黑"/>
                <a:ea typeface="微软雅黑"/>
                <a:cs typeface="微软雅黑"/>
              </a:defRPr>
            </a:pPr>
            <a:r>
              <a:rPr sz="1575" b="1">
                <a:solidFill>
                  <a:srgbClr val="005B94"/>
                </a:solidFill>
                <a:latin typeface="微软雅黑"/>
                <a:ea typeface="微软雅黑"/>
                <a:cs typeface="微软雅黑"/>
              </a:rPr>
              <a:t>[2] S. Dai, C. Simms, G. Patriarche, et al.</a:t>
            </a:r>
          </a:p>
        </p:txBody>
      </p:sp>
      <p:sp>
        <p:nvSpPr>
          <p:cNvPr id="10" name="text-9">
            <a:extLst xmlns:a="http://schemas.openxmlformats.org/drawingml/2006/main">
              <a:ext uri="{FF2B5EF4-FFF2-40B4-BE49-F238E27FC236}">
                <a16:creationId xmlns:a16="http://schemas.microsoft.com/office/drawing/2014/main" id="{B512B445-2E33-41FA-B2C1-D59DA241E7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028950"/>
            <a:ext cx="10953750" cy="561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00" b="0">
                <a:solidFill>
                  <a:srgbClr val="203746"/>
                </a:solidFill>
                <a:latin typeface="微软雅黑"/>
                <a:ea typeface="微软雅黑"/>
                <a:cs typeface="微软雅黑"/>
              </a:defRPr>
            </a:defPPr>
          </a:lstStyle>
          <a:p xmlns:a="http://schemas.openxmlformats.org/drawingml/2006/main">
            <a:pPr algn="l">
              <a:defRPr sz="1500" b="0">
                <a:solidFill>
                  <a:srgbClr val="203746"/>
                </a:solidFill>
                <a:latin typeface="微软雅黑"/>
                <a:ea typeface="微软雅黑"/>
                <a:cs typeface="微软雅黑"/>
              </a:defRPr>
            </a:pPr>
            <a:r>
              <a:rPr sz="1500" b="0">
                <a:solidFill>
                  <a:srgbClr val="203746"/>
                </a:solidFill>
                <a:latin typeface="微软雅黑"/>
                <a:ea typeface="微软雅黑"/>
                <a:cs typeface="微软雅黑"/>
              </a:rPr>
              <a:t>Highly defective ultra-small tetravalent MOF nanocrystals. Nature Communications 15 (2024), 3434.</a:t>
            </a:r>
          </a:p>
        </p:txBody>
      </p:sp>
      <p:sp>
        <p:nvSpPr>
          <p:cNvPr id="11" name="text-10">
            <a:extLst xmlns:a="http://schemas.openxmlformats.org/drawingml/2006/main">
              <a:ext uri="{FF2B5EF4-FFF2-40B4-BE49-F238E27FC236}">
                <a16:creationId xmlns:a16="http://schemas.microsoft.com/office/drawing/2014/main" id="{F48F70D9-5804-4945-8192-F1BAC55850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629025"/>
            <a:ext cx="10953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350" b="0">
                <a:solidFill>
                  <a:srgbClr val="005B94"/>
                </a:solidFill>
                <a:latin typeface="微软雅黑"/>
                <a:ea typeface="微软雅黑"/>
                <a:cs typeface="微软雅黑"/>
              </a:defRPr>
            </a:defPPr>
          </a:lstStyle>
          <a:p xmlns:a="http://schemas.openxmlformats.org/drawingml/2006/main">
            <a:pPr algn="l">
              <a:defRPr sz="1350" b="0">
                <a:solidFill>
                  <a:srgbClr val="005B94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0">
                <a:solidFill>
                  <a:srgbClr val="005B94"/>
                </a:solidFill>
                <a:latin typeface="微软雅黑"/>
                <a:ea typeface="微软雅黑"/>
                <a:cs typeface="微软雅黑"/>
                <a:hlinkClick xmlns:r="http://schemas.openxmlformats.org/officeDocument/2006/relationships" r:id="R73c9eba285294a92"/>
              </a:rPr>
              <a:t>https://doi.org/10.1038/s41467-024-47426-x</a:t>
            </a:r>
          </a:p>
        </p:txBody>
      </p:sp>
      <p:sp>
        <p:nvSpPr>
          <p:cNvPr id="12" name="text-11">
            <a:extLst xmlns:a="http://schemas.openxmlformats.org/drawingml/2006/main">
              <a:ext uri="{FF2B5EF4-FFF2-40B4-BE49-F238E27FC236}">
                <a16:creationId xmlns:a16="http://schemas.microsoft.com/office/drawing/2014/main" id="{59B6DBEF-E3BA-466E-B284-8388EF3500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914775"/>
            <a:ext cx="10953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350" b="0">
                <a:solidFill>
                  <a:srgbClr val="52636D"/>
                </a:solidFill>
                <a:latin typeface="微软雅黑"/>
                <a:ea typeface="微软雅黑"/>
                <a:cs typeface="微软雅黑"/>
              </a:defRPr>
            </a:defPPr>
          </a:lstStyle>
          <a:p xmlns:a="http://schemas.openxmlformats.org/drawingml/2006/main">
            <a:pPr algn="l">
              <a:defRPr sz="1350" b="0">
                <a:solidFill>
                  <a:srgbClr val="52636D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0">
                <a:solidFill>
                  <a:srgbClr val="52636D"/>
                </a:solidFill>
                <a:latin typeface="微软雅黑"/>
                <a:ea typeface="微软雅黑"/>
                <a:cs typeface="微软雅黑"/>
              </a:rPr>
              <a:t>主讲第9页：Fig. 2b局部裁剪，原曲线未重绘，CC BY 4.0。</a:t>
            </a:r>
          </a:p>
        </p:txBody>
      </p:sp>
      <p:sp>
        <p:nvSpPr>
          <p:cNvPr id="13" name="text-12">
            <a:extLst xmlns:a="http://schemas.openxmlformats.org/drawingml/2006/main">
              <a:ext uri="{FF2B5EF4-FFF2-40B4-BE49-F238E27FC236}">
                <a16:creationId xmlns:a16="http://schemas.microsoft.com/office/drawing/2014/main" id="{9951A835-E6D9-47E1-9D47-842F25BA77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248150"/>
            <a:ext cx="10953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75" b="1">
                <a:solidFill>
                  <a:srgbClr val="005B94"/>
                </a:solidFill>
                <a:latin typeface="微软雅黑"/>
                <a:ea typeface="微软雅黑"/>
                <a:cs typeface="微软雅黑"/>
              </a:defRPr>
            </a:defPPr>
          </a:lstStyle>
          <a:p xmlns:a="http://schemas.openxmlformats.org/drawingml/2006/main">
            <a:pPr algn="l">
              <a:defRPr sz="1575" b="1">
                <a:solidFill>
                  <a:srgbClr val="005B94"/>
                </a:solidFill>
                <a:latin typeface="微软雅黑"/>
                <a:ea typeface="微软雅黑"/>
                <a:cs typeface="微软雅黑"/>
              </a:defRPr>
            </a:pPr>
            <a:r>
              <a:rPr sz="1575" b="1">
                <a:solidFill>
                  <a:srgbClr val="005B94"/>
                </a:solidFill>
                <a:latin typeface="微软雅黑"/>
                <a:ea typeface="微软雅黑"/>
                <a:cs typeface="微软雅黑"/>
              </a:rPr>
              <a:t>[3] Y. Xie, Q. Rong, F. Mao, et al.</a:t>
            </a:r>
          </a:p>
        </p:txBody>
      </p:sp>
      <p:sp>
        <p:nvSpPr>
          <p:cNvPr id="14" name="text-13">
            <a:extLst xmlns:a="http://schemas.openxmlformats.org/drawingml/2006/main">
              <a:ext uri="{FF2B5EF4-FFF2-40B4-BE49-F238E27FC236}">
                <a16:creationId xmlns:a16="http://schemas.microsoft.com/office/drawing/2014/main" id="{42242370-0775-44FB-B8C4-556735BBD5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552950"/>
            <a:ext cx="10953750" cy="561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00" b="0">
                <a:solidFill>
                  <a:srgbClr val="203746"/>
                </a:solidFill>
                <a:latin typeface="微软雅黑"/>
                <a:ea typeface="微软雅黑"/>
                <a:cs typeface="微软雅黑"/>
              </a:defRPr>
            </a:defPPr>
          </a:lstStyle>
          <a:p xmlns:a="http://schemas.openxmlformats.org/drawingml/2006/main">
            <a:pPr algn="l">
              <a:defRPr sz="1500" b="0">
                <a:solidFill>
                  <a:srgbClr val="203746"/>
                </a:solidFill>
                <a:latin typeface="微软雅黑"/>
                <a:ea typeface="微软雅黑"/>
                <a:cs typeface="微软雅黑"/>
              </a:defRPr>
            </a:pPr>
            <a:r>
              <a:rPr sz="1500" b="0">
                <a:solidFill>
                  <a:srgbClr val="203746"/>
                </a:solidFill>
                <a:latin typeface="微软雅黑"/>
                <a:ea typeface="微软雅黑"/>
                <a:cs typeface="微软雅黑"/>
              </a:rPr>
              <a:t>Engineering the pore environment of antiparallel stacked covalent organic frameworks for capture of iodine pollutants. Nature Communications 15 (2024), 2671.</a:t>
            </a:r>
          </a:p>
        </p:txBody>
      </p:sp>
      <p:sp>
        <p:nvSpPr>
          <p:cNvPr id="15" name="text-14">
            <a:extLst xmlns:a="http://schemas.openxmlformats.org/drawingml/2006/main">
              <a:ext uri="{FF2B5EF4-FFF2-40B4-BE49-F238E27FC236}">
                <a16:creationId xmlns:a16="http://schemas.microsoft.com/office/drawing/2014/main" id="{C79DC30C-555F-4533-99AB-77DF273EC9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153025"/>
            <a:ext cx="10953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350" b="0">
                <a:solidFill>
                  <a:srgbClr val="005B94"/>
                </a:solidFill>
                <a:latin typeface="微软雅黑"/>
                <a:ea typeface="微软雅黑"/>
                <a:cs typeface="微软雅黑"/>
              </a:defRPr>
            </a:defPPr>
          </a:lstStyle>
          <a:p xmlns:a="http://schemas.openxmlformats.org/drawingml/2006/main">
            <a:pPr algn="l">
              <a:defRPr sz="1350" b="0">
                <a:solidFill>
                  <a:srgbClr val="005B94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0">
                <a:solidFill>
                  <a:srgbClr val="005B94"/>
                </a:solidFill>
                <a:latin typeface="微软雅黑"/>
                <a:ea typeface="微软雅黑"/>
                <a:cs typeface="微软雅黑"/>
                <a:hlinkClick xmlns:r="http://schemas.openxmlformats.org/officeDocument/2006/relationships" r:id="R191402d9b04244e8"/>
              </a:rPr>
              <a:t>https://doi.org/10.1038/s41467-024-46942-0</a:t>
            </a:r>
          </a:p>
        </p:txBody>
      </p:sp>
      <p:sp>
        <p:nvSpPr>
          <p:cNvPr id="16" name="text-15">
            <a:extLst xmlns:a="http://schemas.openxmlformats.org/drawingml/2006/main">
              <a:ext uri="{FF2B5EF4-FFF2-40B4-BE49-F238E27FC236}">
                <a16:creationId xmlns:a16="http://schemas.microsoft.com/office/drawing/2014/main" id="{F0CD4B40-FD41-4F1B-BC75-AED888D1E8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438775"/>
            <a:ext cx="10953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350" b="0">
                <a:solidFill>
                  <a:srgbClr val="52636D"/>
                </a:solidFill>
                <a:latin typeface="微软雅黑"/>
                <a:ea typeface="微软雅黑"/>
                <a:cs typeface="微软雅黑"/>
              </a:defRPr>
            </a:defPPr>
          </a:lstStyle>
          <a:p xmlns:a="http://schemas.openxmlformats.org/drawingml/2006/main">
            <a:pPr algn="l">
              <a:defRPr sz="1350" b="0">
                <a:solidFill>
                  <a:srgbClr val="52636D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0">
                <a:solidFill>
                  <a:srgbClr val="52636D"/>
                </a:solidFill>
                <a:latin typeface="微软雅黑"/>
                <a:ea typeface="微软雅黑"/>
                <a:cs typeface="微软雅黑"/>
              </a:rPr>
              <a:t>主讲第10页：Fig. 2d局部裁剪，原曲线未重绘，CC BY 4.0。</a:t>
            </a:r>
          </a:p>
        </p:txBody>
      </p:sp>
    </p:spTree>
    <p:extLst>
      <p:ext uri="{BB962C8B-B14F-4D97-AF65-F5344CB8AC3E}">
        <p14:creationId xmlns:p14="http://schemas.microsoft.com/office/powerpoint/2010/main" val="594460780"/>
      </p:ext>
    </p:extLst>
  </p:cSld>
</p:sld>
</file>

<file path=ppt/slides/slide1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text-0">
            <a:extLst xmlns:a="http://schemas.openxmlformats.org/drawingml/2006/main">
              <a:ext uri="{FF2B5EF4-FFF2-40B4-BE49-F238E27FC236}">
                <a16:creationId xmlns:a16="http://schemas.microsoft.com/office/drawing/2014/main" id="{FCF8A8AF-DC9D-40E5-932E-0536195734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" y="209550"/>
            <a:ext cx="8096250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55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defPPr>
          </a:lstStyle>
          <a:p xmlns:a="http://schemas.openxmlformats.org/drawingml/2006/main">
            <a:pPr algn="l">
              <a:defRPr sz="255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255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附录E  方法与软件资料</a:t>
            </a:r>
          </a:p>
        </p:txBody>
      </p:sp>
      <p:sp>
        <p:nvSpPr>
          <p:cNvPr id="2" name="text-1">
            <a:extLst xmlns:a="http://schemas.openxmlformats.org/drawingml/2006/main">
              <a:ext uri="{FF2B5EF4-FFF2-40B4-BE49-F238E27FC236}">
                <a16:creationId xmlns:a16="http://schemas.microsoft.com/office/drawing/2014/main" id="{10C67A37-9D55-4995-AB3D-45067F5FD0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" y="6372225"/>
            <a:ext cx="61912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125" b="0">
                <a:solidFill>
                  <a:srgbClr val="52636D"/>
                </a:solidFill>
                <a:latin typeface="微软雅黑"/>
                <a:ea typeface="微软雅黑"/>
                <a:cs typeface="微软雅黑"/>
              </a:defRPr>
            </a:defPPr>
          </a:lstStyle>
          <a:p xmlns:a="http://schemas.openxmlformats.org/drawingml/2006/main">
            <a:pPr algn="l">
              <a:defRPr sz="1125" b="0">
                <a:solidFill>
                  <a:srgbClr val="52636D"/>
                </a:solidFill>
                <a:latin typeface="微软雅黑"/>
                <a:ea typeface="微软雅黑"/>
                <a:cs typeface="微软雅黑"/>
              </a:defRPr>
            </a:pPr>
            <a:r>
              <a:rPr sz="1125" b="0">
                <a:solidFill>
                  <a:srgbClr val="52636D"/>
                </a:solidFill>
                <a:latin typeface="微软雅黑"/>
                <a:ea typeface="微软雅黑"/>
                <a:cs typeface="微软雅黑"/>
              </a:rPr>
              <a:t>附录</a:t>
            </a:r>
          </a:p>
        </p:txBody>
      </p:sp>
      <p:sp>
        <p:nvSpPr>
          <p:cNvPr id="3" name="text-2">
            <a:extLst xmlns:a="http://schemas.openxmlformats.org/drawingml/2006/main">
              <a:ext uri="{FF2B5EF4-FFF2-40B4-BE49-F238E27FC236}">
                <a16:creationId xmlns:a16="http://schemas.microsoft.com/office/drawing/2014/main" id="{3A70BA5A-C4C1-463B-BB48-C3A979F1FF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39325" y="6353175"/>
            <a:ext cx="47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275" b="0">
                <a:solidFill>
                  <a:srgbClr val="005B94"/>
                </a:solidFill>
                <a:latin typeface="微软雅黑"/>
                <a:ea typeface="微软雅黑"/>
                <a:cs typeface="微软雅黑"/>
              </a:defRPr>
            </a:defPPr>
          </a:lstStyle>
          <a:p xmlns:a="http://schemas.openxmlformats.org/drawingml/2006/main">
            <a:pPr algn="r">
              <a:defRPr sz="1275" b="0">
                <a:solidFill>
                  <a:srgbClr val="005B94"/>
                </a:solidFill>
                <a:latin typeface="微软雅黑"/>
                <a:ea typeface="微软雅黑"/>
                <a:cs typeface="微软雅黑"/>
              </a:defRPr>
            </a:pPr>
            <a:r>
              <a:rPr sz="1275" b="0">
                <a:solidFill>
                  <a:srgbClr val="005B94"/>
                </a:solidFill>
                <a:latin typeface="微软雅黑"/>
                <a:ea typeface="微软雅黑"/>
                <a:cs typeface="微软雅黑"/>
              </a:rPr>
              <a:t>17</a:t>
            </a:r>
          </a:p>
        </p:txBody>
      </p:sp>
      <p:sp>
        <p:nvSpPr>
          <p:cNvPr id="4" name="text-3">
            <a:extLst xmlns:a="http://schemas.openxmlformats.org/drawingml/2006/main">
              <a:ext uri="{FF2B5EF4-FFF2-40B4-BE49-F238E27FC236}">
                <a16:creationId xmlns:a16="http://schemas.microsoft.com/office/drawing/2014/main" id="{8E67805F-936A-436B-9037-3B0B458A34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" y="5943600"/>
            <a:ext cx="1123950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975" b="0">
                <a:solidFill>
                  <a:srgbClr val="52636D"/>
                </a:solidFill>
                <a:latin typeface="微软雅黑"/>
                <a:ea typeface="微软雅黑"/>
                <a:cs typeface="微软雅黑"/>
              </a:defRPr>
            </a:defPPr>
          </a:lstStyle>
          <ns0:p xmlns:ns0="http://schemas.openxmlformats.org/drawingml/2006/main">
            <ns0:pPr algn="l">
              <ns0:defRPr sz="975" b="0">
                <ns0:solidFill>
                  <ns0:srgbClr val="52636D"/>
                </ns0:solidFill>
                <ns0:latin typeface="微软雅黑"/>
                <ns0:ea typeface="微软雅黑"/>
                <ns0:cs typeface="微软雅黑"/>
              </ns0:defRPr>
            </ns0:pPr>
            <ns0:r>
              <ns0:rPr sz="975" b="0">
                <ns0:solidFill>
                  <ns0:srgbClr val="52636D"/>
                </ns0:solidFill>
                <ns0:latin typeface="微软雅黑"/>
                <ns0:ea typeface="微软雅黑"/>
                <ns0:cs typeface="微软雅黑"/>
              </ns0:rPr>
              <ns0:t>以下为方法及软件功能依据，完整资料链接亦保留于演讲者备注</ns0:t>
            </ns0:r>
          </ns0:p>
        </p:txBody>
      </p:sp>
      <p:sp>
        <p:nvSpPr>
          <p:cNvPr id="5" name="text-4">
            <a:extLst xmlns:a="http://schemas.openxmlformats.org/drawingml/2006/main">
              <a:ext uri="{FF2B5EF4-FFF2-40B4-BE49-F238E27FC236}">
                <a16:creationId xmlns:a16="http://schemas.microsoft.com/office/drawing/2014/main" id="{E4DE9CF3-237C-452A-AFC6-22C08E2D1E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238250"/>
            <a:ext cx="21431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1">
                <a:solidFill>
                  <a:srgbClr val="005B94"/>
                </a:solidFill>
                <a:latin typeface="微软雅黑"/>
                <a:ea typeface="微软雅黑"/>
                <a:cs typeface="微软雅黑"/>
              </a:defRPr>
            </a:defPPr>
          </a:lstStyle>
          <a:p xmlns:a="http://schemas.openxmlformats.org/drawingml/2006/main">
            <a:pPr algn="l">
              <a:defRPr sz="1800" b="1">
                <a:solidFill>
                  <a:srgbClr val="005B94"/>
                </a:solidFill>
                <a:latin typeface="微软雅黑"/>
                <a:ea typeface="微软雅黑"/>
                <a:cs typeface="微软雅黑"/>
              </a:defRPr>
            </a:pPr>
            <a:r>
              <a:rPr sz="1800" b="1">
                <a:solidFill>
                  <a:srgbClr val="005B94"/>
                </a:solidFill>
                <a:latin typeface="微软雅黑"/>
                <a:ea typeface="微软雅黑"/>
                <a:cs typeface="微软雅黑"/>
              </a:rPr>
              <a:t>基础原理与制样</a:t>
            </a:r>
          </a:p>
        </p:txBody>
      </p:sp>
      <p:sp>
        <p:nvSpPr>
          <p:cNvPr id="6" name="text-5">
            <a:extLst xmlns:a="http://schemas.openxmlformats.org/drawingml/2006/main">
              <a:ext uri="{FF2B5EF4-FFF2-40B4-BE49-F238E27FC236}">
                <a16:creationId xmlns:a16="http://schemas.microsoft.com/office/drawing/2014/main" id="{BA473C12-0F6E-42E5-BADB-2D8BADB10B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1238250"/>
            <a:ext cx="8763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203746"/>
                </a:solidFill>
                <a:latin typeface="微软雅黑"/>
                <a:ea typeface="微软雅黑"/>
                <a:cs typeface="微软雅黑"/>
              </a:defRPr>
            </a:defPPr>
          </a:lstStyle>
          <a:p xmlns:a="http://schemas.openxmlformats.org/drawingml/2006/main">
            <a:pPr algn="l">
              <a:defRPr sz="1575" b="0">
                <a:solidFill>
                  <a:srgbClr val="203746"/>
                </a:solidFill>
                <a:latin typeface="微软雅黑"/>
                <a:ea typeface="微软雅黑"/>
                <a:cs typeface="微软雅黑"/>
              </a:defRPr>
            </a:pPr>
            <a:r>
              <a:rPr sz="1575" b="0">
                <a:solidFill>
                  <a:srgbClr val="203746"/>
                </a:solidFill>
                <a:latin typeface="微软雅黑"/>
                <a:ea typeface="微软雅黑"/>
                <a:cs typeface="微软雅黑"/>
              </a:rPr>
              <a:t>Rigaku：Powder diffraction / Powder X-ray Diffraction Basic Course</a:t>
            </a:r>
          </a:p>
        </p:txBody>
      </p:sp>
      <p:sp>
        <p:nvSpPr>
          <p:cNvPr id="7" name="text-6">
            <a:extLst xmlns:a="http://schemas.openxmlformats.org/drawingml/2006/main">
              <a:ext uri="{FF2B5EF4-FFF2-40B4-BE49-F238E27FC236}">
                <a16:creationId xmlns:a16="http://schemas.microsoft.com/office/drawing/2014/main" id="{C63106AB-F2CE-42EF-8605-7D438F72E8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1590675"/>
            <a:ext cx="8763000" cy="600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75" b="0">
                <a:solidFill>
                  <a:srgbClr val="52636D"/>
                </a:solidFill>
                <a:latin typeface="微软雅黑"/>
                <a:ea typeface="微软雅黑"/>
                <a:cs typeface="微软雅黑"/>
              </a:defRPr>
            </a:defPPr>
          </a:lstStyle>
          <a:p xmlns:a="http://schemas.openxmlformats.org/drawingml/2006/main">
            <a:pPr algn="l">
              <a:defRPr sz="1275" b="0">
                <a:solidFill>
                  <a:srgbClr val="52636D"/>
                </a:solidFill>
                <a:latin typeface="微软雅黑"/>
                <a:ea typeface="微软雅黑"/>
                <a:cs typeface="微软雅黑"/>
              </a:defRPr>
            </a:pPr>
            <a:r>
              <a:rPr sz="1275" b="0">
                <a:solidFill>
                  <a:srgbClr val="52636D"/>
                </a:solidFill>
                <a:latin typeface="微软雅黑"/>
                <a:ea typeface="微软雅黑"/>
                <a:cs typeface="微软雅黑"/>
              </a:rPr>
              <a:t>https://rigaku.com/products/x-ray-diffraction-and-scattering/xrd/learning/basics</a:t>
            </a:r>
          </a:p>
        </p:txBody>
      </p:sp>
      <p:sp>
        <p:nvSpPr>
          <p:cNvPr id="8" name="text-7">
            <a:extLst xmlns:a="http://schemas.openxmlformats.org/drawingml/2006/main">
              <a:ext uri="{FF2B5EF4-FFF2-40B4-BE49-F238E27FC236}">
                <a16:creationId xmlns:a16="http://schemas.microsoft.com/office/drawing/2014/main" id="{D159F301-E43C-4B72-BFB3-F9F0EC3E06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162175"/>
            <a:ext cx="21431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1">
                <a:solidFill>
                  <a:srgbClr val="005B94"/>
                </a:solidFill>
                <a:latin typeface="微软雅黑"/>
                <a:ea typeface="微软雅黑"/>
                <a:cs typeface="微软雅黑"/>
              </a:defRPr>
            </a:defPPr>
          </a:lstStyle>
          <a:p xmlns:a="http://schemas.openxmlformats.org/drawingml/2006/main">
            <a:pPr algn="l">
              <a:defRPr sz="1800" b="1">
                <a:solidFill>
                  <a:srgbClr val="005B94"/>
                </a:solidFill>
                <a:latin typeface="微软雅黑"/>
                <a:ea typeface="微软雅黑"/>
                <a:cs typeface="微软雅黑"/>
              </a:defRPr>
            </a:pPr>
            <a:r>
              <a:rPr sz="1800" b="1">
                <a:solidFill>
                  <a:srgbClr val="005B94"/>
                </a:solidFill>
                <a:latin typeface="微软雅黑"/>
                <a:ea typeface="微软雅黑"/>
                <a:cs typeface="微软雅黑"/>
              </a:rPr>
              <a:t>峰宽与尺寸分析</a:t>
            </a:r>
          </a:p>
        </p:txBody>
      </p:sp>
      <p:sp>
        <p:nvSpPr>
          <p:cNvPr id="9" name="text-8">
            <a:extLst xmlns:a="http://schemas.openxmlformats.org/drawingml/2006/main">
              <a:ext uri="{FF2B5EF4-FFF2-40B4-BE49-F238E27FC236}">
                <a16:creationId xmlns:a16="http://schemas.microsoft.com/office/drawing/2014/main" id="{90DC1DBC-5BDC-48C0-8A2A-EAF98F174A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2162175"/>
            <a:ext cx="8763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203746"/>
                </a:solidFill>
                <a:latin typeface="微软雅黑"/>
                <a:ea typeface="微软雅黑"/>
                <a:cs typeface="微软雅黑"/>
              </a:defRPr>
            </a:defPPr>
          </a:lstStyle>
          <a:p xmlns:a="http://schemas.openxmlformats.org/drawingml/2006/main">
            <a:pPr algn="l">
              <a:defRPr sz="1575" b="0">
                <a:solidFill>
                  <a:srgbClr val="203746"/>
                </a:solidFill>
                <a:latin typeface="微软雅黑"/>
                <a:ea typeface="微软雅黑"/>
                <a:cs typeface="微软雅黑"/>
              </a:defRPr>
            </a:pPr>
            <a:r>
              <a:rPr sz="1575" b="0">
                <a:solidFill>
                  <a:srgbClr val="203746"/>
                </a:solidFill>
                <a:latin typeface="微软雅黑"/>
                <a:ea typeface="微软雅黑"/>
                <a:cs typeface="微软雅黑"/>
              </a:rPr>
              <a:t>IUCr：Determination of the average crystallite size … EnvACS (2024)</a:t>
            </a:r>
          </a:p>
        </p:txBody>
      </p:sp>
      <p:sp>
        <p:nvSpPr>
          <p:cNvPr id="10" name="text-9">
            <a:extLst xmlns:a="http://schemas.openxmlformats.org/drawingml/2006/main">
              <a:ext uri="{FF2B5EF4-FFF2-40B4-BE49-F238E27FC236}">
                <a16:creationId xmlns:a16="http://schemas.microsoft.com/office/drawing/2014/main" id="{21BC0F57-CF0F-4EDF-AA1E-6C3C73FD03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2514600"/>
            <a:ext cx="8763000" cy="600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75" b="0">
                <a:solidFill>
                  <a:srgbClr val="52636D"/>
                </a:solidFill>
                <a:latin typeface="微软雅黑"/>
                <a:ea typeface="微软雅黑"/>
                <a:cs typeface="微软雅黑"/>
              </a:defRPr>
            </a:defPPr>
          </a:lstStyle>
          <a:p xmlns:a="http://schemas.openxmlformats.org/drawingml/2006/main">
            <a:pPr algn="l">
              <a:defRPr sz="1275" b="0">
                <a:solidFill>
                  <a:srgbClr val="52636D"/>
                </a:solidFill>
                <a:latin typeface="微软雅黑"/>
                <a:ea typeface="微软雅黑"/>
                <a:cs typeface="微软雅黑"/>
              </a:defRPr>
            </a:pPr>
            <a:r>
              <a:rPr sz="1275" b="0">
                <a:solidFill>
                  <a:srgbClr val="52636D"/>
                </a:solidFill>
                <a:latin typeface="微软雅黑"/>
                <a:ea typeface="微软雅黑"/>
                <a:cs typeface="微软雅黑"/>
              </a:rPr>
              <a:t>https://journals.iucr.org/j/issues/2024/05/00/oc5037/</a:t>
            </a:r>
          </a:p>
        </p:txBody>
      </p:sp>
      <p:sp>
        <p:nvSpPr>
          <p:cNvPr id="11" name="text-10">
            <a:extLst xmlns:a="http://schemas.openxmlformats.org/drawingml/2006/main">
              <a:ext uri="{FF2B5EF4-FFF2-40B4-BE49-F238E27FC236}">
                <a16:creationId xmlns:a16="http://schemas.microsoft.com/office/drawing/2014/main" id="{66D0050F-7FA0-4A92-8941-E7A05B847F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086100"/>
            <a:ext cx="21431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1">
                <a:solidFill>
                  <a:srgbClr val="005B94"/>
                </a:solidFill>
                <a:latin typeface="微软雅黑"/>
                <a:ea typeface="微软雅黑"/>
                <a:cs typeface="微软雅黑"/>
              </a:defRPr>
            </a:defPPr>
          </a:lstStyle>
          <a:p xmlns:a="http://schemas.openxmlformats.org/drawingml/2006/main">
            <a:pPr algn="l">
              <a:defRPr sz="1800" b="1">
                <a:solidFill>
                  <a:srgbClr val="005B94"/>
                </a:solidFill>
                <a:latin typeface="微软雅黑"/>
                <a:ea typeface="微软雅黑"/>
                <a:cs typeface="微软雅黑"/>
              </a:defRPr>
            </a:pPr>
            <a:r>
              <a:rPr sz="1800" b="1">
                <a:solidFill>
                  <a:srgbClr val="005B94"/>
                </a:solidFill>
                <a:latin typeface="微软雅黑"/>
                <a:ea typeface="微软雅黑"/>
                <a:cs typeface="微软雅黑"/>
              </a:rPr>
              <a:t>物相检索软件</a:t>
            </a:r>
          </a:p>
        </p:txBody>
      </p:sp>
      <p:sp>
        <p:nvSpPr>
          <p:cNvPr id="12" name="text-11">
            <a:extLst xmlns:a="http://schemas.openxmlformats.org/drawingml/2006/main">
              <a:ext uri="{FF2B5EF4-FFF2-40B4-BE49-F238E27FC236}">
                <a16:creationId xmlns:a16="http://schemas.microsoft.com/office/drawing/2014/main" id="{D5B03748-AC4C-4D2B-8B5F-620CEB46CA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3086100"/>
            <a:ext cx="8763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203746"/>
                </a:solidFill>
                <a:latin typeface="微软雅黑"/>
                <a:ea typeface="微软雅黑"/>
                <a:cs typeface="微软雅黑"/>
              </a:defRPr>
            </a:defPPr>
          </a:lstStyle>
          <a:p xmlns:a="http://schemas.openxmlformats.org/drawingml/2006/main">
            <a:pPr algn="l">
              <a:defRPr sz="1575" b="0">
                <a:solidFill>
                  <a:srgbClr val="203746"/>
                </a:solidFill>
                <a:latin typeface="微软雅黑"/>
                <a:ea typeface="微软雅黑"/>
                <a:cs typeface="微软雅黑"/>
              </a:defRPr>
            </a:pPr>
            <a:r>
              <a:rPr sz="1575" b="0">
                <a:solidFill>
                  <a:srgbClr val="203746"/>
                </a:solidFill>
                <a:latin typeface="微软雅黑"/>
                <a:ea typeface="微软雅黑"/>
                <a:cs typeface="微软雅黑"/>
              </a:rPr>
              <a:t>MDI JADE；Crystal Impact Match!；Bruker DIFFRAC.EVA / TOPAS</a:t>
            </a:r>
          </a:p>
        </p:txBody>
      </p:sp>
      <p:sp>
        <p:nvSpPr>
          <p:cNvPr id="13" name="text-12">
            <a:extLst xmlns:a="http://schemas.openxmlformats.org/drawingml/2006/main">
              <a:ext uri="{FF2B5EF4-FFF2-40B4-BE49-F238E27FC236}">
                <a16:creationId xmlns:a16="http://schemas.microsoft.com/office/drawing/2014/main" id="{5DD75928-258C-42DA-9B2F-D491C02DFB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3438525"/>
            <a:ext cx="8763000" cy="600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75" b="0">
                <a:solidFill>
                  <a:srgbClr val="52636D"/>
                </a:solidFill>
                <a:latin typeface="微软雅黑"/>
                <a:ea typeface="微软雅黑"/>
                <a:cs typeface="微软雅黑"/>
              </a:defRPr>
            </a:defPPr>
          </a:lstStyle>
          <a:p xmlns:a="http://schemas.openxmlformats.org/drawingml/2006/main">
            <a:pPr algn="l">
              <a:defRPr sz="1275" b="0">
                <a:solidFill>
                  <a:srgbClr val="52636D"/>
                </a:solidFill>
                <a:latin typeface="微软雅黑"/>
                <a:ea typeface="微软雅黑"/>
                <a:cs typeface="微软雅黑"/>
              </a:defRPr>
            </a:pPr>
            <a:r>
              <a:rPr sz="1275" b="0">
                <a:solidFill>
                  <a:srgbClr val="52636D"/>
                </a:solidFill>
                <a:latin typeface="微软雅黑"/>
                <a:ea typeface="微软雅黑"/>
                <a:cs typeface="微软雅黑"/>
              </a:rPr>
              <a:t>https://www.materialsdata.com/products.htm</a:t>
            </a:r>
          </a:p>
          <a:p xmlns:a="http://schemas.openxmlformats.org/drawingml/2006/main">
            <a:pPr algn="l">
              <a:defRPr sz="1275" b="0">
                <a:solidFill>
                  <a:srgbClr val="52636D"/>
                </a:solidFill>
                <a:latin typeface="微软雅黑"/>
                <a:ea typeface="微软雅黑"/>
                <a:cs typeface="微软雅黑"/>
              </a:defRPr>
            </a:pPr>
            <a:r>
              <a:rPr sz="1275" b="0">
                <a:solidFill>
                  <a:srgbClr val="52636D"/>
                </a:solidFill>
                <a:latin typeface="微软雅黑"/>
                <a:ea typeface="微软雅黑"/>
                <a:cs typeface="微软雅黑"/>
              </a:rPr>
              <a:t>https://www.crystalimpact.com/match/</a:t>
            </a:r>
          </a:p>
        </p:txBody>
      </p:sp>
      <p:sp>
        <p:nvSpPr>
          <p:cNvPr id="14" name="text-13">
            <a:extLst xmlns:a="http://schemas.openxmlformats.org/drawingml/2006/main">
              <a:ext uri="{FF2B5EF4-FFF2-40B4-BE49-F238E27FC236}">
                <a16:creationId xmlns:a16="http://schemas.microsoft.com/office/drawing/2014/main" id="{F323643B-525A-4F31-B5CC-116C0D440D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010025"/>
            <a:ext cx="21431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1">
                <a:solidFill>
                  <a:srgbClr val="005B94"/>
                </a:solidFill>
                <a:latin typeface="微软雅黑"/>
                <a:ea typeface="微软雅黑"/>
                <a:cs typeface="微软雅黑"/>
              </a:defRPr>
            </a:defPPr>
          </a:lstStyle>
          <a:p xmlns:a="http://schemas.openxmlformats.org/drawingml/2006/main">
            <a:pPr algn="l">
              <a:defRPr sz="1800" b="1">
                <a:solidFill>
                  <a:srgbClr val="005B94"/>
                </a:solidFill>
                <a:latin typeface="微软雅黑"/>
                <a:ea typeface="微软雅黑"/>
                <a:cs typeface="微软雅黑"/>
              </a:defRPr>
            </a:pPr>
            <a:r>
              <a:rPr sz="1800" b="1">
                <a:solidFill>
                  <a:srgbClr val="005B94"/>
                </a:solidFill>
                <a:latin typeface="微软雅黑"/>
                <a:ea typeface="微软雅黑"/>
                <a:cs typeface="微软雅黑"/>
              </a:rPr>
              <a:t>拟合与建模</a:t>
            </a:r>
          </a:p>
        </p:txBody>
      </p:sp>
      <p:sp>
        <p:nvSpPr>
          <p:cNvPr id="15" name="text-14">
            <a:extLst xmlns:a="http://schemas.openxmlformats.org/drawingml/2006/main">
              <a:ext uri="{FF2B5EF4-FFF2-40B4-BE49-F238E27FC236}">
                <a16:creationId xmlns:a16="http://schemas.microsoft.com/office/drawing/2014/main" id="{4380E317-E41A-4551-A8FB-9CF65D9E0F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4010025"/>
            <a:ext cx="8763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203746"/>
                </a:solidFill>
                <a:latin typeface="微软雅黑"/>
                <a:ea typeface="微软雅黑"/>
                <a:cs typeface="微软雅黑"/>
              </a:defRPr>
            </a:defPPr>
          </a:lstStyle>
          <a:p xmlns:a="http://schemas.openxmlformats.org/drawingml/2006/main">
            <a:pPr algn="l">
              <a:defRPr sz="1575" b="0">
                <a:solidFill>
                  <a:srgbClr val="203746"/>
                </a:solidFill>
                <a:latin typeface="微软雅黑"/>
                <a:ea typeface="微软雅黑"/>
                <a:cs typeface="微软雅黑"/>
              </a:defRPr>
            </a:pPr>
            <a:r>
              <a:rPr sz="1575" b="0">
                <a:solidFill>
                  <a:srgbClr val="203746"/>
                </a:solidFill>
                <a:latin typeface="微软雅黑"/>
                <a:ea typeface="微软雅黑"/>
                <a:cs typeface="微软雅黑"/>
              </a:rPr>
              <a:t>GSAS-II官方文档；BIOVIA Materials Studio</a:t>
            </a:r>
          </a:p>
        </p:txBody>
      </p:sp>
      <p:sp>
        <p:nvSpPr>
          <p:cNvPr id="16" name="text-15">
            <a:extLst xmlns:a="http://schemas.openxmlformats.org/drawingml/2006/main">
              <a:ext uri="{FF2B5EF4-FFF2-40B4-BE49-F238E27FC236}">
                <a16:creationId xmlns:a16="http://schemas.microsoft.com/office/drawing/2014/main" id="{60F8BFC7-21AF-406F-98FA-9582C30B43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4362450"/>
            <a:ext cx="8763000" cy="600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75" b="0">
                <a:solidFill>
                  <a:srgbClr val="52636D"/>
                </a:solidFill>
                <a:latin typeface="微软雅黑"/>
                <a:ea typeface="微软雅黑"/>
                <a:cs typeface="微软雅黑"/>
              </a:defRPr>
            </a:defPPr>
          </a:lstStyle>
          <a:p xmlns:a="http://schemas.openxmlformats.org/drawingml/2006/main">
            <a:pPr algn="l">
              <a:defRPr sz="1275" b="0">
                <a:solidFill>
                  <a:srgbClr val="52636D"/>
                </a:solidFill>
                <a:latin typeface="微软雅黑"/>
                <a:ea typeface="微软雅黑"/>
                <a:cs typeface="微软雅黑"/>
              </a:defRPr>
            </a:pPr>
            <a:r>
              <a:rPr sz="1275" b="0">
                <a:solidFill>
                  <a:srgbClr val="52636D"/>
                </a:solidFill>
                <a:latin typeface="微软雅黑"/>
                <a:ea typeface="微软雅黑"/>
                <a:cs typeface="微软雅黑"/>
              </a:rPr>
              <a:t>https://advancedphotonsource.github.io/GSAS-II-tutorials/documentation.html</a:t>
            </a:r>
          </a:p>
          <a:p xmlns:a="http://schemas.openxmlformats.org/drawingml/2006/main">
            <a:pPr algn="l">
              <a:defRPr sz="1275" b="0">
                <a:solidFill>
                  <a:srgbClr val="52636D"/>
                </a:solidFill>
                <a:latin typeface="微软雅黑"/>
                <a:ea typeface="微软雅黑"/>
                <a:cs typeface="微软雅黑"/>
              </a:defRPr>
            </a:pPr>
            <a:r>
              <a:rPr sz="1275" b="0">
                <a:solidFill>
                  <a:srgbClr val="52636D"/>
                </a:solidFill>
                <a:latin typeface="微软雅黑"/>
                <a:ea typeface="微软雅黑"/>
                <a:cs typeface="微软雅黑"/>
              </a:rPr>
              <a:t>https://www.3ds.com/products/biovia/materials-studio</a:t>
            </a:r>
          </a:p>
        </p:txBody>
      </p:sp>
      <p:sp>
        <p:nvSpPr>
          <p:cNvPr id="17" name="text-16">
            <a:extLst xmlns:a="http://schemas.openxmlformats.org/drawingml/2006/main">
              <a:ext uri="{FF2B5EF4-FFF2-40B4-BE49-F238E27FC236}">
                <a16:creationId xmlns:a16="http://schemas.microsoft.com/office/drawing/2014/main" id="{0F207BAC-5DE8-4FE1-8CC0-BDC051A47A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933950"/>
            <a:ext cx="21431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1">
                <a:solidFill>
                  <a:srgbClr val="005B94"/>
                </a:solidFill>
                <a:latin typeface="微软雅黑"/>
                <a:ea typeface="微软雅黑"/>
                <a:cs typeface="微软雅黑"/>
              </a:defRPr>
            </a:defPPr>
          </a:lstStyle>
          <a:p xmlns:a="http://schemas.openxmlformats.org/drawingml/2006/main">
            <a:pPr algn="l">
              <a:defRPr sz="1800" b="1">
                <a:solidFill>
                  <a:srgbClr val="005B94"/>
                </a:solidFill>
                <a:latin typeface="微软雅黑"/>
                <a:ea typeface="微软雅黑"/>
                <a:cs typeface="微软雅黑"/>
              </a:defRPr>
            </a:pPr>
            <a:r>
              <a:rPr sz="1800" b="1">
                <a:solidFill>
                  <a:srgbClr val="005B94"/>
                </a:solidFill>
                <a:latin typeface="微软雅黑"/>
                <a:ea typeface="微软雅黑"/>
                <a:cs typeface="微软雅黑"/>
              </a:rPr>
              <a:t>背景及峰拟合</a:t>
            </a:r>
          </a:p>
        </p:txBody>
      </p:sp>
      <p:sp>
        <p:nvSpPr>
          <p:cNvPr id="18" name="text-17">
            <a:extLst xmlns:a="http://schemas.openxmlformats.org/drawingml/2006/main">
              <a:ext uri="{FF2B5EF4-FFF2-40B4-BE49-F238E27FC236}">
                <a16:creationId xmlns:a16="http://schemas.microsoft.com/office/drawing/2014/main" id="{D08A34E3-C4EF-4980-B318-4F23045672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4933950"/>
            <a:ext cx="8763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203746"/>
                </a:solidFill>
                <a:latin typeface="微软雅黑"/>
                <a:ea typeface="微软雅黑"/>
                <a:cs typeface="微软雅黑"/>
              </a:defRPr>
            </a:defPPr>
          </a:lstStyle>
          <a:p xmlns:a="http://schemas.openxmlformats.org/drawingml/2006/main">
            <a:pPr algn="l">
              <a:defRPr sz="1575" b="0">
                <a:solidFill>
                  <a:srgbClr val="203746"/>
                </a:solidFill>
                <a:latin typeface="微软雅黑"/>
                <a:ea typeface="微软雅黑"/>
                <a:cs typeface="微软雅黑"/>
              </a:defRPr>
            </a:pPr>
            <a:r>
              <a:rPr sz="1575" b="0">
                <a:solidFill>
                  <a:srgbClr val="203746"/>
                </a:solidFill>
                <a:latin typeface="微软雅黑"/>
                <a:ea typeface="微软雅黑"/>
                <a:cs typeface="微软雅黑"/>
              </a:rPr>
              <a:t>OriginLab：Peak Fitting with Baseline</a:t>
            </a:r>
          </a:p>
        </p:txBody>
      </p:sp>
      <p:sp>
        <p:nvSpPr>
          <p:cNvPr id="19" name="text-18">
            <a:extLst xmlns:a="http://schemas.openxmlformats.org/drawingml/2006/main">
              <a:ext uri="{FF2B5EF4-FFF2-40B4-BE49-F238E27FC236}">
                <a16:creationId xmlns:a16="http://schemas.microsoft.com/office/drawing/2014/main" id="{B2AF3AC9-0E79-4525-A8D8-16A88C47DA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5286375"/>
            <a:ext cx="8763000" cy="600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75" b="0">
                <a:solidFill>
                  <a:srgbClr val="52636D"/>
                </a:solidFill>
                <a:latin typeface="微软雅黑"/>
                <a:ea typeface="微软雅黑"/>
                <a:cs typeface="微软雅黑"/>
              </a:defRPr>
            </a:defPPr>
          </a:lstStyle>
          <a:p xmlns:a="http://schemas.openxmlformats.org/drawingml/2006/main">
            <a:pPr algn="l">
              <a:defRPr sz="1275" b="0">
                <a:solidFill>
                  <a:srgbClr val="52636D"/>
                </a:solidFill>
                <a:latin typeface="微软雅黑"/>
                <a:ea typeface="微软雅黑"/>
                <a:cs typeface="微软雅黑"/>
              </a:defRPr>
            </a:pPr>
            <a:r>
              <a:rPr sz="1275" b="0">
                <a:solidFill>
                  <a:srgbClr val="52636D"/>
                </a:solidFill>
                <a:latin typeface="微软雅黑"/>
                <a:ea typeface="微软雅黑"/>
                <a:cs typeface="微软雅黑"/>
              </a:rPr>
              <a:t>https://docs.originlab.com/tutorials/peakfitting-baseline</a:t>
            </a:r>
          </a:p>
        </p:txBody>
      </p:sp>
    </p:spTree>
    <p:extLst>
      <p:ext uri="{BB962C8B-B14F-4D97-AF65-F5344CB8AC3E}">
        <p14:creationId xmlns:p14="http://schemas.microsoft.com/office/powerpoint/2010/main" val="594460780"/>
      </p:ext>
    </p:extLst>
  </p:cSld>
</p:sld>
</file>

<file path=ppt/theme/theme1.xml><?xml version="1.0" encoding="utf-8"?>
<a:theme xmlns:a="http://schemas.openxmlformats.org/drawingml/2006/main" name="2_Office 主题​​">
  <a:themeElements>
    <a:clrScheme name="自定义 1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005B94"/>
      </a:accent1>
      <a:accent2>
        <a:srgbClr val="2BA3C0"/>
      </a:accent2>
      <a:accent3>
        <a:srgbClr val="B37328"/>
      </a:accent3>
      <a:accent4>
        <a:srgbClr val="FFC000"/>
      </a:accent4>
      <a:accent5>
        <a:srgbClr val="345964"/>
      </a:accent5>
      <a:accent6>
        <a:srgbClr val="C00000"/>
      </a:accent6>
      <a:hlink>
        <a:srgbClr val="467886"/>
      </a:hlink>
      <a:folHlink>
        <a:srgbClr val="96607D"/>
      </a:folHlink>
    </a:clrScheme>
    <a:fontScheme name="自定义 1">
      <a:majorFont>
        <a:latin typeface="Times New Roman"/>
        <a:ea typeface="思源宋体 CN"/>
        <a:cs typeface=""/>
      </a:majorFont>
      <a:minorFont>
        <a:latin typeface="微软雅黑"/>
        <a:ea typeface="微软雅黑"/>
        <a:cs typeface=""/>
      </a:minorFont>
    </a:fontScheme>
    <a:fmtScheme name="自定义 1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2026-10-15T13:18:15.0800000Z</dcterms:created>
  <dcterms:modified xsi:type="dcterms:W3CDTF">2026-10-15T13:18:15.0800000Z</dcterms:modified>
</coreProperties>
</file>