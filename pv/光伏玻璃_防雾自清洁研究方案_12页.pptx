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本汇报基于用户上传的《光伏2 根据框架.docx》整理。定位为研究方案，尚无本项目实验结果。模板文件超出工具32MiB读取限制，使用自制蓝色科研版式，未冒用北京科技大学原模板。所有图形均为示意。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 提到用四分之一波长估算55–63nm。该估算不能直接证明高折射率TiO₂在空气/玻璃上减反，因此这里仅将约60nm设为实验起始点，必须结合透射、反射和雾度验证。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G3优于G1或G2本身并不足以严格证明协同。建议对关键指标进行重复测量，报告误差，并使用激光×薄膜双因素设计或相应模型检验交互项。透过率与接触角等指标的方向不同，需采用恰当评价。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阶段安排未给出具体月数，避免凭空编造进度。预期贡献：工艺次序、结构保持与多功能关联。附Word中的文献仅列“科学网/MDPI”等来源，作者、题名、DOI缺失；正式开题前需补齐核实。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依据上传Word整理的拟开展研究。页面示意图不表示真实实验观测；目标指标需实验验证。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研究方案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09728"/>
            <a:ext cx="12045391" cy="6263640"/>
          </a:xfrm>
          <a:prstGeom prst="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6309360" y="320040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649224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72084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94944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7804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0664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73952" y="33489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73952" y="349758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73952" y="36461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/>
          <p:cNvSpPr/>
          <p:nvPr/>
        </p:nvSpPr>
        <p:spPr>
          <a:xfrm>
            <a:off x="8046720" y="320040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822960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45820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68680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91540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144000" y="327355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11312" y="33489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11312" y="349758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11312" y="36461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arallelogram 27"/>
          <p:cNvSpPr/>
          <p:nvPr/>
        </p:nvSpPr>
        <p:spPr>
          <a:xfrm>
            <a:off x="9784080" y="320040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9966959" y="327355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195559" y="327355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424159" y="327355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652759" y="327355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881359" y="327355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48672" y="33489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948672" y="349758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948672" y="36461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arallelogram 36"/>
          <p:cNvSpPr/>
          <p:nvPr/>
        </p:nvSpPr>
        <p:spPr>
          <a:xfrm>
            <a:off x="6382512" y="3749039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>
            <a:off x="656539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79399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02259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25119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47979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47104" y="389762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47104" y="404622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47104" y="41948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Parallelogram 45"/>
          <p:cNvSpPr/>
          <p:nvPr/>
        </p:nvSpPr>
        <p:spPr>
          <a:xfrm>
            <a:off x="8119872" y="3749039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830275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53135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75995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98855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217152" y="3822191"/>
            <a:ext cx="210312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84464" y="389762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84464" y="404622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84464" y="41948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arallelogram 54"/>
          <p:cNvSpPr/>
          <p:nvPr/>
        </p:nvSpPr>
        <p:spPr>
          <a:xfrm>
            <a:off x="9857232" y="3749039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10040111" y="3822191"/>
            <a:ext cx="210313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268711" y="3822191"/>
            <a:ext cx="210313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497311" y="3822191"/>
            <a:ext cx="210313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0725911" y="3822191"/>
            <a:ext cx="210313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0954511" y="3822191"/>
            <a:ext cx="210313" cy="448057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021824" y="389762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21824" y="404622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21824" y="41948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arallelogram 63"/>
          <p:cNvSpPr/>
          <p:nvPr/>
        </p:nvSpPr>
        <p:spPr>
          <a:xfrm>
            <a:off x="6455664" y="429768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>
            <a:off x="663854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686714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09574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32434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55294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0256" y="44462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620256" y="459486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620256" y="474345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arallelogram 72"/>
          <p:cNvSpPr/>
          <p:nvPr/>
        </p:nvSpPr>
        <p:spPr>
          <a:xfrm>
            <a:off x="8193024" y="429768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H="1">
            <a:off x="837590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860450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83310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906170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9290304" y="437083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57616" y="44462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57616" y="459486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357616" y="474345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Parallelogram 81"/>
          <p:cNvSpPr/>
          <p:nvPr/>
        </p:nvSpPr>
        <p:spPr>
          <a:xfrm>
            <a:off x="9930384" y="429768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H="1">
            <a:off x="10113263" y="437083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0341863" y="437083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0570463" y="437083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0799063" y="437083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027663" y="437083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094976" y="444627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094976" y="459486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094976" y="474345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Parallelogram 90"/>
          <p:cNvSpPr/>
          <p:nvPr/>
        </p:nvSpPr>
        <p:spPr>
          <a:xfrm>
            <a:off x="6528816" y="484632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671169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694029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16889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39749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62609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93408" y="49949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693408" y="514350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693408" y="52920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Parallelogram 99"/>
          <p:cNvSpPr/>
          <p:nvPr/>
        </p:nvSpPr>
        <p:spPr>
          <a:xfrm>
            <a:off x="8266176" y="484632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H="1">
            <a:off x="844905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67765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90625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913485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9363456" y="4919472"/>
            <a:ext cx="210312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430768" y="49949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430768" y="514350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430768" y="52920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Parallelogram 108"/>
          <p:cNvSpPr/>
          <p:nvPr/>
        </p:nvSpPr>
        <p:spPr>
          <a:xfrm>
            <a:off x="10003536" y="4846320"/>
            <a:ext cx="1737360" cy="5943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H="1">
            <a:off x="10186415" y="491947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10415015" y="491947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0643615" y="491947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10872215" y="491947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11100815" y="4919472"/>
            <a:ext cx="210313" cy="4480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168128" y="4994909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168128" y="514350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168128" y="5292090"/>
            <a:ext cx="140817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621792" y="594360"/>
            <a:ext cx="192024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1792" y="63093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PHOTOVOLTAIC GLASS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" y="15087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23B69"/>
                </a:solidFill>
                <a:latin typeface="Noto Sans CJK SC"/>
              </a:defRPr>
            </a:pPr>
            <a:r>
              <a:t>激光烧蚀—薄膜沉积</a:t>
            </a:r>
          </a:p>
          <a:p>
            <a:pPr>
              <a:spcAft>
                <a:spcPts val="400"/>
              </a:spcAft>
              <a:defRPr sz="3200" b="1">
                <a:solidFill>
                  <a:srgbClr val="123B69"/>
                </a:solidFill>
                <a:latin typeface="Noto Sans CJK SC"/>
              </a:defRPr>
            </a:pPr>
            <a:r>
              <a:t>协同制备功能光伏玻璃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6656" y="3218688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968AD"/>
                </a:solidFill>
                <a:latin typeface="Noto Sans CJK SC"/>
              </a:defRPr>
            </a:pPr>
            <a:r>
              <a:t>TiO₂ 微纳界面 · 防雾 · 自清洁 · 高透光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76656" y="4133087"/>
            <a:ext cx="4443984" cy="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676656" y="44348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先构筑结构，再赋予功能</a:t>
            </a:r>
          </a:p>
          <a:p>
            <a:pPr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研究微纳结构保持与薄膜生长的协同机制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6656" y="5669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C90"/>
                </a:solidFill>
                <a:latin typeface="Noto Sans CJK SC"/>
              </a:defRPr>
            </a:pPr>
            <a:r>
              <a:t>科研项目汇报  |  研究设计与实施路径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户外污染与凝露，削弱光伏玻璃的有效透光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研究背景  |  从光学损失出发，构建多功能表面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立项依据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72768"/>
            <a:ext cx="3136392" cy="36118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1033272" y="3337560"/>
            <a:ext cx="2560320" cy="12801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35331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1907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8483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450591" y="3410712"/>
            <a:ext cx="210313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1635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97864" y="3657600"/>
            <a:ext cx="2231135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97864" y="3977639"/>
            <a:ext cx="2231135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97864" y="4297679"/>
            <a:ext cx="2231135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54347" y="3856041"/>
            <a:ext cx="76165" cy="76165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40727" y="3926830"/>
            <a:ext cx="51112" cy="51112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1295" y="4110772"/>
            <a:ext cx="67063" cy="67063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46539" y="4248176"/>
            <a:ext cx="84420" cy="84420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40421" y="3797078"/>
            <a:ext cx="98312" cy="98312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6650" y="3934770"/>
            <a:ext cx="117156" cy="117156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67232" y="4027190"/>
            <a:ext cx="100974" cy="10097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593" y="4041939"/>
            <a:ext cx="94365" cy="94365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90375" y="3410219"/>
            <a:ext cx="116949" cy="11694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58862" y="4007707"/>
            <a:ext cx="118042" cy="118042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77549" y="4183419"/>
            <a:ext cx="78223" cy="78223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64024" y="3769513"/>
            <a:ext cx="122715" cy="122715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31543" y="3467936"/>
            <a:ext cx="56909" cy="5690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09270" y="4221973"/>
            <a:ext cx="81614" cy="8161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89566" y="3644775"/>
            <a:ext cx="87464" cy="8746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72164" y="3688108"/>
            <a:ext cx="93869" cy="9386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98463" y="4168741"/>
            <a:ext cx="101844" cy="10184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39155" y="4127218"/>
            <a:ext cx="127274" cy="12727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85459" y="3524961"/>
            <a:ext cx="116547" cy="116547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15841" y="4169171"/>
            <a:ext cx="92555" cy="92555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76878" y="3566680"/>
            <a:ext cx="114158" cy="114158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75429" y="3630816"/>
            <a:ext cx="50942" cy="50942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77985" y="4243104"/>
            <a:ext cx="53004" cy="5300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63351" y="3739839"/>
            <a:ext cx="58127" cy="58127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74525" y="4051114"/>
            <a:ext cx="117545" cy="117545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37957" y="3917112"/>
            <a:ext cx="49418" cy="49418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86813" y="3670773"/>
            <a:ext cx="118214" cy="118214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50229" y="3822328"/>
            <a:ext cx="127893" cy="127893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08431" y="3450142"/>
            <a:ext cx="95078" cy="95078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10425" y="3554744"/>
            <a:ext cx="79291" cy="79291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54796" y="3518966"/>
            <a:ext cx="49212" cy="49212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07718" y="3655898"/>
            <a:ext cx="124613" cy="124613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69778" y="3711457"/>
            <a:ext cx="83609" cy="8360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60553" y="3942613"/>
            <a:ext cx="94739" cy="9473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44762" y="3921971"/>
            <a:ext cx="123129" cy="123129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32519" y="3757847"/>
            <a:ext cx="104998" cy="104998"/>
          </a:xfrm>
          <a:prstGeom prst="ellipse">
            <a:avLst/>
          </a:prstGeom>
          <a:solidFill>
            <a:srgbClr val="62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23B69"/>
                </a:solidFill>
                <a:latin typeface="Noto Sans CJK SC"/>
              </a:defRPr>
            </a:pPr>
            <a:r>
              <a:t>粉尘沉积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" y="248716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627C90"/>
                </a:solidFill>
                <a:latin typeface="Noto Sans CJK SC"/>
              </a:defRPr>
            </a:pPr>
            <a:r>
              <a:t>遮挡与吸收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26280" y="1572768"/>
            <a:ext cx="3136392" cy="36118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4828032" y="3337560"/>
            <a:ext cx="2560320" cy="12801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>
            <a:off x="514807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51383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87959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624535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61111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992624" y="3657600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992624" y="3977639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92624" y="4297679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ardrop 67"/>
          <p:cNvSpPr/>
          <p:nvPr/>
        </p:nvSpPr>
        <p:spPr>
          <a:xfrm>
            <a:off x="498348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ardrop 68"/>
          <p:cNvSpPr/>
          <p:nvPr/>
        </p:nvSpPr>
        <p:spPr>
          <a:xfrm>
            <a:off x="534924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ardrop 69"/>
          <p:cNvSpPr/>
          <p:nvPr/>
        </p:nvSpPr>
        <p:spPr>
          <a:xfrm>
            <a:off x="571500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ardrop 70"/>
          <p:cNvSpPr/>
          <p:nvPr/>
        </p:nvSpPr>
        <p:spPr>
          <a:xfrm>
            <a:off x="608076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ardrop 71"/>
          <p:cNvSpPr/>
          <p:nvPr/>
        </p:nvSpPr>
        <p:spPr>
          <a:xfrm>
            <a:off x="644652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ardrop 72"/>
          <p:cNvSpPr/>
          <p:nvPr/>
        </p:nvSpPr>
        <p:spPr>
          <a:xfrm>
            <a:off x="6812280" y="345643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ardrop 73"/>
          <p:cNvSpPr/>
          <p:nvPr/>
        </p:nvSpPr>
        <p:spPr>
          <a:xfrm>
            <a:off x="498348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ardrop 74"/>
          <p:cNvSpPr/>
          <p:nvPr/>
        </p:nvSpPr>
        <p:spPr>
          <a:xfrm>
            <a:off x="534924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ardrop 75"/>
          <p:cNvSpPr/>
          <p:nvPr/>
        </p:nvSpPr>
        <p:spPr>
          <a:xfrm>
            <a:off x="571500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ardrop 76"/>
          <p:cNvSpPr/>
          <p:nvPr/>
        </p:nvSpPr>
        <p:spPr>
          <a:xfrm>
            <a:off x="608076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ardrop 77"/>
          <p:cNvSpPr/>
          <p:nvPr/>
        </p:nvSpPr>
        <p:spPr>
          <a:xfrm>
            <a:off x="644652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ardrop 78"/>
          <p:cNvSpPr/>
          <p:nvPr/>
        </p:nvSpPr>
        <p:spPr>
          <a:xfrm>
            <a:off x="6812280" y="3776472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ardrop 79"/>
          <p:cNvSpPr/>
          <p:nvPr/>
        </p:nvSpPr>
        <p:spPr>
          <a:xfrm>
            <a:off x="498348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ardrop 80"/>
          <p:cNvSpPr/>
          <p:nvPr/>
        </p:nvSpPr>
        <p:spPr>
          <a:xfrm>
            <a:off x="534924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ardrop 81"/>
          <p:cNvSpPr/>
          <p:nvPr/>
        </p:nvSpPr>
        <p:spPr>
          <a:xfrm>
            <a:off x="571500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ardrop 82"/>
          <p:cNvSpPr/>
          <p:nvPr/>
        </p:nvSpPr>
        <p:spPr>
          <a:xfrm>
            <a:off x="608076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ardrop 83"/>
          <p:cNvSpPr/>
          <p:nvPr/>
        </p:nvSpPr>
        <p:spPr>
          <a:xfrm>
            <a:off x="644652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ardrop 84"/>
          <p:cNvSpPr/>
          <p:nvPr/>
        </p:nvSpPr>
        <p:spPr>
          <a:xfrm>
            <a:off x="6812280" y="4096511"/>
            <a:ext cx="192024" cy="192024"/>
          </a:xfrm>
          <a:prstGeom prst="teardrop">
            <a:avLst/>
          </a:prstGeom>
          <a:solidFill>
            <a:srgbClr val="B6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23B69"/>
                </a:solidFill>
                <a:latin typeface="Noto Sans CJK SC"/>
              </a:defRPr>
            </a:pPr>
            <a:r>
              <a:t>水汽凝露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36592" y="248716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627C90"/>
                </a:solidFill>
                <a:latin typeface="Noto Sans CJK SC"/>
              </a:defRPr>
            </a:pPr>
            <a:r>
              <a:t>雾滴引起光散射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1040" y="1572768"/>
            <a:ext cx="3136392" cy="36118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arallelogram 88"/>
          <p:cNvSpPr/>
          <p:nvPr/>
        </p:nvSpPr>
        <p:spPr>
          <a:xfrm>
            <a:off x="8622792" y="3337560"/>
            <a:ext cx="2560320" cy="1280160"/>
          </a:xfrm>
          <a:prstGeom prst="parallelogram">
            <a:avLst/>
          </a:prstGeom>
          <a:solidFill>
            <a:srgbClr val="123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H="1">
            <a:off x="894283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930859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9674351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0040111" y="3410712"/>
            <a:ext cx="210313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0405872" y="3410712"/>
            <a:ext cx="210312" cy="1133856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787384" y="3657600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787384" y="3977639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7384" y="4297679"/>
            <a:ext cx="2231136" cy="0"/>
          </a:xfrm>
          <a:prstGeom prst="line">
            <a:avLst/>
          </a:prstGeom>
          <a:ln w="889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961119" y="2560320"/>
            <a:ext cx="0" cy="73152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64040" y="2560320"/>
            <a:ext cx="0" cy="73152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966959" y="2560320"/>
            <a:ext cx="0" cy="73152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469880" y="2560320"/>
            <a:ext cx="0" cy="73152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705088" y="3429000"/>
            <a:ext cx="30480" cy="10959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735568" y="3439959"/>
            <a:ext cx="30480" cy="8277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766048" y="3448236"/>
            <a:ext cx="30480" cy="356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796528" y="3449786"/>
            <a:ext cx="30480" cy="201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827008" y="3442681"/>
            <a:ext cx="30480" cy="710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57488" y="3432226"/>
            <a:ext cx="30479" cy="1045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887967" y="3420981"/>
            <a:ext cx="30480" cy="1124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918447" y="3411699"/>
            <a:ext cx="30481" cy="928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948928" y="3406653"/>
            <a:ext cx="30480" cy="504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979408" y="3406653"/>
            <a:ext cx="30480" cy="42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009888" y="3407078"/>
            <a:ext cx="30480" cy="579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040368" y="3412871"/>
            <a:ext cx="30480" cy="9741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070848" y="3422612"/>
            <a:ext cx="30480" cy="1130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101328" y="3433917"/>
            <a:ext cx="30480" cy="10101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131808" y="3444018"/>
            <a:ext cx="30480" cy="642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162288" y="3450442"/>
            <a:ext cx="30480" cy="117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192768" y="3447253"/>
            <a:ext cx="30480" cy="436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223248" y="3438421"/>
            <a:ext cx="30480" cy="883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253728" y="3427282"/>
            <a:ext cx="30480" cy="11139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284208" y="3416563"/>
            <a:ext cx="30480" cy="10719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314688" y="3408890"/>
            <a:ext cx="30479" cy="767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345167" y="3406140"/>
            <a:ext cx="30480" cy="275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375647" y="3406140"/>
            <a:ext cx="30481" cy="2847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406128" y="3408987"/>
            <a:ext cx="30480" cy="774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436608" y="3416733"/>
            <a:ext cx="30480" cy="1075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467088" y="3427483"/>
            <a:ext cx="30480" cy="1112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497568" y="3438605"/>
            <a:ext cx="30480" cy="8769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528048" y="3447374"/>
            <a:ext cx="30480" cy="4271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558528" y="3450371"/>
            <a:ext cx="30480" cy="127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589008" y="3443865"/>
            <a:ext cx="30480" cy="650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619488" y="3433719"/>
            <a:ext cx="30480" cy="1014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649968" y="3422418"/>
            <a:ext cx="30480" cy="11301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680448" y="3412728"/>
            <a:ext cx="30480" cy="969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710928" y="3407022"/>
            <a:ext cx="30480" cy="570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741408" y="3406697"/>
            <a:ext cx="30480" cy="32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771888" y="3406697"/>
            <a:ext cx="30479" cy="513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802367" y="3411832"/>
            <a:ext cx="30481" cy="933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832848" y="3421170"/>
            <a:ext cx="30479" cy="1125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863327" y="3432426"/>
            <a:ext cx="30481" cy="1041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893808" y="3442842"/>
            <a:ext cx="30480" cy="7027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924288" y="3449869"/>
            <a:ext cx="30480" cy="191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954768" y="3448125"/>
            <a:ext cx="30480" cy="366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985248" y="3439781"/>
            <a:ext cx="30480" cy="834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015728" y="3428797"/>
            <a:ext cx="30480" cy="1098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046208" y="3417863"/>
            <a:ext cx="30480" cy="1093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076688" y="3409655"/>
            <a:ext cx="30480" cy="820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107168" y="3406183"/>
            <a:ext cx="30480" cy="347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137648" y="3406183"/>
            <a:ext cx="30480" cy="211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168128" y="3408298"/>
            <a:ext cx="30480" cy="718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198608" y="3415481"/>
            <a:ext cx="30480" cy="1049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229088" y="3425974"/>
            <a:ext cx="30479" cy="1123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259567" y="3437208"/>
            <a:ext cx="30481" cy="922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290048" y="3446432"/>
            <a:ext cx="30479" cy="495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320527" y="3450862"/>
            <a:ext cx="30481" cy="52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351008" y="3444984"/>
            <a:ext cx="30480" cy="587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381488" y="3435192"/>
            <a:ext cx="30480" cy="979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411968" y="3423884"/>
            <a:ext cx="30480" cy="1130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442448" y="3413829"/>
            <a:ext cx="30480" cy="1005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472928" y="3407488"/>
            <a:ext cx="30480" cy="6341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503408" y="3406413"/>
            <a:ext cx="30480" cy="1075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533888" y="3406413"/>
            <a:ext cx="30480" cy="445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564368" y="3410869"/>
            <a:ext cx="30480" cy="8894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594848" y="3419763"/>
            <a:ext cx="30480" cy="1115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625328" y="3430919"/>
            <a:ext cx="30480" cy="1068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655808" y="3441605"/>
            <a:ext cx="30480" cy="760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686288" y="3449205"/>
            <a:ext cx="30479" cy="2652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716767" y="3448914"/>
            <a:ext cx="30481" cy="294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747248" y="3441094"/>
            <a:ext cx="30479" cy="782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777727" y="3430314"/>
            <a:ext cx="30481" cy="1078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808208" y="3419211"/>
            <a:ext cx="30480" cy="1110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838688" y="3410505"/>
            <a:ext cx="30480" cy="8706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869168" y="3406327"/>
            <a:ext cx="30480" cy="417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899648" y="3406327"/>
            <a:ext cx="30480" cy="1373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930128" y="3407700"/>
            <a:ext cx="30480" cy="6588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60608" y="3414288"/>
            <a:ext cx="30480" cy="10190"/>
          </a:xfrm>
          <a:prstGeom prst="line">
            <a:avLst/>
          </a:prstGeom>
          <a:ln w="127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854964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23B69"/>
                </a:solidFill>
                <a:latin typeface="Noto Sans CJK SC"/>
              </a:defRPr>
            </a:pPr>
            <a:r>
              <a:t>功能界面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531352" y="248716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627C90"/>
                </a:solidFill>
                <a:latin typeface="Noto Sans CJK SC"/>
              </a:defRPr>
            </a:pPr>
            <a:r>
              <a:t>透明水膜 + 光催化</a:t>
            </a:r>
          </a:p>
        </p:txBody>
      </p:sp>
      <p:sp>
        <p:nvSpPr>
          <p:cNvPr id="179" name="Right Arrow 178"/>
          <p:cNvSpPr/>
          <p:nvPr/>
        </p:nvSpPr>
        <p:spPr>
          <a:xfrm>
            <a:off x="3941063" y="3200400"/>
            <a:ext cx="457200" cy="256032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ight Arrow 179"/>
          <p:cNvSpPr/>
          <p:nvPr/>
        </p:nvSpPr>
        <p:spPr>
          <a:xfrm>
            <a:off x="7735824" y="3200400"/>
            <a:ext cx="457200" cy="256032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14400" y="550468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968AD"/>
                </a:solidFill>
                <a:latin typeface="Noto Sans CJK SC"/>
              </a:defRPr>
            </a:pPr>
            <a:r>
              <a:t>应用牵引：降低污染损失与清洗频次，保持长期光学性能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研究切入点：先结构化，再可控沉积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已有技术提供基础；工艺次序带来新的界面科学问题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立项依据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3749039" cy="1298448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5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激光微纳加工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3291839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结构可调，亲水性与光散射相互制约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99232"/>
            <a:ext cx="3749039" cy="1298448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磁控溅射 TiO₂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30752"/>
            <a:ext cx="3291839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膜厚可控，功能依赖晶相与表面化学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90872" y="2761488"/>
            <a:ext cx="640080" cy="36576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59552" y="1508760"/>
            <a:ext cx="5879592" cy="3584448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267712"/>
            <a:ext cx="822960" cy="320040"/>
          </a:xfrm>
          <a:prstGeom prst="round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6656831" y="2560320"/>
            <a:ext cx="228600" cy="731520"/>
          </a:xfrm>
          <a:prstGeom prst="triangl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5989320" y="3364991"/>
            <a:ext cx="1920240" cy="41148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108192" y="3410711"/>
            <a:ext cx="42290" cy="4897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50482" y="3388456"/>
            <a:ext cx="42291" cy="7123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192774" y="3371848"/>
            <a:ext cx="42291" cy="1660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35065" y="3371848"/>
            <a:ext cx="42290" cy="7877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277355" y="3431438"/>
            <a:ext cx="42291" cy="191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319647" y="3361378"/>
            <a:ext cx="42291" cy="7006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61938" y="3361378"/>
            <a:ext cx="42290" cy="510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4229" y="3412402"/>
            <a:ext cx="42291" cy="4687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446520" y="3386952"/>
            <a:ext cx="42291" cy="723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488811" y="3372943"/>
            <a:ext cx="42290" cy="1400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31102" y="3372943"/>
            <a:ext cx="42291" cy="7869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573393" y="3429885"/>
            <a:ext cx="42290" cy="2174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615683" y="3361078"/>
            <a:ext cx="42291" cy="688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57975" y="3361078"/>
            <a:ext cx="42291" cy="5301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00266" y="3414092"/>
            <a:ext cx="42290" cy="4471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742556" y="3385476"/>
            <a:ext cx="42291" cy="7333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784848" y="3374081"/>
            <a:ext cx="42291" cy="1139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27139" y="3374081"/>
            <a:ext cx="42290" cy="7851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869430" y="3428311"/>
            <a:ext cx="42291" cy="2428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911721" y="3360833"/>
            <a:ext cx="42291" cy="6747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54012" y="3360833"/>
            <a:ext cx="42290" cy="5494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96303" y="3415777"/>
            <a:ext cx="42291" cy="425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038594" y="3384027"/>
            <a:ext cx="42290" cy="7426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080885" y="3375260"/>
            <a:ext cx="42291" cy="876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23176" y="3375260"/>
            <a:ext cx="42291" cy="7824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165467" y="3426717"/>
            <a:ext cx="42290" cy="2678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07758" y="3360645"/>
            <a:ext cx="42291" cy="6607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50049" y="3360645"/>
            <a:ext cx="42291" cy="568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292340" y="3417456"/>
            <a:ext cx="42291" cy="402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34631" y="3382609"/>
            <a:ext cx="42291" cy="7510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376921" y="3376480"/>
            <a:ext cx="42292" cy="612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19213" y="3376480"/>
            <a:ext cx="42291" cy="778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461504" y="3425105"/>
            <a:ext cx="42291" cy="2926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3795" y="3360513"/>
            <a:ext cx="42291" cy="6459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46086" y="3360513"/>
            <a:ext cx="42291" cy="5861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88377" y="3419128"/>
            <a:ext cx="42291" cy="379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630668" y="3381222"/>
            <a:ext cx="42291" cy="75863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672958" y="3377738"/>
            <a:ext cx="42292" cy="348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15250" y="3377738"/>
            <a:ext cx="42291" cy="7744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757541" y="3423477"/>
            <a:ext cx="42291" cy="317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6519672" y="3136391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11112" y="3228724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702552" y="3236167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93992" y="3151876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85432" y="3053349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76872" y="3031171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8312" y="3105732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59752" y="3208481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0" y="39593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23B69"/>
                </a:solidFill>
                <a:latin typeface="Noto Sans CJK SC"/>
              </a:defRPr>
            </a:pPr>
            <a:r>
              <a:t>激光：预构筑微纳结构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8119872" y="3200400"/>
            <a:ext cx="594360" cy="292608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07424" y="2267712"/>
            <a:ext cx="1627632" cy="164592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35440" y="1920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3B69"/>
                </a:solidFill>
                <a:latin typeface="Noto Sans CJK SC"/>
              </a:defRPr>
            </a:pPr>
            <a:r>
              <a:t>TiO₂ 靶材</a:t>
            </a:r>
          </a:p>
        </p:txBody>
      </p:sp>
      <p:sp>
        <p:nvSpPr>
          <p:cNvPr id="73" name="Oval 72"/>
          <p:cNvSpPr/>
          <p:nvPr/>
        </p:nvSpPr>
        <p:spPr>
          <a:xfrm>
            <a:off x="9281160" y="267919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930859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387840" y="284378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941527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494520" y="3008376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9521951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601200" y="267919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962863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9707880" y="284378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973531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814560" y="3008376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84199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9921240" y="267919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994867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0027920" y="284378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05535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10134600" y="3008376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016203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0241280" y="267919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026871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0347960" y="284378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037539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0454640" y="3008376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1048207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0561320" y="267919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10588752" y="2916936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Parallelogram 98"/>
          <p:cNvSpPr/>
          <p:nvPr/>
        </p:nvSpPr>
        <p:spPr>
          <a:xfrm>
            <a:off x="8961120" y="3364991"/>
            <a:ext cx="1920240" cy="41148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9079992" y="3410711"/>
            <a:ext cx="42291" cy="4897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22283" y="3388456"/>
            <a:ext cx="42291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164574" y="3371848"/>
            <a:ext cx="42291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206865" y="3371848"/>
            <a:ext cx="42291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249156" y="3431438"/>
            <a:ext cx="42291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291447" y="3361378"/>
            <a:ext cx="42291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333738" y="3361378"/>
            <a:ext cx="42291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376029" y="3412402"/>
            <a:ext cx="42291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418320" y="3386952"/>
            <a:ext cx="42291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460611" y="3372943"/>
            <a:ext cx="42291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02902" y="3372943"/>
            <a:ext cx="42291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545193" y="3429885"/>
            <a:ext cx="42291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587484" y="3361078"/>
            <a:ext cx="42291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629775" y="3361078"/>
            <a:ext cx="42291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672066" y="3414092"/>
            <a:ext cx="42291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714357" y="3385476"/>
            <a:ext cx="42291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756648" y="3374081"/>
            <a:ext cx="42291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798939" y="3374081"/>
            <a:ext cx="42291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41230" y="3428311"/>
            <a:ext cx="42291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883521" y="3360833"/>
            <a:ext cx="42291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925812" y="3360833"/>
            <a:ext cx="42291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968103" y="3415777"/>
            <a:ext cx="42291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0010394" y="3384027"/>
            <a:ext cx="42291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052685" y="3375260"/>
            <a:ext cx="42291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094976" y="3375260"/>
            <a:ext cx="42291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137267" y="3426717"/>
            <a:ext cx="42291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79558" y="3360645"/>
            <a:ext cx="42291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221849" y="3360645"/>
            <a:ext cx="42291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264140" y="3417456"/>
            <a:ext cx="42291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306431" y="3382609"/>
            <a:ext cx="42291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348722" y="3376480"/>
            <a:ext cx="42291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391013" y="3376480"/>
            <a:ext cx="42291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433304" y="3425105"/>
            <a:ext cx="42291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475595" y="3360513"/>
            <a:ext cx="42291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517886" y="3360513"/>
            <a:ext cx="42291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560177" y="3419128"/>
            <a:ext cx="42291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602468" y="3381222"/>
            <a:ext cx="42291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644759" y="3377738"/>
            <a:ext cx="42291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687050" y="3377738"/>
            <a:ext cx="42291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729341" y="3423477"/>
            <a:ext cx="42291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9006840" y="39593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23B69"/>
                </a:solidFill>
                <a:latin typeface="Noto Sans CJK SC"/>
              </a:defRPr>
            </a:pPr>
            <a:r>
              <a:t>溅射：可控沉积功能膜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943600" y="17556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1968AD"/>
                </a:solidFill>
                <a:latin typeface="Noto Sans CJK SC"/>
              </a:defRPr>
            </a:pPr>
            <a:r>
              <a:t>本项目：激光 → 薄膜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23B69"/>
                </a:solidFill>
                <a:latin typeface="Noto Sans CJK SC"/>
              </a:defRPr>
            </a:pPr>
            <a:r>
              <a:t>核心缺口：TiO₂ 能否覆盖并保留微纳结构，同时维持高透光？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文献概述依据所附 Word；其中引文信息不完整，本页不采用未核实的定量性能。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以四项性能协同，定义优化目标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目标为拟验证指标；性能必须在相同测试条件下比较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研究目标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04 / 12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2267712"/>
            <a:ext cx="2834640" cy="2834640"/>
          </a:xfrm>
          <a:prstGeom prst="ellipse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83464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FFFFFF"/>
                </a:solidFill>
                <a:latin typeface="Noto Sans CJK SC"/>
              </a:defRPr>
            </a:pPr>
            <a:r>
              <a:t>结构—功能</a:t>
            </a:r>
          </a:p>
          <a:p>
            <a:pPr algn="ctr">
              <a:spcAft>
                <a:spcPts val="400"/>
              </a:spcAft>
              <a:defRPr sz="2500" b="1">
                <a:solidFill>
                  <a:srgbClr val="FFFFFF"/>
                </a:solidFill>
                <a:latin typeface="Noto Sans CJK SC"/>
              </a:defRPr>
            </a:pPr>
            <a:r>
              <a:t>协同优化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737360"/>
            <a:ext cx="3474720" cy="1261872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11095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超亲水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68880"/>
            <a:ext cx="3017520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水接触角 ≤10°，争取接近 0°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737360"/>
            <a:ext cx="3474720" cy="1261872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11095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高透光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68880"/>
            <a:ext cx="3017520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400–1100 nm 透过率不低于原玻璃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3474720" cy="1261872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4281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防雾 / 自清洁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3017520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凝露铺展 + 光催化 + 亲水冲洗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069080"/>
            <a:ext cx="3474720" cy="1261872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24281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稳定 / 耐久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017520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耐磨、耐水、UV 与循环稳定性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60" y="2468880"/>
            <a:ext cx="429768" cy="365760"/>
          </a:xfrm>
          <a:prstGeom prst="line">
            <a:avLst/>
          </a:prstGeom>
          <a:ln w="254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79792" y="2468880"/>
            <a:ext cx="429768" cy="365760"/>
          </a:xfrm>
          <a:prstGeom prst="line">
            <a:avLst/>
          </a:prstGeom>
          <a:ln w="254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51960" y="4297680"/>
            <a:ext cx="429768" cy="274320"/>
          </a:xfrm>
          <a:prstGeom prst="line">
            <a:avLst/>
          </a:prstGeom>
          <a:ln w="254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79792" y="4297680"/>
            <a:ext cx="429768" cy="274320"/>
          </a:xfrm>
          <a:prstGeom prst="line">
            <a:avLst/>
          </a:prstGeom>
          <a:ln w="254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高透光与防雾、自清洁为联合目标；最终评价需同时报告透过率与雾度。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关键科学问题：找到“结构保持—有效覆盖”的窗口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粗糙度与膜厚共同决定润湿、催化及光学表现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科学问题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3108960" cy="33832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23B69"/>
                </a:solidFill>
                <a:latin typeface="Noto Sans CJK SC"/>
              </a:defRPr>
            </a:pPr>
            <a:r>
              <a:t>覆盖不足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1051560" y="3200400"/>
            <a:ext cx="2560320" cy="50292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170431" y="3246120"/>
            <a:ext cx="58293" cy="4897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28724" y="3223864"/>
            <a:ext cx="58293" cy="7123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7017" y="3207256"/>
            <a:ext cx="58293" cy="1660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5310" y="3207256"/>
            <a:ext cx="58293" cy="7877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03603" y="3266846"/>
            <a:ext cx="58293" cy="191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61897" y="3196786"/>
            <a:ext cx="58292" cy="7006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20189" y="3196786"/>
            <a:ext cx="58293" cy="510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78482" y="3247810"/>
            <a:ext cx="58293" cy="4687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36775" y="3222360"/>
            <a:ext cx="58293" cy="723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95068" y="3208351"/>
            <a:ext cx="58293" cy="1400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53361" y="3208351"/>
            <a:ext cx="58293" cy="7869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11654" y="3265293"/>
            <a:ext cx="58294" cy="2174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69948" y="3196486"/>
            <a:ext cx="58293" cy="688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8240" y="3196486"/>
            <a:ext cx="58294" cy="5301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6533" y="3249500"/>
            <a:ext cx="58293" cy="4471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44827" y="3220884"/>
            <a:ext cx="58293" cy="7333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03120" y="3209489"/>
            <a:ext cx="58293" cy="1139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61412" y="3209489"/>
            <a:ext cx="58294" cy="7851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19706" y="3263719"/>
            <a:ext cx="58293" cy="2428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77999" y="3196241"/>
            <a:ext cx="58293" cy="6747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6291" y="3196241"/>
            <a:ext cx="58294" cy="5494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94584" y="3251185"/>
            <a:ext cx="58293" cy="425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452877" y="3219435"/>
            <a:ext cx="58294" cy="7426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11171" y="3210668"/>
            <a:ext cx="58293" cy="876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569463" y="3210668"/>
            <a:ext cx="58294" cy="7824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27756" y="3262125"/>
            <a:ext cx="58293" cy="2678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86050" y="3196053"/>
            <a:ext cx="58293" cy="6607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44343" y="3196053"/>
            <a:ext cx="58293" cy="568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02635" y="3252864"/>
            <a:ext cx="58293" cy="402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860928" y="3218017"/>
            <a:ext cx="58293" cy="7510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919222" y="3211888"/>
            <a:ext cx="58293" cy="612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77514" y="3211888"/>
            <a:ext cx="58294" cy="778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35808" y="3260513"/>
            <a:ext cx="58293" cy="2926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94100" y="3195921"/>
            <a:ext cx="58294" cy="6459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152393" y="3195921"/>
            <a:ext cx="58293" cy="5861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10687" y="3254536"/>
            <a:ext cx="58293" cy="379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268979" y="3216630"/>
            <a:ext cx="58294" cy="75863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327272" y="3213146"/>
            <a:ext cx="58293" cy="348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385565" y="3213146"/>
            <a:ext cx="58294" cy="7744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443858" y="3258885"/>
            <a:ext cx="58293" cy="317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7007" y="3191256"/>
            <a:ext cx="182881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64207" y="3191256"/>
            <a:ext cx="182881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121408" y="3191256"/>
            <a:ext cx="182880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78608" y="3191256"/>
            <a:ext cx="182880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35808" y="3191256"/>
            <a:ext cx="182880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60120" y="4096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243E55"/>
                </a:solidFill>
                <a:latin typeface="Noto Sans CJK SC"/>
              </a:defRPr>
            </a:pPr>
            <a:r>
              <a:t>功能位点不足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53712" y="1600200"/>
            <a:ext cx="3108960" cy="33832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36592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968AD"/>
                </a:solidFill>
                <a:latin typeface="Noto Sans CJK SC"/>
              </a:defRPr>
            </a:pPr>
            <a:r>
              <a:t>结构保持</a:t>
            </a:r>
          </a:p>
        </p:txBody>
      </p:sp>
      <p:sp>
        <p:nvSpPr>
          <p:cNvPr id="61" name="Parallelogram 60"/>
          <p:cNvSpPr/>
          <p:nvPr/>
        </p:nvSpPr>
        <p:spPr>
          <a:xfrm>
            <a:off x="4828032" y="3200400"/>
            <a:ext cx="2560320" cy="50292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4946904" y="3246120"/>
            <a:ext cx="58293" cy="4897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005197" y="3223864"/>
            <a:ext cx="58293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63490" y="3207256"/>
            <a:ext cx="58293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121783" y="3207256"/>
            <a:ext cx="58293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180076" y="3266846"/>
            <a:ext cx="58293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238369" y="3196786"/>
            <a:ext cx="58293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296662" y="3196786"/>
            <a:ext cx="58293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354955" y="3247810"/>
            <a:ext cx="58293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413248" y="3222360"/>
            <a:ext cx="58293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471541" y="3208351"/>
            <a:ext cx="58293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529834" y="3208351"/>
            <a:ext cx="58293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588127" y="3265293"/>
            <a:ext cx="58293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646420" y="3196486"/>
            <a:ext cx="58293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04713" y="3196486"/>
            <a:ext cx="58293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63006" y="3249500"/>
            <a:ext cx="58293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821299" y="3220884"/>
            <a:ext cx="58293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879592" y="3209489"/>
            <a:ext cx="58292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937885" y="3209489"/>
            <a:ext cx="58293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996178" y="3263719"/>
            <a:ext cx="58293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054471" y="3196241"/>
            <a:ext cx="58293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112764" y="3196241"/>
            <a:ext cx="58293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171057" y="3251185"/>
            <a:ext cx="58293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229350" y="3219435"/>
            <a:ext cx="58293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287643" y="3210668"/>
            <a:ext cx="58293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45936" y="3210668"/>
            <a:ext cx="58292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04229" y="3262125"/>
            <a:ext cx="58293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462522" y="3196053"/>
            <a:ext cx="58293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520815" y="3196053"/>
            <a:ext cx="58292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579108" y="3252864"/>
            <a:ext cx="58293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37401" y="3218017"/>
            <a:ext cx="58293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95694" y="3211888"/>
            <a:ext cx="58293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753987" y="3211888"/>
            <a:ext cx="58293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812280" y="3260513"/>
            <a:ext cx="58293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870573" y="3195921"/>
            <a:ext cx="58293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928866" y="3195921"/>
            <a:ext cx="58292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987159" y="3254536"/>
            <a:ext cx="58293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045452" y="3216630"/>
            <a:ext cx="58293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103745" y="3213146"/>
            <a:ext cx="58293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62038" y="3213146"/>
            <a:ext cx="58292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20331" y="3258885"/>
            <a:ext cx="58293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736592" y="4096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243E55"/>
                </a:solidFill>
                <a:latin typeface="Noto Sans CJK SC"/>
              </a:defRPr>
            </a:pPr>
            <a:r>
              <a:t>连续薄膜 + 保留起伏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376672" y="2423160"/>
            <a:ext cx="1463040" cy="338328"/>
          </a:xfrm>
          <a:prstGeom prst="roundRect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76672" y="245973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优先探索区域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321040" y="1600200"/>
            <a:ext cx="3108960" cy="33832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03919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23B69"/>
                </a:solidFill>
                <a:latin typeface="Noto Sans CJK SC"/>
              </a:defRPr>
            </a:pPr>
            <a:r>
              <a:t>过度填平</a:t>
            </a:r>
          </a:p>
        </p:txBody>
      </p:sp>
      <p:sp>
        <p:nvSpPr>
          <p:cNvPr id="107" name="Parallelogram 106"/>
          <p:cNvSpPr/>
          <p:nvPr/>
        </p:nvSpPr>
        <p:spPr>
          <a:xfrm>
            <a:off x="8595360" y="3200400"/>
            <a:ext cx="2560320" cy="50292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8714232" y="3246120"/>
            <a:ext cx="58293" cy="4897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772525" y="3223864"/>
            <a:ext cx="58293" cy="7123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830818" y="3207256"/>
            <a:ext cx="58293" cy="1660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889111" y="3207256"/>
            <a:ext cx="58293" cy="7877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947404" y="3266846"/>
            <a:ext cx="58293" cy="191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005697" y="3196786"/>
            <a:ext cx="58293" cy="7006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063990" y="3196786"/>
            <a:ext cx="58293" cy="510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122283" y="3247810"/>
            <a:ext cx="58293" cy="4687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180576" y="3222360"/>
            <a:ext cx="58293" cy="723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38869" y="3208351"/>
            <a:ext cx="58293" cy="1400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297162" y="3208351"/>
            <a:ext cx="58293" cy="7869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355455" y="3265293"/>
            <a:ext cx="58293" cy="2174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13748" y="3196486"/>
            <a:ext cx="58293" cy="688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472041" y="3196486"/>
            <a:ext cx="58293" cy="5301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530334" y="3249500"/>
            <a:ext cx="58293" cy="4471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88627" y="3220884"/>
            <a:ext cx="58293" cy="7333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646920" y="3209489"/>
            <a:ext cx="58293" cy="1139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705213" y="3209489"/>
            <a:ext cx="58293" cy="7851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763506" y="3263719"/>
            <a:ext cx="58293" cy="2428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821799" y="3196241"/>
            <a:ext cx="58293" cy="6747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80092" y="3196241"/>
            <a:ext cx="58293" cy="5494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38385" y="3251185"/>
            <a:ext cx="58293" cy="425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996678" y="3219435"/>
            <a:ext cx="58293" cy="7426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054971" y="3210668"/>
            <a:ext cx="58293" cy="876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113264" y="3210668"/>
            <a:ext cx="58293" cy="7824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171557" y="3262125"/>
            <a:ext cx="58293" cy="2678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229850" y="3196053"/>
            <a:ext cx="58293" cy="6607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288143" y="3196053"/>
            <a:ext cx="58293" cy="568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346436" y="3252864"/>
            <a:ext cx="58293" cy="402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404729" y="3218017"/>
            <a:ext cx="58293" cy="7510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463022" y="3211888"/>
            <a:ext cx="58293" cy="612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521315" y="3211888"/>
            <a:ext cx="58293" cy="778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579608" y="3260513"/>
            <a:ext cx="58293" cy="2926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637901" y="3195921"/>
            <a:ext cx="58293" cy="6459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696194" y="3195921"/>
            <a:ext cx="58293" cy="5861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754487" y="3254536"/>
            <a:ext cx="58293" cy="379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812780" y="3216630"/>
            <a:ext cx="58293" cy="75863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871073" y="3213146"/>
            <a:ext cx="58293" cy="348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929366" y="3213146"/>
            <a:ext cx="58293" cy="7744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987659" y="3258885"/>
            <a:ext cx="58293" cy="317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8741664" y="2944368"/>
            <a:ext cx="2185416" cy="292608"/>
          </a:xfrm>
          <a:prstGeom prst="rect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503919" y="4096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243E55"/>
                </a:solidFill>
                <a:latin typeface="Noto Sans CJK SC"/>
              </a:defRPr>
            </a:pPr>
            <a:r>
              <a:t>微纳结构优势减弱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3986784" y="3337560"/>
            <a:ext cx="438912" cy="22860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ight Arrow 150"/>
          <p:cNvSpPr/>
          <p:nvPr/>
        </p:nvSpPr>
        <p:spPr>
          <a:xfrm>
            <a:off x="7763256" y="3337560"/>
            <a:ext cx="438912" cy="22860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4400" y="532180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23B69"/>
                </a:solidFill>
                <a:latin typeface="Noto Sans CJK SC"/>
              </a:defRPr>
            </a:pPr>
            <a:r>
              <a:t>结构尺度 → 成核与界面 → 晶相与润湿 → 光催化 / 光学性能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形貌与厚度仅作概念示意；最佳窗口需通过实验确定。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技术路线：由表面构筑走向结构—性能关联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以表征和性能反馈，迭代激光参数与沉积条件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研究方案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810512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964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1965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基底准备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7744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低铁超白光伏玻璃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清洗与基线测量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164592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36592" y="1810512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87964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181965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激光烧蚀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37744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功率 / 速度 / 间距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构筑微纳结构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75904" y="164592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810512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87964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81965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TiO₂ 沉积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37744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溅射条件 / 膜厚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必要时后处理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950208" y="2240280"/>
            <a:ext cx="438912" cy="256032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772400" y="2240280"/>
            <a:ext cx="438912" cy="256032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75904" y="388620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58784" y="4050791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411992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405993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结构表征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4504" y="461772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SEM / AFM / XRD / XPS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形貌、晶相、化学状态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388620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36592" y="4050791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11992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2" y="405993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功能评价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461772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润湿 / 防雾 / 光催化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透过率 / 雾度 / 耐久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86200"/>
            <a:ext cx="3072384" cy="15544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" y="4050791"/>
            <a:ext cx="384048" cy="384048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19920"/>
            <a:ext cx="384048" cy="23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059936"/>
            <a:ext cx="21122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关联与优化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617720"/>
            <a:ext cx="26151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结构保持 × 功能表现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筛选最优工艺窗口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9710928" y="3328416"/>
            <a:ext cx="320040" cy="384048"/>
          </a:xfrm>
          <a:prstGeom prst="down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ft Arrow 42"/>
          <p:cNvSpPr/>
          <p:nvPr/>
        </p:nvSpPr>
        <p:spPr>
          <a:xfrm>
            <a:off x="3950208" y="4480560"/>
            <a:ext cx="438912" cy="256032"/>
          </a:xfrm>
          <a:prstGeom prst="lef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 Arrow 43"/>
          <p:cNvSpPr/>
          <p:nvPr/>
        </p:nvSpPr>
        <p:spPr>
          <a:xfrm>
            <a:off x="7772400" y="4480560"/>
            <a:ext cx="438912" cy="256032"/>
          </a:xfrm>
          <a:prstGeom prst="lef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后处理需兼顾 TiO₂ 活性与玻璃基底、微纳结构稳定性，不预设固定退火温度。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双变量设计：激光结构 × TiO₂ 膜厚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先筛选低散射结构，再开展复合参数优化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实验设计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1920240"/>
            <a:ext cx="822960" cy="320040"/>
          </a:xfrm>
          <a:prstGeom prst="round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627632" y="2212848"/>
            <a:ext cx="228600" cy="731520"/>
          </a:xfrm>
          <a:prstGeom prst="triangl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960120" y="3017520"/>
            <a:ext cx="3383280" cy="41148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78992" y="3063239"/>
            <a:ext cx="78867" cy="4897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57859" y="3040984"/>
            <a:ext cx="78867" cy="7123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36726" y="3024376"/>
            <a:ext cx="78867" cy="1660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15593" y="3024376"/>
            <a:ext cx="78867" cy="7877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4460" y="3083966"/>
            <a:ext cx="78867" cy="191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73327" y="3013906"/>
            <a:ext cx="78867" cy="7006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2194" y="3013906"/>
            <a:ext cx="78867" cy="510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31061" y="3064930"/>
            <a:ext cx="78867" cy="4687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09928" y="3039480"/>
            <a:ext cx="78867" cy="723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88795" y="3025471"/>
            <a:ext cx="78867" cy="1400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67662" y="3025471"/>
            <a:ext cx="78867" cy="7869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46529" y="3082413"/>
            <a:ext cx="78867" cy="2174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25396" y="3013606"/>
            <a:ext cx="78867" cy="688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4263" y="3013606"/>
            <a:ext cx="78867" cy="5301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83130" y="3066620"/>
            <a:ext cx="78867" cy="4471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61997" y="3038004"/>
            <a:ext cx="78867" cy="7333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340864" y="3026609"/>
            <a:ext cx="78867" cy="1139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19731" y="3026609"/>
            <a:ext cx="78867" cy="7851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498598" y="3080839"/>
            <a:ext cx="78867" cy="2428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577465" y="3013361"/>
            <a:ext cx="78867" cy="6747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56332" y="3013361"/>
            <a:ext cx="78867" cy="5494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35199" y="3068305"/>
            <a:ext cx="78867" cy="425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814066" y="3036555"/>
            <a:ext cx="78867" cy="7426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892933" y="3027788"/>
            <a:ext cx="78867" cy="876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71800" y="3027788"/>
            <a:ext cx="78867" cy="7824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50667" y="3079245"/>
            <a:ext cx="78867" cy="2678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29534" y="3013173"/>
            <a:ext cx="78867" cy="6607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08401" y="3013173"/>
            <a:ext cx="78867" cy="568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87268" y="3069984"/>
            <a:ext cx="78867" cy="402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66135" y="3035137"/>
            <a:ext cx="78867" cy="7510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445002" y="3029008"/>
            <a:ext cx="78867" cy="612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23869" y="3029008"/>
            <a:ext cx="78867" cy="778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02736" y="3077633"/>
            <a:ext cx="78867" cy="2926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81603" y="3013041"/>
            <a:ext cx="78867" cy="6459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60470" y="3013041"/>
            <a:ext cx="78867" cy="5861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39337" y="3071656"/>
            <a:ext cx="78867" cy="379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18204" y="3033750"/>
            <a:ext cx="78867" cy="75863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97071" y="3030266"/>
            <a:ext cx="78866" cy="348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75937" y="3030266"/>
            <a:ext cx="78867" cy="7744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154805" y="3076005"/>
            <a:ext cx="78867" cy="317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490472" y="2788920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581912" y="2881252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673351" y="2888695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764792" y="2804404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56231" y="2705877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947672" y="2683699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39112" y="2758260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30552" y="2861009"/>
            <a:ext cx="45720" cy="45720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23B69"/>
                </a:solidFill>
                <a:latin typeface="Noto Sans CJK SC"/>
              </a:defRPr>
            </a:pPr>
            <a:r>
              <a:t>激光：预构筑微纳结构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18704" y="1920240"/>
            <a:ext cx="3090672" cy="164592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0" y="1572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3B69"/>
                </a:solidFill>
                <a:latin typeface="Noto Sans CJK SC"/>
              </a:defRPr>
            </a:pPr>
            <a:r>
              <a:t>TiO₂ 靶材</a:t>
            </a:r>
          </a:p>
        </p:txBody>
      </p:sp>
      <p:sp>
        <p:nvSpPr>
          <p:cNvPr id="64" name="Oval 63"/>
          <p:cNvSpPr/>
          <p:nvPr/>
        </p:nvSpPr>
        <p:spPr>
          <a:xfrm>
            <a:off x="8092440" y="2331720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8119871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321040" y="249631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8348471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549640" y="266090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5770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8778240" y="2331720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8056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006840" y="249631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90342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9235440" y="266090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2628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464040" y="2331720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4914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9692640" y="249631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7200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9921240" y="266090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9486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149840" y="2331720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1772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378440" y="2496312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04058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10607040" y="2660904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06344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10835640" y="2331720"/>
            <a:ext cx="64008" cy="64008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0863072" y="2569464"/>
            <a:ext cx="0" cy="283464"/>
          </a:xfrm>
          <a:prstGeom prst="line">
            <a:avLst/>
          </a:prstGeom>
          <a:ln w="1016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arallelogram 89"/>
          <p:cNvSpPr/>
          <p:nvPr/>
        </p:nvSpPr>
        <p:spPr>
          <a:xfrm>
            <a:off x="7772400" y="3017520"/>
            <a:ext cx="3383280" cy="41148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891272" y="3063239"/>
            <a:ext cx="78867" cy="4897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970139" y="3040984"/>
            <a:ext cx="78867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049006" y="3024376"/>
            <a:ext cx="78867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127873" y="3024376"/>
            <a:ext cx="78867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206740" y="3083966"/>
            <a:ext cx="78867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285607" y="3013906"/>
            <a:ext cx="78867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364474" y="3013906"/>
            <a:ext cx="78867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443341" y="3064930"/>
            <a:ext cx="78867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22208" y="3039480"/>
            <a:ext cx="78867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601075" y="3025471"/>
            <a:ext cx="78867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679942" y="3025471"/>
            <a:ext cx="78867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758809" y="3082413"/>
            <a:ext cx="78867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837676" y="3013606"/>
            <a:ext cx="78867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916543" y="3013606"/>
            <a:ext cx="78867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995410" y="3066620"/>
            <a:ext cx="78867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074277" y="3038004"/>
            <a:ext cx="78867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53144" y="3026609"/>
            <a:ext cx="78867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232011" y="3026609"/>
            <a:ext cx="78867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310878" y="3080839"/>
            <a:ext cx="78867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389745" y="3013361"/>
            <a:ext cx="78867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468612" y="3013361"/>
            <a:ext cx="78867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547479" y="3068305"/>
            <a:ext cx="78867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626346" y="3036555"/>
            <a:ext cx="78867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705213" y="3027788"/>
            <a:ext cx="78867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784080" y="3027788"/>
            <a:ext cx="78867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862947" y="3079245"/>
            <a:ext cx="78867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941814" y="3013173"/>
            <a:ext cx="78867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020681" y="3013173"/>
            <a:ext cx="78867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099548" y="3069984"/>
            <a:ext cx="78867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0178415" y="3035137"/>
            <a:ext cx="78867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0257282" y="3029008"/>
            <a:ext cx="78867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336149" y="3029008"/>
            <a:ext cx="78867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415016" y="3077633"/>
            <a:ext cx="78867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493883" y="3013041"/>
            <a:ext cx="78867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572750" y="3013041"/>
            <a:ext cx="78867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651617" y="3071656"/>
            <a:ext cx="78867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730484" y="3033750"/>
            <a:ext cx="78867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809351" y="3030266"/>
            <a:ext cx="78867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888218" y="3030266"/>
            <a:ext cx="78867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967085" y="3076005"/>
            <a:ext cx="78867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818120" y="36118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23B69"/>
                </a:solidFill>
                <a:latin typeface="Noto Sans CJK SC"/>
              </a:defRPr>
            </a:pPr>
            <a:r>
              <a:t>溅射：可控沉积功能膜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8680" y="420624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激光功率 / 能量密度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扫描速度 · 间距 · 次数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26679" y="420624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溅射功率 · Ar/O₂ 比例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沉积时间 · 基底温度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709160" y="1828800"/>
            <a:ext cx="2743200" cy="3337560"/>
          </a:xfrm>
          <a:prstGeom prst="round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937760" y="2176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建议膜厚梯度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74920" y="27706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20 nm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74920" y="31638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40 nm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074920" y="3557015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60 nm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74920" y="395020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80 nm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74920" y="43434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100 nm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20–100 nm 为初始探索范围；约 60 nm 仅作起始点，高折射率 TiO₂ 单层不保证增透。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四组对照，分离激光与薄膜的贡献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在同批基底与相同测量条件下，比较单独作用和复合效应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实验设计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72768"/>
            <a:ext cx="4800600" cy="182880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773936"/>
            <a:ext cx="59436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1051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G0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647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23B69"/>
                </a:solidFill>
                <a:latin typeface="Noto Sans CJK SC"/>
              </a:defRPr>
            </a:pPr>
            <a:r>
              <a:t>原始玻璃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1508760" y="2514600"/>
            <a:ext cx="3566160" cy="475488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72768"/>
            <a:ext cx="4800600" cy="182880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773936"/>
            <a:ext cx="59436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1051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G1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7647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23B69"/>
                </a:solidFill>
                <a:latin typeface="Noto Sans CJK SC"/>
              </a:defRPr>
            </a:pPr>
            <a:r>
              <a:t>仅激光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7040880" y="2514600"/>
            <a:ext cx="3566160" cy="475488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59752" y="2560320"/>
            <a:ext cx="83439" cy="4897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43191" y="2538064"/>
            <a:ext cx="83438" cy="7123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326629" y="2521456"/>
            <a:ext cx="83440" cy="1660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10069" y="2521456"/>
            <a:ext cx="83439" cy="7877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93508" y="2581046"/>
            <a:ext cx="83439" cy="191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576947" y="2510986"/>
            <a:ext cx="83439" cy="7006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60386" y="2510986"/>
            <a:ext cx="83439" cy="510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43825" y="2562010"/>
            <a:ext cx="83439" cy="4687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27264" y="2536560"/>
            <a:ext cx="83439" cy="7232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10703" y="2522551"/>
            <a:ext cx="83439" cy="1400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94142" y="2522551"/>
            <a:ext cx="83439" cy="78690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077581" y="2579493"/>
            <a:ext cx="83439" cy="2174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161020" y="2510686"/>
            <a:ext cx="83439" cy="688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4458" y="2510686"/>
            <a:ext cx="83440" cy="5301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7898" y="2563700"/>
            <a:ext cx="83439" cy="4471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11337" y="2535084"/>
            <a:ext cx="83439" cy="7333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94776" y="2523689"/>
            <a:ext cx="83439" cy="1139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78215" y="2523689"/>
            <a:ext cx="83439" cy="7851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661654" y="2577919"/>
            <a:ext cx="83439" cy="2428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45093" y="2510441"/>
            <a:ext cx="83439" cy="6747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28532" y="2510441"/>
            <a:ext cx="83439" cy="5494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11971" y="2565385"/>
            <a:ext cx="83439" cy="425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995410" y="2533635"/>
            <a:ext cx="83439" cy="7426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078849" y="2524868"/>
            <a:ext cx="83439" cy="876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62288" y="2524868"/>
            <a:ext cx="83439" cy="7824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45727" y="2576325"/>
            <a:ext cx="83439" cy="26788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329166" y="2510253"/>
            <a:ext cx="83439" cy="6607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12605" y="2510253"/>
            <a:ext cx="83439" cy="56811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496044" y="2567064"/>
            <a:ext cx="83439" cy="402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579483" y="2532217"/>
            <a:ext cx="83439" cy="7510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662922" y="2526088"/>
            <a:ext cx="83439" cy="612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46361" y="2526088"/>
            <a:ext cx="83439" cy="77889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829800" y="2574713"/>
            <a:ext cx="83439" cy="2926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913239" y="2510121"/>
            <a:ext cx="83439" cy="64592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996678" y="2510121"/>
            <a:ext cx="83439" cy="58615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080117" y="2568736"/>
            <a:ext cx="83439" cy="3795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163556" y="2530830"/>
            <a:ext cx="83439" cy="75863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246995" y="2527346"/>
            <a:ext cx="83439" cy="3484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330434" y="2527346"/>
            <a:ext cx="83439" cy="77446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413873" y="2573085"/>
            <a:ext cx="83439" cy="31707"/>
          </a:xfrm>
          <a:prstGeom prst="line">
            <a:avLst/>
          </a:prstGeom>
          <a:ln w="1905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14400" y="3675887"/>
            <a:ext cx="4800600" cy="182880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143000" y="3877055"/>
            <a:ext cx="59436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3000" y="3913631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G2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386791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23B69"/>
                </a:solidFill>
                <a:latin typeface="Noto Sans CJK SC"/>
              </a:defRPr>
            </a:pPr>
            <a:r>
              <a:t>仅 TiO₂</a:t>
            </a:r>
          </a:p>
        </p:txBody>
      </p:sp>
      <p:sp>
        <p:nvSpPr>
          <p:cNvPr id="64" name="Parallelogram 63"/>
          <p:cNvSpPr/>
          <p:nvPr/>
        </p:nvSpPr>
        <p:spPr>
          <a:xfrm>
            <a:off x="1508760" y="4617720"/>
            <a:ext cx="3566160" cy="475488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636776" y="4663440"/>
            <a:ext cx="3337560" cy="0"/>
          </a:xfrm>
          <a:prstGeom prst="line">
            <a:avLst/>
          </a:prstGeom>
          <a:ln w="508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446520" y="3675887"/>
            <a:ext cx="4800600" cy="182880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75120" y="3877055"/>
            <a:ext cx="594360" cy="338328"/>
          </a:xfrm>
          <a:prstGeom prst="roundRect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913631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G3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386791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23B69"/>
                </a:solidFill>
                <a:latin typeface="Noto Sans CJK SC"/>
              </a:defRPr>
            </a:pPr>
            <a:r>
              <a:t>激光 + TiO₂</a:t>
            </a:r>
          </a:p>
        </p:txBody>
      </p:sp>
      <p:sp>
        <p:nvSpPr>
          <p:cNvPr id="70" name="Parallelogram 69"/>
          <p:cNvSpPr/>
          <p:nvPr/>
        </p:nvSpPr>
        <p:spPr>
          <a:xfrm>
            <a:off x="7040880" y="4617720"/>
            <a:ext cx="3566160" cy="475488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7159752" y="4663440"/>
            <a:ext cx="83439" cy="4897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243191" y="4641184"/>
            <a:ext cx="83438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26629" y="4624576"/>
            <a:ext cx="83440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10069" y="4624576"/>
            <a:ext cx="83439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493508" y="4684166"/>
            <a:ext cx="83439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576947" y="4614106"/>
            <a:ext cx="83439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0386" y="4614106"/>
            <a:ext cx="83439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43825" y="4665130"/>
            <a:ext cx="83439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827264" y="4639680"/>
            <a:ext cx="83439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910703" y="4625671"/>
            <a:ext cx="83439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994142" y="4625671"/>
            <a:ext cx="83439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077581" y="4682613"/>
            <a:ext cx="83439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161020" y="4613806"/>
            <a:ext cx="83439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244458" y="4613806"/>
            <a:ext cx="83440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327898" y="4666820"/>
            <a:ext cx="83439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411337" y="4638204"/>
            <a:ext cx="83439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494776" y="4626809"/>
            <a:ext cx="83439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578215" y="4626809"/>
            <a:ext cx="83439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661654" y="4681039"/>
            <a:ext cx="83439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745093" y="4613561"/>
            <a:ext cx="83439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828532" y="4613561"/>
            <a:ext cx="83439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911971" y="4668505"/>
            <a:ext cx="83439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95410" y="4636755"/>
            <a:ext cx="83439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078849" y="4627988"/>
            <a:ext cx="83439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62288" y="4627988"/>
            <a:ext cx="83439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245727" y="4679445"/>
            <a:ext cx="83439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329166" y="4613373"/>
            <a:ext cx="83439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412605" y="4613373"/>
            <a:ext cx="83439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96044" y="4670184"/>
            <a:ext cx="83439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579483" y="4635337"/>
            <a:ext cx="83439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662922" y="4629208"/>
            <a:ext cx="83439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46361" y="4629208"/>
            <a:ext cx="83439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829800" y="4677833"/>
            <a:ext cx="83439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13239" y="4613241"/>
            <a:ext cx="83439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96678" y="4613241"/>
            <a:ext cx="83439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80117" y="4671856"/>
            <a:ext cx="83439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163556" y="4633950"/>
            <a:ext cx="83439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246995" y="4630466"/>
            <a:ext cx="83439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330434" y="4630466"/>
            <a:ext cx="83439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413873" y="4676205"/>
            <a:ext cx="83439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6868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968AD"/>
                </a:solidFill>
                <a:latin typeface="Noto Sans CJK SC"/>
              </a:defRPr>
            </a:pPr>
            <a:r>
              <a:t>判据：联合评价四组结果；用双因素设计检验交互效应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防雾机理：从离散雾滴转向连续透明水膜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超亲水表面促进冷凝水铺展，降低雾滴引起的光散射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预期机理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09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27632"/>
            <a:ext cx="4892040" cy="36118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4708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23B69"/>
                </a:solidFill>
                <a:latin typeface="Noto Sans CJK SC"/>
              </a:defRPr>
            </a:pPr>
            <a:r>
              <a:t>普通玻璃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1207008" y="3995928"/>
            <a:ext cx="4114800" cy="45720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40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75104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87168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9232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11296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0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35424" y="3657600"/>
            <a:ext cx="320040" cy="32004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737360" y="2697480"/>
            <a:ext cx="0" cy="923544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417319" y="3154680"/>
            <a:ext cx="320041" cy="46634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37360" y="3291840"/>
            <a:ext cx="292607" cy="32918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60320" y="2697480"/>
            <a:ext cx="0" cy="923544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240279" y="3154680"/>
            <a:ext cx="320041" cy="46634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60320" y="3291840"/>
            <a:ext cx="292607" cy="32918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2697480"/>
            <a:ext cx="0" cy="923544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063240" y="3154680"/>
            <a:ext cx="320040" cy="46634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383280" y="3291840"/>
            <a:ext cx="292608" cy="32918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06240" y="2697480"/>
            <a:ext cx="0" cy="923544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886200" y="3154680"/>
            <a:ext cx="320040" cy="46634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206240" y="3291840"/>
            <a:ext cx="292608" cy="329184"/>
          </a:xfrm>
          <a:prstGeom prst="line">
            <a:avLst/>
          </a:prstGeom>
          <a:ln w="20320">
            <a:solidFill>
              <a:srgbClr val="B6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71600" y="46085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627C90"/>
                </a:solidFill>
                <a:latin typeface="Noto Sans CJK SC"/>
              </a:defRPr>
            </a:pPr>
            <a:r>
              <a:t>离散雾滴 → 界面散射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627632"/>
            <a:ext cx="4892040" cy="361188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84708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23B69"/>
                </a:solidFill>
                <a:latin typeface="Noto Sans CJK SC"/>
              </a:defRPr>
            </a:pPr>
            <a:r>
              <a:t>复合功能表面</a:t>
            </a:r>
          </a:p>
        </p:txBody>
      </p:sp>
      <p:sp>
        <p:nvSpPr>
          <p:cNvPr id="35" name="Parallelogram 34"/>
          <p:cNvSpPr/>
          <p:nvPr/>
        </p:nvSpPr>
        <p:spPr>
          <a:xfrm>
            <a:off x="6784848" y="3995928"/>
            <a:ext cx="4114800" cy="457200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903720" y="4041648"/>
            <a:ext cx="97155" cy="4897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000875" y="4019392"/>
            <a:ext cx="97155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8030" y="4002784"/>
            <a:ext cx="97155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95184" y="4002784"/>
            <a:ext cx="97156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92340" y="4062374"/>
            <a:ext cx="97154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89495" y="3992314"/>
            <a:ext cx="97155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86650" y="3992314"/>
            <a:ext cx="97154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83804" y="4043338"/>
            <a:ext cx="97155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80960" y="4017888"/>
            <a:ext cx="97155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778115" y="4003879"/>
            <a:ext cx="97154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75270" y="4003879"/>
            <a:ext cx="97155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972425" y="4060821"/>
            <a:ext cx="97154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069579" y="3992014"/>
            <a:ext cx="97155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66735" y="3992014"/>
            <a:ext cx="97155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3890" y="4045028"/>
            <a:ext cx="97154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361045" y="4016412"/>
            <a:ext cx="97155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58200" y="4005017"/>
            <a:ext cx="97155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55355" y="4005017"/>
            <a:ext cx="97154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652510" y="4059247"/>
            <a:ext cx="97155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49665" y="3991769"/>
            <a:ext cx="97154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846820" y="3991769"/>
            <a:ext cx="97155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43975" y="4046713"/>
            <a:ext cx="97155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41130" y="4014963"/>
            <a:ext cx="97154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38285" y="4006196"/>
            <a:ext cx="97155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35440" y="4006196"/>
            <a:ext cx="97154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332595" y="4057653"/>
            <a:ext cx="97155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429750" y="3991581"/>
            <a:ext cx="97155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26905" y="3991581"/>
            <a:ext cx="97154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24060" y="4048392"/>
            <a:ext cx="97155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721215" y="4013545"/>
            <a:ext cx="97154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818370" y="4007416"/>
            <a:ext cx="97155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915525" y="4007416"/>
            <a:ext cx="97155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012680" y="4056041"/>
            <a:ext cx="97154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09835" y="3991449"/>
            <a:ext cx="97155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206990" y="3991449"/>
            <a:ext cx="97154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304145" y="4050064"/>
            <a:ext cx="97155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401300" y="4012158"/>
            <a:ext cx="97155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498455" y="4008674"/>
            <a:ext cx="97154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595609" y="4008674"/>
            <a:ext cx="97155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692765" y="4054413"/>
            <a:ext cx="97154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967728" y="3822191"/>
            <a:ext cx="3749039" cy="128016"/>
          </a:xfrm>
          <a:prstGeom prst="rect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46085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968AD"/>
                </a:solidFill>
                <a:latin typeface="Noto Sans CJK SC"/>
              </a:defRPr>
            </a:pPr>
            <a:r>
              <a:t>水滴铺展 → 连续水膜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315200" y="2697480"/>
            <a:ext cx="0" cy="1033272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138160" y="2697480"/>
            <a:ext cx="0" cy="1033272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961120" y="2697480"/>
            <a:ext cx="0" cy="1033272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784080" y="2697480"/>
            <a:ext cx="0" cy="1033272"/>
          </a:xfrm>
          <a:prstGeom prst="line">
            <a:avLst/>
          </a:prstGeom>
          <a:ln w="25400">
            <a:solidFill>
              <a:srgbClr val="19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ight Arrow 81"/>
          <p:cNvSpPr/>
          <p:nvPr/>
        </p:nvSpPr>
        <p:spPr>
          <a:xfrm>
            <a:off x="5852160" y="3291840"/>
            <a:ext cx="411480" cy="27432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5595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243E55"/>
                </a:solidFill>
                <a:latin typeface="Noto Sans CJK SC"/>
              </a:defRPr>
            </a:pPr>
            <a:r>
              <a:t>验证：热蒸汽 / 冷热循环 → 观察清晰度、铺展时间与雾度变化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自清洁机理：光催化分解 + 亲水冲洗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有机污染与颗粒污染分别评价，避免用单一实验代替实际表现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预期机理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27632"/>
            <a:ext cx="6629400" cy="4023360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1207008" y="4636008"/>
            <a:ext cx="5715000" cy="475488"/>
          </a:xfrm>
          <a:prstGeom prst="parallelogram">
            <a:avLst/>
          </a:prstGeom>
          <a:solidFill>
            <a:srgbClr val="D7EAF4"/>
          </a:solidFill>
          <a:ln>
            <a:solidFill>
              <a:srgbClr val="9DB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325880" y="4681728"/>
            <a:ext cx="137160" cy="4897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63040" y="4659472"/>
            <a:ext cx="137160" cy="7123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00200" y="4642864"/>
            <a:ext cx="137160" cy="1660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4642864"/>
            <a:ext cx="137160" cy="7877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74520" y="4702454"/>
            <a:ext cx="137160" cy="191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11680" y="4632394"/>
            <a:ext cx="137160" cy="7006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48840" y="4632394"/>
            <a:ext cx="137160" cy="510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0" y="4683418"/>
            <a:ext cx="137160" cy="4687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423160" y="4657968"/>
            <a:ext cx="137160" cy="7232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60320" y="4643959"/>
            <a:ext cx="137160" cy="1400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97480" y="4643959"/>
            <a:ext cx="137160" cy="78690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34640" y="4700901"/>
            <a:ext cx="137160" cy="2174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71800" y="4632094"/>
            <a:ext cx="137160" cy="688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08960" y="4632094"/>
            <a:ext cx="137160" cy="5301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46120" y="4685108"/>
            <a:ext cx="137160" cy="4471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383280" y="4656492"/>
            <a:ext cx="137160" cy="7333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520440" y="4645097"/>
            <a:ext cx="137160" cy="1139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57600" y="4645097"/>
            <a:ext cx="137160" cy="7851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794760" y="4699327"/>
            <a:ext cx="137160" cy="2428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31920" y="4631849"/>
            <a:ext cx="137160" cy="6747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69080" y="4631849"/>
            <a:ext cx="137160" cy="5494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06240" y="4686793"/>
            <a:ext cx="137160" cy="425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43400" y="4655043"/>
            <a:ext cx="137160" cy="7426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480560" y="4646276"/>
            <a:ext cx="137160" cy="876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617720" y="4646276"/>
            <a:ext cx="137160" cy="7824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754880" y="4697733"/>
            <a:ext cx="137160" cy="26788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92040" y="4631661"/>
            <a:ext cx="137160" cy="6607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29200" y="4631661"/>
            <a:ext cx="137160" cy="56811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66360" y="4688472"/>
            <a:ext cx="137160" cy="402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03520" y="4653625"/>
            <a:ext cx="137160" cy="7510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440680" y="4647496"/>
            <a:ext cx="137160" cy="612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77840" y="4647496"/>
            <a:ext cx="137160" cy="77889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15000" y="4696121"/>
            <a:ext cx="137160" cy="2926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852160" y="4631529"/>
            <a:ext cx="137160" cy="64592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89320" y="4631529"/>
            <a:ext cx="137160" cy="58615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26480" y="4690144"/>
            <a:ext cx="137160" cy="3795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263640" y="4652238"/>
            <a:ext cx="137160" cy="75863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0" y="4648754"/>
            <a:ext cx="137160" cy="3484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537960" y="4648754"/>
            <a:ext cx="137160" cy="77446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675120" y="4694493"/>
            <a:ext cx="137160" cy="31707"/>
          </a:xfrm>
          <a:prstGeom prst="line">
            <a:avLst/>
          </a:prstGeom>
          <a:ln w="38100">
            <a:solidFill>
              <a:srgbClr val="22A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43000" y="1874519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23B69"/>
                </a:solidFill>
                <a:latin typeface="Noto Sans CJK SC"/>
              </a:defRPr>
            </a:pPr>
            <a:r>
              <a:t>光照激发 TiO₂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508760" y="2624328"/>
            <a:ext cx="320040" cy="914400"/>
          </a:xfrm>
          <a:prstGeom prst="downArrow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4440" y="23317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E9A14D"/>
                </a:solidFill>
                <a:latin typeface="Noto Sans CJK SC"/>
              </a:defRPr>
            </a:pPr>
            <a:r>
              <a:t>hν</a:t>
            </a:r>
          </a:p>
        </p:txBody>
      </p:sp>
      <p:sp>
        <p:nvSpPr>
          <p:cNvPr id="55" name="Oval 54"/>
          <p:cNvSpPr/>
          <p:nvPr/>
        </p:nvSpPr>
        <p:spPr>
          <a:xfrm>
            <a:off x="2743200" y="3291840"/>
            <a:ext cx="640080" cy="64008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340705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e⁻</a:t>
            </a:r>
          </a:p>
        </p:txBody>
      </p:sp>
      <p:sp>
        <p:nvSpPr>
          <p:cNvPr id="57" name="Oval 56"/>
          <p:cNvSpPr/>
          <p:nvPr/>
        </p:nvSpPr>
        <p:spPr>
          <a:xfrm>
            <a:off x="4069080" y="3291840"/>
            <a:ext cx="640080" cy="64008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40705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h⁺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67712" y="40965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活性物种 → 有机污染降解</a:t>
            </a:r>
          </a:p>
        </p:txBody>
      </p:sp>
      <p:sp>
        <p:nvSpPr>
          <p:cNvPr id="60" name="Oval 59"/>
          <p:cNvSpPr/>
          <p:nvPr/>
        </p:nvSpPr>
        <p:spPr>
          <a:xfrm>
            <a:off x="5760720" y="292608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989320" y="292608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17920" y="292608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20" y="320040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989320" y="320040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17920" y="320040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760720" y="347472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989320" y="347472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17920" y="3474720"/>
            <a:ext cx="109728" cy="109728"/>
          </a:xfrm>
          <a:prstGeom prst="ellipse">
            <a:avLst/>
          </a:prstGeom>
          <a:solidFill>
            <a:srgbClr val="E9A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>
            <a:off x="4956048" y="3520440"/>
            <a:ext cx="502920" cy="256032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818120" y="1627632"/>
            <a:ext cx="3593592" cy="1709928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0" y="1801368"/>
            <a:ext cx="3136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光催化通道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359152"/>
            <a:ext cx="313639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染料降解：设置暗吸附、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空白及光照对照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18120" y="3611880"/>
            <a:ext cx="3593592" cy="2039112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0" y="3785616"/>
            <a:ext cx="3136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亲水冲洗通道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4343400"/>
            <a:ext cx="3136392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人工粉尘 + 定量冲洗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比较残留污染与透光恢复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59618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27C90"/>
                </a:solidFill>
                <a:latin typeface="Noto Sans CJK SC"/>
              </a:defRPr>
            </a:pPr>
            <a:r>
              <a:t>TiO₂ 活性取决于晶相、表面化学与光谱；此处为预期机理，不代表已验证。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建立证据链，同时约束三项技术风险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微观表征回答“为什么”，性能测试回答“是否有效”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评价与风险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11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27632"/>
            <a:ext cx="2688336" cy="1874519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01368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形貌 / 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22311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SEM · AFM · 膜厚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覆盖程度与粗糙度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456" y="1627632"/>
            <a:ext cx="2688336" cy="1874519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801368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晶相 / 化学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359152"/>
            <a:ext cx="22311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XRD · XPS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TiO₂ 晶相与表面羟基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627632"/>
            <a:ext cx="2688336" cy="1874519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801368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功能 / 光学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359152"/>
            <a:ext cx="22311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接触角 · 防雾 · 催化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UV-Vis · Haze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0888" y="1627632"/>
            <a:ext cx="2688336" cy="1874519"/>
          </a:xfrm>
          <a:prstGeom prst="round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1801368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23B69"/>
                </a:solidFill>
                <a:latin typeface="Noto Sans CJK SC"/>
              </a:defRPr>
            </a:pPr>
            <a:r>
              <a:t>结合 / 耐久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359152"/>
            <a:ext cx="22311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划痕 · 胶带 · 摩擦</a:t>
            </a:r>
          </a:p>
          <a:p>
            <a:pPr>
              <a:spcAft>
                <a:spcPts val="400"/>
              </a:spcAft>
              <a:defRPr sz="1400" b="0">
                <a:solidFill>
                  <a:srgbClr val="627C90"/>
                </a:solidFill>
                <a:latin typeface="Noto Sans CJK SC"/>
              </a:defRPr>
            </a:pPr>
            <a:r>
              <a:t>浸水 · UV · 冷热循环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23B69"/>
                </a:solidFill>
                <a:latin typeface="Noto Sans CJK SC"/>
              </a:defRPr>
            </a:pPr>
            <a:r>
              <a:t>风险与应对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407408"/>
            <a:ext cx="164592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443984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散射过强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7480" y="4462272"/>
            <a:ext cx="347472" cy="18288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4407408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降低烧蚀强度，优化结构尺度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855464"/>
            <a:ext cx="164592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9204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结构被填平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697480" y="4910328"/>
            <a:ext cx="347472" cy="18288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85546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减小膜厚，控制沉积覆盖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5303520"/>
            <a:ext cx="1645920" cy="338328"/>
          </a:xfrm>
          <a:prstGeom prst="round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340096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光催化活性不足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697480" y="5358384"/>
            <a:ext cx="347472" cy="182880"/>
          </a:xfrm>
          <a:prstGeom prst="rightArrow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53035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43E55"/>
                </a:solidFill>
                <a:latin typeface="Noto Sans CJK SC"/>
              </a:defRPr>
            </a:pPr>
            <a:r>
              <a:t>优化氧分压与后处理条件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" cy="6748272"/>
          </a:xfrm>
          <a:prstGeom prst="rect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5661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23B69"/>
                </a:solidFill>
                <a:latin typeface="Noto Sans CJK SC"/>
              </a:defRPr>
            </a:pPr>
            <a:r>
              <a:t>实施路径与预期贡献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按阶段建立工艺窗口，最终回到结构—性能关系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38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1968AD"/>
                </a:solidFill>
                <a:latin typeface="Noto Sans CJK SC"/>
              </a:defRPr>
            </a:pPr>
            <a:r>
              <a:t>研究计划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91656"/>
            <a:ext cx="11091672" cy="0"/>
          </a:xfrm>
          <a:prstGeom prst="line">
            <a:avLst/>
          </a:prstGeom>
          <a:ln w="127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27C90"/>
                </a:solidFill>
                <a:latin typeface="Noto Sans CJK SC"/>
              </a:defRPr>
            </a:pPr>
            <a:r>
              <a:t>光伏玻璃功能界面研究  /  研究方案 · 示意图非实验数据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968AD"/>
                </a:solidFill>
                <a:latin typeface="Noto Sans CJK SC"/>
              </a:defRPr>
            </a:pPr>
            <a:r>
              <a:t>12 / 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2240280"/>
            <a:ext cx="9829800" cy="0"/>
          </a:xfrm>
          <a:prstGeom prst="line">
            <a:avLst/>
          </a:prstGeom>
          <a:ln w="76200">
            <a:solidFill>
              <a:srgbClr val="DCEC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97280" y="1947672"/>
            <a:ext cx="594360" cy="59436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文献与激光筛选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建立低散射结构窗口</a:t>
            </a:r>
          </a:p>
        </p:txBody>
      </p:sp>
      <p:sp>
        <p:nvSpPr>
          <p:cNvPr id="15" name="Oval 14"/>
          <p:cNvSpPr/>
          <p:nvPr/>
        </p:nvSpPr>
        <p:spPr>
          <a:xfrm>
            <a:off x="2999232" y="1947672"/>
            <a:ext cx="594360" cy="59436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TiO₂ 沉积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确定成膜与活性条件</a:t>
            </a:r>
          </a:p>
        </p:txBody>
      </p:sp>
      <p:sp>
        <p:nvSpPr>
          <p:cNvPr id="19" name="Oval 18"/>
          <p:cNvSpPr/>
          <p:nvPr/>
        </p:nvSpPr>
        <p:spPr>
          <a:xfrm>
            <a:off x="4901183" y="1947672"/>
            <a:ext cx="594360" cy="59436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3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复合参数优化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结构尺度 × 膜厚</a:t>
            </a:r>
          </a:p>
        </p:txBody>
      </p:sp>
      <p:sp>
        <p:nvSpPr>
          <p:cNvPr id="23" name="Oval 22"/>
          <p:cNvSpPr/>
          <p:nvPr/>
        </p:nvSpPr>
        <p:spPr>
          <a:xfrm>
            <a:off x="6803136" y="1947672"/>
            <a:ext cx="594360" cy="59436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性能与机理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建立形貌—功能联系</a:t>
            </a:r>
          </a:p>
        </p:txBody>
      </p:sp>
      <p:sp>
        <p:nvSpPr>
          <p:cNvPr id="27" name="Oval 26"/>
          <p:cNvSpPr/>
          <p:nvPr/>
        </p:nvSpPr>
        <p:spPr>
          <a:xfrm>
            <a:off x="8705088" y="1947672"/>
            <a:ext cx="594360" cy="594360"/>
          </a:xfrm>
          <a:prstGeom prst="ellipse">
            <a:avLst/>
          </a:prstGeom>
          <a:solidFill>
            <a:srgbClr val="19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5088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耐久评价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验证稳定性与失效</a:t>
            </a:r>
          </a:p>
        </p:txBody>
      </p:sp>
      <p:sp>
        <p:nvSpPr>
          <p:cNvPr id="31" name="Oval 30"/>
          <p:cNvSpPr/>
          <p:nvPr/>
        </p:nvSpPr>
        <p:spPr>
          <a:xfrm>
            <a:off x="10607040" y="1947672"/>
            <a:ext cx="594360" cy="594360"/>
          </a:xfrm>
          <a:prstGeom prst="ellipse">
            <a:avLst/>
          </a:prstGeom>
          <a:solidFill>
            <a:srgbClr val="22A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2054656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7614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3B69"/>
                </a:solidFill>
                <a:latin typeface="Noto Sans CJK SC"/>
              </a:defRPr>
            </a:pPr>
            <a:r>
              <a:t>关联与总结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56616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27C90"/>
                </a:solidFill>
                <a:latin typeface="Noto Sans CJK SC"/>
              </a:defRPr>
            </a:pPr>
            <a:r>
              <a:t>形成结构—性能模型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681728"/>
            <a:ext cx="10643616" cy="960120"/>
          </a:xfrm>
          <a:prstGeom prst="roundRect">
            <a:avLst/>
          </a:prstGeom>
          <a:solidFill>
            <a:srgbClr val="12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4919472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预期贡献：揭示先激光、后沉积体系中的结构保持与界面协同规律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968AD"/>
                </a:solidFill>
                <a:latin typeface="Noto Sans CJK SC"/>
              </a:defRPr>
            </a:pPr>
            <a:r>
              <a:t>感谢各位老师指导  ·  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