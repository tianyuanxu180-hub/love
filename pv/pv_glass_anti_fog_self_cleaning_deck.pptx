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36"/>
  </p:notesMasterIdLst>
  <p:sldIdLst>
    <p:sldId id="2007581962" r:id="rId2"/>
    <p:sldId id="2007581898" r:id="rId3"/>
    <p:sldId id="2007581900" r:id="rId4"/>
    <p:sldId id="2007581970" r:id="rId9"/>
    <p:sldId id="2007581987" r:id="rId13"/>
    <p:sldId id="2007582008" r:id="rId18"/>
    <p:sldId id="2007582010" r:id="rId19"/>
    <p:sldId id="2007581971" r:id="rId22"/>
    <p:sldId id="2007581998" r:id="rId27"/>
    <p:sldId id="2007581991" r:id="rId32"/>
    <p:sldId id="2007581995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9004C5A-FA8F-418F-8524-D67CFA3FDAAF}">
          <p14:sldIdLst>
            <p14:sldId id="2007581962"/>
            <p14:sldId id="2007581898"/>
            <p14:sldId id="2007581900"/>
            <p14:sldId id="2007581982"/>
            <p14:sldId id="2007581969"/>
            <p14:sldId id="2007582000"/>
            <p14:sldId id="2007581978"/>
            <p14:sldId id="2007581970"/>
            <p14:sldId id="2007582001"/>
            <p14:sldId id="2007581985"/>
            <p14:sldId id="2007581986"/>
            <p14:sldId id="2007581987"/>
            <p14:sldId id="2007581981"/>
            <p14:sldId id="2007582002"/>
            <p14:sldId id="2007582012"/>
            <p14:sldId id="2007582011"/>
            <p14:sldId id="2007582008"/>
            <p14:sldId id="2007582010"/>
            <p14:sldId id="2007582005"/>
            <p14:sldId id="2007582004"/>
            <p14:sldId id="2007581971"/>
            <p14:sldId id="2007581988"/>
            <p14:sldId id="2007581989"/>
            <p14:sldId id="2007581996"/>
            <p14:sldId id="2007581997"/>
            <p14:sldId id="2007581998"/>
            <p14:sldId id="2007581999"/>
            <p14:sldId id="2007581972"/>
            <p14:sldId id="2007582007"/>
            <p14:sldId id="2007581973"/>
            <p14:sldId id="2007581991"/>
            <p14:sldId id="2007581974"/>
            <p14:sldId id="2007581992"/>
            <p14:sldId id="20075819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EEF3FC"/>
    <a:srgbClr val="F5F8FD"/>
    <a:srgbClr val="022F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56" autoAdjust="0"/>
    <p:restoredTop sz="94660"/>
  </p:normalViewPr>
  <p:slideViewPr>
    <p:cSldViewPr>
      <p:cViewPr varScale="1">
        <p:scale>
          <a:sx n="78" d="100"/>
          <a:sy n="78" d="100"/>
        </p:scale>
        <p:origin x="106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2600"/>
    </p:cViewPr>
  </p:sorterViewPr>
  <p:gridSpacing cx="108000" cy="108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9" Type="http://schemas.openxmlformats.org/officeDocument/2006/relationships/slide" Target="slides/slide4.xml"/><Relationship Id="rId13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2" Type="http://schemas.openxmlformats.org/officeDocument/2006/relationships/slide" Target="slides/slide8.xml"/><Relationship Id="rId27" Type="http://schemas.openxmlformats.org/officeDocument/2006/relationships/slide" Target="slides/slide9.xml"/><Relationship Id="rId32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D0ED8-524F-47E4-828B-F874E211168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BE12A-7341-47AC-B861-0994D8CB3F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34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BDF07-E348-083C-FE68-C04A2E61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4FEAE7-D69C-06C4-B13C-205035CAE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89E510-5477-CD44-79F8-6CC023D5F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229C7D-D442-C110-4D87-D1E3A6065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BBE12A-7341-47AC-B861-0994D8CB3F1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2923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55815-3722-4299-0A5B-EE91E3B7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507198-D6F1-BAD0-4F69-7BE5A6027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2C822D-8591-728D-217F-C3C5CB837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123E43-9A4D-5E65-BCD1-17C414BC1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BBE12A-7341-47AC-B861-0994D8CB3F1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78247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35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A4FDAB71-3EB9-DF4F-370D-8C17246CE090}"/>
              </a:ext>
            </a:extLst>
          </p:cNvPr>
          <p:cNvGrpSpPr/>
          <p:nvPr userDrawn="1"/>
        </p:nvGrpSpPr>
        <p:grpSpPr>
          <a:xfrm>
            <a:off x="-30421" y="480965"/>
            <a:ext cx="362021" cy="296275"/>
            <a:chOff x="-5864720" y="822384"/>
            <a:chExt cx="362021" cy="126522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7D50723-B457-B971-42A5-2083EEA7B5E4}"/>
                </a:ext>
              </a:extLst>
            </p:cNvPr>
            <p:cNvSpPr/>
            <p:nvPr/>
          </p:nvSpPr>
          <p:spPr>
            <a:xfrm>
              <a:off x="-5864720" y="822384"/>
              <a:ext cx="274804" cy="1265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DBE218B-AE9F-565F-B8C5-53A6450EC4C8}"/>
                </a:ext>
              </a:extLst>
            </p:cNvPr>
            <p:cNvSpPr/>
            <p:nvPr/>
          </p:nvSpPr>
          <p:spPr>
            <a:xfrm>
              <a:off x="-5548418" y="822384"/>
              <a:ext cx="45719" cy="126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45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42388CB-10AB-A20F-6FA5-4D39C7F7EA85}"/>
              </a:ext>
            </a:extLst>
          </p:cNvPr>
          <p:cNvGrpSpPr/>
          <p:nvPr userDrawn="1"/>
        </p:nvGrpSpPr>
        <p:grpSpPr>
          <a:xfrm>
            <a:off x="-30421" y="480965"/>
            <a:ext cx="362021" cy="296275"/>
            <a:chOff x="-5864720" y="822384"/>
            <a:chExt cx="362021" cy="12652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80CA61A-8CFB-EF76-C0D8-9467112C13EA}"/>
                </a:ext>
              </a:extLst>
            </p:cNvPr>
            <p:cNvSpPr/>
            <p:nvPr/>
          </p:nvSpPr>
          <p:spPr>
            <a:xfrm>
              <a:off x="-5864720" y="822384"/>
              <a:ext cx="274804" cy="1265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2E980DA-6346-4C94-9A1E-1D55D6D46783}"/>
                </a:ext>
              </a:extLst>
            </p:cNvPr>
            <p:cNvSpPr/>
            <p:nvPr/>
          </p:nvSpPr>
          <p:spPr>
            <a:xfrm>
              <a:off x="-5548418" y="822384"/>
              <a:ext cx="45719" cy="126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82997F4-4146-A6C7-B61E-7BB1B71C9777}"/>
              </a:ext>
            </a:extLst>
          </p:cNvPr>
          <p:cNvCxnSpPr>
            <a:cxnSpLocks/>
            <a:stCxn id="10" idx="3"/>
          </p:cNvCxnSpPr>
          <p:nvPr userDrawn="1"/>
        </p:nvCxnSpPr>
        <p:spPr>
          <a:xfrm flipH="1" flipV="1">
            <a:off x="502414" y="941565"/>
            <a:ext cx="11173649" cy="31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4423A1E9-7EA3-7B18-1DAF-C7E50C2F3CE9}"/>
              </a:ext>
            </a:extLst>
          </p:cNvPr>
          <p:cNvGrpSpPr/>
          <p:nvPr userDrawn="1"/>
        </p:nvGrpSpPr>
        <p:grpSpPr>
          <a:xfrm flipH="1">
            <a:off x="4236576" y="853613"/>
            <a:ext cx="7439487" cy="88272"/>
            <a:chOff x="609599" y="853436"/>
            <a:chExt cx="10368631" cy="175264"/>
          </a:xfrm>
        </p:grpSpPr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B24C54B8-3BDA-5DA2-F80D-7E5950567557}"/>
                </a:ext>
              </a:extLst>
            </p:cNvPr>
            <p:cNvSpPr/>
            <p:nvPr/>
          </p:nvSpPr>
          <p:spPr>
            <a:xfrm>
              <a:off x="4242148" y="853438"/>
              <a:ext cx="6736082" cy="175262"/>
            </a:xfrm>
            <a:custGeom>
              <a:avLst/>
              <a:gdLst>
                <a:gd name="connsiteX0" fmla="*/ 0 w 6736080"/>
                <a:gd name="connsiteY0" fmla="*/ 0 h 175262"/>
                <a:gd name="connsiteX1" fmla="*/ 6629249 w 6736080"/>
                <a:gd name="connsiteY1" fmla="*/ 0 h 175262"/>
                <a:gd name="connsiteX2" fmla="*/ 6736080 w 6736080"/>
                <a:gd name="connsiteY2" fmla="*/ 175262 h 175262"/>
                <a:gd name="connsiteX3" fmla="*/ 0 w 6736080"/>
                <a:gd name="connsiteY3" fmla="*/ 175262 h 175262"/>
                <a:gd name="connsiteX4" fmla="*/ 0 w 6736080"/>
                <a:gd name="connsiteY4" fmla="*/ 0 h 175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6080" h="175262">
                  <a:moveTo>
                    <a:pt x="0" y="0"/>
                  </a:moveTo>
                  <a:lnTo>
                    <a:pt x="6629249" y="0"/>
                  </a:lnTo>
                  <a:lnTo>
                    <a:pt x="6736080" y="175262"/>
                  </a:lnTo>
                  <a:lnTo>
                    <a:pt x="0" y="175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372BC5D5-6F5C-97CA-9FFD-3CC2A5A2CE80}"/>
                </a:ext>
              </a:extLst>
            </p:cNvPr>
            <p:cNvSpPr/>
            <p:nvPr/>
          </p:nvSpPr>
          <p:spPr>
            <a:xfrm>
              <a:off x="609599" y="853436"/>
              <a:ext cx="6736081" cy="175262"/>
            </a:xfrm>
            <a:custGeom>
              <a:avLst/>
              <a:gdLst>
                <a:gd name="connsiteX0" fmla="*/ 0 w 6736080"/>
                <a:gd name="connsiteY0" fmla="*/ 0 h 175262"/>
                <a:gd name="connsiteX1" fmla="*/ 6629249 w 6736080"/>
                <a:gd name="connsiteY1" fmla="*/ 0 h 175262"/>
                <a:gd name="connsiteX2" fmla="*/ 6736080 w 6736080"/>
                <a:gd name="connsiteY2" fmla="*/ 175262 h 175262"/>
                <a:gd name="connsiteX3" fmla="*/ 0 w 6736080"/>
                <a:gd name="connsiteY3" fmla="*/ 175262 h 175262"/>
                <a:gd name="connsiteX4" fmla="*/ 0 w 6736080"/>
                <a:gd name="connsiteY4" fmla="*/ 0 h 175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6080" h="175262">
                  <a:moveTo>
                    <a:pt x="0" y="0"/>
                  </a:moveTo>
                  <a:lnTo>
                    <a:pt x="6629249" y="0"/>
                  </a:lnTo>
                  <a:lnTo>
                    <a:pt x="6736080" y="175262"/>
                  </a:lnTo>
                  <a:lnTo>
                    <a:pt x="0" y="175262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EA952584-7305-DF68-F24E-ECD03D3111BF}"/>
                </a:ext>
              </a:extLst>
            </p:cNvPr>
            <p:cNvSpPr/>
            <p:nvPr/>
          </p:nvSpPr>
          <p:spPr>
            <a:xfrm>
              <a:off x="4134183" y="853436"/>
              <a:ext cx="6736079" cy="175262"/>
            </a:xfrm>
            <a:custGeom>
              <a:avLst/>
              <a:gdLst>
                <a:gd name="connsiteX0" fmla="*/ 0 w 6736080"/>
                <a:gd name="connsiteY0" fmla="*/ 0 h 175262"/>
                <a:gd name="connsiteX1" fmla="*/ 6629249 w 6736080"/>
                <a:gd name="connsiteY1" fmla="*/ 0 h 175262"/>
                <a:gd name="connsiteX2" fmla="*/ 6736080 w 6736080"/>
                <a:gd name="connsiteY2" fmla="*/ 175262 h 175262"/>
                <a:gd name="connsiteX3" fmla="*/ 0 w 6736080"/>
                <a:gd name="connsiteY3" fmla="*/ 175262 h 175262"/>
                <a:gd name="connsiteX4" fmla="*/ 0 w 6736080"/>
                <a:gd name="connsiteY4" fmla="*/ 0 h 175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6080" h="175262">
                  <a:moveTo>
                    <a:pt x="0" y="0"/>
                  </a:moveTo>
                  <a:lnTo>
                    <a:pt x="6629249" y="0"/>
                  </a:lnTo>
                  <a:lnTo>
                    <a:pt x="6736080" y="175262"/>
                  </a:lnTo>
                  <a:lnTo>
                    <a:pt x="0" y="175262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" name="Picture 6" descr="查看图片">
            <a:extLst>
              <a:ext uri="{FF2B5EF4-FFF2-40B4-BE49-F238E27FC236}">
                <a16:creationId xmlns:a16="http://schemas.microsoft.com/office/drawing/2014/main" id="{BDF7AA20-E2C8-3EFE-4181-3F9D0F2F551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9" t="13013" r="8629" b="13013"/>
          <a:stretch>
            <a:fillRect/>
          </a:stretch>
        </p:blipFill>
        <p:spPr bwMode="auto">
          <a:xfrm>
            <a:off x="10340709" y="344296"/>
            <a:ext cx="1335354" cy="398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4323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79A949A-1A74-E4BD-A4BC-4937CA8D178D}"/>
              </a:ext>
            </a:extLst>
          </p:cNvPr>
          <p:cNvGrpSpPr/>
          <p:nvPr userDrawn="1"/>
        </p:nvGrpSpPr>
        <p:grpSpPr>
          <a:xfrm>
            <a:off x="-30421" y="480965"/>
            <a:ext cx="362021" cy="296275"/>
            <a:chOff x="-5864720" y="822384"/>
            <a:chExt cx="362021" cy="12652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2F2320-C277-896A-E477-8638B71E7D3C}"/>
                </a:ext>
              </a:extLst>
            </p:cNvPr>
            <p:cNvSpPr/>
            <p:nvPr/>
          </p:nvSpPr>
          <p:spPr>
            <a:xfrm>
              <a:off x="-5864720" y="822384"/>
              <a:ext cx="274804" cy="1265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DFF8C83-E541-F5FD-AA7C-D8950F002943}"/>
                </a:ext>
              </a:extLst>
            </p:cNvPr>
            <p:cNvSpPr/>
            <p:nvPr/>
          </p:nvSpPr>
          <p:spPr>
            <a:xfrm>
              <a:off x="-5548418" y="822384"/>
              <a:ext cx="45719" cy="126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ACF25FB-5F6B-EADF-C50B-3F285FCFA152}"/>
              </a:ext>
            </a:extLst>
          </p:cNvPr>
          <p:cNvCxnSpPr>
            <a:cxnSpLocks/>
            <a:stCxn id="8" idx="3"/>
          </p:cNvCxnSpPr>
          <p:nvPr userDrawn="1"/>
        </p:nvCxnSpPr>
        <p:spPr>
          <a:xfrm flipH="1" flipV="1">
            <a:off x="502414" y="941565"/>
            <a:ext cx="11173649" cy="31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05A54B78-BC52-C526-DA31-278B661E7705}"/>
              </a:ext>
            </a:extLst>
          </p:cNvPr>
          <p:cNvGrpSpPr/>
          <p:nvPr userDrawn="1"/>
        </p:nvGrpSpPr>
        <p:grpSpPr>
          <a:xfrm flipH="1">
            <a:off x="4236576" y="853613"/>
            <a:ext cx="7439487" cy="88272"/>
            <a:chOff x="609599" y="853436"/>
            <a:chExt cx="10368631" cy="175264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F20344DB-0DEB-BF9D-B884-AA1E46873963}"/>
                </a:ext>
              </a:extLst>
            </p:cNvPr>
            <p:cNvSpPr/>
            <p:nvPr/>
          </p:nvSpPr>
          <p:spPr>
            <a:xfrm>
              <a:off x="4242148" y="853438"/>
              <a:ext cx="6736082" cy="175262"/>
            </a:xfrm>
            <a:custGeom>
              <a:avLst/>
              <a:gdLst>
                <a:gd name="connsiteX0" fmla="*/ 0 w 6736080"/>
                <a:gd name="connsiteY0" fmla="*/ 0 h 175262"/>
                <a:gd name="connsiteX1" fmla="*/ 6629249 w 6736080"/>
                <a:gd name="connsiteY1" fmla="*/ 0 h 175262"/>
                <a:gd name="connsiteX2" fmla="*/ 6736080 w 6736080"/>
                <a:gd name="connsiteY2" fmla="*/ 175262 h 175262"/>
                <a:gd name="connsiteX3" fmla="*/ 0 w 6736080"/>
                <a:gd name="connsiteY3" fmla="*/ 175262 h 175262"/>
                <a:gd name="connsiteX4" fmla="*/ 0 w 6736080"/>
                <a:gd name="connsiteY4" fmla="*/ 0 h 175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6080" h="175262">
                  <a:moveTo>
                    <a:pt x="0" y="0"/>
                  </a:moveTo>
                  <a:lnTo>
                    <a:pt x="6629249" y="0"/>
                  </a:lnTo>
                  <a:lnTo>
                    <a:pt x="6736080" y="175262"/>
                  </a:lnTo>
                  <a:lnTo>
                    <a:pt x="0" y="175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68D42BE4-821B-E4FE-341C-07486361C22B}"/>
                </a:ext>
              </a:extLst>
            </p:cNvPr>
            <p:cNvSpPr/>
            <p:nvPr/>
          </p:nvSpPr>
          <p:spPr>
            <a:xfrm>
              <a:off x="609599" y="853436"/>
              <a:ext cx="6736081" cy="175262"/>
            </a:xfrm>
            <a:custGeom>
              <a:avLst/>
              <a:gdLst>
                <a:gd name="connsiteX0" fmla="*/ 0 w 6736080"/>
                <a:gd name="connsiteY0" fmla="*/ 0 h 175262"/>
                <a:gd name="connsiteX1" fmla="*/ 6629249 w 6736080"/>
                <a:gd name="connsiteY1" fmla="*/ 0 h 175262"/>
                <a:gd name="connsiteX2" fmla="*/ 6736080 w 6736080"/>
                <a:gd name="connsiteY2" fmla="*/ 175262 h 175262"/>
                <a:gd name="connsiteX3" fmla="*/ 0 w 6736080"/>
                <a:gd name="connsiteY3" fmla="*/ 175262 h 175262"/>
                <a:gd name="connsiteX4" fmla="*/ 0 w 6736080"/>
                <a:gd name="connsiteY4" fmla="*/ 0 h 175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6080" h="175262">
                  <a:moveTo>
                    <a:pt x="0" y="0"/>
                  </a:moveTo>
                  <a:lnTo>
                    <a:pt x="6629249" y="0"/>
                  </a:lnTo>
                  <a:lnTo>
                    <a:pt x="6736080" y="175262"/>
                  </a:lnTo>
                  <a:lnTo>
                    <a:pt x="0" y="175262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E696FD9E-E182-FB06-2D8A-B1C2AC093695}"/>
                </a:ext>
              </a:extLst>
            </p:cNvPr>
            <p:cNvSpPr/>
            <p:nvPr/>
          </p:nvSpPr>
          <p:spPr>
            <a:xfrm>
              <a:off x="4134183" y="853436"/>
              <a:ext cx="6736079" cy="175262"/>
            </a:xfrm>
            <a:custGeom>
              <a:avLst/>
              <a:gdLst>
                <a:gd name="connsiteX0" fmla="*/ 0 w 6736080"/>
                <a:gd name="connsiteY0" fmla="*/ 0 h 175262"/>
                <a:gd name="connsiteX1" fmla="*/ 6629249 w 6736080"/>
                <a:gd name="connsiteY1" fmla="*/ 0 h 175262"/>
                <a:gd name="connsiteX2" fmla="*/ 6736080 w 6736080"/>
                <a:gd name="connsiteY2" fmla="*/ 175262 h 175262"/>
                <a:gd name="connsiteX3" fmla="*/ 0 w 6736080"/>
                <a:gd name="connsiteY3" fmla="*/ 175262 h 175262"/>
                <a:gd name="connsiteX4" fmla="*/ 0 w 6736080"/>
                <a:gd name="connsiteY4" fmla="*/ 0 h 175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36080" h="175262">
                  <a:moveTo>
                    <a:pt x="0" y="0"/>
                  </a:moveTo>
                  <a:lnTo>
                    <a:pt x="6629249" y="0"/>
                  </a:lnTo>
                  <a:lnTo>
                    <a:pt x="6736080" y="175262"/>
                  </a:lnTo>
                  <a:lnTo>
                    <a:pt x="0" y="175262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46487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1670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55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5">
          <p15:clr>
            <a:srgbClr val="F26B43"/>
          </p15:clr>
        </p15:guide>
        <p15:guide id="2" pos="7355">
          <p15:clr>
            <a:srgbClr val="F26B43"/>
          </p15:clr>
        </p15:guide>
        <p15:guide id="6" orient="horz" pos="404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806C7-D8D3-59A3-C705-7155F72BB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42073290-0FB9-0280-E0EE-A9A99B93302E}"/>
              </a:ext>
            </a:extLst>
          </p:cNvPr>
          <p:cNvGrpSpPr/>
          <p:nvPr/>
        </p:nvGrpSpPr>
        <p:grpSpPr>
          <a:xfrm>
            <a:off x="548640" y="1579700"/>
            <a:ext cx="11094720" cy="3253300"/>
            <a:chOff x="1583499" y="7425000"/>
            <a:chExt cx="9131467" cy="1728433"/>
          </a:xfrm>
        </p:grpSpPr>
        <p:sp>
          <p:nvSpPr>
            <p:cNvPr id="16" name="PA_矩形 27">
              <a:extLst>
                <a:ext uri="{FF2B5EF4-FFF2-40B4-BE49-F238E27FC236}">
                  <a16:creationId xmlns:a16="http://schemas.microsoft.com/office/drawing/2014/main" id="{1BFD10BC-DE6E-4143-0994-854175AA9AF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689963" y="7521252"/>
              <a:ext cx="9025003" cy="1632181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sp>
          <p:nvSpPr>
            <p:cNvPr id="17" name="PA_矩形 20">
              <a:extLst>
                <a:ext uri="{FF2B5EF4-FFF2-40B4-BE49-F238E27FC236}">
                  <a16:creationId xmlns:a16="http://schemas.microsoft.com/office/drawing/2014/main" id="{F736A9F7-2765-AEE0-5594-F44ACF16B59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583499" y="7425000"/>
              <a:ext cx="9025003" cy="1632181"/>
            </a:xfrm>
            <a:prstGeom prst="rect">
              <a:avLst/>
            </a:prstGeom>
            <a:solidFill>
              <a:srgbClr val="FEFEFE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A056812-180F-811C-B7BA-CBB63385940C}"/>
              </a:ext>
            </a:extLst>
          </p:cNvPr>
          <p:cNvGrpSpPr/>
          <p:nvPr/>
        </p:nvGrpSpPr>
        <p:grpSpPr>
          <a:xfrm>
            <a:off x="3581377" y="5522001"/>
            <a:ext cx="5050030" cy="246221"/>
            <a:chOff x="5879823" y="5670699"/>
            <a:chExt cx="5050030" cy="246221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4B17D60-7C3D-50E5-9DA4-9F7207E6DD9A}"/>
                </a:ext>
              </a:extLst>
            </p:cNvPr>
            <p:cNvSpPr txBox="1"/>
            <p:nvPr/>
          </p:nvSpPr>
          <p:spPr>
            <a:xfrm>
              <a:off x="5879823" y="5670699"/>
              <a:ext cx="226559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/>
                  <a:cs typeface="+mn-cs"/>
                </a:rPr>
                <a:t>汇报人：小堇在做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/>
                  <a:cs typeface="+mn-cs"/>
                </a:rPr>
                <a:t>ppt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/>
                <a:cs typeface="+mn-cs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93410D8-E3B4-F9A7-FF20-482CEDEB0EBA}"/>
                </a:ext>
              </a:extLst>
            </p:cNvPr>
            <p:cNvSpPr txBox="1"/>
            <p:nvPr/>
          </p:nvSpPr>
          <p:spPr>
            <a:xfrm>
              <a:off x="8664263" y="5670699"/>
              <a:ext cx="2265590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/>
                  <a:cs typeface="+mn-cs"/>
                </a:rPr>
                <a:t>汇报日期：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/>
                  <a:cs typeface="+mn-cs"/>
                </a:rPr>
                <a:t>202X.0X.XX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/>
                <a:cs typeface="+mn-cs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BB8965CF-B791-7051-CE31-C64BB9910F2A}"/>
              </a:ext>
            </a:extLst>
          </p:cNvPr>
          <p:cNvSpPr txBox="1"/>
          <p:nvPr/>
        </p:nvSpPr>
        <p:spPr>
          <a:xfrm>
            <a:off x="812800" y="2131694"/>
            <a:ext cx="10566400" cy="14157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>
                <a:solidFill>
                  <a:srgbClr val="E6F5FF"/>
                </a:solidFill>
                <a:latin typeface="Microsoft YaHei"/>
              </a:rPr>
              <a:t>Laser-Microstructure / TiO₂ Functional Glass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F28398-B56B-2A1C-1CF8-F1A330D1AB81}"/>
              </a:ext>
            </a:extLst>
          </p:cNvPr>
          <p:cNvSpPr txBox="1"/>
          <p:nvPr/>
        </p:nvSpPr>
        <p:spPr>
          <a:xfrm>
            <a:off x="3235569" y="3816067"/>
            <a:ext cx="5720862" cy="44095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r>
              <a:rPr sz="2400">
                <a:solidFill>
                  <a:srgbClr val="E6F5FF"/>
                </a:solidFill>
                <a:latin typeface="Microsoft YaHei"/>
              </a:rPr>
              <a:t>光伏玻璃防雾自清洁性能研究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8EDB212-BD15-7EBC-5A8B-4CF8EA30955D}"/>
              </a:ext>
            </a:extLst>
          </p:cNvPr>
          <p:cNvSpPr/>
          <p:nvPr/>
        </p:nvSpPr>
        <p:spPr>
          <a:xfrm>
            <a:off x="0" y="6520084"/>
            <a:ext cx="12192000" cy="33791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/>
              <a:ea typeface="思源黑体 CN Regular"/>
              <a:cs typeface="+mn-cs"/>
            </a:endParaRPr>
          </a:p>
        </p:txBody>
      </p:sp>
      <p:pic>
        <p:nvPicPr>
          <p:cNvPr id="2" name="Picture 6" descr="查看图片">
            <a:extLst>
              <a:ext uri="{FF2B5EF4-FFF2-40B4-BE49-F238E27FC236}">
                <a16:creationId xmlns:a16="http://schemas.microsoft.com/office/drawing/2014/main" id="{C77984EE-6632-885C-E322-25D3FB738B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9" t="13013" r="8629" b="13013"/>
          <a:stretch>
            <a:fillRect/>
          </a:stretch>
        </p:blipFill>
        <p:spPr bwMode="auto">
          <a:xfrm>
            <a:off x="5113020" y="500895"/>
            <a:ext cx="1965960" cy="586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 descr="he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731520"/>
            <a:ext cx="5852160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396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组合 96">
            <a:extLst>
              <a:ext uri="{FF2B5EF4-FFF2-40B4-BE49-F238E27FC236}">
                <a16:creationId xmlns:a16="http://schemas.microsoft.com/office/drawing/2014/main" id="{7E677E24-0E37-30C6-74B8-BA0CDBBEE268}"/>
              </a:ext>
            </a:extLst>
          </p:cNvPr>
          <p:cNvGrpSpPr/>
          <p:nvPr/>
        </p:nvGrpSpPr>
        <p:grpSpPr>
          <a:xfrm rot="16200000">
            <a:off x="-1230738" y="1230738"/>
            <a:ext cx="6858000" cy="4396524"/>
            <a:chOff x="-2" y="1555159"/>
            <a:chExt cx="12054841" cy="2510080"/>
          </a:xfrm>
        </p:grpSpPr>
        <p:sp>
          <p:nvSpPr>
            <p:cNvPr id="98" name="任意多边形 18">
              <a:extLst>
                <a:ext uri="{FF2B5EF4-FFF2-40B4-BE49-F238E27FC236}">
                  <a16:creationId xmlns:a16="http://schemas.microsoft.com/office/drawing/2014/main" id="{2EF9BF9B-7D20-52B2-20FC-C1601FC2A9EE}"/>
                </a:ext>
              </a:extLst>
            </p:cNvPr>
            <p:cNvSpPr/>
            <p:nvPr/>
          </p:nvSpPr>
          <p:spPr>
            <a:xfrm>
              <a:off x="-2" y="1555159"/>
              <a:ext cx="12054841" cy="2467961"/>
            </a:xfrm>
            <a:custGeom>
              <a:avLst/>
              <a:gdLst>
                <a:gd name="connsiteX0" fmla="*/ 0 w 12192000"/>
                <a:gd name="connsiteY0" fmla="*/ 0 h 3374549"/>
                <a:gd name="connsiteX1" fmla="*/ 10383370 w 12192000"/>
                <a:gd name="connsiteY1" fmla="*/ 0 h 3374549"/>
                <a:gd name="connsiteX2" fmla="*/ 10537371 w 12192000"/>
                <a:gd name="connsiteY2" fmla="*/ 0 h 3374549"/>
                <a:gd name="connsiteX3" fmla="*/ 12192000 w 12192000"/>
                <a:gd name="connsiteY3" fmla="*/ 0 h 3374549"/>
                <a:gd name="connsiteX4" fmla="*/ 12192000 w 12192000"/>
                <a:gd name="connsiteY4" fmla="*/ 3374549 h 3374549"/>
                <a:gd name="connsiteX5" fmla="*/ 10537371 w 12192000"/>
                <a:gd name="connsiteY5" fmla="*/ 3374549 h 3374549"/>
                <a:gd name="connsiteX6" fmla="*/ 10383370 w 12192000"/>
                <a:gd name="connsiteY6" fmla="*/ 3374549 h 3374549"/>
                <a:gd name="connsiteX7" fmla="*/ 0 w 12192000"/>
                <a:gd name="connsiteY7" fmla="*/ 3374549 h 3374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3374549">
                  <a:moveTo>
                    <a:pt x="0" y="0"/>
                  </a:moveTo>
                  <a:lnTo>
                    <a:pt x="10383370" y="0"/>
                  </a:lnTo>
                  <a:lnTo>
                    <a:pt x="10537371" y="0"/>
                  </a:lnTo>
                  <a:lnTo>
                    <a:pt x="12192000" y="0"/>
                  </a:lnTo>
                  <a:lnTo>
                    <a:pt x="12192000" y="3374549"/>
                  </a:lnTo>
                  <a:lnTo>
                    <a:pt x="10537371" y="3374549"/>
                  </a:lnTo>
                  <a:lnTo>
                    <a:pt x="10383370" y="3374549"/>
                  </a:lnTo>
                  <a:lnTo>
                    <a:pt x="0" y="3374549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100" name="任意多边形 18">
              <a:extLst>
                <a:ext uri="{FF2B5EF4-FFF2-40B4-BE49-F238E27FC236}">
                  <a16:creationId xmlns:a16="http://schemas.microsoft.com/office/drawing/2014/main" id="{B7EF3EF8-EF5F-32C7-3218-F7952701769A}"/>
                </a:ext>
              </a:extLst>
            </p:cNvPr>
            <p:cNvSpPr/>
            <p:nvPr/>
          </p:nvSpPr>
          <p:spPr>
            <a:xfrm>
              <a:off x="-2" y="4036439"/>
              <a:ext cx="12054841" cy="28800"/>
            </a:xfrm>
            <a:custGeom>
              <a:avLst/>
              <a:gdLst>
                <a:gd name="connsiteX0" fmla="*/ 0 w 12192000"/>
                <a:gd name="connsiteY0" fmla="*/ 0 h 3374549"/>
                <a:gd name="connsiteX1" fmla="*/ 10383370 w 12192000"/>
                <a:gd name="connsiteY1" fmla="*/ 0 h 3374549"/>
                <a:gd name="connsiteX2" fmla="*/ 10537371 w 12192000"/>
                <a:gd name="connsiteY2" fmla="*/ 0 h 3374549"/>
                <a:gd name="connsiteX3" fmla="*/ 12192000 w 12192000"/>
                <a:gd name="connsiteY3" fmla="*/ 0 h 3374549"/>
                <a:gd name="connsiteX4" fmla="*/ 12192000 w 12192000"/>
                <a:gd name="connsiteY4" fmla="*/ 3374549 h 3374549"/>
                <a:gd name="connsiteX5" fmla="*/ 10537371 w 12192000"/>
                <a:gd name="connsiteY5" fmla="*/ 3374549 h 3374549"/>
                <a:gd name="connsiteX6" fmla="*/ 10383370 w 12192000"/>
                <a:gd name="connsiteY6" fmla="*/ 3374549 h 3374549"/>
                <a:gd name="connsiteX7" fmla="*/ 0 w 12192000"/>
                <a:gd name="connsiteY7" fmla="*/ 3374549 h 3374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3374549">
                  <a:moveTo>
                    <a:pt x="0" y="0"/>
                  </a:moveTo>
                  <a:lnTo>
                    <a:pt x="10383370" y="0"/>
                  </a:lnTo>
                  <a:lnTo>
                    <a:pt x="10537371" y="0"/>
                  </a:lnTo>
                  <a:lnTo>
                    <a:pt x="12192000" y="0"/>
                  </a:lnTo>
                  <a:lnTo>
                    <a:pt x="12192000" y="3374549"/>
                  </a:lnTo>
                  <a:lnTo>
                    <a:pt x="10537371" y="3374549"/>
                  </a:lnTo>
                  <a:lnTo>
                    <a:pt x="10383370" y="3374549"/>
                  </a:lnTo>
                  <a:lnTo>
                    <a:pt x="0" y="33745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9A0DB5FA-2037-2D41-4DE8-359CBCBB0AF3}"/>
              </a:ext>
            </a:extLst>
          </p:cNvPr>
          <p:cNvSpPr/>
          <p:nvPr/>
        </p:nvSpPr>
        <p:spPr>
          <a:xfrm>
            <a:off x="1101660" y="2423160"/>
            <a:ext cx="1356360" cy="1996440"/>
          </a:xfrm>
          <a:custGeom>
            <a:avLst/>
            <a:gdLst>
              <a:gd name="connsiteX0" fmla="*/ 1351280 w 1356360"/>
              <a:gd name="connsiteY0" fmla="*/ 467360 h 1996440"/>
              <a:gd name="connsiteX1" fmla="*/ 1351280 w 1356360"/>
              <a:gd name="connsiteY1" fmla="*/ 0 h 1996440"/>
              <a:gd name="connsiteX2" fmla="*/ 0 w 1356360"/>
              <a:gd name="connsiteY2" fmla="*/ 0 h 1996440"/>
              <a:gd name="connsiteX3" fmla="*/ 0 w 1356360"/>
              <a:gd name="connsiteY3" fmla="*/ 1996440 h 1996440"/>
              <a:gd name="connsiteX4" fmla="*/ 1356360 w 1356360"/>
              <a:gd name="connsiteY4" fmla="*/ 1996440 h 1996440"/>
              <a:gd name="connsiteX5" fmla="*/ 1351280 w 1356360"/>
              <a:gd name="connsiteY5" fmla="*/ 1666240 h 1996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6360" h="1996440">
                <a:moveTo>
                  <a:pt x="1351280" y="467360"/>
                </a:moveTo>
                <a:lnTo>
                  <a:pt x="1351280" y="0"/>
                </a:lnTo>
                <a:lnTo>
                  <a:pt x="0" y="0"/>
                </a:lnTo>
                <a:lnTo>
                  <a:pt x="0" y="1996440"/>
                </a:lnTo>
                <a:lnTo>
                  <a:pt x="1356360" y="1996440"/>
                </a:lnTo>
                <a:cubicBezTo>
                  <a:pt x="1354667" y="1886373"/>
                  <a:pt x="1352973" y="1776307"/>
                  <a:pt x="1351280" y="1666240"/>
                </a:cubicBezTo>
              </a:path>
            </a:pathLst>
          </a:cu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59" name="文本占位符 120">
            <a:extLst>
              <a:ext uri="{FF2B5EF4-FFF2-40B4-BE49-F238E27FC236}">
                <a16:creationId xmlns:a16="http://schemas.microsoft.com/office/drawing/2014/main" id="{4FF4F342-BE1A-FDBE-4BC7-D7DCFEE332B9}"/>
              </a:ext>
            </a:extLst>
          </p:cNvPr>
          <p:cNvSpPr txBox="1">
            <a:spLocks/>
          </p:cNvSpPr>
          <p:nvPr/>
        </p:nvSpPr>
        <p:spPr>
          <a:xfrm>
            <a:off x="1747138" y="2900316"/>
            <a:ext cx="2296862" cy="84243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kern="1200">
                <a:solidFill>
                  <a:schemeClr val="bg1"/>
                </a:solidFill>
                <a:latin typeface="+mj-ea"/>
                <a:ea typeface="+mj-ea"/>
                <a:cs typeface="阿里巴巴普惠体 B" panose="00020600040101010101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目 录</a:t>
            </a:r>
          </a:p>
        </p:txBody>
      </p:sp>
      <p:sp>
        <p:nvSpPr>
          <p:cNvPr id="60" name="文本占位符 120">
            <a:extLst>
              <a:ext uri="{FF2B5EF4-FFF2-40B4-BE49-F238E27FC236}">
                <a16:creationId xmlns:a16="http://schemas.microsoft.com/office/drawing/2014/main" id="{921BF780-ABF6-D521-31E8-E3B3FA66A785}"/>
              </a:ext>
            </a:extLst>
          </p:cNvPr>
          <p:cNvSpPr txBox="1">
            <a:spLocks/>
          </p:cNvSpPr>
          <p:nvPr/>
        </p:nvSpPr>
        <p:spPr>
          <a:xfrm>
            <a:off x="1747138" y="3604967"/>
            <a:ext cx="2296862" cy="57532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kern="1200">
                <a:solidFill>
                  <a:schemeClr val="bg1"/>
                </a:solidFill>
                <a:latin typeface="+mn-lt"/>
                <a:ea typeface="+mj-ea"/>
                <a:cs typeface="阿里巴巴普惠体 B" panose="00020600040101010101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CONTENTS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4DFB7875-F5DB-3645-BDC2-FCE467663A15}"/>
              </a:ext>
            </a:extLst>
          </p:cNvPr>
          <p:cNvGrpSpPr/>
          <p:nvPr/>
        </p:nvGrpSpPr>
        <p:grpSpPr>
          <a:xfrm>
            <a:off x="5772000" y="801329"/>
            <a:ext cx="561388" cy="561544"/>
            <a:chOff x="5341640" y="1435492"/>
            <a:chExt cx="687568" cy="687760"/>
          </a:xfrm>
        </p:grpSpPr>
        <p:sp>
          <p:nvSpPr>
            <p:cNvPr id="62" name="椭圆 38">
              <a:extLst>
                <a:ext uri="{FF2B5EF4-FFF2-40B4-BE49-F238E27FC236}">
                  <a16:creationId xmlns:a16="http://schemas.microsoft.com/office/drawing/2014/main" id="{0611A4EF-78C3-17C3-F8EE-2687E2AE1686}"/>
                </a:ext>
              </a:extLst>
            </p:cNvPr>
            <p:cNvSpPr/>
            <p:nvPr/>
          </p:nvSpPr>
          <p:spPr>
            <a:xfrm>
              <a:off x="5341640" y="1435492"/>
              <a:ext cx="687568" cy="68776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63" name="椭圆 39">
              <a:extLst>
                <a:ext uri="{FF2B5EF4-FFF2-40B4-BE49-F238E27FC236}">
                  <a16:creationId xmlns:a16="http://schemas.microsoft.com/office/drawing/2014/main" id="{3041C570-3C97-0058-B928-FDC13D73D3AC}"/>
                </a:ext>
              </a:extLst>
            </p:cNvPr>
            <p:cNvSpPr/>
            <p:nvPr/>
          </p:nvSpPr>
          <p:spPr>
            <a:xfrm>
              <a:off x="5391004" y="1484870"/>
              <a:ext cx="588840" cy="5890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304800" dist="114300" dir="5400000" algn="tl" rotWithShape="0">
                <a:schemeClr val="accent1">
                  <a:lumMod val="50000"/>
                  <a:alpha val="3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64" name="iṡlïḓê">
            <a:extLst>
              <a:ext uri="{FF2B5EF4-FFF2-40B4-BE49-F238E27FC236}">
                <a16:creationId xmlns:a16="http://schemas.microsoft.com/office/drawing/2014/main" id="{00FE8A4F-0F13-75D8-FB1E-E71FA6787476}"/>
              </a:ext>
            </a:extLst>
          </p:cNvPr>
          <p:cNvSpPr txBox="1"/>
          <p:nvPr/>
        </p:nvSpPr>
        <p:spPr>
          <a:xfrm flipH="1">
            <a:off x="6635469" y="888047"/>
            <a:ext cx="414342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sz="2000">
                <a:solidFill>
                  <a:srgbClr val="E6F5FF"/>
                </a:solidFill>
                <a:latin typeface="Microsoft YaHei"/>
              </a:rPr>
              <a:t>研究背景与价值</a:t>
            </a:r>
          </a:p>
        </p:txBody>
      </p:sp>
      <p:sp>
        <p:nvSpPr>
          <p:cNvPr id="66" name="iṡlïḓê">
            <a:extLst>
              <a:ext uri="{FF2B5EF4-FFF2-40B4-BE49-F238E27FC236}">
                <a16:creationId xmlns:a16="http://schemas.microsoft.com/office/drawing/2014/main" id="{5432B90C-B822-714F-AC9C-39C032D3E890}"/>
              </a:ext>
            </a:extLst>
          </p:cNvPr>
          <p:cNvSpPr txBox="1"/>
          <p:nvPr/>
        </p:nvSpPr>
        <p:spPr>
          <a:xfrm flipH="1">
            <a:off x="5826566" y="928213"/>
            <a:ext cx="4522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01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73C3DD36-7F33-2B09-5FDC-CB7B88B6D785}"/>
              </a:ext>
            </a:extLst>
          </p:cNvPr>
          <p:cNvGrpSpPr/>
          <p:nvPr/>
        </p:nvGrpSpPr>
        <p:grpSpPr>
          <a:xfrm>
            <a:off x="5772000" y="1740089"/>
            <a:ext cx="561388" cy="561544"/>
            <a:chOff x="5341640" y="2535244"/>
            <a:chExt cx="687568" cy="687760"/>
          </a:xfrm>
        </p:grpSpPr>
        <p:sp>
          <p:nvSpPr>
            <p:cNvPr id="68" name="椭圆 36">
              <a:extLst>
                <a:ext uri="{FF2B5EF4-FFF2-40B4-BE49-F238E27FC236}">
                  <a16:creationId xmlns:a16="http://schemas.microsoft.com/office/drawing/2014/main" id="{F595D89E-4A27-86E7-C86F-692E83D999DF}"/>
                </a:ext>
              </a:extLst>
            </p:cNvPr>
            <p:cNvSpPr/>
            <p:nvPr/>
          </p:nvSpPr>
          <p:spPr>
            <a:xfrm>
              <a:off x="5341640" y="2535244"/>
              <a:ext cx="687568" cy="68776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69" name="椭圆 37">
              <a:extLst>
                <a:ext uri="{FF2B5EF4-FFF2-40B4-BE49-F238E27FC236}">
                  <a16:creationId xmlns:a16="http://schemas.microsoft.com/office/drawing/2014/main" id="{31E1CD05-BA1B-CD4F-9C08-4C4F4B60CD17}"/>
                </a:ext>
              </a:extLst>
            </p:cNvPr>
            <p:cNvSpPr/>
            <p:nvPr/>
          </p:nvSpPr>
          <p:spPr>
            <a:xfrm>
              <a:off x="5391004" y="2584622"/>
              <a:ext cx="588840" cy="5890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304800" dist="114300" dir="5400000" algn="tl" rotWithShape="0">
                <a:schemeClr val="accent1">
                  <a:lumMod val="50000"/>
                  <a:alpha val="3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70" name="iṡlïḓê">
            <a:extLst>
              <a:ext uri="{FF2B5EF4-FFF2-40B4-BE49-F238E27FC236}">
                <a16:creationId xmlns:a16="http://schemas.microsoft.com/office/drawing/2014/main" id="{437A0EBB-8AB6-EFDE-B69E-BE9F60C2D02B}"/>
              </a:ext>
            </a:extLst>
          </p:cNvPr>
          <p:cNvSpPr txBox="1"/>
          <p:nvPr/>
        </p:nvSpPr>
        <p:spPr>
          <a:xfrm flipH="1">
            <a:off x="6635469" y="1826807"/>
            <a:ext cx="414342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sz="2000">
                <a:solidFill>
                  <a:srgbClr val="E6F5FF"/>
                </a:solidFill>
                <a:latin typeface="Microsoft YaHei"/>
              </a:rPr>
              <a:t>研究目标与科学问题</a:t>
            </a:r>
          </a:p>
        </p:txBody>
      </p:sp>
      <p:sp>
        <p:nvSpPr>
          <p:cNvPr id="72" name="iṡlïḓê">
            <a:extLst>
              <a:ext uri="{FF2B5EF4-FFF2-40B4-BE49-F238E27FC236}">
                <a16:creationId xmlns:a16="http://schemas.microsoft.com/office/drawing/2014/main" id="{3DE6A1FD-A556-3AD4-F54E-BD002681BC32}"/>
              </a:ext>
            </a:extLst>
          </p:cNvPr>
          <p:cNvSpPr txBox="1"/>
          <p:nvPr/>
        </p:nvSpPr>
        <p:spPr>
          <a:xfrm flipH="1">
            <a:off x="5826566" y="1866973"/>
            <a:ext cx="4522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287220D4-7F96-818B-1F65-AD48D074E931}"/>
              </a:ext>
            </a:extLst>
          </p:cNvPr>
          <p:cNvGrpSpPr/>
          <p:nvPr/>
        </p:nvGrpSpPr>
        <p:grpSpPr>
          <a:xfrm>
            <a:off x="5772000" y="2678849"/>
            <a:ext cx="561388" cy="561544"/>
            <a:chOff x="5341640" y="3634996"/>
            <a:chExt cx="687568" cy="687760"/>
          </a:xfrm>
        </p:grpSpPr>
        <p:sp>
          <p:nvSpPr>
            <p:cNvPr id="74" name="椭圆 34">
              <a:extLst>
                <a:ext uri="{FF2B5EF4-FFF2-40B4-BE49-F238E27FC236}">
                  <a16:creationId xmlns:a16="http://schemas.microsoft.com/office/drawing/2014/main" id="{02EDF7DF-5029-DDE6-CF86-A56218538C8D}"/>
                </a:ext>
              </a:extLst>
            </p:cNvPr>
            <p:cNvSpPr/>
            <p:nvPr/>
          </p:nvSpPr>
          <p:spPr>
            <a:xfrm>
              <a:off x="5341640" y="3634996"/>
              <a:ext cx="687568" cy="68776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75" name="椭圆 35">
              <a:extLst>
                <a:ext uri="{FF2B5EF4-FFF2-40B4-BE49-F238E27FC236}">
                  <a16:creationId xmlns:a16="http://schemas.microsoft.com/office/drawing/2014/main" id="{E8436485-8345-63A6-1DA2-57349CB8E2E1}"/>
                </a:ext>
              </a:extLst>
            </p:cNvPr>
            <p:cNvSpPr/>
            <p:nvPr/>
          </p:nvSpPr>
          <p:spPr>
            <a:xfrm>
              <a:off x="5391004" y="3684374"/>
              <a:ext cx="588840" cy="5890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304800" dist="114300" dir="5400000" algn="tl" rotWithShape="0">
                <a:schemeClr val="accent1">
                  <a:lumMod val="50000"/>
                  <a:alpha val="3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76" name="iṡlïḓê">
            <a:extLst>
              <a:ext uri="{FF2B5EF4-FFF2-40B4-BE49-F238E27FC236}">
                <a16:creationId xmlns:a16="http://schemas.microsoft.com/office/drawing/2014/main" id="{81DC9D96-A202-24F0-83F9-6E04A4A6FC6C}"/>
              </a:ext>
            </a:extLst>
          </p:cNvPr>
          <p:cNvSpPr txBox="1"/>
          <p:nvPr/>
        </p:nvSpPr>
        <p:spPr>
          <a:xfrm flipH="1">
            <a:off x="6635469" y="2765566"/>
            <a:ext cx="414342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sz="2000">
                <a:solidFill>
                  <a:srgbClr val="E6F5FF"/>
                </a:solidFill>
                <a:latin typeface="Microsoft YaHei"/>
              </a:rPr>
              <a:t>技术路线与实验设计</a:t>
            </a:r>
          </a:p>
        </p:txBody>
      </p:sp>
      <p:sp>
        <p:nvSpPr>
          <p:cNvPr id="78" name="iṡlïḓê">
            <a:extLst>
              <a:ext uri="{FF2B5EF4-FFF2-40B4-BE49-F238E27FC236}">
                <a16:creationId xmlns:a16="http://schemas.microsoft.com/office/drawing/2014/main" id="{9E520EE6-BD4D-D277-6F75-E139840C2905}"/>
              </a:ext>
            </a:extLst>
          </p:cNvPr>
          <p:cNvSpPr txBox="1"/>
          <p:nvPr/>
        </p:nvSpPr>
        <p:spPr>
          <a:xfrm flipH="1">
            <a:off x="5826566" y="2805733"/>
            <a:ext cx="4522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45233322-D9E6-3517-01C1-4ED606462BE9}"/>
              </a:ext>
            </a:extLst>
          </p:cNvPr>
          <p:cNvGrpSpPr/>
          <p:nvPr/>
        </p:nvGrpSpPr>
        <p:grpSpPr>
          <a:xfrm>
            <a:off x="5772000" y="3617609"/>
            <a:ext cx="561388" cy="561544"/>
            <a:chOff x="5341640" y="4734748"/>
            <a:chExt cx="687568" cy="687760"/>
          </a:xfrm>
        </p:grpSpPr>
        <p:sp>
          <p:nvSpPr>
            <p:cNvPr id="80" name="椭圆 32">
              <a:extLst>
                <a:ext uri="{FF2B5EF4-FFF2-40B4-BE49-F238E27FC236}">
                  <a16:creationId xmlns:a16="http://schemas.microsoft.com/office/drawing/2014/main" id="{C3EBCCAD-B0E3-056E-BED0-3636DDCD1D08}"/>
                </a:ext>
              </a:extLst>
            </p:cNvPr>
            <p:cNvSpPr/>
            <p:nvPr/>
          </p:nvSpPr>
          <p:spPr>
            <a:xfrm>
              <a:off x="5341640" y="4734748"/>
              <a:ext cx="687568" cy="68776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81" name="椭圆 33">
              <a:extLst>
                <a:ext uri="{FF2B5EF4-FFF2-40B4-BE49-F238E27FC236}">
                  <a16:creationId xmlns:a16="http://schemas.microsoft.com/office/drawing/2014/main" id="{6131F167-33FA-2309-269C-88CE622334A3}"/>
                </a:ext>
              </a:extLst>
            </p:cNvPr>
            <p:cNvSpPr/>
            <p:nvPr/>
          </p:nvSpPr>
          <p:spPr>
            <a:xfrm>
              <a:off x="5391004" y="4784126"/>
              <a:ext cx="588840" cy="5890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304800" dist="114300" dir="5400000" algn="tl" rotWithShape="0">
                <a:schemeClr val="accent1">
                  <a:lumMod val="50000"/>
                  <a:alpha val="3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82" name="iṡlïḓê">
            <a:extLst>
              <a:ext uri="{FF2B5EF4-FFF2-40B4-BE49-F238E27FC236}">
                <a16:creationId xmlns:a16="http://schemas.microsoft.com/office/drawing/2014/main" id="{687D0087-7174-8F14-D16B-E831EED4A025}"/>
              </a:ext>
            </a:extLst>
          </p:cNvPr>
          <p:cNvSpPr txBox="1"/>
          <p:nvPr/>
        </p:nvSpPr>
        <p:spPr>
          <a:xfrm flipH="1">
            <a:off x="6635468" y="3704327"/>
            <a:ext cx="414342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sz="2000">
                <a:solidFill>
                  <a:srgbClr val="E6F5FF"/>
                </a:solidFill>
                <a:latin typeface="Microsoft YaHei"/>
              </a:rPr>
              <a:t>评价指标与作用机理</a:t>
            </a:r>
          </a:p>
        </p:txBody>
      </p:sp>
      <p:sp>
        <p:nvSpPr>
          <p:cNvPr id="84" name="iṡlïḓê">
            <a:extLst>
              <a:ext uri="{FF2B5EF4-FFF2-40B4-BE49-F238E27FC236}">
                <a16:creationId xmlns:a16="http://schemas.microsoft.com/office/drawing/2014/main" id="{42B2564A-CD0D-E823-25B8-CF0453D1527E}"/>
              </a:ext>
            </a:extLst>
          </p:cNvPr>
          <p:cNvSpPr txBox="1"/>
          <p:nvPr/>
        </p:nvSpPr>
        <p:spPr>
          <a:xfrm flipH="1">
            <a:off x="5826566" y="3744493"/>
            <a:ext cx="4522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04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F1F9F11D-4ABE-7F28-0ED7-181E62234AF1}"/>
              </a:ext>
            </a:extLst>
          </p:cNvPr>
          <p:cNvGrpSpPr/>
          <p:nvPr/>
        </p:nvGrpSpPr>
        <p:grpSpPr>
          <a:xfrm>
            <a:off x="5772000" y="4556369"/>
            <a:ext cx="561388" cy="561544"/>
            <a:chOff x="5341640" y="4734748"/>
            <a:chExt cx="687568" cy="687760"/>
          </a:xfrm>
        </p:grpSpPr>
        <p:sp>
          <p:nvSpPr>
            <p:cNvPr id="86" name="椭圆 32">
              <a:extLst>
                <a:ext uri="{FF2B5EF4-FFF2-40B4-BE49-F238E27FC236}">
                  <a16:creationId xmlns:a16="http://schemas.microsoft.com/office/drawing/2014/main" id="{0E8433BC-F401-E8CD-77AE-C5E8B4C0B4BE}"/>
                </a:ext>
              </a:extLst>
            </p:cNvPr>
            <p:cNvSpPr/>
            <p:nvPr/>
          </p:nvSpPr>
          <p:spPr>
            <a:xfrm>
              <a:off x="5341640" y="4734748"/>
              <a:ext cx="687568" cy="68776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87" name="椭圆 33">
              <a:extLst>
                <a:ext uri="{FF2B5EF4-FFF2-40B4-BE49-F238E27FC236}">
                  <a16:creationId xmlns:a16="http://schemas.microsoft.com/office/drawing/2014/main" id="{6A17849B-24DD-5E34-F14C-DEE289035873}"/>
                </a:ext>
              </a:extLst>
            </p:cNvPr>
            <p:cNvSpPr/>
            <p:nvPr/>
          </p:nvSpPr>
          <p:spPr>
            <a:xfrm>
              <a:off x="5391004" y="4784126"/>
              <a:ext cx="588840" cy="5890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304800" dist="114300" dir="5400000" algn="tl" rotWithShape="0">
                <a:schemeClr val="accent1">
                  <a:lumMod val="50000"/>
                  <a:alpha val="3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88" name="iṡlïḓê">
            <a:extLst>
              <a:ext uri="{FF2B5EF4-FFF2-40B4-BE49-F238E27FC236}">
                <a16:creationId xmlns:a16="http://schemas.microsoft.com/office/drawing/2014/main" id="{B6BE98CC-744E-6837-7C98-D0A69AE6F93E}"/>
              </a:ext>
            </a:extLst>
          </p:cNvPr>
          <p:cNvSpPr txBox="1"/>
          <p:nvPr/>
        </p:nvSpPr>
        <p:spPr>
          <a:xfrm flipH="1">
            <a:off x="6635468" y="4643086"/>
            <a:ext cx="414342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sz="2000">
                <a:solidFill>
                  <a:srgbClr val="E6F5FF"/>
                </a:solidFill>
                <a:latin typeface="Microsoft YaHei"/>
              </a:rPr>
              <a:t>风险、计划与创新</a:t>
            </a:r>
          </a:p>
        </p:txBody>
      </p:sp>
      <p:sp>
        <p:nvSpPr>
          <p:cNvPr id="90" name="iṡlïḓê">
            <a:extLst>
              <a:ext uri="{FF2B5EF4-FFF2-40B4-BE49-F238E27FC236}">
                <a16:creationId xmlns:a16="http://schemas.microsoft.com/office/drawing/2014/main" id="{3BAF22A6-A48D-EC3E-A265-E5A00E9539D9}"/>
              </a:ext>
            </a:extLst>
          </p:cNvPr>
          <p:cNvSpPr txBox="1"/>
          <p:nvPr/>
        </p:nvSpPr>
        <p:spPr>
          <a:xfrm flipH="1">
            <a:off x="5826566" y="4683253"/>
            <a:ext cx="4522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05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2508E16-9CEF-A266-79CA-4FABCD4CD436}"/>
              </a:ext>
            </a:extLst>
          </p:cNvPr>
          <p:cNvGrpSpPr/>
          <p:nvPr/>
        </p:nvGrpSpPr>
        <p:grpSpPr>
          <a:xfrm>
            <a:off x="5772000" y="5495128"/>
            <a:ext cx="561388" cy="561544"/>
            <a:chOff x="5341640" y="4734748"/>
            <a:chExt cx="687568" cy="687760"/>
          </a:xfrm>
        </p:grpSpPr>
        <p:sp>
          <p:nvSpPr>
            <p:cNvPr id="3" name="椭圆 32">
              <a:extLst>
                <a:ext uri="{FF2B5EF4-FFF2-40B4-BE49-F238E27FC236}">
                  <a16:creationId xmlns:a16="http://schemas.microsoft.com/office/drawing/2014/main" id="{16D9D63E-3095-AF98-9A32-05F58C1494C6}"/>
                </a:ext>
              </a:extLst>
            </p:cNvPr>
            <p:cNvSpPr/>
            <p:nvPr/>
          </p:nvSpPr>
          <p:spPr>
            <a:xfrm>
              <a:off x="5341640" y="4734748"/>
              <a:ext cx="687568" cy="68776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4" name="椭圆 33">
              <a:extLst>
                <a:ext uri="{FF2B5EF4-FFF2-40B4-BE49-F238E27FC236}">
                  <a16:creationId xmlns:a16="http://schemas.microsoft.com/office/drawing/2014/main" id="{D6251CFE-700A-457A-EA07-E0EBF2A5EAE4}"/>
                </a:ext>
              </a:extLst>
            </p:cNvPr>
            <p:cNvSpPr/>
            <p:nvPr/>
          </p:nvSpPr>
          <p:spPr>
            <a:xfrm>
              <a:off x="5391004" y="4784126"/>
              <a:ext cx="588840" cy="5890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304800" dist="114300" dir="5400000" algn="tl" rotWithShape="0">
                <a:schemeClr val="accent1">
                  <a:lumMod val="50000"/>
                  <a:alpha val="3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5" name="iṡlïḓê">
            <a:extLst>
              <a:ext uri="{FF2B5EF4-FFF2-40B4-BE49-F238E27FC236}">
                <a16:creationId xmlns:a16="http://schemas.microsoft.com/office/drawing/2014/main" id="{9E003DD9-11D9-E4EF-C63D-B66CB4BBBEA8}"/>
              </a:ext>
            </a:extLst>
          </p:cNvPr>
          <p:cNvSpPr txBox="1"/>
          <p:nvPr/>
        </p:nvSpPr>
        <p:spPr>
          <a:xfrm flipH="1">
            <a:off x="6635468" y="5581845"/>
            <a:ext cx="414342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创新点与启发</a:t>
            </a:r>
          </a:p>
        </p:txBody>
      </p:sp>
      <p:sp>
        <p:nvSpPr>
          <p:cNvPr id="6" name="iṡlïḓê">
            <a:extLst>
              <a:ext uri="{FF2B5EF4-FFF2-40B4-BE49-F238E27FC236}">
                <a16:creationId xmlns:a16="http://schemas.microsoft.com/office/drawing/2014/main" id="{A22BA102-EC56-1883-CEEF-21EFA8C8A62D}"/>
              </a:ext>
            </a:extLst>
          </p:cNvPr>
          <p:cNvSpPr txBox="1"/>
          <p:nvPr/>
        </p:nvSpPr>
        <p:spPr>
          <a:xfrm flipH="1">
            <a:off x="5826566" y="5622012"/>
            <a:ext cx="4522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06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CCA3F7B3-D7D6-CA69-48CC-65FC18946020}"/>
              </a:ext>
            </a:extLst>
          </p:cNvPr>
          <p:cNvSpPr txBox="1">
            <a:spLocks/>
          </p:cNvSpPr>
          <p:nvPr/>
        </p:nvSpPr>
        <p:spPr>
          <a:xfrm>
            <a:off x="11064000" y="6523006"/>
            <a:ext cx="689177" cy="24622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B9D861-A37E-41C9-AD6C-452E9AD9AABC}" type="slidenum">
              <a:rPr lang="zh-CN" altLang="en-US" sz="1200" smtClean="0"/>
              <a:pPr/>
              <a:t>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2255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D23FD9E3-3A25-9D14-4BFC-77CF6FFE7934}"/>
              </a:ext>
            </a:extLst>
          </p:cNvPr>
          <p:cNvGrpSpPr/>
          <p:nvPr/>
        </p:nvGrpSpPr>
        <p:grpSpPr>
          <a:xfrm>
            <a:off x="-2" y="1714219"/>
            <a:ext cx="12054841" cy="3429000"/>
            <a:chOff x="-2" y="1769387"/>
            <a:chExt cx="12054841" cy="2533108"/>
          </a:xfrm>
        </p:grpSpPr>
        <p:sp>
          <p:nvSpPr>
            <p:cNvPr id="14" name="任意多边形 18">
              <a:extLst>
                <a:ext uri="{FF2B5EF4-FFF2-40B4-BE49-F238E27FC236}">
                  <a16:creationId xmlns:a16="http://schemas.microsoft.com/office/drawing/2014/main" id="{65B5F140-79B5-CEF6-CEDE-AC2316C6953C}"/>
                </a:ext>
              </a:extLst>
            </p:cNvPr>
            <p:cNvSpPr/>
            <p:nvPr/>
          </p:nvSpPr>
          <p:spPr>
            <a:xfrm>
              <a:off x="-2" y="1769387"/>
              <a:ext cx="12054841" cy="2467961"/>
            </a:xfrm>
            <a:custGeom>
              <a:avLst/>
              <a:gdLst>
                <a:gd name="connsiteX0" fmla="*/ 0 w 12192000"/>
                <a:gd name="connsiteY0" fmla="*/ 0 h 3374549"/>
                <a:gd name="connsiteX1" fmla="*/ 10383370 w 12192000"/>
                <a:gd name="connsiteY1" fmla="*/ 0 h 3374549"/>
                <a:gd name="connsiteX2" fmla="*/ 10537371 w 12192000"/>
                <a:gd name="connsiteY2" fmla="*/ 0 h 3374549"/>
                <a:gd name="connsiteX3" fmla="*/ 12192000 w 12192000"/>
                <a:gd name="connsiteY3" fmla="*/ 0 h 3374549"/>
                <a:gd name="connsiteX4" fmla="*/ 12192000 w 12192000"/>
                <a:gd name="connsiteY4" fmla="*/ 3374549 h 3374549"/>
                <a:gd name="connsiteX5" fmla="*/ 10537371 w 12192000"/>
                <a:gd name="connsiteY5" fmla="*/ 3374549 h 3374549"/>
                <a:gd name="connsiteX6" fmla="*/ 10383370 w 12192000"/>
                <a:gd name="connsiteY6" fmla="*/ 3374549 h 3374549"/>
                <a:gd name="connsiteX7" fmla="*/ 0 w 12192000"/>
                <a:gd name="connsiteY7" fmla="*/ 3374549 h 3374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3374549">
                  <a:moveTo>
                    <a:pt x="0" y="0"/>
                  </a:moveTo>
                  <a:lnTo>
                    <a:pt x="10383370" y="0"/>
                  </a:lnTo>
                  <a:lnTo>
                    <a:pt x="10537371" y="0"/>
                  </a:lnTo>
                  <a:lnTo>
                    <a:pt x="12192000" y="0"/>
                  </a:lnTo>
                  <a:lnTo>
                    <a:pt x="12192000" y="3374549"/>
                  </a:lnTo>
                  <a:lnTo>
                    <a:pt x="10537371" y="3374549"/>
                  </a:lnTo>
                  <a:lnTo>
                    <a:pt x="10383370" y="3374549"/>
                  </a:lnTo>
                  <a:lnTo>
                    <a:pt x="0" y="3374549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16" name="任意多边形 18">
              <a:extLst>
                <a:ext uri="{FF2B5EF4-FFF2-40B4-BE49-F238E27FC236}">
                  <a16:creationId xmlns:a16="http://schemas.microsoft.com/office/drawing/2014/main" id="{262B60A9-487C-42FB-EE0C-7B7FF7B5A348}"/>
                </a:ext>
              </a:extLst>
            </p:cNvPr>
            <p:cNvSpPr/>
            <p:nvPr/>
          </p:nvSpPr>
          <p:spPr>
            <a:xfrm>
              <a:off x="-2" y="4273695"/>
              <a:ext cx="12054841" cy="28800"/>
            </a:xfrm>
            <a:custGeom>
              <a:avLst/>
              <a:gdLst>
                <a:gd name="connsiteX0" fmla="*/ 0 w 12192000"/>
                <a:gd name="connsiteY0" fmla="*/ 0 h 3374549"/>
                <a:gd name="connsiteX1" fmla="*/ 10383370 w 12192000"/>
                <a:gd name="connsiteY1" fmla="*/ 0 h 3374549"/>
                <a:gd name="connsiteX2" fmla="*/ 10537371 w 12192000"/>
                <a:gd name="connsiteY2" fmla="*/ 0 h 3374549"/>
                <a:gd name="connsiteX3" fmla="*/ 12192000 w 12192000"/>
                <a:gd name="connsiteY3" fmla="*/ 0 h 3374549"/>
                <a:gd name="connsiteX4" fmla="*/ 12192000 w 12192000"/>
                <a:gd name="connsiteY4" fmla="*/ 3374549 h 3374549"/>
                <a:gd name="connsiteX5" fmla="*/ 10537371 w 12192000"/>
                <a:gd name="connsiteY5" fmla="*/ 3374549 h 3374549"/>
                <a:gd name="connsiteX6" fmla="*/ 10383370 w 12192000"/>
                <a:gd name="connsiteY6" fmla="*/ 3374549 h 3374549"/>
                <a:gd name="connsiteX7" fmla="*/ 0 w 12192000"/>
                <a:gd name="connsiteY7" fmla="*/ 3374549 h 3374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3374549">
                  <a:moveTo>
                    <a:pt x="0" y="0"/>
                  </a:moveTo>
                  <a:lnTo>
                    <a:pt x="10383370" y="0"/>
                  </a:lnTo>
                  <a:lnTo>
                    <a:pt x="10537371" y="0"/>
                  </a:lnTo>
                  <a:lnTo>
                    <a:pt x="12192000" y="0"/>
                  </a:lnTo>
                  <a:lnTo>
                    <a:pt x="12192000" y="3374549"/>
                  </a:lnTo>
                  <a:lnTo>
                    <a:pt x="10537371" y="3374549"/>
                  </a:lnTo>
                  <a:lnTo>
                    <a:pt x="10383370" y="3374549"/>
                  </a:lnTo>
                  <a:lnTo>
                    <a:pt x="0" y="33745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4E63F08-8EFE-3BEB-4F50-4020DEB67997}"/>
              </a:ext>
            </a:extLst>
          </p:cNvPr>
          <p:cNvGrpSpPr/>
          <p:nvPr/>
        </p:nvGrpSpPr>
        <p:grpSpPr>
          <a:xfrm>
            <a:off x="11317292" y="1559386"/>
            <a:ext cx="450529" cy="648603"/>
            <a:chOff x="10868660" y="1395304"/>
            <a:chExt cx="723881" cy="823703"/>
          </a:xfrm>
        </p:grpSpPr>
        <p:sp>
          <p:nvSpPr>
            <p:cNvPr id="17" name="任意多边形 19">
              <a:extLst>
                <a:ext uri="{FF2B5EF4-FFF2-40B4-BE49-F238E27FC236}">
                  <a16:creationId xmlns:a16="http://schemas.microsoft.com/office/drawing/2014/main" id="{F041F415-3DF9-BE72-7E92-4F258A545390}"/>
                </a:ext>
              </a:extLst>
            </p:cNvPr>
            <p:cNvSpPr/>
            <p:nvPr/>
          </p:nvSpPr>
          <p:spPr>
            <a:xfrm>
              <a:off x="10868660" y="1395305"/>
              <a:ext cx="573713" cy="823702"/>
            </a:xfrm>
            <a:custGeom>
              <a:avLst/>
              <a:gdLst>
                <a:gd name="connsiteX0" fmla="*/ 0 w 6912665"/>
                <a:gd name="connsiteY0" fmla="*/ 0 h 6858000"/>
                <a:gd name="connsiteX1" fmla="*/ 6912665 w 6912665"/>
                <a:gd name="connsiteY1" fmla="*/ 0 h 6858000"/>
                <a:gd name="connsiteX2" fmla="*/ 6912665 w 6912665"/>
                <a:gd name="connsiteY2" fmla="*/ 6858000 h 6858000"/>
                <a:gd name="connsiteX3" fmla="*/ 6874497 w 6912665"/>
                <a:gd name="connsiteY3" fmla="*/ 6858000 h 6858000"/>
                <a:gd name="connsiteX4" fmla="*/ 3456333 w 6912665"/>
                <a:gd name="connsiteY4" fmla="*/ 5578439 h 6858000"/>
                <a:gd name="connsiteX5" fmla="*/ 38168 w 6912665"/>
                <a:gd name="connsiteY5" fmla="*/ 6858000 h 6858000"/>
                <a:gd name="connsiteX6" fmla="*/ 0 w 6912665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12665" h="6858000">
                  <a:moveTo>
                    <a:pt x="0" y="0"/>
                  </a:moveTo>
                  <a:lnTo>
                    <a:pt x="6912665" y="0"/>
                  </a:lnTo>
                  <a:lnTo>
                    <a:pt x="6912665" y="6858000"/>
                  </a:lnTo>
                  <a:lnTo>
                    <a:pt x="6874497" y="6858000"/>
                  </a:lnTo>
                  <a:lnTo>
                    <a:pt x="3456333" y="5578439"/>
                  </a:lnTo>
                  <a:lnTo>
                    <a:pt x="3816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18" name="直角三角形 17">
              <a:extLst>
                <a:ext uri="{FF2B5EF4-FFF2-40B4-BE49-F238E27FC236}">
                  <a16:creationId xmlns:a16="http://schemas.microsoft.com/office/drawing/2014/main" id="{AE370753-FEE2-D1B4-A99A-CFFEAA8DFE3C}"/>
                </a:ext>
              </a:extLst>
            </p:cNvPr>
            <p:cNvSpPr/>
            <p:nvPr/>
          </p:nvSpPr>
          <p:spPr>
            <a:xfrm>
              <a:off x="11442377" y="1395304"/>
              <a:ext cx="150164" cy="265252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C40E9899-4E5D-4B48-8427-4FBA43C0B680}"/>
              </a:ext>
            </a:extLst>
          </p:cNvPr>
          <p:cNvSpPr txBox="1"/>
          <p:nvPr/>
        </p:nvSpPr>
        <p:spPr>
          <a:xfrm>
            <a:off x="4691604" y="2133000"/>
            <a:ext cx="28087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>
                <a:solidFill>
                  <a:srgbClr val="E6F5FF"/>
                </a:solidFill>
                <a:latin typeface="Microsoft YaHei"/>
              </a:rPr>
              <a:t>PART 01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302D06-0D67-54E5-C56F-0EDAC32EA28B}"/>
              </a:ext>
            </a:extLst>
          </p:cNvPr>
          <p:cNvSpPr txBox="1"/>
          <p:nvPr/>
        </p:nvSpPr>
        <p:spPr>
          <a:xfrm>
            <a:off x="721358" y="2933468"/>
            <a:ext cx="10749282" cy="14100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600" b="0" i="0" u="none" strike="noStrike" cap="none" spc="0" normalizeH="0" baseline="0">
                <a:ln>
                  <a:noFill/>
                </a:ln>
                <a:gradFill>
                  <a:gsLst>
                    <a:gs pos="48000">
                      <a:prstClr val="white"/>
                    </a:gs>
                    <a:gs pos="97000">
                      <a:schemeClr val="accent1">
                        <a:lumMod val="20000"/>
                        <a:lumOff val="80000"/>
                      </a:schemeClr>
                    </a:gs>
                  </a:gsLst>
                  <a:lin ang="5400000" scaled="0"/>
                </a:gradFill>
                <a:effectLst>
                  <a:outerShdw blurRad="25400" dist="50800" dir="2700000" algn="tl" rotWithShape="0">
                    <a:srgbClr val="0648A1">
                      <a:lumMod val="50000"/>
                      <a:alpha val="66000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sz="3200">
                <a:solidFill>
                  <a:srgbClr val="E6F5FF"/>
                </a:solidFill>
                <a:latin typeface="Microsoft YaHei"/>
              </a:rPr>
              <a:t>研究背景与研究目标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00C6FEC-0E69-65F0-1FD8-8CDBA261B5D3}"/>
              </a:ext>
            </a:extLst>
          </p:cNvPr>
          <p:cNvGrpSpPr/>
          <p:nvPr/>
        </p:nvGrpSpPr>
        <p:grpSpPr>
          <a:xfrm>
            <a:off x="3279950" y="2414598"/>
            <a:ext cx="5632100" cy="206245"/>
            <a:chOff x="2948063" y="2629009"/>
            <a:chExt cx="5632100" cy="206245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8F537A7E-3C8E-7092-96DF-8816844B2624}"/>
                </a:ext>
              </a:extLst>
            </p:cNvPr>
            <p:cNvGrpSpPr/>
            <p:nvPr/>
          </p:nvGrpSpPr>
          <p:grpSpPr>
            <a:xfrm>
              <a:off x="7283756" y="2629009"/>
              <a:ext cx="1296407" cy="206245"/>
              <a:chOff x="5500918" y="1990978"/>
              <a:chExt cx="2554514" cy="406400"/>
            </a:xfrm>
          </p:grpSpPr>
          <p:sp>
            <p:nvSpPr>
              <p:cNvPr id="28" name="菱形 23">
                <a:extLst>
                  <a:ext uri="{FF2B5EF4-FFF2-40B4-BE49-F238E27FC236}">
                    <a16:creationId xmlns:a16="http://schemas.microsoft.com/office/drawing/2014/main" id="{DD88A83F-033E-3CEE-8224-B5C43617AD92}"/>
                  </a:ext>
                </a:extLst>
              </p:cNvPr>
              <p:cNvSpPr/>
              <p:nvPr/>
            </p:nvSpPr>
            <p:spPr>
              <a:xfrm>
                <a:off x="5500918" y="1990978"/>
                <a:ext cx="203199" cy="406400"/>
              </a:xfrm>
              <a:custGeom>
                <a:avLst/>
                <a:gdLst>
                  <a:gd name="connsiteX0" fmla="*/ 0 w 1422400"/>
                  <a:gd name="connsiteY0" fmla="*/ 711200 h 1422400"/>
                  <a:gd name="connsiteX1" fmla="*/ 711200 w 1422400"/>
                  <a:gd name="connsiteY1" fmla="*/ 0 h 1422400"/>
                  <a:gd name="connsiteX2" fmla="*/ 1422400 w 1422400"/>
                  <a:gd name="connsiteY2" fmla="*/ 711200 h 1422400"/>
                  <a:gd name="connsiteX3" fmla="*/ 711200 w 1422400"/>
                  <a:gd name="connsiteY3" fmla="*/ 1422400 h 1422400"/>
                  <a:gd name="connsiteX4" fmla="*/ 0 w 1422400"/>
                  <a:gd name="connsiteY4" fmla="*/ 711200 h 1422400"/>
                  <a:gd name="connsiteX0" fmla="*/ 0 w 1422400"/>
                  <a:gd name="connsiteY0" fmla="*/ 711200 h 1422400"/>
                  <a:gd name="connsiteX1" fmla="*/ 711200 w 1422400"/>
                  <a:gd name="connsiteY1" fmla="*/ 0 h 1422400"/>
                  <a:gd name="connsiteX2" fmla="*/ 1422400 w 1422400"/>
                  <a:gd name="connsiteY2" fmla="*/ 711200 h 1422400"/>
                  <a:gd name="connsiteX3" fmla="*/ 711200 w 1422400"/>
                  <a:gd name="connsiteY3" fmla="*/ 1422400 h 1422400"/>
                  <a:gd name="connsiteX4" fmla="*/ 91440 w 1422400"/>
                  <a:gd name="connsiteY4" fmla="*/ 802640 h 1422400"/>
                  <a:gd name="connsiteX0" fmla="*/ 0 w 1422400"/>
                  <a:gd name="connsiteY0" fmla="*/ 711200 h 1422400"/>
                  <a:gd name="connsiteX1" fmla="*/ 711200 w 1422400"/>
                  <a:gd name="connsiteY1" fmla="*/ 0 h 1422400"/>
                  <a:gd name="connsiteX2" fmla="*/ 1422400 w 1422400"/>
                  <a:gd name="connsiteY2" fmla="*/ 711200 h 1422400"/>
                  <a:gd name="connsiteX3" fmla="*/ 711200 w 1422400"/>
                  <a:gd name="connsiteY3" fmla="*/ 1422400 h 1422400"/>
                  <a:gd name="connsiteX0" fmla="*/ 0 w 711200"/>
                  <a:gd name="connsiteY0" fmla="*/ 0 h 1422400"/>
                  <a:gd name="connsiteX1" fmla="*/ 711200 w 711200"/>
                  <a:gd name="connsiteY1" fmla="*/ 711200 h 1422400"/>
                  <a:gd name="connsiteX2" fmla="*/ 0 w 711200"/>
                  <a:gd name="connsiteY2" fmla="*/ 1422400 h 142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1200" h="1422400">
                    <a:moveTo>
                      <a:pt x="0" y="0"/>
                    </a:moveTo>
                    <a:lnTo>
                      <a:pt x="711200" y="711200"/>
                    </a:lnTo>
                    <a:lnTo>
                      <a:pt x="0" y="1422400"/>
                    </a:lnTo>
                  </a:path>
                </a:pathLst>
              </a:custGeom>
              <a:no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</a:endParaRPr>
              </a:p>
            </p:txBody>
          </p: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F9450AA5-3881-FE3C-69DC-60B57BA88F9F}"/>
                  </a:ext>
                </a:extLst>
              </p:cNvPr>
              <p:cNvCxnSpPr>
                <a:cxnSpLocks/>
                <a:stCxn id="28" idx="1"/>
              </p:cNvCxnSpPr>
              <p:nvPr/>
            </p:nvCxnSpPr>
            <p:spPr>
              <a:xfrm flipV="1">
                <a:off x="5704117" y="2185891"/>
                <a:ext cx="2351315" cy="8288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471A38E3-DE79-C7C3-3CAC-314076F6BD6D}"/>
                </a:ext>
              </a:extLst>
            </p:cNvPr>
            <p:cNvGrpSpPr/>
            <p:nvPr/>
          </p:nvGrpSpPr>
          <p:grpSpPr>
            <a:xfrm flipH="1">
              <a:off x="2948063" y="2629009"/>
              <a:ext cx="1296407" cy="206245"/>
              <a:chOff x="6879771" y="1990978"/>
              <a:chExt cx="2554515" cy="406400"/>
            </a:xfrm>
          </p:grpSpPr>
          <p:sp>
            <p:nvSpPr>
              <p:cNvPr id="26" name="菱形 23">
                <a:extLst>
                  <a:ext uri="{FF2B5EF4-FFF2-40B4-BE49-F238E27FC236}">
                    <a16:creationId xmlns:a16="http://schemas.microsoft.com/office/drawing/2014/main" id="{DC464E92-EBFC-4C29-28B4-73998D0D049E}"/>
                  </a:ext>
                </a:extLst>
              </p:cNvPr>
              <p:cNvSpPr/>
              <p:nvPr/>
            </p:nvSpPr>
            <p:spPr>
              <a:xfrm>
                <a:off x="6879771" y="1990978"/>
                <a:ext cx="203200" cy="406400"/>
              </a:xfrm>
              <a:custGeom>
                <a:avLst/>
                <a:gdLst>
                  <a:gd name="connsiteX0" fmla="*/ 0 w 1422400"/>
                  <a:gd name="connsiteY0" fmla="*/ 711200 h 1422400"/>
                  <a:gd name="connsiteX1" fmla="*/ 711200 w 1422400"/>
                  <a:gd name="connsiteY1" fmla="*/ 0 h 1422400"/>
                  <a:gd name="connsiteX2" fmla="*/ 1422400 w 1422400"/>
                  <a:gd name="connsiteY2" fmla="*/ 711200 h 1422400"/>
                  <a:gd name="connsiteX3" fmla="*/ 711200 w 1422400"/>
                  <a:gd name="connsiteY3" fmla="*/ 1422400 h 1422400"/>
                  <a:gd name="connsiteX4" fmla="*/ 0 w 1422400"/>
                  <a:gd name="connsiteY4" fmla="*/ 711200 h 1422400"/>
                  <a:gd name="connsiteX0" fmla="*/ 0 w 1422400"/>
                  <a:gd name="connsiteY0" fmla="*/ 711200 h 1422400"/>
                  <a:gd name="connsiteX1" fmla="*/ 711200 w 1422400"/>
                  <a:gd name="connsiteY1" fmla="*/ 0 h 1422400"/>
                  <a:gd name="connsiteX2" fmla="*/ 1422400 w 1422400"/>
                  <a:gd name="connsiteY2" fmla="*/ 711200 h 1422400"/>
                  <a:gd name="connsiteX3" fmla="*/ 711200 w 1422400"/>
                  <a:gd name="connsiteY3" fmla="*/ 1422400 h 1422400"/>
                  <a:gd name="connsiteX4" fmla="*/ 91440 w 1422400"/>
                  <a:gd name="connsiteY4" fmla="*/ 802640 h 1422400"/>
                  <a:gd name="connsiteX0" fmla="*/ 0 w 1422400"/>
                  <a:gd name="connsiteY0" fmla="*/ 711200 h 1422400"/>
                  <a:gd name="connsiteX1" fmla="*/ 711200 w 1422400"/>
                  <a:gd name="connsiteY1" fmla="*/ 0 h 1422400"/>
                  <a:gd name="connsiteX2" fmla="*/ 1422400 w 1422400"/>
                  <a:gd name="connsiteY2" fmla="*/ 711200 h 1422400"/>
                  <a:gd name="connsiteX3" fmla="*/ 711200 w 1422400"/>
                  <a:gd name="connsiteY3" fmla="*/ 1422400 h 1422400"/>
                  <a:gd name="connsiteX0" fmla="*/ 0 w 711200"/>
                  <a:gd name="connsiteY0" fmla="*/ 0 h 1422400"/>
                  <a:gd name="connsiteX1" fmla="*/ 711200 w 711200"/>
                  <a:gd name="connsiteY1" fmla="*/ 711200 h 1422400"/>
                  <a:gd name="connsiteX2" fmla="*/ 0 w 711200"/>
                  <a:gd name="connsiteY2" fmla="*/ 1422400 h 142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11200" h="1422400">
                    <a:moveTo>
                      <a:pt x="0" y="0"/>
                    </a:moveTo>
                    <a:lnTo>
                      <a:pt x="711200" y="711200"/>
                    </a:lnTo>
                    <a:lnTo>
                      <a:pt x="0" y="1422400"/>
                    </a:lnTo>
                  </a:path>
                </a:pathLst>
              </a:custGeom>
              <a:no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+mn-cs"/>
                </a:endParaRPr>
              </a:p>
            </p:txBody>
          </p: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453554ED-9855-2293-0CCF-DE26F0FD0A41}"/>
                  </a:ext>
                </a:extLst>
              </p:cNvPr>
              <p:cNvCxnSpPr>
                <a:cxnSpLocks/>
                <a:stCxn id="26" idx="1"/>
              </p:cNvCxnSpPr>
              <p:nvPr/>
            </p:nvCxnSpPr>
            <p:spPr>
              <a:xfrm flipV="1">
                <a:off x="7082971" y="2185891"/>
                <a:ext cx="2351315" cy="8287"/>
              </a:xfrm>
              <a:prstGeom prst="line">
                <a:avLst/>
              </a:prstGeom>
              <a:ln>
                <a:gradFill flip="none" rotWithShape="1"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B2432EC5-A10F-8107-A53E-100614809840}"/>
              </a:ext>
            </a:extLst>
          </p:cNvPr>
          <p:cNvSpPr txBox="1">
            <a:spLocks/>
          </p:cNvSpPr>
          <p:nvPr/>
        </p:nvSpPr>
        <p:spPr>
          <a:xfrm>
            <a:off x="11064000" y="6523006"/>
            <a:ext cx="689177" cy="24622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B9D861-A37E-41C9-AD6C-452E9AD9AABC}" type="slidenum">
              <a:rPr lang="zh-CN" altLang="en-US" sz="1200" smtClean="0"/>
              <a:pPr/>
              <a:t>3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1399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3EE01-22B8-73C3-571D-C2415F145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>
            <a:extLst>
              <a:ext uri="{FF2B5EF4-FFF2-40B4-BE49-F238E27FC236}">
                <a16:creationId xmlns:a16="http://schemas.microsoft.com/office/drawing/2014/main" id="{CA3023A1-89F4-B1EF-CDC4-296687F54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5141" y="1668011"/>
            <a:ext cx="9824589" cy="7139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>
                <a:solidFill>
                  <a:srgbClr val="E6F5FF"/>
                </a:solidFill>
                <a:latin typeface="Microsoft YaHei"/>
              </a:rPr>
              <a:t>光伏组件长期暴露于户外，灰尘沉积与水汽凝结会增加散射/吸收，降低玻璃透光率。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1987E25-1758-C45B-C5D4-229EF91C59D7}"/>
              </a:ext>
            </a:extLst>
          </p:cNvPr>
          <p:cNvSpPr/>
          <p:nvPr/>
        </p:nvSpPr>
        <p:spPr>
          <a:xfrm>
            <a:off x="485837" y="1485000"/>
            <a:ext cx="858163" cy="10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sym typeface="+mn-ea"/>
              </a:rPr>
              <a:t>研究目的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F58A7E5-FC13-EDF7-C94E-5919E02FC148}"/>
              </a:ext>
            </a:extLst>
          </p:cNvPr>
          <p:cNvSpPr/>
          <p:nvPr/>
        </p:nvSpPr>
        <p:spPr>
          <a:xfrm>
            <a:off x="1509571" y="1485000"/>
            <a:ext cx="10165708" cy="1080000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5A0234-63D0-8D6D-643E-D4EA5C9E9C3D}"/>
              </a:ext>
            </a:extLst>
          </p:cNvPr>
          <p:cNvSpPr/>
          <p:nvPr/>
        </p:nvSpPr>
        <p:spPr>
          <a:xfrm>
            <a:off x="485837" y="2889284"/>
            <a:ext cx="858163" cy="35637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sym typeface="+mn-ea"/>
              </a:rPr>
              <a:t>研究对象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78491F8-ECBD-0EAC-00C5-7F61338AB78A}"/>
              </a:ext>
            </a:extLst>
          </p:cNvPr>
          <p:cNvSpPr/>
          <p:nvPr/>
        </p:nvSpPr>
        <p:spPr>
          <a:xfrm>
            <a:off x="1509571" y="2889283"/>
            <a:ext cx="3249978" cy="566187"/>
          </a:xfrm>
          <a:prstGeom prst="roundRect">
            <a:avLst>
              <a:gd name="adj" fmla="val 0"/>
            </a:avLst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4704B7B-26A6-9E4D-A48E-896012100550}"/>
              </a:ext>
            </a:extLst>
          </p:cNvPr>
          <p:cNvSpPr txBox="1"/>
          <p:nvPr/>
        </p:nvSpPr>
        <p:spPr>
          <a:xfrm>
            <a:off x="1667999" y="3027294"/>
            <a:ext cx="2499626" cy="3264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sz="1800">
                <a:solidFill>
                  <a:srgbClr val="E6F5FF"/>
                </a:solidFill>
                <a:latin typeface="Microsoft YaHei"/>
              </a:rPr>
              <a:t>01. 现实需求</a:t>
            </a:r>
          </a:p>
        </p:txBody>
      </p:sp>
      <p:sp>
        <p:nvSpPr>
          <p:cNvPr id="37" name="Rectangle 1">
            <a:extLst>
              <a:ext uri="{FF2B5EF4-FFF2-40B4-BE49-F238E27FC236}">
                <a16:creationId xmlns:a16="http://schemas.microsoft.com/office/drawing/2014/main" id="{13DA0085-07FA-7484-6870-4D96C4C99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000" y="3574653"/>
            <a:ext cx="2916000" cy="13786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>
                <a:solidFill>
                  <a:srgbClr val="E6F5FF"/>
                </a:solidFill>
                <a:latin typeface="Microsoft YaHei"/>
              </a:rPr>
              <a:t>防雾：凝露快速铺展成连续水膜</a:t>
            </a:r>
          </a:p>
          <a:p>
            <a:r>
              <a:rPr sz="1800">
                <a:solidFill>
                  <a:srgbClr val="E6F5FF"/>
                </a:solidFill>
                <a:latin typeface="Microsoft YaHei"/>
              </a:rPr>
              <a:t>自清洁：光催化降解 + 水冲洗</a:t>
            </a:r>
          </a:p>
          <a:p>
            <a:r>
              <a:rPr sz="1800">
                <a:solidFill>
                  <a:srgbClr val="E6F5FF"/>
                </a:solidFill>
                <a:latin typeface="Microsoft YaHei"/>
              </a:rPr>
              <a:t>高透光：控制散射与雾度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AF4158B8-7CED-F11F-D378-78C1CB9A8BD1}"/>
              </a:ext>
            </a:extLst>
          </p:cNvPr>
          <p:cNvSpPr/>
          <p:nvPr/>
        </p:nvSpPr>
        <p:spPr>
          <a:xfrm>
            <a:off x="1509571" y="2889284"/>
            <a:ext cx="3249978" cy="35637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8C45C082-3FD1-1AFA-3AE4-5AF4CE7BD9D2}"/>
              </a:ext>
            </a:extLst>
          </p:cNvPr>
          <p:cNvSpPr/>
          <p:nvPr/>
        </p:nvSpPr>
        <p:spPr>
          <a:xfrm>
            <a:off x="4967437" y="2889283"/>
            <a:ext cx="3249978" cy="566187"/>
          </a:xfrm>
          <a:prstGeom prst="roundRect">
            <a:avLst>
              <a:gd name="adj" fmla="val 0"/>
            </a:avLst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A39C19C-4991-A9FB-41DA-31E13D9764BB}"/>
              </a:ext>
            </a:extLst>
          </p:cNvPr>
          <p:cNvSpPr txBox="1"/>
          <p:nvPr/>
        </p:nvSpPr>
        <p:spPr>
          <a:xfrm>
            <a:off x="5125865" y="3027294"/>
            <a:ext cx="2499626" cy="3264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sz="1800">
                <a:solidFill>
                  <a:srgbClr val="E6F5FF"/>
                </a:solidFill>
                <a:latin typeface="Microsoft YaHei"/>
              </a:rPr>
              <a:t>02. 研究策略</a:t>
            </a:r>
          </a:p>
        </p:txBody>
      </p:sp>
      <p:sp>
        <p:nvSpPr>
          <p:cNvPr id="54" name="Rectangle 1">
            <a:extLst>
              <a:ext uri="{FF2B5EF4-FFF2-40B4-BE49-F238E27FC236}">
                <a16:creationId xmlns:a16="http://schemas.microsoft.com/office/drawing/2014/main" id="{1DA71A05-1E85-6625-1E3C-20CE40B48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5866" y="3574653"/>
            <a:ext cx="2916000" cy="10691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>
                <a:solidFill>
                  <a:srgbClr val="E6F5FF"/>
                </a:solidFill>
                <a:latin typeface="Microsoft YaHei"/>
              </a:rPr>
              <a:t>激光构筑可控微纳形貌</a:t>
            </a:r>
          </a:p>
          <a:p>
            <a:r>
              <a:rPr sz="1800">
                <a:solidFill>
                  <a:srgbClr val="E6F5FF"/>
                </a:solidFill>
                <a:latin typeface="Microsoft YaHei"/>
              </a:rPr>
              <a:t>TiO₂ 薄膜提供亲水与催化功能</a:t>
            </a:r>
          </a:p>
          <a:p>
            <a:r>
              <a:rPr sz="1800">
                <a:solidFill>
                  <a:srgbClr val="E6F5FF"/>
                </a:solidFill>
                <a:latin typeface="Microsoft YaHei"/>
              </a:rPr>
              <a:t>研究先结构、后沉积的界面机制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E9155A08-C901-F57E-4E9E-1E303008138A}"/>
              </a:ext>
            </a:extLst>
          </p:cNvPr>
          <p:cNvSpPr/>
          <p:nvPr/>
        </p:nvSpPr>
        <p:spPr>
          <a:xfrm>
            <a:off x="4967437" y="2889284"/>
            <a:ext cx="3249978" cy="35637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1120F91-75EA-C195-74F5-475BC0A1E183}"/>
              </a:ext>
            </a:extLst>
          </p:cNvPr>
          <p:cNvSpPr/>
          <p:nvPr/>
        </p:nvSpPr>
        <p:spPr>
          <a:xfrm>
            <a:off x="8425302" y="2889283"/>
            <a:ext cx="3249978" cy="566187"/>
          </a:xfrm>
          <a:prstGeom prst="roundRect">
            <a:avLst>
              <a:gd name="adj" fmla="val 0"/>
            </a:avLst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F30FDEE-2A70-2E2C-C23E-0DCD76AA0EDF}"/>
              </a:ext>
            </a:extLst>
          </p:cNvPr>
          <p:cNvSpPr txBox="1"/>
          <p:nvPr/>
        </p:nvSpPr>
        <p:spPr>
          <a:xfrm>
            <a:off x="8583730" y="3027294"/>
            <a:ext cx="2499626" cy="3264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sz="1800">
                <a:solidFill>
                  <a:srgbClr val="E6F5FF"/>
                </a:solidFill>
                <a:latin typeface="Microsoft YaHei"/>
              </a:rPr>
              <a:t>03. 预期价值</a:t>
            </a:r>
          </a:p>
        </p:txBody>
      </p:sp>
      <p:sp>
        <p:nvSpPr>
          <p:cNvPr id="59" name="Rectangle 1">
            <a:extLst>
              <a:ext uri="{FF2B5EF4-FFF2-40B4-BE49-F238E27FC236}">
                <a16:creationId xmlns:a16="http://schemas.microsoft.com/office/drawing/2014/main" id="{7D00682A-6F59-98E8-8EF3-82FC305FC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3731" y="3574653"/>
            <a:ext cx="2916000" cy="13786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>
                <a:solidFill>
                  <a:srgbClr val="E6F5FF"/>
                </a:solidFill>
                <a:latin typeface="Microsoft YaHei"/>
              </a:rPr>
              <a:t>减轻凝露与污染造成的光学损失</a:t>
            </a:r>
          </a:p>
          <a:p>
            <a:r>
              <a:rPr sz="1800">
                <a:solidFill>
                  <a:srgbClr val="E6F5FF"/>
                </a:solidFill>
                <a:latin typeface="Microsoft YaHei"/>
              </a:rPr>
              <a:t>探索降低组件清洗维护频次</a:t>
            </a:r>
          </a:p>
          <a:p>
            <a:r>
              <a:rPr sz="1800">
                <a:solidFill>
                  <a:srgbClr val="E6F5FF"/>
                </a:solidFill>
                <a:latin typeface="Microsoft YaHei"/>
              </a:rPr>
              <a:t>建立结构—性能关系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2A4C4D69-6C68-4581-ACDA-EF1C2F0EB302}"/>
              </a:ext>
            </a:extLst>
          </p:cNvPr>
          <p:cNvSpPr/>
          <p:nvPr/>
        </p:nvSpPr>
        <p:spPr>
          <a:xfrm>
            <a:off x="8425302" y="2889284"/>
            <a:ext cx="3249978" cy="3563716"/>
          </a:xfrm>
          <a:prstGeom prst="roundRect">
            <a:avLst>
              <a:gd name="adj" fmla="val 0"/>
            </a:avLst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D27165-CE3A-2C35-7069-FE6C0E271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279" y="5018804"/>
            <a:ext cx="1838562" cy="1326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95B381C-AADF-59D3-67F6-582D0D365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759712" y="4479221"/>
            <a:ext cx="1598957" cy="2132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A891BFE-E1FC-FE74-5F02-D7ED36F32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117" y="5005772"/>
            <a:ext cx="1339228" cy="133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AA51A3A8-206E-D6DD-F550-7FCF768590B6}"/>
              </a:ext>
            </a:extLst>
          </p:cNvPr>
          <p:cNvSpPr txBox="1"/>
          <p:nvPr/>
        </p:nvSpPr>
        <p:spPr>
          <a:xfrm>
            <a:off x="545674" y="675767"/>
            <a:ext cx="3804434" cy="512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uLnTx/>
                <a:uFillTx/>
                <a:latin typeface="+mn-ea"/>
              </a:defRPr>
            </a:lvl1pPr>
          </a:lstStyle>
          <a:p>
            <a:r>
              <a:rPr sz="2200">
                <a:solidFill>
                  <a:srgbClr val="E6F5FF"/>
                </a:solidFill>
                <a:latin typeface="Microsoft YaHei"/>
              </a:rPr>
              <a:t>研究背景与研究目标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8C081166-C0A6-D0D2-208A-F0F4933EDEE5}"/>
              </a:ext>
            </a:extLst>
          </p:cNvPr>
          <p:cNvGrpSpPr/>
          <p:nvPr/>
        </p:nvGrpSpPr>
        <p:grpSpPr>
          <a:xfrm>
            <a:off x="-18375" y="751954"/>
            <a:ext cx="362021" cy="296275"/>
            <a:chOff x="-5864720" y="822384"/>
            <a:chExt cx="362021" cy="126522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5EC83F7B-55B7-2090-108F-D596417C4D74}"/>
                </a:ext>
              </a:extLst>
            </p:cNvPr>
            <p:cNvSpPr/>
            <p:nvPr/>
          </p:nvSpPr>
          <p:spPr>
            <a:xfrm>
              <a:off x="-5864720" y="822384"/>
              <a:ext cx="274804" cy="1265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51D9238-EFB4-6A81-D9DE-DE7048182305}"/>
                </a:ext>
              </a:extLst>
            </p:cNvPr>
            <p:cNvSpPr/>
            <p:nvPr/>
          </p:nvSpPr>
          <p:spPr>
            <a:xfrm>
              <a:off x="-5548418" y="822384"/>
              <a:ext cx="45719" cy="126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EE84E948-332B-5967-1768-EC3C1A50B911}"/>
              </a:ext>
            </a:extLst>
          </p:cNvPr>
          <p:cNvSpPr/>
          <p:nvPr/>
        </p:nvSpPr>
        <p:spPr>
          <a:xfrm>
            <a:off x="0" y="0"/>
            <a:ext cx="12191999" cy="4235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780AE9FA-3589-8A00-408F-00B909ADEEC5}"/>
              </a:ext>
            </a:extLst>
          </p:cNvPr>
          <p:cNvSpPr/>
          <p:nvPr/>
        </p:nvSpPr>
        <p:spPr>
          <a:xfrm flipV="1">
            <a:off x="2941580" y="378755"/>
            <a:ext cx="216000" cy="1080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13E582-D51C-11F6-8708-A5B1F6463977}"/>
              </a:ext>
            </a:extLst>
          </p:cNvPr>
          <p:cNvSpPr/>
          <p:nvPr/>
        </p:nvSpPr>
        <p:spPr>
          <a:xfrm>
            <a:off x="0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6A163B-6621-090D-B800-710A039C1BF4}"/>
              </a:ext>
            </a:extLst>
          </p:cNvPr>
          <p:cNvSpPr/>
          <p:nvPr/>
        </p:nvSpPr>
        <p:spPr>
          <a:xfrm>
            <a:off x="2025891" y="0"/>
            <a:ext cx="2037266" cy="385449"/>
          </a:xfrm>
          <a:prstGeom prst="rect">
            <a:avLst/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2BBEF6-1A3D-D1A3-49E7-B2E7A2C1A281}"/>
              </a:ext>
            </a:extLst>
          </p:cNvPr>
          <p:cNvSpPr/>
          <p:nvPr/>
        </p:nvSpPr>
        <p:spPr>
          <a:xfrm>
            <a:off x="405810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E2199E-692D-5208-DD05-45C0AF63FEF4}"/>
              </a:ext>
            </a:extLst>
          </p:cNvPr>
          <p:cNvSpPr/>
          <p:nvPr/>
        </p:nvSpPr>
        <p:spPr>
          <a:xfrm>
            <a:off x="609031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4F54A9-3534-F2D0-9B0A-876E6094AC00}"/>
              </a:ext>
            </a:extLst>
          </p:cNvPr>
          <p:cNvSpPr/>
          <p:nvPr/>
        </p:nvSpPr>
        <p:spPr>
          <a:xfrm>
            <a:off x="812252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64918E-1FF2-B3ED-4082-A38FAA72A887}"/>
              </a:ext>
            </a:extLst>
          </p:cNvPr>
          <p:cNvSpPr/>
          <p:nvPr/>
        </p:nvSpPr>
        <p:spPr>
          <a:xfrm>
            <a:off x="10154733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CD49D-FD86-0233-DD37-B7923D43670A}"/>
              </a:ext>
            </a:extLst>
          </p:cNvPr>
          <p:cNvSpPr/>
          <p:nvPr/>
        </p:nvSpPr>
        <p:spPr>
          <a:xfrm>
            <a:off x="0" y="0"/>
            <a:ext cx="2030947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D3AD23-76B3-F8AC-4A44-8489697A76DF}"/>
              </a:ext>
            </a:extLst>
          </p:cNvPr>
          <p:cNvSpPr txBox="1"/>
          <p:nvPr/>
        </p:nvSpPr>
        <p:spPr>
          <a:xfrm>
            <a:off x="2536619" y="61642"/>
            <a:ext cx="1025923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研究思路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77C943-C237-B01B-E26E-93923A538BE4}"/>
              </a:ext>
            </a:extLst>
          </p:cNvPr>
          <p:cNvSpPr txBox="1"/>
          <p:nvPr/>
        </p:nvSpPr>
        <p:spPr>
          <a:xfrm>
            <a:off x="207559" y="770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研究信息与背景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8D1C0D-A0B0-BEE0-8F14-B331A45380A5}"/>
              </a:ext>
            </a:extLst>
          </p:cNvPr>
          <p:cNvSpPr txBox="1"/>
          <p:nvPr/>
        </p:nvSpPr>
        <p:spPr>
          <a:xfrm>
            <a:off x="4618861" y="77031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研究成果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82C655-2ACA-A810-EF14-8798AF47C95A}"/>
              </a:ext>
            </a:extLst>
          </p:cNvPr>
          <p:cNvSpPr txBox="1"/>
          <p:nvPr/>
        </p:nvSpPr>
        <p:spPr>
          <a:xfrm>
            <a:off x="6303559" y="770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研究结论与讨论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AC1DE8-DC30-52AB-C0DC-571DD4E930D7}"/>
              </a:ext>
            </a:extLst>
          </p:cNvPr>
          <p:cNvSpPr txBox="1"/>
          <p:nvPr/>
        </p:nvSpPr>
        <p:spPr>
          <a:xfrm>
            <a:off x="8565338" y="77031"/>
            <a:ext cx="1154162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展望与借鉴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8DEFA5-7390-E1EF-C506-0B54DDEC50E7}"/>
              </a:ext>
            </a:extLst>
          </p:cNvPr>
          <p:cNvSpPr txBox="1"/>
          <p:nvPr/>
        </p:nvSpPr>
        <p:spPr>
          <a:xfrm>
            <a:off x="10480868" y="77031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创新点与启发</a:t>
            </a: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76188E2E-A05A-34D9-CC2A-292648C318AC}"/>
              </a:ext>
            </a:extLst>
          </p:cNvPr>
          <p:cNvSpPr txBox="1">
            <a:spLocks/>
          </p:cNvSpPr>
          <p:nvPr/>
        </p:nvSpPr>
        <p:spPr>
          <a:xfrm>
            <a:off x="11064000" y="6523006"/>
            <a:ext cx="689177" cy="24622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B9D861-A37E-41C9-AD6C-452E9AD9AABC}" type="slidenum">
              <a:rPr lang="zh-CN" altLang="en-US" sz="1200" smtClean="0"/>
              <a:pPr/>
              <a:t>8</a:t>
            </a:fld>
            <a:endParaRPr lang="zh-CN" altLang="en-US" sz="1200" dirty="0"/>
          </a:p>
        </p:txBody>
      </p:sp>
      <p:pic>
        <p:nvPicPr>
          <p:cNvPr id="1031" name="Picture 1030" descr="mic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4937760"/>
            <a:ext cx="1828800" cy="1371600"/>
          </a:xfrm>
          <a:prstGeom prst="rect">
            <a:avLst/>
          </a:prstGeom>
        </p:spPr>
      </p:pic>
      <p:pic>
        <p:nvPicPr>
          <p:cNvPr id="1032" name="Picture 1031" descr="he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4480560"/>
            <a:ext cx="1645920" cy="2103120"/>
          </a:xfrm>
          <a:prstGeom prst="rect">
            <a:avLst/>
          </a:prstGeom>
        </p:spPr>
      </p:pic>
      <p:pic>
        <p:nvPicPr>
          <p:cNvPr id="1033" name="Picture 1032" descr="rou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4754880"/>
            <a:ext cx="146304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446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1F2FBBB-6EE3-86D0-03D7-DD4388A3A556}"/>
              </a:ext>
            </a:extLst>
          </p:cNvPr>
          <p:cNvSpPr/>
          <p:nvPr/>
        </p:nvSpPr>
        <p:spPr>
          <a:xfrm>
            <a:off x="8962551" y="1708438"/>
            <a:ext cx="2708589" cy="4179020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1421D8-A0A5-7B20-0562-D6CE2C7A0966}"/>
              </a:ext>
            </a:extLst>
          </p:cNvPr>
          <p:cNvSpPr>
            <a:spLocks/>
          </p:cNvSpPr>
          <p:nvPr/>
        </p:nvSpPr>
        <p:spPr>
          <a:xfrm>
            <a:off x="3334759" y="2500418"/>
            <a:ext cx="2708589" cy="3387042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E78078-2516-BB88-B230-C778C22EA890}"/>
              </a:ext>
            </a:extLst>
          </p:cNvPr>
          <p:cNvSpPr/>
          <p:nvPr/>
        </p:nvSpPr>
        <p:spPr>
          <a:xfrm>
            <a:off x="520862" y="2896407"/>
            <a:ext cx="2708589" cy="2991052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B1ACB1-EDE8-38FC-B859-E6BDB5A72EBB}"/>
              </a:ext>
            </a:extLst>
          </p:cNvPr>
          <p:cNvSpPr/>
          <p:nvPr/>
        </p:nvSpPr>
        <p:spPr>
          <a:xfrm>
            <a:off x="6148654" y="2104428"/>
            <a:ext cx="2708589" cy="378303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AB32C1B-1694-EF86-C54D-A30E294D7B72}"/>
              </a:ext>
            </a:extLst>
          </p:cNvPr>
          <p:cNvSpPr/>
          <p:nvPr/>
        </p:nvSpPr>
        <p:spPr>
          <a:xfrm>
            <a:off x="8962551" y="5887458"/>
            <a:ext cx="2708589" cy="52921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38C830D-CD7D-4310-5B9D-0F0352165D94}"/>
              </a:ext>
            </a:extLst>
          </p:cNvPr>
          <p:cNvSpPr/>
          <p:nvPr/>
        </p:nvSpPr>
        <p:spPr>
          <a:xfrm>
            <a:off x="3334759" y="5887458"/>
            <a:ext cx="2708589" cy="52921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9EA4EA8-2DB7-1231-CD09-BCC439AC4DD6}"/>
              </a:ext>
            </a:extLst>
          </p:cNvPr>
          <p:cNvSpPr/>
          <p:nvPr/>
        </p:nvSpPr>
        <p:spPr>
          <a:xfrm>
            <a:off x="520862" y="5887458"/>
            <a:ext cx="2708589" cy="52921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8970FA5-F436-2530-6324-2A25129F67DF}"/>
              </a:ext>
            </a:extLst>
          </p:cNvPr>
          <p:cNvSpPr/>
          <p:nvPr/>
        </p:nvSpPr>
        <p:spPr>
          <a:xfrm>
            <a:off x="6148654" y="5887458"/>
            <a:ext cx="2708589" cy="52921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34FF0F-6DDA-89A6-1E0B-3AADDFB6B65F}"/>
              </a:ext>
            </a:extLst>
          </p:cNvPr>
          <p:cNvSpPr txBox="1"/>
          <p:nvPr/>
        </p:nvSpPr>
        <p:spPr>
          <a:xfrm>
            <a:off x="696000" y="3235730"/>
            <a:ext cx="2376000" cy="6413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F3519A-224F-7A4C-1BB0-320258E0B275}"/>
              </a:ext>
            </a:extLst>
          </p:cNvPr>
          <p:cNvSpPr txBox="1"/>
          <p:nvPr/>
        </p:nvSpPr>
        <p:spPr>
          <a:xfrm>
            <a:off x="3504000" y="2830664"/>
            <a:ext cx="2376000" cy="6413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5F47001-5C42-A2D1-5744-807451BED032}"/>
              </a:ext>
            </a:extLst>
          </p:cNvPr>
          <p:cNvSpPr txBox="1"/>
          <p:nvPr/>
        </p:nvSpPr>
        <p:spPr>
          <a:xfrm>
            <a:off x="6312000" y="2439391"/>
            <a:ext cx="2376000" cy="6413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E12EF5-BDA4-4F3E-768D-57415581AE9D}"/>
              </a:ext>
            </a:extLst>
          </p:cNvPr>
          <p:cNvSpPr txBox="1"/>
          <p:nvPr/>
        </p:nvSpPr>
        <p:spPr>
          <a:xfrm>
            <a:off x="9130724" y="2047762"/>
            <a:ext cx="2376000" cy="6413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FDA8D9F-6330-D7E9-8FC5-EA6A100F8864}"/>
              </a:ext>
            </a:extLst>
          </p:cNvPr>
          <p:cNvSpPr/>
          <p:nvPr/>
        </p:nvSpPr>
        <p:spPr>
          <a:xfrm>
            <a:off x="696000" y="5017000"/>
            <a:ext cx="2376000" cy="529217"/>
          </a:xfrm>
          <a:prstGeom prst="roundRect">
            <a:avLst>
              <a:gd name="adj" fmla="val 0"/>
            </a:avLst>
          </a:prstGeom>
          <a:solidFill>
            <a:schemeClr val="accent1">
              <a:alpha val="10000"/>
            </a:schemeClr>
          </a:solidFill>
          <a:ln w="15875" cap="flat" cmpd="sng" algn="ctr">
            <a:noFill/>
            <a:prstDash val="sysDash"/>
            <a:miter lim="800000"/>
          </a:ln>
          <a:effectLst/>
        </p:spPr>
        <p:txBody>
          <a:bodyPr lIns="72000" tIns="0" rIns="72000" bIns="0" rtlCol="0" anchor="ctr"/>
          <a:lstStyle/>
          <a:p/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135FDA5-3CF4-68EE-7390-3BD234918AA2}"/>
              </a:ext>
            </a:extLst>
          </p:cNvPr>
          <p:cNvSpPr txBox="1"/>
          <p:nvPr/>
        </p:nvSpPr>
        <p:spPr>
          <a:xfrm>
            <a:off x="696000" y="4056080"/>
            <a:ext cx="2376000" cy="812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995DA2C-96CA-23BE-3BEF-8DB8DA1FB87F}"/>
              </a:ext>
            </a:extLst>
          </p:cNvPr>
          <p:cNvSpPr/>
          <p:nvPr/>
        </p:nvSpPr>
        <p:spPr>
          <a:xfrm>
            <a:off x="6312000" y="4197736"/>
            <a:ext cx="2376000" cy="529217"/>
          </a:xfrm>
          <a:prstGeom prst="roundRect">
            <a:avLst>
              <a:gd name="adj" fmla="val 0"/>
            </a:avLst>
          </a:prstGeom>
          <a:solidFill>
            <a:schemeClr val="accent1">
              <a:alpha val="10000"/>
            </a:schemeClr>
          </a:solidFill>
          <a:ln w="15875" cap="flat" cmpd="sng" algn="ctr">
            <a:noFill/>
            <a:prstDash val="sysDash"/>
            <a:miter lim="800000"/>
          </a:ln>
          <a:effectLst/>
        </p:spPr>
        <p:txBody>
          <a:bodyPr lIns="72000" tIns="0" rIns="72000" bIns="0" rtlCol="0" anchor="ctr"/>
          <a:lstStyle/>
          <a:p/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3BD251E-CF2B-ECDF-C5F0-882D7F6A26B4}"/>
              </a:ext>
            </a:extLst>
          </p:cNvPr>
          <p:cNvSpPr/>
          <p:nvPr/>
        </p:nvSpPr>
        <p:spPr>
          <a:xfrm>
            <a:off x="3504000" y="4585206"/>
            <a:ext cx="2376000" cy="361033"/>
          </a:xfrm>
          <a:prstGeom prst="roundRect">
            <a:avLst>
              <a:gd name="adj" fmla="val 0"/>
            </a:avLst>
          </a:prstGeom>
          <a:solidFill>
            <a:schemeClr val="accent1">
              <a:alpha val="10000"/>
            </a:schemeClr>
          </a:solidFill>
          <a:ln w="15875" cap="flat" cmpd="sng" algn="ctr">
            <a:noFill/>
            <a:prstDash val="sysDash"/>
            <a:miter lim="800000"/>
          </a:ln>
          <a:effectLst/>
        </p:spPr>
        <p:txBody>
          <a:bodyPr lIns="72000" tIns="0" rIns="72000" bIns="0" rtlCol="0" anchor="ctr"/>
          <a:lstStyle/>
          <a:p/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4873786-8FC0-1C05-00C4-D0848EBDD686}"/>
              </a:ext>
            </a:extLst>
          </p:cNvPr>
          <p:cNvSpPr/>
          <p:nvPr/>
        </p:nvSpPr>
        <p:spPr>
          <a:xfrm>
            <a:off x="9130724" y="3799335"/>
            <a:ext cx="2376000" cy="361033"/>
          </a:xfrm>
          <a:prstGeom prst="roundRect">
            <a:avLst>
              <a:gd name="adj" fmla="val 0"/>
            </a:avLst>
          </a:prstGeom>
          <a:solidFill>
            <a:schemeClr val="accent1">
              <a:alpha val="10000"/>
            </a:schemeClr>
          </a:solidFill>
          <a:ln w="15875" cap="flat" cmpd="sng" algn="ctr">
            <a:noFill/>
            <a:prstDash val="sysDash"/>
            <a:miter lim="800000"/>
          </a:ln>
          <a:effectLst/>
        </p:spPr>
        <p:txBody>
          <a:bodyPr lIns="72000" tIns="0" rIns="72000" bIns="0" rtlCol="0" anchor="ctr"/>
          <a:lstStyle/>
          <a:p/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89730B0-FF92-0046-322A-FBC4AB06D436}"/>
              </a:ext>
            </a:extLst>
          </p:cNvPr>
          <p:cNvSpPr txBox="1"/>
          <p:nvPr/>
        </p:nvSpPr>
        <p:spPr>
          <a:xfrm>
            <a:off x="3504000" y="3651014"/>
            <a:ext cx="2376000" cy="812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D08E91C-18B0-FFEF-005A-468BF6B6B780}"/>
              </a:ext>
            </a:extLst>
          </p:cNvPr>
          <p:cNvSpPr txBox="1"/>
          <p:nvPr/>
        </p:nvSpPr>
        <p:spPr>
          <a:xfrm>
            <a:off x="6312000" y="3259741"/>
            <a:ext cx="2376000" cy="812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6AF834A-7250-9E5F-911C-A4145436CE04}"/>
              </a:ext>
            </a:extLst>
          </p:cNvPr>
          <p:cNvSpPr txBox="1"/>
          <p:nvPr/>
        </p:nvSpPr>
        <p:spPr>
          <a:xfrm>
            <a:off x="9130724" y="2868112"/>
            <a:ext cx="2376000" cy="812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413EF8B-A136-3137-A61D-3A981BDB66BC}"/>
              </a:ext>
            </a:extLst>
          </p:cNvPr>
          <p:cNvSpPr txBox="1"/>
          <p:nvPr/>
        </p:nvSpPr>
        <p:spPr>
          <a:xfrm>
            <a:off x="545674" y="675767"/>
            <a:ext cx="3804434" cy="512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uLnTx/>
                <a:uFillTx/>
                <a:latin typeface="+mn-ea"/>
              </a:defRPr>
            </a:lvl1pPr>
          </a:lstStyle>
          <a:p>
            <a:r>
              <a:rPr sz="2200">
                <a:solidFill>
                  <a:srgbClr val="E6F5FF"/>
                </a:solidFill>
                <a:latin typeface="Microsoft YaHei"/>
              </a:rPr>
              <a:t>技术路线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75B9CC24-F135-63A9-16B8-488C3F778A4E}"/>
              </a:ext>
            </a:extLst>
          </p:cNvPr>
          <p:cNvGrpSpPr/>
          <p:nvPr/>
        </p:nvGrpSpPr>
        <p:grpSpPr>
          <a:xfrm>
            <a:off x="-18375" y="751954"/>
            <a:ext cx="362021" cy="296275"/>
            <a:chOff x="-5864720" y="822384"/>
            <a:chExt cx="362021" cy="126522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EDD3D321-A787-CED1-934F-209F1AB21152}"/>
                </a:ext>
              </a:extLst>
            </p:cNvPr>
            <p:cNvSpPr/>
            <p:nvPr/>
          </p:nvSpPr>
          <p:spPr>
            <a:xfrm>
              <a:off x="-5864720" y="822384"/>
              <a:ext cx="274804" cy="1265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6D404789-BC02-DD63-2903-2010F3F5DDBB}"/>
                </a:ext>
              </a:extLst>
            </p:cNvPr>
            <p:cNvSpPr/>
            <p:nvPr/>
          </p:nvSpPr>
          <p:spPr>
            <a:xfrm>
              <a:off x="-5548418" y="822384"/>
              <a:ext cx="45719" cy="126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070712C-FCDA-157E-A0C8-C8727351BB7C}"/>
              </a:ext>
            </a:extLst>
          </p:cNvPr>
          <p:cNvSpPr/>
          <p:nvPr/>
        </p:nvSpPr>
        <p:spPr>
          <a:xfrm>
            <a:off x="0" y="0"/>
            <a:ext cx="12191999" cy="4235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0B57D4B2-F50F-06AE-CA03-7F17B7B25C4D}"/>
              </a:ext>
            </a:extLst>
          </p:cNvPr>
          <p:cNvSpPr/>
          <p:nvPr/>
        </p:nvSpPr>
        <p:spPr>
          <a:xfrm flipV="1">
            <a:off x="2941580" y="378755"/>
            <a:ext cx="216000" cy="1080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3CE55F-72EE-0E0B-3D68-0F488155BDFC}"/>
              </a:ext>
            </a:extLst>
          </p:cNvPr>
          <p:cNvSpPr/>
          <p:nvPr/>
        </p:nvSpPr>
        <p:spPr>
          <a:xfrm>
            <a:off x="0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E70D42-B4A5-7D0F-92D5-B8FB9A715583}"/>
              </a:ext>
            </a:extLst>
          </p:cNvPr>
          <p:cNvSpPr/>
          <p:nvPr/>
        </p:nvSpPr>
        <p:spPr>
          <a:xfrm>
            <a:off x="2025891" y="0"/>
            <a:ext cx="2037266" cy="385449"/>
          </a:xfrm>
          <a:prstGeom prst="rect">
            <a:avLst/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46600C-684C-CF4A-9956-38A889A36613}"/>
              </a:ext>
            </a:extLst>
          </p:cNvPr>
          <p:cNvSpPr/>
          <p:nvPr/>
        </p:nvSpPr>
        <p:spPr>
          <a:xfrm>
            <a:off x="405810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F6CFF2F-2046-B71C-8548-8BFB1F301919}"/>
              </a:ext>
            </a:extLst>
          </p:cNvPr>
          <p:cNvSpPr/>
          <p:nvPr/>
        </p:nvSpPr>
        <p:spPr>
          <a:xfrm>
            <a:off x="609031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2C8549B-61CC-3658-8C7D-1C29308F31AA}"/>
              </a:ext>
            </a:extLst>
          </p:cNvPr>
          <p:cNvSpPr/>
          <p:nvPr/>
        </p:nvSpPr>
        <p:spPr>
          <a:xfrm>
            <a:off x="812252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817CD1F-26CB-6F4B-CF6C-04F3261A26B4}"/>
              </a:ext>
            </a:extLst>
          </p:cNvPr>
          <p:cNvSpPr/>
          <p:nvPr/>
        </p:nvSpPr>
        <p:spPr>
          <a:xfrm>
            <a:off x="10154733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167F929-7FDA-26A8-20D0-A3BDE767321B}"/>
              </a:ext>
            </a:extLst>
          </p:cNvPr>
          <p:cNvSpPr/>
          <p:nvPr/>
        </p:nvSpPr>
        <p:spPr>
          <a:xfrm>
            <a:off x="0" y="0"/>
            <a:ext cx="2030947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C9AD24B-EE13-51D4-5595-E55C6DED7120}"/>
              </a:ext>
            </a:extLst>
          </p:cNvPr>
          <p:cNvSpPr txBox="1"/>
          <p:nvPr/>
        </p:nvSpPr>
        <p:spPr>
          <a:xfrm>
            <a:off x="2536619" y="61642"/>
            <a:ext cx="1025923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/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107CCAC-C107-8888-6082-EAB72D379F46}"/>
              </a:ext>
            </a:extLst>
          </p:cNvPr>
          <p:cNvSpPr txBox="1"/>
          <p:nvPr/>
        </p:nvSpPr>
        <p:spPr>
          <a:xfrm>
            <a:off x="207559" y="770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/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2DBFC58-1FFC-A861-A45E-18262AC68051}"/>
              </a:ext>
            </a:extLst>
          </p:cNvPr>
          <p:cNvSpPr txBox="1"/>
          <p:nvPr/>
        </p:nvSpPr>
        <p:spPr>
          <a:xfrm>
            <a:off x="4618861" y="77031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/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256B54F-17A7-ACEE-7C81-7C9215AD90CD}"/>
              </a:ext>
            </a:extLst>
          </p:cNvPr>
          <p:cNvSpPr txBox="1"/>
          <p:nvPr/>
        </p:nvSpPr>
        <p:spPr>
          <a:xfrm>
            <a:off x="6303559" y="770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/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563A114-6D38-F4BB-E282-23744F393DB5}"/>
              </a:ext>
            </a:extLst>
          </p:cNvPr>
          <p:cNvSpPr txBox="1"/>
          <p:nvPr/>
        </p:nvSpPr>
        <p:spPr>
          <a:xfrm>
            <a:off x="8565338" y="77031"/>
            <a:ext cx="1154162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/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9F7B3AF-7A3A-B914-7CBC-BBA934618C4F}"/>
              </a:ext>
            </a:extLst>
          </p:cNvPr>
          <p:cNvSpPr txBox="1"/>
          <p:nvPr/>
        </p:nvSpPr>
        <p:spPr>
          <a:xfrm>
            <a:off x="10480868" y="77031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/>
        </p:txBody>
      </p:sp>
      <p:sp>
        <p:nvSpPr>
          <p:cNvPr id="37" name="灯片编号占位符 5">
            <a:extLst>
              <a:ext uri="{FF2B5EF4-FFF2-40B4-BE49-F238E27FC236}">
                <a16:creationId xmlns:a16="http://schemas.microsoft.com/office/drawing/2014/main" id="{52AD7635-58D9-180B-A04C-E0BA5FFF5435}"/>
              </a:ext>
            </a:extLst>
          </p:cNvPr>
          <p:cNvSpPr txBox="1">
            <a:spLocks/>
          </p:cNvSpPr>
          <p:nvPr/>
        </p:nvSpPr>
        <p:spPr>
          <a:xfrm>
            <a:off x="11064000" y="6523006"/>
            <a:ext cx="689177" cy="24622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54" name="Picture 53" descr="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1133856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458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62E684E-0905-03EC-16CD-32172017F166}"/>
              </a:ext>
            </a:extLst>
          </p:cNvPr>
          <p:cNvSpPr/>
          <p:nvPr/>
        </p:nvSpPr>
        <p:spPr>
          <a:xfrm>
            <a:off x="809341" y="1591375"/>
            <a:ext cx="10881996" cy="787914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053994-732D-1CC9-9B88-A372A4E35122}"/>
              </a:ext>
            </a:extLst>
          </p:cNvPr>
          <p:cNvSpPr/>
          <p:nvPr/>
        </p:nvSpPr>
        <p:spPr>
          <a:xfrm>
            <a:off x="500663" y="1593720"/>
            <a:ext cx="813880" cy="78322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研究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目标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4E2EF5-D8D8-449B-D1E6-197B402121BD}"/>
              </a:ext>
            </a:extLst>
          </p:cNvPr>
          <p:cNvSpPr txBox="1"/>
          <p:nvPr/>
        </p:nvSpPr>
        <p:spPr>
          <a:xfrm>
            <a:off x="1623221" y="1708333"/>
            <a:ext cx="9861868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>
                <a:solidFill>
                  <a:srgbClr val="E6F5FF"/>
                </a:solidFill>
                <a:latin typeface="Microsoft YaHei"/>
              </a:rPr>
              <a:t>总体目标：构建兼具高透光、超亲水防雾与光催化自清洁潜力的复合表面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ADA5AD-5560-4786-A55A-382369C84DFE}"/>
              </a:ext>
            </a:extLst>
          </p:cNvPr>
          <p:cNvSpPr/>
          <p:nvPr/>
        </p:nvSpPr>
        <p:spPr>
          <a:xfrm>
            <a:off x="500663" y="2964005"/>
            <a:ext cx="3477839" cy="1577701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0C0136-9F3B-D2C6-CFA6-76AEC8A84B08}"/>
              </a:ext>
            </a:extLst>
          </p:cNvPr>
          <p:cNvSpPr txBox="1"/>
          <p:nvPr/>
        </p:nvSpPr>
        <p:spPr>
          <a:xfrm>
            <a:off x="698260" y="3459088"/>
            <a:ext cx="3082647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>
                <a:latin typeface="+mn-ea"/>
              </a:defRPr>
            </a:lvl1pPr>
          </a:lstStyle>
          <a:p>
            <a:r>
              <a:rPr sz="1800">
                <a:solidFill>
                  <a:srgbClr val="E6F5FF"/>
                </a:solidFill>
                <a:latin typeface="Microsoft YaHei"/>
              </a:rPr>
              <a:t>微纳粗糙度如何提升亲水性，同时不过度牺牲透光率？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5DDFFFA-B8BB-268D-51D0-391A82725A96}"/>
              </a:ext>
            </a:extLst>
          </p:cNvPr>
          <p:cNvSpPr/>
          <p:nvPr/>
        </p:nvSpPr>
        <p:spPr>
          <a:xfrm>
            <a:off x="760891" y="2798586"/>
            <a:ext cx="2957383" cy="45750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j-ea"/>
                <a:ea typeface="+mj-ea"/>
              </a:rPr>
              <a:t>核心科学问题一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E6C9BBB-AE6E-457B-9EF3-04B6B554E65F}"/>
              </a:ext>
            </a:extLst>
          </p:cNvPr>
          <p:cNvSpPr/>
          <p:nvPr/>
        </p:nvSpPr>
        <p:spPr>
          <a:xfrm>
            <a:off x="4357080" y="2964005"/>
            <a:ext cx="3477839" cy="1577701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991F4D5-43D7-8BC0-6BC1-E891B0ADBF22}"/>
              </a:ext>
            </a:extLst>
          </p:cNvPr>
          <p:cNvSpPr txBox="1"/>
          <p:nvPr/>
        </p:nvSpPr>
        <p:spPr>
          <a:xfrm>
            <a:off x="4554677" y="3459088"/>
            <a:ext cx="3082647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>
                <a:latin typeface="+mn-ea"/>
              </a:defRPr>
            </a:lvl1pPr>
          </a:lstStyle>
          <a:p>
            <a:r>
              <a:rPr sz="1800">
                <a:solidFill>
                  <a:srgbClr val="E6F5FF"/>
                </a:solidFill>
                <a:latin typeface="Microsoft YaHei"/>
              </a:rPr>
              <a:t>激光结构如何影响 TiO₂ 成核、晶相与界面结合？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0E486CF-BD68-123F-326F-E9A3B3141A89}"/>
              </a:ext>
            </a:extLst>
          </p:cNvPr>
          <p:cNvSpPr/>
          <p:nvPr/>
        </p:nvSpPr>
        <p:spPr>
          <a:xfrm>
            <a:off x="4617308" y="2798586"/>
            <a:ext cx="2957383" cy="45750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j-ea"/>
                <a:ea typeface="+mj-ea"/>
              </a:rPr>
              <a:t>核心科学问题二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863385-D5A0-D581-2327-1DEC3916FB4F}"/>
              </a:ext>
            </a:extLst>
          </p:cNvPr>
          <p:cNvSpPr/>
          <p:nvPr/>
        </p:nvSpPr>
        <p:spPr>
          <a:xfrm>
            <a:off x="8213498" y="2964005"/>
            <a:ext cx="3477839" cy="1577701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E0AB3C0-4B85-ECBB-8389-F4FBBEDD8E86}"/>
              </a:ext>
            </a:extLst>
          </p:cNvPr>
          <p:cNvSpPr txBox="1"/>
          <p:nvPr/>
        </p:nvSpPr>
        <p:spPr>
          <a:xfrm>
            <a:off x="8411095" y="3459088"/>
            <a:ext cx="3082647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>
                <a:latin typeface="+mn-ea"/>
              </a:defRPr>
            </a:lvl1pPr>
          </a:lstStyle>
          <a:p>
            <a:r>
              <a:rPr sz="1800">
                <a:solidFill>
                  <a:srgbClr val="E6F5FF"/>
                </a:solidFill>
                <a:latin typeface="Microsoft YaHei"/>
              </a:rPr>
              <a:t>薄膜覆盖与结构保持之间的最佳膜厚窗口是什么？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B24D277-7FA2-F50B-0D85-61041129C0F5}"/>
              </a:ext>
            </a:extLst>
          </p:cNvPr>
          <p:cNvSpPr/>
          <p:nvPr/>
        </p:nvSpPr>
        <p:spPr>
          <a:xfrm>
            <a:off x="8473726" y="2798586"/>
            <a:ext cx="2957383" cy="45750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j-ea"/>
                <a:ea typeface="+mj-ea"/>
              </a:rPr>
              <a:t>核心科学问题三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8FD9A18-753B-448E-42D9-4760B09D48EB}"/>
              </a:ext>
            </a:extLst>
          </p:cNvPr>
          <p:cNvSpPr/>
          <p:nvPr/>
        </p:nvSpPr>
        <p:spPr>
          <a:xfrm>
            <a:off x="500663" y="4963347"/>
            <a:ext cx="918372" cy="1375938"/>
          </a:xfrm>
          <a:prstGeom prst="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+mj-ea"/>
                <a:ea typeface="+mj-ea"/>
              </a:rPr>
              <a:t>应用</a:t>
            </a:r>
            <a:endParaRPr lang="en-US" altLang="zh-CN" sz="2000" b="1" dirty="0">
              <a:solidFill>
                <a:schemeClr val="accent1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+mj-ea"/>
                <a:ea typeface="+mj-ea"/>
              </a:rPr>
              <a:t>目标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D71C378-4300-E3F3-B470-F320F34A5083}"/>
              </a:ext>
            </a:extLst>
          </p:cNvPr>
          <p:cNvSpPr/>
          <p:nvPr/>
        </p:nvSpPr>
        <p:spPr>
          <a:xfrm>
            <a:off x="1623222" y="4963347"/>
            <a:ext cx="10068116" cy="1375938"/>
          </a:xfrm>
          <a:prstGeom prst="rect">
            <a:avLst/>
          </a:prstGeom>
          <a:solidFill>
            <a:schemeClr val="bg1">
              <a:lumMod val="95000"/>
            </a:scheme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A179544-A9A7-699D-778B-CE1C306F4E0A}"/>
              </a:ext>
            </a:extLst>
          </p:cNvPr>
          <p:cNvSpPr/>
          <p:nvPr/>
        </p:nvSpPr>
        <p:spPr>
          <a:xfrm>
            <a:off x="1827185" y="5187489"/>
            <a:ext cx="360000" cy="3600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zh-CN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87393A-6BD2-1D75-BED6-057B48489A07}"/>
              </a:ext>
            </a:extLst>
          </p:cNvPr>
          <p:cNvSpPr txBox="1"/>
          <p:nvPr/>
        </p:nvSpPr>
        <p:spPr>
          <a:xfrm>
            <a:off x="2318649" y="5157000"/>
            <a:ext cx="2346152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>
                <a:solidFill>
                  <a:srgbClr val="E6F5FF"/>
                </a:solidFill>
                <a:latin typeface="Microsoft YaHei"/>
              </a:rPr>
              <a:t>防雾、自清洁与高透光能否实现多目标协同？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1109F0C-D2BA-8BCD-F6B8-4E9AAD1C52F2}"/>
              </a:ext>
            </a:extLst>
          </p:cNvPr>
          <p:cNvSpPr/>
          <p:nvPr/>
        </p:nvSpPr>
        <p:spPr>
          <a:xfrm>
            <a:off x="5238474" y="5187489"/>
            <a:ext cx="360000" cy="3600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zh-CN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05073C4-0FBC-682E-7D5B-BED9BB332F05}"/>
              </a:ext>
            </a:extLst>
          </p:cNvPr>
          <p:cNvSpPr txBox="1"/>
          <p:nvPr/>
        </p:nvSpPr>
        <p:spPr>
          <a:xfrm>
            <a:off x="5729936" y="5157000"/>
            <a:ext cx="2346152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>
                <a:solidFill>
                  <a:srgbClr val="E6F5FF"/>
                </a:solidFill>
                <a:latin typeface="Microsoft YaHei"/>
              </a:rPr>
              <a:t>建立“结构—界面—润湿/催化—光学”作用链条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DE826C2-3C18-68B3-A59D-CAA477F4689D}"/>
              </a:ext>
            </a:extLst>
          </p:cNvPr>
          <p:cNvSpPr/>
          <p:nvPr/>
        </p:nvSpPr>
        <p:spPr>
          <a:xfrm>
            <a:off x="8649762" y="5187489"/>
            <a:ext cx="360000" cy="3600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zh-CN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E8157E0-424F-6327-A5F3-986E5F45F804}"/>
              </a:ext>
            </a:extLst>
          </p:cNvPr>
          <p:cNvSpPr txBox="1"/>
          <p:nvPr/>
        </p:nvSpPr>
        <p:spPr>
          <a:xfrm>
            <a:off x="9141224" y="5157000"/>
            <a:ext cx="2346152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dirty="0"/>
              <a:t>推动药物分子后期修饰与可持续化学品合成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B32FF7-006A-8FBB-AD4E-0AB62D77A0EC}"/>
              </a:ext>
            </a:extLst>
          </p:cNvPr>
          <p:cNvSpPr txBox="1"/>
          <p:nvPr/>
        </p:nvSpPr>
        <p:spPr>
          <a:xfrm>
            <a:off x="545674" y="675767"/>
            <a:ext cx="3804434" cy="512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uLnTx/>
                <a:uFillTx/>
                <a:latin typeface="+mn-ea"/>
              </a:defRPr>
            </a:lvl1pPr>
          </a:lstStyle>
          <a:p>
            <a:r>
              <a:rPr sz="2200">
                <a:solidFill>
                  <a:srgbClr val="E6F5FF"/>
                </a:solidFill>
                <a:latin typeface="Microsoft YaHei"/>
              </a:rPr>
              <a:t>关键科学问题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43112AD-3D98-BFD3-0D29-F244C751EF98}"/>
              </a:ext>
            </a:extLst>
          </p:cNvPr>
          <p:cNvGrpSpPr/>
          <p:nvPr/>
        </p:nvGrpSpPr>
        <p:grpSpPr>
          <a:xfrm>
            <a:off x="-18375" y="751954"/>
            <a:ext cx="362021" cy="296275"/>
            <a:chOff x="-5864720" y="822384"/>
            <a:chExt cx="362021" cy="126522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849815C-618D-C835-A71E-367318FBB0AC}"/>
                </a:ext>
              </a:extLst>
            </p:cNvPr>
            <p:cNvSpPr/>
            <p:nvPr/>
          </p:nvSpPr>
          <p:spPr>
            <a:xfrm>
              <a:off x="-5864720" y="822384"/>
              <a:ext cx="274804" cy="1265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EC57DC62-371B-2DE4-97D5-821BD92823EB}"/>
                </a:ext>
              </a:extLst>
            </p:cNvPr>
            <p:cNvSpPr/>
            <p:nvPr/>
          </p:nvSpPr>
          <p:spPr>
            <a:xfrm>
              <a:off x="-5548418" y="822384"/>
              <a:ext cx="45719" cy="126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26BC357F-D225-C031-460D-9BAA91BA8915}"/>
              </a:ext>
            </a:extLst>
          </p:cNvPr>
          <p:cNvSpPr/>
          <p:nvPr/>
        </p:nvSpPr>
        <p:spPr>
          <a:xfrm>
            <a:off x="0" y="0"/>
            <a:ext cx="12191999" cy="4235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B5850DE7-8A30-BC98-3439-634E0F13A843}"/>
              </a:ext>
            </a:extLst>
          </p:cNvPr>
          <p:cNvSpPr/>
          <p:nvPr/>
        </p:nvSpPr>
        <p:spPr>
          <a:xfrm flipV="1">
            <a:off x="2941580" y="378755"/>
            <a:ext cx="216000" cy="1080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EE9590B-AEBA-1C10-95DC-99232219944B}"/>
              </a:ext>
            </a:extLst>
          </p:cNvPr>
          <p:cNvSpPr/>
          <p:nvPr/>
        </p:nvSpPr>
        <p:spPr>
          <a:xfrm>
            <a:off x="0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CC08309-8F22-2CE5-40EE-388A25F721A7}"/>
              </a:ext>
            </a:extLst>
          </p:cNvPr>
          <p:cNvSpPr/>
          <p:nvPr/>
        </p:nvSpPr>
        <p:spPr>
          <a:xfrm>
            <a:off x="2025891" y="0"/>
            <a:ext cx="2037266" cy="385449"/>
          </a:xfrm>
          <a:prstGeom prst="rect">
            <a:avLst/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BB78A58-6D5C-9AF1-EF9D-AFCAECFBBDD0}"/>
              </a:ext>
            </a:extLst>
          </p:cNvPr>
          <p:cNvSpPr/>
          <p:nvPr/>
        </p:nvSpPr>
        <p:spPr>
          <a:xfrm>
            <a:off x="405810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68934A6-C24B-C96C-51A0-1F4DD045245B}"/>
              </a:ext>
            </a:extLst>
          </p:cNvPr>
          <p:cNvSpPr/>
          <p:nvPr/>
        </p:nvSpPr>
        <p:spPr>
          <a:xfrm>
            <a:off x="609031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5CE2B4D-5C13-39C1-0099-5B4A3246F82A}"/>
              </a:ext>
            </a:extLst>
          </p:cNvPr>
          <p:cNvSpPr/>
          <p:nvPr/>
        </p:nvSpPr>
        <p:spPr>
          <a:xfrm>
            <a:off x="812252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8878B37-151A-1D06-98F0-30E435DD439D}"/>
              </a:ext>
            </a:extLst>
          </p:cNvPr>
          <p:cNvSpPr/>
          <p:nvPr/>
        </p:nvSpPr>
        <p:spPr>
          <a:xfrm>
            <a:off x="10154733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74A7F10-305A-2BED-14ED-20A255B2F058}"/>
              </a:ext>
            </a:extLst>
          </p:cNvPr>
          <p:cNvSpPr/>
          <p:nvPr/>
        </p:nvSpPr>
        <p:spPr>
          <a:xfrm>
            <a:off x="0" y="0"/>
            <a:ext cx="2030947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F718572-6B64-B89B-4D03-00B6EB714D10}"/>
              </a:ext>
            </a:extLst>
          </p:cNvPr>
          <p:cNvSpPr txBox="1"/>
          <p:nvPr/>
        </p:nvSpPr>
        <p:spPr>
          <a:xfrm>
            <a:off x="2536619" y="61642"/>
            <a:ext cx="1025923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研究思路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5406B1A-6BBD-882E-4ED7-D4557D433BA5}"/>
              </a:ext>
            </a:extLst>
          </p:cNvPr>
          <p:cNvSpPr txBox="1"/>
          <p:nvPr/>
        </p:nvSpPr>
        <p:spPr>
          <a:xfrm>
            <a:off x="207559" y="770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研究信息与背景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0864135-6FF3-02C9-618D-1F73209BDD55}"/>
              </a:ext>
            </a:extLst>
          </p:cNvPr>
          <p:cNvSpPr txBox="1"/>
          <p:nvPr/>
        </p:nvSpPr>
        <p:spPr>
          <a:xfrm>
            <a:off x="4618861" y="77031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研究成果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E8BE6D8-D3FE-7FCD-0FAA-875F72460E46}"/>
              </a:ext>
            </a:extLst>
          </p:cNvPr>
          <p:cNvSpPr txBox="1"/>
          <p:nvPr/>
        </p:nvSpPr>
        <p:spPr>
          <a:xfrm>
            <a:off x="6303559" y="770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研究结论与讨论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94261C6-EC82-0404-9FA3-8FFADC146296}"/>
              </a:ext>
            </a:extLst>
          </p:cNvPr>
          <p:cNvSpPr txBox="1"/>
          <p:nvPr/>
        </p:nvSpPr>
        <p:spPr>
          <a:xfrm>
            <a:off x="8565338" y="77031"/>
            <a:ext cx="1154162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展望与借鉴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10A36B6-6C39-D3C8-CA9F-09E81CD4B4A8}"/>
              </a:ext>
            </a:extLst>
          </p:cNvPr>
          <p:cNvSpPr txBox="1"/>
          <p:nvPr/>
        </p:nvSpPr>
        <p:spPr>
          <a:xfrm>
            <a:off x="10480868" y="77031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创新点与启发</a:t>
            </a:r>
          </a:p>
        </p:txBody>
      </p:sp>
      <p:sp>
        <p:nvSpPr>
          <p:cNvPr id="3" name="灯片编号占位符 5">
            <a:extLst>
              <a:ext uri="{FF2B5EF4-FFF2-40B4-BE49-F238E27FC236}">
                <a16:creationId xmlns:a16="http://schemas.microsoft.com/office/drawing/2014/main" id="{C822D05E-9A7C-E0D8-CCBB-D184EE3DB404}"/>
              </a:ext>
            </a:extLst>
          </p:cNvPr>
          <p:cNvSpPr txBox="1">
            <a:spLocks/>
          </p:cNvSpPr>
          <p:nvPr/>
        </p:nvSpPr>
        <p:spPr>
          <a:xfrm>
            <a:off x="11064000" y="6523006"/>
            <a:ext cx="689177" cy="24622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B9D861-A37E-41C9-AD6C-452E9AD9AABC}" type="slidenum">
              <a:rPr lang="zh-CN" altLang="en-US" sz="1200" smtClean="0"/>
              <a:pPr/>
              <a:t>17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73401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C95A41C6-D841-A540-357B-161EF86CFC49}"/>
              </a:ext>
            </a:extLst>
          </p:cNvPr>
          <p:cNvSpPr/>
          <p:nvPr/>
        </p:nvSpPr>
        <p:spPr>
          <a:xfrm>
            <a:off x="533628" y="2469073"/>
            <a:ext cx="4222384" cy="123370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4412FE-C11C-19D2-DB34-F4DAC1F03202}"/>
              </a:ext>
            </a:extLst>
          </p:cNvPr>
          <p:cNvSpPr/>
          <p:nvPr/>
        </p:nvSpPr>
        <p:spPr>
          <a:xfrm>
            <a:off x="533628" y="1485000"/>
            <a:ext cx="4222384" cy="2217780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C7ECCD-79B2-F003-3D62-C8D2F8EC7F07}"/>
              </a:ext>
            </a:extLst>
          </p:cNvPr>
          <p:cNvSpPr/>
          <p:nvPr/>
        </p:nvSpPr>
        <p:spPr>
          <a:xfrm>
            <a:off x="733997" y="1675081"/>
            <a:ext cx="3821650" cy="344302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</a:rPr>
              <a:t>研究内容一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89ED56-7840-F58C-F03D-2BE1522819D0}"/>
              </a:ext>
            </a:extLst>
          </p:cNvPr>
          <p:cNvSpPr txBox="1"/>
          <p:nvPr/>
        </p:nvSpPr>
        <p:spPr>
          <a:xfrm>
            <a:off x="762002" y="2599321"/>
            <a:ext cx="3765643" cy="866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>
                <a:solidFill>
                  <a:srgbClr val="E6F5FF"/>
                </a:solidFill>
                <a:latin typeface="Microsoft YaHei"/>
              </a:rPr>
              <a:t>① 基底准备与基线测试</a:t>
            </a:r>
          </a:p>
          <a:p>
            <a:r>
              <a:rPr sz="1800">
                <a:solidFill>
                  <a:srgbClr val="E6F5FF"/>
                </a:solidFill>
                <a:latin typeface="Microsoft YaHei"/>
              </a:rPr>
              <a:t>② 激光构筑微纳结构</a:t>
            </a:r>
          </a:p>
          <a:p>
            <a:r>
              <a:rPr sz="1800">
                <a:solidFill>
                  <a:srgbClr val="E6F5FF"/>
                </a:solidFill>
                <a:latin typeface="Microsoft YaHei"/>
              </a:rPr>
              <a:t>③ TiO₂ 磁控溅射与退火</a:t>
            </a:r>
          </a:p>
          <a:p>
            <a:r>
              <a:rPr sz="1800">
                <a:solidFill>
                  <a:srgbClr val="E6F5FF"/>
                </a:solidFill>
                <a:latin typeface="Microsoft YaHei"/>
              </a:rPr>
              <a:t>④ SEM/AFM/XRD/XPS 界面表征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D80234-CD5B-B596-D19D-68C9639EFA8A}"/>
              </a:ext>
            </a:extLst>
          </p:cNvPr>
          <p:cNvSpPr txBox="1"/>
          <p:nvPr/>
        </p:nvSpPr>
        <p:spPr>
          <a:xfrm>
            <a:off x="733997" y="2133000"/>
            <a:ext cx="382165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b="1" dirty="0">
                <a:latin typeface="+mj-ea"/>
                <a:ea typeface="+mj-ea"/>
              </a:rPr>
              <a:t>光电催化的融合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ED2AEB0-60C5-A79F-4C77-BB9115180697}"/>
              </a:ext>
            </a:extLst>
          </p:cNvPr>
          <p:cNvSpPr/>
          <p:nvPr/>
        </p:nvSpPr>
        <p:spPr>
          <a:xfrm>
            <a:off x="5005616" y="2469073"/>
            <a:ext cx="4222384" cy="123370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C6EF43-6A54-18BF-106F-BF0B7F166CB1}"/>
              </a:ext>
            </a:extLst>
          </p:cNvPr>
          <p:cNvSpPr/>
          <p:nvPr/>
        </p:nvSpPr>
        <p:spPr>
          <a:xfrm>
            <a:off x="5005616" y="1485000"/>
            <a:ext cx="4222384" cy="2217780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8C1F63-E5CE-8D00-2AB9-5B4F3F0A8729}"/>
              </a:ext>
            </a:extLst>
          </p:cNvPr>
          <p:cNvSpPr/>
          <p:nvPr/>
        </p:nvSpPr>
        <p:spPr>
          <a:xfrm>
            <a:off x="5205985" y="1675081"/>
            <a:ext cx="3821650" cy="344302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</a:rPr>
              <a:t>研究内容二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6D48736-3F89-BAD0-6943-67ADACA8C1FB}"/>
              </a:ext>
            </a:extLst>
          </p:cNvPr>
          <p:cNvSpPr txBox="1"/>
          <p:nvPr/>
        </p:nvSpPr>
        <p:spPr>
          <a:xfrm>
            <a:off x="5233990" y="2599321"/>
            <a:ext cx="3765643" cy="866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>
                <a:solidFill>
                  <a:srgbClr val="E6F5FF"/>
                </a:solidFill>
                <a:latin typeface="Microsoft YaHei"/>
              </a:rPr>
              <a:t>⑤ 防雾、光催化、粉尘冲洗与透光率评价</a:t>
            </a:r>
          </a:p>
          <a:p>
            <a:r>
              <a:rPr sz="1800">
                <a:solidFill>
                  <a:srgbClr val="E6F5FF"/>
                </a:solidFill>
                <a:latin typeface="Microsoft YaHei"/>
              </a:rPr>
              <a:t>⑥ 结构参数 × 膜厚组合优化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E53353C-F1BF-4692-8356-F1A079ED266D}"/>
              </a:ext>
            </a:extLst>
          </p:cNvPr>
          <p:cNvSpPr txBox="1"/>
          <p:nvPr/>
        </p:nvSpPr>
        <p:spPr>
          <a:xfrm>
            <a:off x="5205985" y="2133000"/>
            <a:ext cx="382165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b="1" dirty="0">
                <a:latin typeface="+mj-ea"/>
                <a:ea typeface="+mj-ea"/>
              </a:rPr>
              <a:t>氧化还原介质的应用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476D46A-7243-83B3-3C33-5AFFB83CB04B}"/>
              </a:ext>
            </a:extLst>
          </p:cNvPr>
          <p:cNvSpPr/>
          <p:nvPr/>
        </p:nvSpPr>
        <p:spPr>
          <a:xfrm>
            <a:off x="533628" y="5090083"/>
            <a:ext cx="4222384" cy="123370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D6E665-EEAB-4590-9856-5CD2B31CBD3B}"/>
              </a:ext>
            </a:extLst>
          </p:cNvPr>
          <p:cNvSpPr/>
          <p:nvPr/>
        </p:nvSpPr>
        <p:spPr>
          <a:xfrm>
            <a:off x="533628" y="4106010"/>
            <a:ext cx="4222384" cy="2217780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0EF5D6-1C5B-CC59-94E9-E667A2FABDDF}"/>
              </a:ext>
            </a:extLst>
          </p:cNvPr>
          <p:cNvSpPr/>
          <p:nvPr/>
        </p:nvSpPr>
        <p:spPr>
          <a:xfrm>
            <a:off x="733997" y="4296091"/>
            <a:ext cx="3821650" cy="344302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</a:rPr>
              <a:t>研究内容三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F4C24B-C276-D933-FF99-00FFBB4F6040}"/>
              </a:ext>
            </a:extLst>
          </p:cNvPr>
          <p:cNvSpPr txBox="1"/>
          <p:nvPr/>
        </p:nvSpPr>
        <p:spPr>
          <a:xfrm>
            <a:off x="762002" y="5220331"/>
            <a:ext cx="3765643" cy="866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6000" indent="-2160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通过循环伏安法、原位光谱和</a:t>
            </a:r>
            <a:r>
              <a:rPr lang="en-US" altLang="zh-CN" sz="1600" dirty="0">
                <a:solidFill>
                  <a:schemeClr val="tx1"/>
                </a:solidFill>
                <a:latin typeface="+mn-ea"/>
              </a:rPr>
              <a:t>DFT</a:t>
            </a: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计算等手段，深入研究了电催化反应的机理，为反应设计提供了理论基础。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63A182-2319-4D3B-749F-7BC8D24EC782}"/>
              </a:ext>
            </a:extLst>
          </p:cNvPr>
          <p:cNvSpPr txBox="1"/>
          <p:nvPr/>
        </p:nvSpPr>
        <p:spPr>
          <a:xfrm>
            <a:off x="733997" y="4754010"/>
            <a:ext cx="382165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b="1" dirty="0">
                <a:latin typeface="+mj-ea"/>
                <a:ea typeface="+mj-ea"/>
              </a:rPr>
              <a:t>新型反应机制的揭示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EC30EB-3420-3FC7-D175-E8130B01745B}"/>
              </a:ext>
            </a:extLst>
          </p:cNvPr>
          <p:cNvSpPr/>
          <p:nvPr/>
        </p:nvSpPr>
        <p:spPr>
          <a:xfrm>
            <a:off x="5005616" y="5090083"/>
            <a:ext cx="4222384" cy="123370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04B6546-2E50-A4B5-A7D4-621A2097BDCD}"/>
              </a:ext>
            </a:extLst>
          </p:cNvPr>
          <p:cNvSpPr/>
          <p:nvPr/>
        </p:nvSpPr>
        <p:spPr>
          <a:xfrm>
            <a:off x="5005616" y="4106010"/>
            <a:ext cx="4222384" cy="2217780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57BC961-8531-70BC-0A07-8D1397387F9A}"/>
              </a:ext>
            </a:extLst>
          </p:cNvPr>
          <p:cNvSpPr/>
          <p:nvPr/>
        </p:nvSpPr>
        <p:spPr>
          <a:xfrm>
            <a:off x="5300522" y="4296091"/>
            <a:ext cx="3632575" cy="344302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</a:rPr>
              <a:t>研究内容四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5ADF8E1-28CD-036A-3507-BECB67E22E03}"/>
              </a:ext>
            </a:extLst>
          </p:cNvPr>
          <p:cNvSpPr txBox="1"/>
          <p:nvPr/>
        </p:nvSpPr>
        <p:spPr>
          <a:xfrm>
            <a:off x="5233990" y="5220331"/>
            <a:ext cx="3765643" cy="866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6000" indent="-2160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tx1"/>
                </a:solidFill>
                <a:latin typeface="+mn-ea"/>
              </a:rPr>
              <a:t>发展了多种阴极还原反应，展示了电化学在还原合成中的巨大潜力，作为碳源方面具有绿色可持续的优势。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02F5C9E-DAA5-FBF1-A670-617C5F722B6E}"/>
              </a:ext>
            </a:extLst>
          </p:cNvPr>
          <p:cNvSpPr txBox="1"/>
          <p:nvPr/>
        </p:nvSpPr>
        <p:spPr>
          <a:xfrm>
            <a:off x="5205985" y="4754010"/>
            <a:ext cx="382165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b="1" dirty="0">
                <a:latin typeface="+mj-ea"/>
                <a:ea typeface="+mj-ea"/>
              </a:rPr>
              <a:t>电化学还原反应的进展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159C75-E63E-1161-A6F0-75906D72F916}"/>
              </a:ext>
            </a:extLst>
          </p:cNvPr>
          <p:cNvSpPr txBox="1"/>
          <p:nvPr/>
        </p:nvSpPr>
        <p:spPr>
          <a:xfrm>
            <a:off x="9562229" y="1485000"/>
            <a:ext cx="1608717" cy="4122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</a:rPr>
              <a:t>思考问题</a:t>
            </a:r>
            <a:endParaRPr lang="zh-CN" altLang="en-US" sz="2400" b="1" i="0" dirty="0">
              <a:solidFill>
                <a:schemeClr val="accent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41" name="iconfont-1068-748243">
            <a:extLst>
              <a:ext uri="{FF2B5EF4-FFF2-40B4-BE49-F238E27FC236}">
                <a16:creationId xmlns:a16="http://schemas.microsoft.com/office/drawing/2014/main" id="{5BAEC9F1-F3AC-37D6-761F-F74084DB8D2E}"/>
              </a:ext>
            </a:extLst>
          </p:cNvPr>
          <p:cNvSpPr/>
          <p:nvPr/>
        </p:nvSpPr>
        <p:spPr>
          <a:xfrm>
            <a:off x="9550917" y="2179639"/>
            <a:ext cx="254990" cy="255752"/>
          </a:xfrm>
          <a:custGeom>
            <a:avLst/>
            <a:gdLst>
              <a:gd name="T0" fmla="*/ 6283 w 12567"/>
              <a:gd name="T1" fmla="*/ 2965 h 12604"/>
              <a:gd name="T2" fmla="*/ 4066 w 12567"/>
              <a:gd name="T3" fmla="*/ 5561 h 12604"/>
              <a:gd name="T4" fmla="*/ 5175 w 12567"/>
              <a:gd name="T5" fmla="*/ 5561 h 12604"/>
              <a:gd name="T6" fmla="*/ 6283 w 12567"/>
              <a:gd name="T7" fmla="*/ 4078 h 12604"/>
              <a:gd name="T8" fmla="*/ 7393 w 12567"/>
              <a:gd name="T9" fmla="*/ 5190 h 12604"/>
              <a:gd name="T10" fmla="*/ 5544 w 12567"/>
              <a:gd name="T11" fmla="*/ 8156 h 12604"/>
              <a:gd name="T12" fmla="*/ 6653 w 12567"/>
              <a:gd name="T13" fmla="*/ 8156 h 12604"/>
              <a:gd name="T14" fmla="*/ 8502 w 12567"/>
              <a:gd name="T15" fmla="*/ 5190 h 12604"/>
              <a:gd name="T16" fmla="*/ 6283 w 12567"/>
              <a:gd name="T17" fmla="*/ 2965 h 12604"/>
              <a:gd name="T18" fmla="*/ 6283 w 12567"/>
              <a:gd name="T19" fmla="*/ 0 h 12604"/>
              <a:gd name="T20" fmla="*/ 0 w 12567"/>
              <a:gd name="T21" fmla="*/ 6302 h 12604"/>
              <a:gd name="T22" fmla="*/ 6283 w 12567"/>
              <a:gd name="T23" fmla="*/ 12604 h 12604"/>
              <a:gd name="T24" fmla="*/ 12567 w 12567"/>
              <a:gd name="T25" fmla="*/ 6302 h 12604"/>
              <a:gd name="T26" fmla="*/ 6283 w 12567"/>
              <a:gd name="T27" fmla="*/ 0 h 12604"/>
              <a:gd name="T28" fmla="*/ 6283 w 12567"/>
              <a:gd name="T29" fmla="*/ 11489 h 12604"/>
              <a:gd name="T30" fmla="*/ 1113 w 12567"/>
              <a:gd name="T31" fmla="*/ 6302 h 12604"/>
              <a:gd name="T32" fmla="*/ 6283 w 12567"/>
              <a:gd name="T33" fmla="*/ 1116 h 12604"/>
              <a:gd name="T34" fmla="*/ 11454 w 12567"/>
              <a:gd name="T35" fmla="*/ 6302 h 12604"/>
              <a:gd name="T36" fmla="*/ 6283 w 12567"/>
              <a:gd name="T37" fmla="*/ 11489 h 12604"/>
              <a:gd name="T38" fmla="*/ 6191 w 12567"/>
              <a:gd name="T39" fmla="*/ 8895 h 12604"/>
              <a:gd name="T40" fmla="*/ 6017 w 12567"/>
              <a:gd name="T41" fmla="*/ 8895 h 12604"/>
              <a:gd name="T42" fmla="*/ 5547 w 12567"/>
              <a:gd name="T43" fmla="*/ 9366 h 12604"/>
              <a:gd name="T44" fmla="*/ 5547 w 12567"/>
              <a:gd name="T45" fmla="*/ 9541 h 12604"/>
              <a:gd name="T46" fmla="*/ 6017 w 12567"/>
              <a:gd name="T47" fmla="*/ 10011 h 12604"/>
              <a:gd name="T48" fmla="*/ 6191 w 12567"/>
              <a:gd name="T49" fmla="*/ 10011 h 12604"/>
              <a:gd name="T50" fmla="*/ 6660 w 12567"/>
              <a:gd name="T51" fmla="*/ 9541 h 12604"/>
              <a:gd name="T52" fmla="*/ 6660 w 12567"/>
              <a:gd name="T53" fmla="*/ 9366 h 12604"/>
              <a:gd name="T54" fmla="*/ 6191 w 12567"/>
              <a:gd name="T55" fmla="*/ 8895 h 12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567" h="12604">
                <a:moveTo>
                  <a:pt x="6283" y="2965"/>
                </a:moveTo>
                <a:cubicBezTo>
                  <a:pt x="4820" y="2965"/>
                  <a:pt x="4066" y="4048"/>
                  <a:pt x="4066" y="5561"/>
                </a:cubicBezTo>
                <a:lnTo>
                  <a:pt x="5175" y="5561"/>
                </a:lnTo>
                <a:cubicBezTo>
                  <a:pt x="5175" y="5561"/>
                  <a:pt x="5128" y="4078"/>
                  <a:pt x="6283" y="4078"/>
                </a:cubicBezTo>
                <a:cubicBezTo>
                  <a:pt x="7400" y="4078"/>
                  <a:pt x="7393" y="4975"/>
                  <a:pt x="7393" y="5190"/>
                </a:cubicBezTo>
                <a:cubicBezTo>
                  <a:pt x="7393" y="6461"/>
                  <a:pt x="5544" y="6400"/>
                  <a:pt x="5544" y="8156"/>
                </a:cubicBezTo>
                <a:cubicBezTo>
                  <a:pt x="5544" y="8156"/>
                  <a:pt x="6653" y="8162"/>
                  <a:pt x="6653" y="8156"/>
                </a:cubicBezTo>
                <a:cubicBezTo>
                  <a:pt x="6653" y="7043"/>
                  <a:pt x="8502" y="6620"/>
                  <a:pt x="8502" y="5190"/>
                </a:cubicBezTo>
                <a:cubicBezTo>
                  <a:pt x="8502" y="3745"/>
                  <a:pt x="7809" y="2965"/>
                  <a:pt x="6283" y="2965"/>
                </a:cubicBezTo>
                <a:close/>
                <a:moveTo>
                  <a:pt x="6283" y="0"/>
                </a:moveTo>
                <a:cubicBezTo>
                  <a:pt x="2813" y="0"/>
                  <a:pt x="0" y="2821"/>
                  <a:pt x="0" y="6302"/>
                </a:cubicBezTo>
                <a:cubicBezTo>
                  <a:pt x="0" y="9783"/>
                  <a:pt x="2813" y="12604"/>
                  <a:pt x="6283" y="12604"/>
                </a:cubicBezTo>
                <a:cubicBezTo>
                  <a:pt x="9754" y="12604"/>
                  <a:pt x="12567" y="9783"/>
                  <a:pt x="12567" y="6302"/>
                </a:cubicBezTo>
                <a:cubicBezTo>
                  <a:pt x="12567" y="2821"/>
                  <a:pt x="9754" y="0"/>
                  <a:pt x="6283" y="0"/>
                </a:cubicBezTo>
                <a:close/>
                <a:moveTo>
                  <a:pt x="6283" y="11489"/>
                </a:moveTo>
                <a:cubicBezTo>
                  <a:pt x="3428" y="11489"/>
                  <a:pt x="1113" y="9166"/>
                  <a:pt x="1113" y="6302"/>
                </a:cubicBezTo>
                <a:cubicBezTo>
                  <a:pt x="1113" y="3438"/>
                  <a:pt x="3428" y="1116"/>
                  <a:pt x="6283" y="1116"/>
                </a:cubicBezTo>
                <a:cubicBezTo>
                  <a:pt x="9139" y="1116"/>
                  <a:pt x="11454" y="3438"/>
                  <a:pt x="11454" y="6302"/>
                </a:cubicBezTo>
                <a:cubicBezTo>
                  <a:pt x="11455" y="9166"/>
                  <a:pt x="9140" y="11489"/>
                  <a:pt x="6283" y="11489"/>
                </a:cubicBezTo>
                <a:close/>
                <a:moveTo>
                  <a:pt x="6191" y="8895"/>
                </a:moveTo>
                <a:lnTo>
                  <a:pt x="6017" y="8895"/>
                </a:lnTo>
                <a:cubicBezTo>
                  <a:pt x="5758" y="8895"/>
                  <a:pt x="5547" y="9106"/>
                  <a:pt x="5547" y="9366"/>
                </a:cubicBezTo>
                <a:lnTo>
                  <a:pt x="5547" y="9541"/>
                </a:lnTo>
                <a:cubicBezTo>
                  <a:pt x="5547" y="9801"/>
                  <a:pt x="5758" y="10011"/>
                  <a:pt x="6017" y="10011"/>
                </a:cubicBezTo>
                <a:lnTo>
                  <a:pt x="6191" y="10011"/>
                </a:lnTo>
                <a:cubicBezTo>
                  <a:pt x="6450" y="10011"/>
                  <a:pt x="6660" y="9801"/>
                  <a:pt x="6660" y="9541"/>
                </a:cubicBezTo>
                <a:lnTo>
                  <a:pt x="6660" y="9366"/>
                </a:lnTo>
                <a:cubicBezTo>
                  <a:pt x="6660" y="9106"/>
                  <a:pt x="6450" y="8895"/>
                  <a:pt x="6191" y="88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CFBECA-0062-C7B4-DEA8-9EA5F14F21FC}"/>
              </a:ext>
            </a:extLst>
          </p:cNvPr>
          <p:cNvSpPr txBox="1"/>
          <p:nvPr/>
        </p:nvSpPr>
        <p:spPr>
          <a:xfrm>
            <a:off x="9562229" y="2554356"/>
            <a:ext cx="2096143" cy="866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>
                <a:solidFill>
                  <a:srgbClr val="E6F5FF"/>
                </a:solidFill>
                <a:latin typeface="Microsoft YaHei"/>
              </a:rPr>
              <a:t>如何在低散射、有效覆盖与高催化活性之间找到平衡？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DB54C2C-9F0A-37AE-6589-CAD5161CFED1}"/>
              </a:ext>
            </a:extLst>
          </p:cNvPr>
          <p:cNvSpPr/>
          <p:nvPr/>
        </p:nvSpPr>
        <p:spPr>
          <a:xfrm>
            <a:off x="9881280" y="2145956"/>
            <a:ext cx="1705494" cy="323117"/>
          </a:xfrm>
          <a:prstGeom prst="roundRect">
            <a:avLst>
              <a:gd name="adj" fmla="val 0"/>
            </a:avLst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问题</a:t>
            </a:r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</a:rPr>
              <a:t>1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3" name="iconfont-1068-748243">
            <a:extLst>
              <a:ext uri="{FF2B5EF4-FFF2-40B4-BE49-F238E27FC236}">
                <a16:creationId xmlns:a16="http://schemas.microsoft.com/office/drawing/2014/main" id="{ED429DE1-C8E4-6960-E729-6A35664F8835}"/>
              </a:ext>
            </a:extLst>
          </p:cNvPr>
          <p:cNvSpPr/>
          <p:nvPr/>
        </p:nvSpPr>
        <p:spPr>
          <a:xfrm>
            <a:off x="9550917" y="5036987"/>
            <a:ext cx="254990" cy="255752"/>
          </a:xfrm>
          <a:custGeom>
            <a:avLst/>
            <a:gdLst>
              <a:gd name="T0" fmla="*/ 6283 w 12567"/>
              <a:gd name="T1" fmla="*/ 2965 h 12604"/>
              <a:gd name="T2" fmla="*/ 4066 w 12567"/>
              <a:gd name="T3" fmla="*/ 5561 h 12604"/>
              <a:gd name="T4" fmla="*/ 5175 w 12567"/>
              <a:gd name="T5" fmla="*/ 5561 h 12604"/>
              <a:gd name="T6" fmla="*/ 6283 w 12567"/>
              <a:gd name="T7" fmla="*/ 4078 h 12604"/>
              <a:gd name="T8" fmla="*/ 7393 w 12567"/>
              <a:gd name="T9" fmla="*/ 5190 h 12604"/>
              <a:gd name="T10" fmla="*/ 5544 w 12567"/>
              <a:gd name="T11" fmla="*/ 8156 h 12604"/>
              <a:gd name="T12" fmla="*/ 6653 w 12567"/>
              <a:gd name="T13" fmla="*/ 8156 h 12604"/>
              <a:gd name="T14" fmla="*/ 8502 w 12567"/>
              <a:gd name="T15" fmla="*/ 5190 h 12604"/>
              <a:gd name="T16" fmla="*/ 6283 w 12567"/>
              <a:gd name="T17" fmla="*/ 2965 h 12604"/>
              <a:gd name="T18" fmla="*/ 6283 w 12567"/>
              <a:gd name="T19" fmla="*/ 0 h 12604"/>
              <a:gd name="T20" fmla="*/ 0 w 12567"/>
              <a:gd name="T21" fmla="*/ 6302 h 12604"/>
              <a:gd name="T22" fmla="*/ 6283 w 12567"/>
              <a:gd name="T23" fmla="*/ 12604 h 12604"/>
              <a:gd name="T24" fmla="*/ 12567 w 12567"/>
              <a:gd name="T25" fmla="*/ 6302 h 12604"/>
              <a:gd name="T26" fmla="*/ 6283 w 12567"/>
              <a:gd name="T27" fmla="*/ 0 h 12604"/>
              <a:gd name="T28" fmla="*/ 6283 w 12567"/>
              <a:gd name="T29" fmla="*/ 11489 h 12604"/>
              <a:gd name="T30" fmla="*/ 1113 w 12567"/>
              <a:gd name="T31" fmla="*/ 6302 h 12604"/>
              <a:gd name="T32" fmla="*/ 6283 w 12567"/>
              <a:gd name="T33" fmla="*/ 1116 h 12604"/>
              <a:gd name="T34" fmla="*/ 11454 w 12567"/>
              <a:gd name="T35" fmla="*/ 6302 h 12604"/>
              <a:gd name="T36" fmla="*/ 6283 w 12567"/>
              <a:gd name="T37" fmla="*/ 11489 h 12604"/>
              <a:gd name="T38" fmla="*/ 6191 w 12567"/>
              <a:gd name="T39" fmla="*/ 8895 h 12604"/>
              <a:gd name="T40" fmla="*/ 6017 w 12567"/>
              <a:gd name="T41" fmla="*/ 8895 h 12604"/>
              <a:gd name="T42" fmla="*/ 5547 w 12567"/>
              <a:gd name="T43" fmla="*/ 9366 h 12604"/>
              <a:gd name="T44" fmla="*/ 5547 w 12567"/>
              <a:gd name="T45" fmla="*/ 9541 h 12604"/>
              <a:gd name="T46" fmla="*/ 6017 w 12567"/>
              <a:gd name="T47" fmla="*/ 10011 h 12604"/>
              <a:gd name="T48" fmla="*/ 6191 w 12567"/>
              <a:gd name="T49" fmla="*/ 10011 h 12604"/>
              <a:gd name="T50" fmla="*/ 6660 w 12567"/>
              <a:gd name="T51" fmla="*/ 9541 h 12604"/>
              <a:gd name="T52" fmla="*/ 6660 w 12567"/>
              <a:gd name="T53" fmla="*/ 9366 h 12604"/>
              <a:gd name="T54" fmla="*/ 6191 w 12567"/>
              <a:gd name="T55" fmla="*/ 8895 h 12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567" h="12604">
                <a:moveTo>
                  <a:pt x="6283" y="2965"/>
                </a:moveTo>
                <a:cubicBezTo>
                  <a:pt x="4820" y="2965"/>
                  <a:pt x="4066" y="4048"/>
                  <a:pt x="4066" y="5561"/>
                </a:cubicBezTo>
                <a:lnTo>
                  <a:pt x="5175" y="5561"/>
                </a:lnTo>
                <a:cubicBezTo>
                  <a:pt x="5175" y="5561"/>
                  <a:pt x="5128" y="4078"/>
                  <a:pt x="6283" y="4078"/>
                </a:cubicBezTo>
                <a:cubicBezTo>
                  <a:pt x="7400" y="4078"/>
                  <a:pt x="7393" y="4975"/>
                  <a:pt x="7393" y="5190"/>
                </a:cubicBezTo>
                <a:cubicBezTo>
                  <a:pt x="7393" y="6461"/>
                  <a:pt x="5544" y="6400"/>
                  <a:pt x="5544" y="8156"/>
                </a:cubicBezTo>
                <a:cubicBezTo>
                  <a:pt x="5544" y="8156"/>
                  <a:pt x="6653" y="8162"/>
                  <a:pt x="6653" y="8156"/>
                </a:cubicBezTo>
                <a:cubicBezTo>
                  <a:pt x="6653" y="7043"/>
                  <a:pt x="8502" y="6620"/>
                  <a:pt x="8502" y="5190"/>
                </a:cubicBezTo>
                <a:cubicBezTo>
                  <a:pt x="8502" y="3745"/>
                  <a:pt x="7809" y="2965"/>
                  <a:pt x="6283" y="2965"/>
                </a:cubicBezTo>
                <a:close/>
                <a:moveTo>
                  <a:pt x="6283" y="0"/>
                </a:moveTo>
                <a:cubicBezTo>
                  <a:pt x="2813" y="0"/>
                  <a:pt x="0" y="2821"/>
                  <a:pt x="0" y="6302"/>
                </a:cubicBezTo>
                <a:cubicBezTo>
                  <a:pt x="0" y="9783"/>
                  <a:pt x="2813" y="12604"/>
                  <a:pt x="6283" y="12604"/>
                </a:cubicBezTo>
                <a:cubicBezTo>
                  <a:pt x="9754" y="12604"/>
                  <a:pt x="12567" y="9783"/>
                  <a:pt x="12567" y="6302"/>
                </a:cubicBezTo>
                <a:cubicBezTo>
                  <a:pt x="12567" y="2821"/>
                  <a:pt x="9754" y="0"/>
                  <a:pt x="6283" y="0"/>
                </a:cubicBezTo>
                <a:close/>
                <a:moveTo>
                  <a:pt x="6283" y="11489"/>
                </a:moveTo>
                <a:cubicBezTo>
                  <a:pt x="3428" y="11489"/>
                  <a:pt x="1113" y="9166"/>
                  <a:pt x="1113" y="6302"/>
                </a:cubicBezTo>
                <a:cubicBezTo>
                  <a:pt x="1113" y="3438"/>
                  <a:pt x="3428" y="1116"/>
                  <a:pt x="6283" y="1116"/>
                </a:cubicBezTo>
                <a:cubicBezTo>
                  <a:pt x="9139" y="1116"/>
                  <a:pt x="11454" y="3438"/>
                  <a:pt x="11454" y="6302"/>
                </a:cubicBezTo>
                <a:cubicBezTo>
                  <a:pt x="11455" y="9166"/>
                  <a:pt x="9140" y="11489"/>
                  <a:pt x="6283" y="11489"/>
                </a:cubicBezTo>
                <a:close/>
                <a:moveTo>
                  <a:pt x="6191" y="8895"/>
                </a:moveTo>
                <a:lnTo>
                  <a:pt x="6017" y="8895"/>
                </a:lnTo>
                <a:cubicBezTo>
                  <a:pt x="5758" y="8895"/>
                  <a:pt x="5547" y="9106"/>
                  <a:pt x="5547" y="9366"/>
                </a:cubicBezTo>
                <a:lnTo>
                  <a:pt x="5547" y="9541"/>
                </a:lnTo>
                <a:cubicBezTo>
                  <a:pt x="5547" y="9801"/>
                  <a:pt x="5758" y="10011"/>
                  <a:pt x="6017" y="10011"/>
                </a:cubicBezTo>
                <a:lnTo>
                  <a:pt x="6191" y="10011"/>
                </a:lnTo>
                <a:cubicBezTo>
                  <a:pt x="6450" y="10011"/>
                  <a:pt x="6660" y="9801"/>
                  <a:pt x="6660" y="9541"/>
                </a:cubicBezTo>
                <a:lnTo>
                  <a:pt x="6660" y="9366"/>
                </a:lnTo>
                <a:cubicBezTo>
                  <a:pt x="6660" y="9106"/>
                  <a:pt x="6450" y="8895"/>
                  <a:pt x="6191" y="88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241073E-BDB7-91C1-4E09-F3185ED4EC63}"/>
              </a:ext>
            </a:extLst>
          </p:cNvPr>
          <p:cNvSpPr txBox="1"/>
          <p:nvPr/>
        </p:nvSpPr>
        <p:spPr>
          <a:xfrm>
            <a:off x="9562229" y="5384526"/>
            <a:ext cx="2096143" cy="866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zh-CN" altLang="en-US" sz="1600" dirty="0"/>
              <a:t>如何将不对称电催化应用于复杂分子的后期官能团化？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846E7F6-25F1-0697-A6EA-65EC53785520}"/>
              </a:ext>
            </a:extLst>
          </p:cNvPr>
          <p:cNvSpPr/>
          <p:nvPr/>
        </p:nvSpPr>
        <p:spPr>
          <a:xfrm>
            <a:off x="9881280" y="5003304"/>
            <a:ext cx="1705494" cy="323117"/>
          </a:xfrm>
          <a:prstGeom prst="roundRect">
            <a:avLst>
              <a:gd name="adj" fmla="val 0"/>
            </a:avLst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问题</a:t>
            </a:r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</a:rPr>
              <a:t>3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5FEA591-2729-14CD-D814-983F2BB6CBE3}"/>
              </a:ext>
            </a:extLst>
          </p:cNvPr>
          <p:cNvSpPr/>
          <p:nvPr/>
        </p:nvSpPr>
        <p:spPr>
          <a:xfrm>
            <a:off x="9881280" y="5003304"/>
            <a:ext cx="45719" cy="32311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iconfont-1068-748243">
            <a:extLst>
              <a:ext uri="{FF2B5EF4-FFF2-40B4-BE49-F238E27FC236}">
                <a16:creationId xmlns:a16="http://schemas.microsoft.com/office/drawing/2014/main" id="{9DE7019E-EA0D-EF55-7A7B-D7B5BA48DC2E}"/>
              </a:ext>
            </a:extLst>
          </p:cNvPr>
          <p:cNvSpPr/>
          <p:nvPr/>
        </p:nvSpPr>
        <p:spPr>
          <a:xfrm>
            <a:off x="9550917" y="3774949"/>
            <a:ext cx="254990" cy="255752"/>
          </a:xfrm>
          <a:custGeom>
            <a:avLst/>
            <a:gdLst>
              <a:gd name="T0" fmla="*/ 6283 w 12567"/>
              <a:gd name="T1" fmla="*/ 2965 h 12604"/>
              <a:gd name="T2" fmla="*/ 4066 w 12567"/>
              <a:gd name="T3" fmla="*/ 5561 h 12604"/>
              <a:gd name="T4" fmla="*/ 5175 w 12567"/>
              <a:gd name="T5" fmla="*/ 5561 h 12604"/>
              <a:gd name="T6" fmla="*/ 6283 w 12567"/>
              <a:gd name="T7" fmla="*/ 4078 h 12604"/>
              <a:gd name="T8" fmla="*/ 7393 w 12567"/>
              <a:gd name="T9" fmla="*/ 5190 h 12604"/>
              <a:gd name="T10" fmla="*/ 5544 w 12567"/>
              <a:gd name="T11" fmla="*/ 8156 h 12604"/>
              <a:gd name="T12" fmla="*/ 6653 w 12567"/>
              <a:gd name="T13" fmla="*/ 8156 h 12604"/>
              <a:gd name="T14" fmla="*/ 8502 w 12567"/>
              <a:gd name="T15" fmla="*/ 5190 h 12604"/>
              <a:gd name="T16" fmla="*/ 6283 w 12567"/>
              <a:gd name="T17" fmla="*/ 2965 h 12604"/>
              <a:gd name="T18" fmla="*/ 6283 w 12567"/>
              <a:gd name="T19" fmla="*/ 0 h 12604"/>
              <a:gd name="T20" fmla="*/ 0 w 12567"/>
              <a:gd name="T21" fmla="*/ 6302 h 12604"/>
              <a:gd name="T22" fmla="*/ 6283 w 12567"/>
              <a:gd name="T23" fmla="*/ 12604 h 12604"/>
              <a:gd name="T24" fmla="*/ 12567 w 12567"/>
              <a:gd name="T25" fmla="*/ 6302 h 12604"/>
              <a:gd name="T26" fmla="*/ 6283 w 12567"/>
              <a:gd name="T27" fmla="*/ 0 h 12604"/>
              <a:gd name="T28" fmla="*/ 6283 w 12567"/>
              <a:gd name="T29" fmla="*/ 11489 h 12604"/>
              <a:gd name="T30" fmla="*/ 1113 w 12567"/>
              <a:gd name="T31" fmla="*/ 6302 h 12604"/>
              <a:gd name="T32" fmla="*/ 6283 w 12567"/>
              <a:gd name="T33" fmla="*/ 1116 h 12604"/>
              <a:gd name="T34" fmla="*/ 11454 w 12567"/>
              <a:gd name="T35" fmla="*/ 6302 h 12604"/>
              <a:gd name="T36" fmla="*/ 6283 w 12567"/>
              <a:gd name="T37" fmla="*/ 11489 h 12604"/>
              <a:gd name="T38" fmla="*/ 6191 w 12567"/>
              <a:gd name="T39" fmla="*/ 8895 h 12604"/>
              <a:gd name="T40" fmla="*/ 6017 w 12567"/>
              <a:gd name="T41" fmla="*/ 8895 h 12604"/>
              <a:gd name="T42" fmla="*/ 5547 w 12567"/>
              <a:gd name="T43" fmla="*/ 9366 h 12604"/>
              <a:gd name="T44" fmla="*/ 5547 w 12567"/>
              <a:gd name="T45" fmla="*/ 9541 h 12604"/>
              <a:gd name="T46" fmla="*/ 6017 w 12567"/>
              <a:gd name="T47" fmla="*/ 10011 h 12604"/>
              <a:gd name="T48" fmla="*/ 6191 w 12567"/>
              <a:gd name="T49" fmla="*/ 10011 h 12604"/>
              <a:gd name="T50" fmla="*/ 6660 w 12567"/>
              <a:gd name="T51" fmla="*/ 9541 h 12604"/>
              <a:gd name="T52" fmla="*/ 6660 w 12567"/>
              <a:gd name="T53" fmla="*/ 9366 h 12604"/>
              <a:gd name="T54" fmla="*/ 6191 w 12567"/>
              <a:gd name="T55" fmla="*/ 8895 h 12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567" h="12604">
                <a:moveTo>
                  <a:pt x="6283" y="2965"/>
                </a:moveTo>
                <a:cubicBezTo>
                  <a:pt x="4820" y="2965"/>
                  <a:pt x="4066" y="4048"/>
                  <a:pt x="4066" y="5561"/>
                </a:cubicBezTo>
                <a:lnTo>
                  <a:pt x="5175" y="5561"/>
                </a:lnTo>
                <a:cubicBezTo>
                  <a:pt x="5175" y="5561"/>
                  <a:pt x="5128" y="4078"/>
                  <a:pt x="6283" y="4078"/>
                </a:cubicBezTo>
                <a:cubicBezTo>
                  <a:pt x="7400" y="4078"/>
                  <a:pt x="7393" y="4975"/>
                  <a:pt x="7393" y="5190"/>
                </a:cubicBezTo>
                <a:cubicBezTo>
                  <a:pt x="7393" y="6461"/>
                  <a:pt x="5544" y="6400"/>
                  <a:pt x="5544" y="8156"/>
                </a:cubicBezTo>
                <a:cubicBezTo>
                  <a:pt x="5544" y="8156"/>
                  <a:pt x="6653" y="8162"/>
                  <a:pt x="6653" y="8156"/>
                </a:cubicBezTo>
                <a:cubicBezTo>
                  <a:pt x="6653" y="7043"/>
                  <a:pt x="8502" y="6620"/>
                  <a:pt x="8502" y="5190"/>
                </a:cubicBezTo>
                <a:cubicBezTo>
                  <a:pt x="8502" y="3745"/>
                  <a:pt x="7809" y="2965"/>
                  <a:pt x="6283" y="2965"/>
                </a:cubicBezTo>
                <a:close/>
                <a:moveTo>
                  <a:pt x="6283" y="0"/>
                </a:moveTo>
                <a:cubicBezTo>
                  <a:pt x="2813" y="0"/>
                  <a:pt x="0" y="2821"/>
                  <a:pt x="0" y="6302"/>
                </a:cubicBezTo>
                <a:cubicBezTo>
                  <a:pt x="0" y="9783"/>
                  <a:pt x="2813" y="12604"/>
                  <a:pt x="6283" y="12604"/>
                </a:cubicBezTo>
                <a:cubicBezTo>
                  <a:pt x="9754" y="12604"/>
                  <a:pt x="12567" y="9783"/>
                  <a:pt x="12567" y="6302"/>
                </a:cubicBezTo>
                <a:cubicBezTo>
                  <a:pt x="12567" y="2821"/>
                  <a:pt x="9754" y="0"/>
                  <a:pt x="6283" y="0"/>
                </a:cubicBezTo>
                <a:close/>
                <a:moveTo>
                  <a:pt x="6283" y="11489"/>
                </a:moveTo>
                <a:cubicBezTo>
                  <a:pt x="3428" y="11489"/>
                  <a:pt x="1113" y="9166"/>
                  <a:pt x="1113" y="6302"/>
                </a:cubicBezTo>
                <a:cubicBezTo>
                  <a:pt x="1113" y="3438"/>
                  <a:pt x="3428" y="1116"/>
                  <a:pt x="6283" y="1116"/>
                </a:cubicBezTo>
                <a:cubicBezTo>
                  <a:pt x="9139" y="1116"/>
                  <a:pt x="11454" y="3438"/>
                  <a:pt x="11454" y="6302"/>
                </a:cubicBezTo>
                <a:cubicBezTo>
                  <a:pt x="11455" y="9166"/>
                  <a:pt x="9140" y="11489"/>
                  <a:pt x="6283" y="11489"/>
                </a:cubicBezTo>
                <a:close/>
                <a:moveTo>
                  <a:pt x="6191" y="8895"/>
                </a:moveTo>
                <a:lnTo>
                  <a:pt x="6017" y="8895"/>
                </a:lnTo>
                <a:cubicBezTo>
                  <a:pt x="5758" y="8895"/>
                  <a:pt x="5547" y="9106"/>
                  <a:pt x="5547" y="9366"/>
                </a:cubicBezTo>
                <a:lnTo>
                  <a:pt x="5547" y="9541"/>
                </a:lnTo>
                <a:cubicBezTo>
                  <a:pt x="5547" y="9801"/>
                  <a:pt x="5758" y="10011"/>
                  <a:pt x="6017" y="10011"/>
                </a:cubicBezTo>
                <a:lnTo>
                  <a:pt x="6191" y="10011"/>
                </a:lnTo>
                <a:cubicBezTo>
                  <a:pt x="6450" y="10011"/>
                  <a:pt x="6660" y="9801"/>
                  <a:pt x="6660" y="9541"/>
                </a:cubicBezTo>
                <a:lnTo>
                  <a:pt x="6660" y="9366"/>
                </a:lnTo>
                <a:cubicBezTo>
                  <a:pt x="6660" y="9106"/>
                  <a:pt x="6450" y="8895"/>
                  <a:pt x="6191" y="88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1EB0D72-9EA3-CBC6-4706-27E6A139AD6E}"/>
              </a:ext>
            </a:extLst>
          </p:cNvPr>
          <p:cNvSpPr txBox="1"/>
          <p:nvPr/>
        </p:nvSpPr>
        <p:spPr>
          <a:xfrm>
            <a:off x="9562229" y="4111860"/>
            <a:ext cx="2096143" cy="571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zh-CN" altLang="en-US" sz="1600" dirty="0"/>
              <a:t>电化学条件如何影响对映选择性？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4846906-B9BA-0518-B614-29AFEA729A48}"/>
              </a:ext>
            </a:extLst>
          </p:cNvPr>
          <p:cNvSpPr/>
          <p:nvPr/>
        </p:nvSpPr>
        <p:spPr>
          <a:xfrm>
            <a:off x="9881280" y="3741266"/>
            <a:ext cx="1705494" cy="323117"/>
          </a:xfrm>
          <a:prstGeom prst="roundRect">
            <a:avLst>
              <a:gd name="adj" fmla="val 0"/>
            </a:avLst>
          </a:prstGeom>
          <a:solidFill>
            <a:schemeClr val="accent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问题</a:t>
            </a:r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</a:rPr>
              <a:t>2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DE7FAA98-A974-54B8-8F5F-3DA2E65E3B55}"/>
              </a:ext>
            </a:extLst>
          </p:cNvPr>
          <p:cNvSpPr/>
          <p:nvPr/>
        </p:nvSpPr>
        <p:spPr>
          <a:xfrm>
            <a:off x="9881280" y="3741266"/>
            <a:ext cx="45719" cy="32311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9BD04EFD-CA29-F1EB-F8BF-8EFBD58A035C}"/>
              </a:ext>
            </a:extLst>
          </p:cNvPr>
          <p:cNvSpPr/>
          <p:nvPr/>
        </p:nvSpPr>
        <p:spPr>
          <a:xfrm>
            <a:off x="9881280" y="2145956"/>
            <a:ext cx="45719" cy="323117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A49ED7-BEB4-D58E-1766-99CE8F7F5EFD}"/>
              </a:ext>
            </a:extLst>
          </p:cNvPr>
          <p:cNvSpPr/>
          <p:nvPr/>
        </p:nvSpPr>
        <p:spPr>
          <a:xfrm>
            <a:off x="0" y="0"/>
            <a:ext cx="12191999" cy="4235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B7C22A85-4E01-2284-567E-C07F890B782A}"/>
              </a:ext>
            </a:extLst>
          </p:cNvPr>
          <p:cNvSpPr/>
          <p:nvPr/>
        </p:nvSpPr>
        <p:spPr>
          <a:xfrm flipV="1">
            <a:off x="4972526" y="378755"/>
            <a:ext cx="216000" cy="1080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9DB654-A3E7-7126-7753-78F362E17F4C}"/>
              </a:ext>
            </a:extLst>
          </p:cNvPr>
          <p:cNvSpPr/>
          <p:nvPr/>
        </p:nvSpPr>
        <p:spPr>
          <a:xfrm>
            <a:off x="0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F6BBFB-5212-D9AA-DF7E-DAC6E2BAE74E}"/>
              </a:ext>
            </a:extLst>
          </p:cNvPr>
          <p:cNvSpPr/>
          <p:nvPr/>
        </p:nvSpPr>
        <p:spPr>
          <a:xfrm>
            <a:off x="202589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9D362F1-7F69-CD8F-5DA8-7CBC57B6D329}"/>
              </a:ext>
            </a:extLst>
          </p:cNvPr>
          <p:cNvSpPr/>
          <p:nvPr/>
        </p:nvSpPr>
        <p:spPr>
          <a:xfrm>
            <a:off x="4058101" y="0"/>
            <a:ext cx="2037266" cy="385449"/>
          </a:xfrm>
          <a:prstGeom prst="rect">
            <a:avLst/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627E637-EF09-F4C1-D76D-86E3E4D9552C}"/>
              </a:ext>
            </a:extLst>
          </p:cNvPr>
          <p:cNvSpPr/>
          <p:nvPr/>
        </p:nvSpPr>
        <p:spPr>
          <a:xfrm>
            <a:off x="609031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E871A66-B83B-BB65-1967-D56517475610}"/>
              </a:ext>
            </a:extLst>
          </p:cNvPr>
          <p:cNvSpPr/>
          <p:nvPr/>
        </p:nvSpPr>
        <p:spPr>
          <a:xfrm>
            <a:off x="812252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59D17AF-919B-2A22-2627-EEF895B32E54}"/>
              </a:ext>
            </a:extLst>
          </p:cNvPr>
          <p:cNvSpPr/>
          <p:nvPr/>
        </p:nvSpPr>
        <p:spPr>
          <a:xfrm>
            <a:off x="10154733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D707526-A14C-75A6-2BE7-54647FE86295}"/>
              </a:ext>
            </a:extLst>
          </p:cNvPr>
          <p:cNvSpPr txBox="1"/>
          <p:nvPr/>
        </p:nvSpPr>
        <p:spPr>
          <a:xfrm>
            <a:off x="545674" y="675767"/>
            <a:ext cx="3804434" cy="512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uLnTx/>
                <a:uFillTx/>
                <a:latin typeface="+mn-ea"/>
              </a:defRPr>
            </a:lvl1pPr>
          </a:lstStyle>
          <a:p>
            <a:r>
              <a:rPr sz="2200">
                <a:solidFill>
                  <a:srgbClr val="E6F5FF"/>
                </a:solidFill>
                <a:latin typeface="Microsoft YaHei"/>
              </a:rPr>
              <a:t>研究方案与实验内容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09E512C-B55E-8AD0-9FFA-5428ACCD7B15}"/>
              </a:ext>
            </a:extLst>
          </p:cNvPr>
          <p:cNvGrpSpPr/>
          <p:nvPr/>
        </p:nvGrpSpPr>
        <p:grpSpPr>
          <a:xfrm>
            <a:off x="-18375" y="751954"/>
            <a:ext cx="362021" cy="296275"/>
            <a:chOff x="-5864720" y="822384"/>
            <a:chExt cx="362021" cy="126522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C4BA104-8136-02D1-9B04-300E13D32E7E}"/>
                </a:ext>
              </a:extLst>
            </p:cNvPr>
            <p:cNvSpPr/>
            <p:nvPr/>
          </p:nvSpPr>
          <p:spPr>
            <a:xfrm>
              <a:off x="-5864720" y="822384"/>
              <a:ext cx="274804" cy="1265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9E53BD3-C29A-F988-28A7-8C3A823CCA79}"/>
                </a:ext>
              </a:extLst>
            </p:cNvPr>
            <p:cNvSpPr/>
            <p:nvPr/>
          </p:nvSpPr>
          <p:spPr>
            <a:xfrm>
              <a:off x="-5548418" y="822384"/>
              <a:ext cx="45719" cy="126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  <p:sp>
        <p:nvSpPr>
          <p:cNvPr id="48" name="矩形 47">
            <a:extLst>
              <a:ext uri="{FF2B5EF4-FFF2-40B4-BE49-F238E27FC236}">
                <a16:creationId xmlns:a16="http://schemas.microsoft.com/office/drawing/2014/main" id="{4FC8F891-3DAC-9F9B-7C81-3AFB1575D703}"/>
              </a:ext>
            </a:extLst>
          </p:cNvPr>
          <p:cNvSpPr/>
          <p:nvPr/>
        </p:nvSpPr>
        <p:spPr>
          <a:xfrm>
            <a:off x="0" y="0"/>
            <a:ext cx="2030947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F68F887-8558-9011-8DB1-99052FD8F537}"/>
              </a:ext>
            </a:extLst>
          </p:cNvPr>
          <p:cNvSpPr txBox="1"/>
          <p:nvPr/>
        </p:nvSpPr>
        <p:spPr>
          <a:xfrm>
            <a:off x="2587915" y="77031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研究思路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14DF95A-656E-1201-9AEC-607EECB0B97A}"/>
              </a:ext>
            </a:extLst>
          </p:cNvPr>
          <p:cNvSpPr txBox="1"/>
          <p:nvPr/>
        </p:nvSpPr>
        <p:spPr>
          <a:xfrm>
            <a:off x="207559" y="770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研究信息与背景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454713F-9782-A347-3ADC-CEE14B172F14}"/>
              </a:ext>
            </a:extLst>
          </p:cNvPr>
          <p:cNvSpPr txBox="1"/>
          <p:nvPr/>
        </p:nvSpPr>
        <p:spPr>
          <a:xfrm>
            <a:off x="4567565" y="61642"/>
            <a:ext cx="1025923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研究成果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3F56C39-CFC5-18CD-63C2-5B5D445F2C9B}"/>
              </a:ext>
            </a:extLst>
          </p:cNvPr>
          <p:cNvSpPr txBox="1"/>
          <p:nvPr/>
        </p:nvSpPr>
        <p:spPr>
          <a:xfrm>
            <a:off x="6303559" y="770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研究结论与讨论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23019C7-BE5B-E0FD-BDDC-11EDB244C5EC}"/>
              </a:ext>
            </a:extLst>
          </p:cNvPr>
          <p:cNvSpPr txBox="1"/>
          <p:nvPr/>
        </p:nvSpPr>
        <p:spPr>
          <a:xfrm>
            <a:off x="8565338" y="77031"/>
            <a:ext cx="1154162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展望与借鉴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F8E1A25-E862-D6DF-3E4E-206A0C3582E8}"/>
              </a:ext>
            </a:extLst>
          </p:cNvPr>
          <p:cNvSpPr txBox="1"/>
          <p:nvPr/>
        </p:nvSpPr>
        <p:spPr>
          <a:xfrm>
            <a:off x="10480868" y="77031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创新点与启发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D28B16FB-1A92-BE9D-AFDE-2AF85EAD7BA3}"/>
              </a:ext>
            </a:extLst>
          </p:cNvPr>
          <p:cNvSpPr txBox="1">
            <a:spLocks/>
          </p:cNvSpPr>
          <p:nvPr/>
        </p:nvSpPr>
        <p:spPr>
          <a:xfrm>
            <a:off x="11064000" y="6523006"/>
            <a:ext cx="689177" cy="24622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B9D861-A37E-41C9-AD6C-452E9AD9AABC}" type="slidenum">
              <a:rPr lang="zh-CN" altLang="en-US" sz="1200" smtClean="0"/>
              <a:pPr/>
              <a:t>18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90621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7739F-B1BD-2228-D5A3-DBC8E61E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3AAD6DED-DA58-12E3-0793-AA2584F8AFFE}"/>
              </a:ext>
            </a:extLst>
          </p:cNvPr>
          <p:cNvSpPr/>
          <p:nvPr/>
        </p:nvSpPr>
        <p:spPr>
          <a:xfrm>
            <a:off x="554522" y="4173297"/>
            <a:ext cx="5314811" cy="2200822"/>
          </a:xfrm>
          <a:prstGeom prst="roundRect">
            <a:avLst>
              <a:gd name="adj" fmla="val 0"/>
            </a:avLst>
          </a:prstGeom>
          <a:noFill/>
          <a:ln w="158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61C08770-FFCB-9FE6-1271-2565591EE9C5}"/>
              </a:ext>
            </a:extLst>
          </p:cNvPr>
          <p:cNvSpPr/>
          <p:nvPr/>
        </p:nvSpPr>
        <p:spPr>
          <a:xfrm>
            <a:off x="527318" y="4173297"/>
            <a:ext cx="36000" cy="220082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F66BD8F-9D0B-35D9-2AA9-621C331B31CC}"/>
              </a:ext>
            </a:extLst>
          </p:cNvPr>
          <p:cNvSpPr/>
          <p:nvPr/>
        </p:nvSpPr>
        <p:spPr>
          <a:xfrm>
            <a:off x="554522" y="1572919"/>
            <a:ext cx="5314811" cy="2200822"/>
          </a:xfrm>
          <a:prstGeom prst="roundRect">
            <a:avLst>
              <a:gd name="adj" fmla="val 0"/>
            </a:avLst>
          </a:prstGeom>
          <a:noFill/>
          <a:ln w="158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D7D40F5B-310E-C1E4-9F55-6B7BA9A89A22}"/>
              </a:ext>
            </a:extLst>
          </p:cNvPr>
          <p:cNvSpPr/>
          <p:nvPr/>
        </p:nvSpPr>
        <p:spPr>
          <a:xfrm>
            <a:off x="527318" y="1572919"/>
            <a:ext cx="36000" cy="220082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EF8196A6-1E42-2545-C64E-EC7E3A8DF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438" y="1629498"/>
            <a:ext cx="2499626" cy="4687725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1C23F06F-C23E-BAF8-0153-3AAE0048D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625" y="1616697"/>
            <a:ext cx="2564365" cy="4687725"/>
          </a:xfrm>
          <a:prstGeom prst="rect">
            <a:avLst/>
          </a:prstGeom>
          <a:ln>
            <a:noFill/>
          </a:ln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5891AB4C-0762-2A06-4D72-2A79FA14E2F4}"/>
              </a:ext>
            </a:extLst>
          </p:cNvPr>
          <p:cNvSpPr txBox="1"/>
          <p:nvPr/>
        </p:nvSpPr>
        <p:spPr>
          <a:xfrm>
            <a:off x="1400648" y="1884556"/>
            <a:ext cx="3422618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 b="0" i="0">
                <a:solidFill>
                  <a:srgbClr val="333639"/>
                </a:solidFill>
                <a:effectLst/>
                <a:latin typeface="v-sans"/>
              </a:defRPr>
            </a:lvl1pPr>
          </a:lstStyle>
          <a:p/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026E351-5130-D04B-5C5C-48018B821898}"/>
              </a:ext>
            </a:extLst>
          </p:cNvPr>
          <p:cNvSpPr/>
          <p:nvPr/>
        </p:nvSpPr>
        <p:spPr>
          <a:xfrm flipH="1">
            <a:off x="860644" y="1853222"/>
            <a:ext cx="432002" cy="432000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/>
              <a:t>01</a:t>
            </a:r>
            <a:endParaRPr lang="zh-CN" altLang="en-US" sz="1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0D5E7D7-D2EC-37B1-2B74-CD6B35041FEA}"/>
              </a:ext>
            </a:extLst>
          </p:cNvPr>
          <p:cNvSpPr>
            <a:spLocks/>
          </p:cNvSpPr>
          <p:nvPr/>
        </p:nvSpPr>
        <p:spPr>
          <a:xfrm>
            <a:off x="6244234" y="1547000"/>
            <a:ext cx="2598035" cy="4827119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453D09B-1D99-9BE1-E4E0-5090944EBBC4}"/>
              </a:ext>
            </a:extLst>
          </p:cNvPr>
          <p:cNvSpPr>
            <a:spLocks/>
          </p:cNvSpPr>
          <p:nvPr/>
        </p:nvSpPr>
        <p:spPr>
          <a:xfrm>
            <a:off x="9061790" y="1547000"/>
            <a:ext cx="2598035" cy="482711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B13D359-C3CC-60DC-A2C9-4ADC4408AE7A}"/>
              </a:ext>
            </a:extLst>
          </p:cNvPr>
          <p:cNvSpPr txBox="1"/>
          <p:nvPr/>
        </p:nvSpPr>
        <p:spPr>
          <a:xfrm>
            <a:off x="1400648" y="4485958"/>
            <a:ext cx="408159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 b="0" i="0">
                <a:solidFill>
                  <a:srgbClr val="333639"/>
                </a:solidFill>
                <a:effectLst/>
                <a:latin typeface="v-sans"/>
              </a:defRPr>
            </a:lvl1pPr>
          </a:lstStyle>
          <a:p/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E76DA118-ED01-9AFA-4D68-C795AE01792F}"/>
              </a:ext>
            </a:extLst>
          </p:cNvPr>
          <p:cNvSpPr/>
          <p:nvPr/>
        </p:nvSpPr>
        <p:spPr>
          <a:xfrm flipH="1">
            <a:off x="860644" y="4453600"/>
            <a:ext cx="432002" cy="432000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/>
              <a:t>02</a:t>
            </a:r>
            <a:endParaRPr lang="zh-CN" altLang="en-US" sz="1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33C358-2CD1-28EB-887E-725DC261C27B}"/>
              </a:ext>
            </a:extLst>
          </p:cNvPr>
          <p:cNvSpPr txBox="1"/>
          <p:nvPr/>
        </p:nvSpPr>
        <p:spPr>
          <a:xfrm>
            <a:off x="847129" y="2528299"/>
            <a:ext cx="4729596" cy="866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7272AA6-C395-A768-07FF-E58CA787B165}"/>
              </a:ext>
            </a:extLst>
          </p:cNvPr>
          <p:cNvSpPr txBox="1"/>
          <p:nvPr/>
        </p:nvSpPr>
        <p:spPr>
          <a:xfrm>
            <a:off x="847129" y="5128677"/>
            <a:ext cx="4729596" cy="866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216000" indent="-216000">
              <a:lnSpc>
                <a:spcPct val="120000"/>
              </a:lnSpc>
              <a:buFont typeface="Wingdings" panose="05000000000000000000" pitchFamily="2" charset="2"/>
              <a:buChar char="ü"/>
              <a:defRPr sz="1600" b="0" i="0">
                <a:solidFill>
                  <a:srgbClr val="333639"/>
                </a:solidFill>
                <a:effectLst/>
                <a:latin typeface="v-sans"/>
              </a:defRPr>
            </a:lvl1pPr>
          </a:lstStyle>
          <a:p/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1CE0F9D-98AE-6D5B-DB2F-526F215D25E3}"/>
              </a:ext>
            </a:extLst>
          </p:cNvPr>
          <p:cNvCxnSpPr/>
          <p:nvPr/>
        </p:nvCxnSpPr>
        <p:spPr>
          <a:xfrm>
            <a:off x="847129" y="2417580"/>
            <a:ext cx="4729595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29CDE91-166A-0CB0-C832-EE9E54D592B8}"/>
              </a:ext>
            </a:extLst>
          </p:cNvPr>
          <p:cNvCxnSpPr/>
          <p:nvPr/>
        </p:nvCxnSpPr>
        <p:spPr>
          <a:xfrm>
            <a:off x="847129" y="5017958"/>
            <a:ext cx="4729595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ED5289D-ECFE-B660-C634-48C870EEAAD7}"/>
              </a:ext>
            </a:extLst>
          </p:cNvPr>
          <p:cNvSpPr txBox="1"/>
          <p:nvPr/>
        </p:nvSpPr>
        <p:spPr>
          <a:xfrm>
            <a:off x="545674" y="675767"/>
            <a:ext cx="3804434" cy="512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uLnTx/>
                <a:uFillTx/>
                <a:latin typeface="+mn-ea"/>
              </a:defRPr>
            </a:lvl1pPr>
          </a:lstStyle>
          <a:p>
            <a:r>
              <a:rPr sz="2200">
                <a:solidFill>
                  <a:srgbClr val="E6F5FF"/>
                </a:solidFill>
                <a:latin typeface="Microsoft YaHei"/>
              </a:rPr>
              <a:t>实验对照组设计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6C90AAE-B8EB-EA6A-FC76-1379DD8326DA}"/>
              </a:ext>
            </a:extLst>
          </p:cNvPr>
          <p:cNvGrpSpPr/>
          <p:nvPr/>
        </p:nvGrpSpPr>
        <p:grpSpPr>
          <a:xfrm>
            <a:off x="-18375" y="751954"/>
            <a:ext cx="362021" cy="296275"/>
            <a:chOff x="-5864720" y="822384"/>
            <a:chExt cx="362021" cy="126522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F26D9BF-1E78-13B7-A631-BF2E70B1E29A}"/>
                </a:ext>
              </a:extLst>
            </p:cNvPr>
            <p:cNvSpPr/>
            <p:nvPr/>
          </p:nvSpPr>
          <p:spPr>
            <a:xfrm>
              <a:off x="-5864720" y="822384"/>
              <a:ext cx="274804" cy="1265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6C16B2E-2631-D996-BFB7-A06633725375}"/>
                </a:ext>
              </a:extLst>
            </p:cNvPr>
            <p:cNvSpPr/>
            <p:nvPr/>
          </p:nvSpPr>
          <p:spPr>
            <a:xfrm>
              <a:off x="-5548418" y="822384"/>
              <a:ext cx="45719" cy="126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4402872F-DCBD-B177-9606-EF2B661C74DC}"/>
              </a:ext>
            </a:extLst>
          </p:cNvPr>
          <p:cNvSpPr/>
          <p:nvPr/>
        </p:nvSpPr>
        <p:spPr>
          <a:xfrm>
            <a:off x="0" y="0"/>
            <a:ext cx="12191999" cy="4235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5" name="等腰三角形 24">
            <a:extLst>
              <a:ext uri="{FF2B5EF4-FFF2-40B4-BE49-F238E27FC236}">
                <a16:creationId xmlns:a16="http://schemas.microsoft.com/office/drawing/2014/main" id="{DDF134E6-E89B-D73D-FD03-17199C6BE4CD}"/>
              </a:ext>
            </a:extLst>
          </p:cNvPr>
          <p:cNvSpPr/>
          <p:nvPr/>
        </p:nvSpPr>
        <p:spPr>
          <a:xfrm flipV="1">
            <a:off x="4972526" y="378755"/>
            <a:ext cx="216000" cy="1080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0BE7C31-1607-F7B2-8E66-987905097F14}"/>
              </a:ext>
            </a:extLst>
          </p:cNvPr>
          <p:cNvSpPr/>
          <p:nvPr/>
        </p:nvSpPr>
        <p:spPr>
          <a:xfrm>
            <a:off x="0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CC319B1-9628-6CCF-FCF6-23C0DF254349}"/>
              </a:ext>
            </a:extLst>
          </p:cNvPr>
          <p:cNvSpPr/>
          <p:nvPr/>
        </p:nvSpPr>
        <p:spPr>
          <a:xfrm>
            <a:off x="202589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F9FF43D-28AA-20C4-C9AC-C9C91B192CE4}"/>
              </a:ext>
            </a:extLst>
          </p:cNvPr>
          <p:cNvSpPr/>
          <p:nvPr/>
        </p:nvSpPr>
        <p:spPr>
          <a:xfrm>
            <a:off x="4058101" y="0"/>
            <a:ext cx="2037266" cy="385449"/>
          </a:xfrm>
          <a:prstGeom prst="rect">
            <a:avLst/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DD8D173-721B-AF3E-0783-43CBB1146FF1}"/>
              </a:ext>
            </a:extLst>
          </p:cNvPr>
          <p:cNvSpPr/>
          <p:nvPr/>
        </p:nvSpPr>
        <p:spPr>
          <a:xfrm>
            <a:off x="609031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F6EBB52-4987-A580-EA3B-721CAA8E577A}"/>
              </a:ext>
            </a:extLst>
          </p:cNvPr>
          <p:cNvSpPr/>
          <p:nvPr/>
        </p:nvSpPr>
        <p:spPr>
          <a:xfrm>
            <a:off x="812252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DD5A15-F834-3591-302C-A62858CFD044}"/>
              </a:ext>
            </a:extLst>
          </p:cNvPr>
          <p:cNvSpPr/>
          <p:nvPr/>
        </p:nvSpPr>
        <p:spPr>
          <a:xfrm>
            <a:off x="10154733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177BFA5-D43C-11A8-3102-F47930D27D47}"/>
              </a:ext>
            </a:extLst>
          </p:cNvPr>
          <p:cNvSpPr/>
          <p:nvPr/>
        </p:nvSpPr>
        <p:spPr>
          <a:xfrm>
            <a:off x="0" y="0"/>
            <a:ext cx="2030947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B8E12C2-4E2D-DB2C-46CB-200EDA939186}"/>
              </a:ext>
            </a:extLst>
          </p:cNvPr>
          <p:cNvSpPr txBox="1"/>
          <p:nvPr/>
        </p:nvSpPr>
        <p:spPr>
          <a:xfrm>
            <a:off x="2587915" y="77031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研究思路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6333E49-02C1-4D04-B678-542DF7B6AE23}"/>
              </a:ext>
            </a:extLst>
          </p:cNvPr>
          <p:cNvSpPr txBox="1"/>
          <p:nvPr/>
        </p:nvSpPr>
        <p:spPr>
          <a:xfrm>
            <a:off x="207559" y="770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研究信息与背景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086F77F-C3C4-7356-667A-2B334FA98869}"/>
              </a:ext>
            </a:extLst>
          </p:cNvPr>
          <p:cNvSpPr txBox="1"/>
          <p:nvPr/>
        </p:nvSpPr>
        <p:spPr>
          <a:xfrm>
            <a:off x="4567565" y="61642"/>
            <a:ext cx="1025923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研究成果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65E7E4F-173C-EAFD-B627-830A0D0A2D51}"/>
              </a:ext>
            </a:extLst>
          </p:cNvPr>
          <p:cNvSpPr txBox="1"/>
          <p:nvPr/>
        </p:nvSpPr>
        <p:spPr>
          <a:xfrm>
            <a:off x="6303559" y="770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/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35F0107-806F-FB65-9766-41BDD9F398A6}"/>
              </a:ext>
            </a:extLst>
          </p:cNvPr>
          <p:cNvSpPr txBox="1"/>
          <p:nvPr/>
        </p:nvSpPr>
        <p:spPr>
          <a:xfrm>
            <a:off x="8565338" y="77031"/>
            <a:ext cx="1154162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展望与借鉴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6177818-3CC0-81E8-98D3-FFB3DABD288B}"/>
              </a:ext>
            </a:extLst>
          </p:cNvPr>
          <p:cNvSpPr txBox="1"/>
          <p:nvPr/>
        </p:nvSpPr>
        <p:spPr>
          <a:xfrm>
            <a:off x="10480868" y="77031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创新点与启发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A4A9D0E8-2277-60A3-761A-C0A05F13B215}"/>
              </a:ext>
            </a:extLst>
          </p:cNvPr>
          <p:cNvSpPr txBox="1">
            <a:spLocks/>
          </p:cNvSpPr>
          <p:nvPr/>
        </p:nvSpPr>
        <p:spPr>
          <a:xfrm>
            <a:off x="11064000" y="6523006"/>
            <a:ext cx="689177" cy="24622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B9D861-A37E-41C9-AD6C-452E9AD9AABC}" type="slidenum">
              <a:rPr lang="zh-CN" altLang="en-US" sz="1200" smtClean="0"/>
              <a:pPr/>
              <a:t>21</a:t>
            </a:fld>
            <a:endParaRPr lang="zh-CN" altLang="en-US" sz="1200" dirty="0"/>
          </a:p>
        </p:txBody>
      </p:sp>
      <p:pic>
        <p:nvPicPr>
          <p:cNvPr id="54" name="Picture 53" descr="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97280"/>
            <a:ext cx="5486400" cy="5303520"/>
          </a:xfrm>
          <a:prstGeom prst="rect">
            <a:avLst/>
          </a:prstGeom>
        </p:spPr>
      </p:pic>
      <p:pic>
        <p:nvPicPr>
          <p:cNvPr id="55" name="Picture 54" descr="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097280"/>
            <a:ext cx="5303520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79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>
            <a:extLst>
              <a:ext uri="{FF2B5EF4-FFF2-40B4-BE49-F238E27FC236}">
                <a16:creationId xmlns:a16="http://schemas.microsoft.com/office/drawing/2014/main" id="{8D267F62-2DAE-A5B0-1BBC-380889543E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67"/>
          <a:stretch>
            <a:fillRect/>
          </a:stretch>
        </p:blipFill>
        <p:spPr>
          <a:xfrm>
            <a:off x="4484442" y="2107979"/>
            <a:ext cx="3374768" cy="2718726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BED1B70-563F-57C3-10D0-AE541C7E25F1}"/>
              </a:ext>
            </a:extLst>
          </p:cNvPr>
          <p:cNvSpPr/>
          <p:nvPr/>
        </p:nvSpPr>
        <p:spPr>
          <a:xfrm>
            <a:off x="4416640" y="1458563"/>
            <a:ext cx="3510372" cy="52921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CC1F5C-FFC7-62EF-B2D0-82F8FA992CD8}"/>
              </a:ext>
            </a:extLst>
          </p:cNvPr>
          <p:cNvSpPr>
            <a:spLocks/>
          </p:cNvSpPr>
          <p:nvPr/>
        </p:nvSpPr>
        <p:spPr>
          <a:xfrm>
            <a:off x="4416640" y="1458563"/>
            <a:ext cx="3510372" cy="4994437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78B23E2-3117-F32E-AA37-F9E5CE3A1390}"/>
              </a:ext>
            </a:extLst>
          </p:cNvPr>
          <p:cNvSpPr/>
          <p:nvPr/>
        </p:nvSpPr>
        <p:spPr>
          <a:xfrm>
            <a:off x="8155263" y="1458563"/>
            <a:ext cx="3510372" cy="52921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D9E70FA-4375-625A-04D6-E393DE2DE7C7}"/>
              </a:ext>
            </a:extLst>
          </p:cNvPr>
          <p:cNvSpPr>
            <a:spLocks/>
          </p:cNvSpPr>
          <p:nvPr/>
        </p:nvSpPr>
        <p:spPr>
          <a:xfrm>
            <a:off x="8155263" y="1458563"/>
            <a:ext cx="3510372" cy="4994437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04DB58C-3CFF-BCCA-97BC-5F34C8588F80}"/>
              </a:ext>
            </a:extLst>
          </p:cNvPr>
          <p:cNvSpPr txBox="1"/>
          <p:nvPr/>
        </p:nvSpPr>
        <p:spPr>
          <a:xfrm>
            <a:off x="518833" y="2787749"/>
            <a:ext cx="3506099" cy="498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>
                <a:solidFill>
                  <a:srgbClr val="E6F5FF"/>
                </a:solidFill>
                <a:latin typeface="Microsoft YaHei"/>
              </a:rPr>
              <a:t>02. 自清洁：TiO₂ 光催化 + 亲水冲洗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9251C4D-11A9-E055-20E5-83D47BF5C786}"/>
              </a:ext>
            </a:extLst>
          </p:cNvPr>
          <p:cNvSpPr txBox="1"/>
          <p:nvPr/>
        </p:nvSpPr>
        <p:spPr>
          <a:xfrm>
            <a:off x="726079" y="2369775"/>
            <a:ext cx="2499626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/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B2EC505-C741-4FD2-DCC1-C867EB7AFF41}"/>
              </a:ext>
            </a:extLst>
          </p:cNvPr>
          <p:cNvSpPr/>
          <p:nvPr/>
        </p:nvSpPr>
        <p:spPr>
          <a:xfrm>
            <a:off x="545358" y="2391363"/>
            <a:ext cx="72721" cy="25692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37A1103-38C5-F832-15F8-A2226EB0758D}"/>
              </a:ext>
            </a:extLst>
          </p:cNvPr>
          <p:cNvSpPr txBox="1"/>
          <p:nvPr/>
        </p:nvSpPr>
        <p:spPr>
          <a:xfrm>
            <a:off x="518833" y="4165136"/>
            <a:ext cx="3506099" cy="498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1C29686-9016-5B9D-5A8E-4A3988AA0CC7}"/>
              </a:ext>
            </a:extLst>
          </p:cNvPr>
          <p:cNvSpPr txBox="1"/>
          <p:nvPr/>
        </p:nvSpPr>
        <p:spPr>
          <a:xfrm>
            <a:off x="726079" y="3747162"/>
            <a:ext cx="2499626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sz="1800">
                <a:solidFill>
                  <a:srgbClr val="E6F5FF"/>
                </a:solidFill>
                <a:latin typeface="Microsoft YaHei"/>
              </a:rPr>
              <a:t>03. 光学：粗糙度/膜厚共同决定透过率与雾度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163C022-69CA-3464-E726-5D34FFDB0F68}"/>
              </a:ext>
            </a:extLst>
          </p:cNvPr>
          <p:cNvSpPr/>
          <p:nvPr/>
        </p:nvSpPr>
        <p:spPr>
          <a:xfrm>
            <a:off x="545358" y="3768750"/>
            <a:ext cx="72721" cy="25692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5F23180-056A-43A4-0FDF-CE2881C2F73B}"/>
              </a:ext>
            </a:extLst>
          </p:cNvPr>
          <p:cNvSpPr txBox="1"/>
          <p:nvPr/>
        </p:nvSpPr>
        <p:spPr>
          <a:xfrm>
            <a:off x="518833" y="5542523"/>
            <a:ext cx="3506099" cy="498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C2F9133-E9AA-A09A-9E6D-8196892873EA}"/>
              </a:ext>
            </a:extLst>
          </p:cNvPr>
          <p:cNvSpPr txBox="1"/>
          <p:nvPr/>
        </p:nvSpPr>
        <p:spPr>
          <a:xfrm>
            <a:off x="726079" y="5124549"/>
            <a:ext cx="2499626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/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B100E208-F223-9739-D0AC-B390115CC705}"/>
              </a:ext>
            </a:extLst>
          </p:cNvPr>
          <p:cNvSpPr/>
          <p:nvPr/>
        </p:nvSpPr>
        <p:spPr>
          <a:xfrm>
            <a:off x="545358" y="5146137"/>
            <a:ext cx="72721" cy="25692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E6F5FF"/>
                </a:solidFill>
                <a:latin typeface="Microsoft YaHei"/>
              </a:rPr>
              <a:t>04. 机制：由 SEM/AFM/XRD/XPS 与性能数据共同验证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CFB55AF-283D-8AEE-E441-B38E64F8BB16}"/>
              </a:ext>
            </a:extLst>
          </p:cNvPr>
          <p:cNvCxnSpPr>
            <a:cxnSpLocks/>
          </p:cNvCxnSpPr>
          <p:nvPr/>
        </p:nvCxnSpPr>
        <p:spPr>
          <a:xfrm>
            <a:off x="518833" y="4894238"/>
            <a:ext cx="3506099" cy="0"/>
          </a:xfrm>
          <a:prstGeom prst="line">
            <a:avLst/>
          </a:prstGeom>
          <a:noFill/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58830DC2-7935-89B7-30C8-DA07F7444176}"/>
              </a:ext>
            </a:extLst>
          </p:cNvPr>
          <p:cNvCxnSpPr>
            <a:cxnSpLocks/>
          </p:cNvCxnSpPr>
          <p:nvPr/>
        </p:nvCxnSpPr>
        <p:spPr>
          <a:xfrm>
            <a:off x="518833" y="3516851"/>
            <a:ext cx="3506099" cy="0"/>
          </a:xfrm>
          <a:prstGeom prst="line">
            <a:avLst/>
          </a:prstGeom>
          <a:noFill/>
          <a:ln w="127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48" name="图片 47">
            <a:extLst>
              <a:ext uri="{FF2B5EF4-FFF2-40B4-BE49-F238E27FC236}">
                <a16:creationId xmlns:a16="http://schemas.microsoft.com/office/drawing/2014/main" id="{C700AAC2-3AF6-7E3E-6FB8-35DC20B06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337" y="2146112"/>
            <a:ext cx="3324225" cy="263842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4D0A10E-96A1-85AF-3872-20BEEF5A9C61}"/>
              </a:ext>
            </a:extLst>
          </p:cNvPr>
          <p:cNvSpPr txBox="1"/>
          <p:nvPr/>
        </p:nvSpPr>
        <p:spPr>
          <a:xfrm>
            <a:off x="533627" y="1461315"/>
            <a:ext cx="3444829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400" b="0" i="0">
                <a:solidFill>
                  <a:srgbClr val="333639"/>
                </a:solidFill>
                <a:effectLst/>
                <a:latin typeface="v-sans"/>
              </a:defRPr>
            </a:lvl1pPr>
          </a:lstStyle>
          <a:p>
            <a:r>
              <a:rPr sz="1800">
                <a:solidFill>
                  <a:srgbClr val="E6F5FF"/>
                </a:solidFill>
                <a:latin typeface="Microsoft YaHei"/>
              </a:rPr>
              <a:t>01. 防雾：水滴铺展 → 降低凝露散射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87E39A-F4A8-369C-CCB4-95A1280D2C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67" t="50740"/>
          <a:stretch>
            <a:fillRect/>
          </a:stretch>
        </p:blipFill>
        <p:spPr>
          <a:xfrm>
            <a:off x="4484442" y="5013287"/>
            <a:ext cx="3374768" cy="133923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DD3A75C-2697-2F38-C4BC-4090E1AAA2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280"/>
          <a:stretch>
            <a:fillRect/>
          </a:stretch>
        </p:blipFill>
        <p:spPr>
          <a:xfrm>
            <a:off x="8248337" y="4945754"/>
            <a:ext cx="3324225" cy="136460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A1C9116-0A31-7B80-1187-2956655EFB03}"/>
              </a:ext>
            </a:extLst>
          </p:cNvPr>
          <p:cNvSpPr txBox="1"/>
          <p:nvPr/>
        </p:nvSpPr>
        <p:spPr>
          <a:xfrm>
            <a:off x="545674" y="675767"/>
            <a:ext cx="3804434" cy="512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uLnTx/>
                <a:uFillTx/>
                <a:latin typeface="+mn-ea"/>
              </a:defRPr>
            </a:lvl1pPr>
          </a:lstStyle>
          <a:p>
            <a:r>
              <a:rPr sz="2200">
                <a:solidFill>
                  <a:srgbClr val="E6F5FF"/>
                </a:solidFill>
                <a:latin typeface="Microsoft YaHei"/>
              </a:rPr>
              <a:t>预期作用机理与评价闭环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D18B462-B19A-1143-14A6-A404768A2F60}"/>
              </a:ext>
            </a:extLst>
          </p:cNvPr>
          <p:cNvGrpSpPr/>
          <p:nvPr/>
        </p:nvGrpSpPr>
        <p:grpSpPr>
          <a:xfrm>
            <a:off x="-18375" y="751954"/>
            <a:ext cx="362021" cy="296275"/>
            <a:chOff x="-5864720" y="822384"/>
            <a:chExt cx="362021" cy="126522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BF11DA3-D3D0-C956-D01D-5D3E22AA8869}"/>
                </a:ext>
              </a:extLst>
            </p:cNvPr>
            <p:cNvSpPr/>
            <p:nvPr/>
          </p:nvSpPr>
          <p:spPr>
            <a:xfrm>
              <a:off x="-5864720" y="822384"/>
              <a:ext cx="274804" cy="1265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BDD1782-16A7-FA39-BCCC-5869046C9486}"/>
                </a:ext>
              </a:extLst>
            </p:cNvPr>
            <p:cNvSpPr/>
            <p:nvPr/>
          </p:nvSpPr>
          <p:spPr>
            <a:xfrm>
              <a:off x="-5548418" y="822384"/>
              <a:ext cx="45719" cy="126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AEC31005-DE79-A591-CEE0-CA2DF3769596}"/>
              </a:ext>
            </a:extLst>
          </p:cNvPr>
          <p:cNvSpPr/>
          <p:nvPr/>
        </p:nvSpPr>
        <p:spPr>
          <a:xfrm>
            <a:off x="0" y="0"/>
            <a:ext cx="12191999" cy="4235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6" name="等腰三角形 35">
            <a:extLst>
              <a:ext uri="{FF2B5EF4-FFF2-40B4-BE49-F238E27FC236}">
                <a16:creationId xmlns:a16="http://schemas.microsoft.com/office/drawing/2014/main" id="{9F378A91-FF4D-2B46-7CFD-4EC90B403D48}"/>
              </a:ext>
            </a:extLst>
          </p:cNvPr>
          <p:cNvSpPr/>
          <p:nvPr/>
        </p:nvSpPr>
        <p:spPr>
          <a:xfrm flipV="1">
            <a:off x="4972526" y="378755"/>
            <a:ext cx="216000" cy="1080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C1D3049-96AD-E07B-B15E-A53C4ADFA885}"/>
              </a:ext>
            </a:extLst>
          </p:cNvPr>
          <p:cNvSpPr/>
          <p:nvPr/>
        </p:nvSpPr>
        <p:spPr>
          <a:xfrm>
            <a:off x="0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F84059C-1815-2237-DED5-3049A244F1CE}"/>
              </a:ext>
            </a:extLst>
          </p:cNvPr>
          <p:cNvSpPr/>
          <p:nvPr/>
        </p:nvSpPr>
        <p:spPr>
          <a:xfrm>
            <a:off x="202589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E7F547A-6B48-A980-E411-473370A0ACFE}"/>
              </a:ext>
            </a:extLst>
          </p:cNvPr>
          <p:cNvSpPr/>
          <p:nvPr/>
        </p:nvSpPr>
        <p:spPr>
          <a:xfrm>
            <a:off x="4058101" y="0"/>
            <a:ext cx="2037266" cy="385449"/>
          </a:xfrm>
          <a:prstGeom prst="rect">
            <a:avLst/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EAADBAC-8857-C24B-75C4-929B09BDB0AE}"/>
              </a:ext>
            </a:extLst>
          </p:cNvPr>
          <p:cNvSpPr/>
          <p:nvPr/>
        </p:nvSpPr>
        <p:spPr>
          <a:xfrm>
            <a:off x="609031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7CCD5DD-D8CA-6DBC-B49F-BEDAAB7401EB}"/>
              </a:ext>
            </a:extLst>
          </p:cNvPr>
          <p:cNvSpPr/>
          <p:nvPr/>
        </p:nvSpPr>
        <p:spPr>
          <a:xfrm>
            <a:off x="812252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873A422-D971-5CB8-AE7B-EDB5EB61F9BF}"/>
              </a:ext>
            </a:extLst>
          </p:cNvPr>
          <p:cNvSpPr/>
          <p:nvPr/>
        </p:nvSpPr>
        <p:spPr>
          <a:xfrm>
            <a:off x="10154733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DD12420-5E55-FA90-1554-AE1BE49CFCCF}"/>
              </a:ext>
            </a:extLst>
          </p:cNvPr>
          <p:cNvSpPr/>
          <p:nvPr/>
        </p:nvSpPr>
        <p:spPr>
          <a:xfrm>
            <a:off x="0" y="0"/>
            <a:ext cx="2030947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DA19B73-3FDA-8732-7DE7-E60921368D64}"/>
              </a:ext>
            </a:extLst>
          </p:cNvPr>
          <p:cNvSpPr txBox="1"/>
          <p:nvPr/>
        </p:nvSpPr>
        <p:spPr>
          <a:xfrm>
            <a:off x="2587915" y="77031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研究思路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20BBA1A-997D-037E-0A9A-1105CDB60DC4}"/>
              </a:ext>
            </a:extLst>
          </p:cNvPr>
          <p:cNvSpPr txBox="1"/>
          <p:nvPr/>
        </p:nvSpPr>
        <p:spPr>
          <a:xfrm>
            <a:off x="207559" y="770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研究信息与背景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E84F876-7D48-E9F9-FB95-DE3C8218AA52}"/>
              </a:ext>
            </a:extLst>
          </p:cNvPr>
          <p:cNvSpPr txBox="1"/>
          <p:nvPr/>
        </p:nvSpPr>
        <p:spPr>
          <a:xfrm>
            <a:off x="4567565" y="61642"/>
            <a:ext cx="1025923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研究成果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FD0B136-9C4F-74D5-8893-91277970C836}"/>
              </a:ext>
            </a:extLst>
          </p:cNvPr>
          <p:cNvSpPr txBox="1"/>
          <p:nvPr/>
        </p:nvSpPr>
        <p:spPr>
          <a:xfrm>
            <a:off x="6303559" y="770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/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67160DF-43A5-0CAE-AD1A-4FF95658BD74}"/>
              </a:ext>
            </a:extLst>
          </p:cNvPr>
          <p:cNvSpPr txBox="1"/>
          <p:nvPr/>
        </p:nvSpPr>
        <p:spPr>
          <a:xfrm>
            <a:off x="8565338" y="77031"/>
            <a:ext cx="1154162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展望与借鉴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02B36C9-A1C8-4250-14B3-AD43D87316CC}"/>
              </a:ext>
            </a:extLst>
          </p:cNvPr>
          <p:cNvSpPr txBox="1"/>
          <p:nvPr/>
        </p:nvSpPr>
        <p:spPr>
          <a:xfrm>
            <a:off x="10480868" y="77031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创新点与启发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988D30-F3B4-A8AB-CC83-2959FC4CD788}"/>
              </a:ext>
            </a:extLst>
          </p:cNvPr>
          <p:cNvSpPr txBox="1">
            <a:spLocks/>
          </p:cNvSpPr>
          <p:nvPr/>
        </p:nvSpPr>
        <p:spPr>
          <a:xfrm>
            <a:off x="11064000" y="6523006"/>
            <a:ext cx="689177" cy="24622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B9D861-A37E-41C9-AD6C-452E9AD9AABC}" type="slidenum">
              <a:rPr lang="zh-CN" altLang="en-US" sz="1200" smtClean="0"/>
              <a:pPr/>
              <a:t>26</a:t>
            </a:fld>
            <a:endParaRPr lang="zh-CN" altLang="en-US" sz="1200" dirty="0"/>
          </a:p>
        </p:txBody>
      </p:sp>
      <p:pic>
        <p:nvPicPr>
          <p:cNvPr id="56" name="Picture 55" descr="mic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005840"/>
            <a:ext cx="2651760" cy="4937760"/>
          </a:xfrm>
          <a:prstGeom prst="rect">
            <a:avLst/>
          </a:prstGeom>
        </p:spPr>
      </p:pic>
      <p:pic>
        <p:nvPicPr>
          <p:cNvPr id="57" name="Picture 56" descr="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1005840"/>
            <a:ext cx="256032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90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627C5-BAB1-CC61-4136-8338648AC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28D7C08-C458-5CAC-9ED1-6D1394518803}"/>
              </a:ext>
            </a:extLst>
          </p:cNvPr>
          <p:cNvSpPr/>
          <p:nvPr/>
        </p:nvSpPr>
        <p:spPr>
          <a:xfrm>
            <a:off x="874713" y="1611993"/>
            <a:ext cx="10774940" cy="1403204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D24E852-C405-DD57-25D0-F478FE70675C}"/>
              </a:ext>
            </a:extLst>
          </p:cNvPr>
          <p:cNvSpPr/>
          <p:nvPr/>
        </p:nvSpPr>
        <p:spPr>
          <a:xfrm>
            <a:off x="542347" y="1611990"/>
            <a:ext cx="1665653" cy="140320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333639"/>
              </a:solidFill>
              <a:latin typeface="+mj-ea"/>
              <a:ea typeface="+mj-ea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5FE02625-8C17-6792-3264-8BF77AAC57A2}"/>
              </a:ext>
            </a:extLst>
          </p:cNvPr>
          <p:cNvSpPr/>
          <p:nvPr/>
        </p:nvSpPr>
        <p:spPr>
          <a:xfrm>
            <a:off x="874713" y="4941003"/>
            <a:ext cx="10774940" cy="1403204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EE97D93-9A5A-4B65-C542-97EE8C1BC91B}"/>
              </a:ext>
            </a:extLst>
          </p:cNvPr>
          <p:cNvSpPr/>
          <p:nvPr/>
        </p:nvSpPr>
        <p:spPr>
          <a:xfrm>
            <a:off x="542347" y="4941000"/>
            <a:ext cx="1665653" cy="140320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333639"/>
              </a:solidFill>
              <a:latin typeface="+mj-ea"/>
              <a:ea typeface="+mj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6A4A748-CC63-477D-B2BF-D19B6462FA33}"/>
              </a:ext>
            </a:extLst>
          </p:cNvPr>
          <p:cNvSpPr txBox="1"/>
          <p:nvPr/>
        </p:nvSpPr>
        <p:spPr>
          <a:xfrm>
            <a:off x="2573000" y="5062123"/>
            <a:ext cx="8599000" cy="308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0" i="0">
                <a:solidFill>
                  <a:srgbClr val="333639"/>
                </a:solidFill>
                <a:effectLst/>
                <a:latin typeface="v-sans"/>
              </a:defRPr>
            </a:lvl1pPr>
          </a:lstStyle>
          <a:p>
            <a:r>
              <a:rPr sz="1800">
                <a:solidFill>
                  <a:srgbClr val="E6F5FF"/>
                </a:solidFill>
                <a:latin typeface="Microsoft YaHei"/>
              </a:rPr>
              <a:t>机制链条：形貌—晶相/表面化学—功能性能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5493B5D-56A4-2139-FDCC-FEEEE1D38DC5}"/>
              </a:ext>
            </a:extLst>
          </p:cNvPr>
          <p:cNvSpPr txBox="1"/>
          <p:nvPr/>
        </p:nvSpPr>
        <p:spPr>
          <a:xfrm>
            <a:off x="2573000" y="5408454"/>
            <a:ext cx="8599000" cy="8114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0" i="0">
                <a:solidFill>
                  <a:srgbClr val="333639"/>
                </a:solidFill>
                <a:effectLst/>
                <a:latin typeface="v-sans"/>
              </a:defRPr>
            </a:lvl1pPr>
          </a:lstStyle>
          <a:p/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A89CC7F-D4A2-8400-B04F-7E9043C35293}"/>
              </a:ext>
            </a:extLst>
          </p:cNvPr>
          <p:cNvSpPr/>
          <p:nvPr/>
        </p:nvSpPr>
        <p:spPr>
          <a:xfrm>
            <a:off x="874713" y="3276498"/>
            <a:ext cx="10774940" cy="1403204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D21F37C-BFC3-A2A9-7AB7-04E93A206DF9}"/>
              </a:ext>
            </a:extLst>
          </p:cNvPr>
          <p:cNvSpPr/>
          <p:nvPr/>
        </p:nvSpPr>
        <p:spPr>
          <a:xfrm>
            <a:off x="542347" y="3276495"/>
            <a:ext cx="1665653" cy="140320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333639"/>
              </a:solidFill>
              <a:latin typeface="+mj-ea"/>
              <a:ea typeface="+mj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26AFA15-5D6B-4737-79B3-B116F30AA810}"/>
              </a:ext>
            </a:extLst>
          </p:cNvPr>
          <p:cNvSpPr txBox="1"/>
          <p:nvPr/>
        </p:nvSpPr>
        <p:spPr>
          <a:xfrm>
            <a:off x="2573000" y="3397619"/>
            <a:ext cx="8599000" cy="308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0" i="0">
                <a:solidFill>
                  <a:srgbClr val="333639"/>
                </a:solidFill>
                <a:effectLst/>
                <a:latin typeface="v-sans"/>
              </a:defRPr>
            </a:lvl1pPr>
          </a:lstStyle>
          <a:p>
            <a:r>
              <a:rPr sz="1800">
                <a:solidFill>
                  <a:srgbClr val="E6F5FF"/>
                </a:solidFill>
                <a:latin typeface="Microsoft YaHei"/>
              </a:rPr>
              <a:t>多目标协同：同时优化润湿、催化、透光与耐久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4663709-84B3-F54A-E5CB-916834DE6A23}"/>
              </a:ext>
            </a:extLst>
          </p:cNvPr>
          <p:cNvSpPr txBox="1"/>
          <p:nvPr/>
        </p:nvSpPr>
        <p:spPr>
          <a:xfrm>
            <a:off x="2573000" y="3743950"/>
            <a:ext cx="8599000" cy="8114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0" i="0">
                <a:solidFill>
                  <a:srgbClr val="333639"/>
                </a:solidFill>
                <a:effectLst/>
                <a:latin typeface="v-sans"/>
              </a:defRPr>
            </a:lvl1pPr>
          </a:lstStyle>
          <a:p/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B9493C5-04E9-E95E-8A3F-08B0FE4471EE}"/>
              </a:ext>
            </a:extLst>
          </p:cNvPr>
          <p:cNvSpPr txBox="1"/>
          <p:nvPr/>
        </p:nvSpPr>
        <p:spPr>
          <a:xfrm>
            <a:off x="2573000" y="1733114"/>
            <a:ext cx="8599000" cy="308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0" i="0">
                <a:solidFill>
                  <a:srgbClr val="333639"/>
                </a:solidFill>
                <a:effectLst/>
                <a:latin typeface="v-sans"/>
              </a:defRPr>
            </a:lvl1pPr>
          </a:lstStyle>
          <a:p>
            <a:r>
              <a:rPr sz="1800">
                <a:solidFill>
                  <a:srgbClr val="E6F5FF"/>
                </a:solidFill>
                <a:latin typeface="Microsoft YaHei"/>
              </a:rPr>
              <a:t>先激光、后沉积：将微纳结构作为 TiO₂ 生长模板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E0E796C-E0A6-B17B-C76F-F6325506FD95}"/>
              </a:ext>
            </a:extLst>
          </p:cNvPr>
          <p:cNvSpPr txBox="1"/>
          <p:nvPr/>
        </p:nvSpPr>
        <p:spPr>
          <a:xfrm>
            <a:off x="2573000" y="2079445"/>
            <a:ext cx="8599000" cy="8114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0" i="0">
                <a:solidFill>
                  <a:srgbClr val="333639"/>
                </a:solidFill>
                <a:effectLst/>
                <a:latin typeface="v-sans"/>
              </a:defRPr>
            </a:lvl1pPr>
          </a:lstStyle>
          <a:p/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0B3271C-1036-5831-AC9B-C9E80D1A2392}"/>
              </a:ext>
            </a:extLst>
          </p:cNvPr>
          <p:cNvSpPr txBox="1"/>
          <p:nvPr/>
        </p:nvSpPr>
        <p:spPr>
          <a:xfrm>
            <a:off x="804000" y="2159128"/>
            <a:ext cx="1134372" cy="308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0" i="0">
                <a:solidFill>
                  <a:srgbClr val="333639"/>
                </a:solidFill>
                <a:effectLst/>
                <a:latin typeface="v-sans"/>
              </a:defRPr>
            </a:lvl1pPr>
          </a:lstStyle>
          <a:p/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DC7D55F-D6AF-4CC1-5EDA-B2D3DE017DEC}"/>
              </a:ext>
            </a:extLst>
          </p:cNvPr>
          <p:cNvSpPr txBox="1"/>
          <p:nvPr/>
        </p:nvSpPr>
        <p:spPr>
          <a:xfrm>
            <a:off x="804000" y="3823633"/>
            <a:ext cx="1134372" cy="308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0" i="0">
                <a:solidFill>
                  <a:srgbClr val="333639"/>
                </a:solidFill>
                <a:effectLst/>
                <a:latin typeface="v-sans"/>
              </a:defRPr>
            </a:lvl1pPr>
          </a:lstStyle>
          <a:p/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1E33BC9-86D3-04E5-FA66-507DC4E0D82E}"/>
              </a:ext>
            </a:extLst>
          </p:cNvPr>
          <p:cNvSpPr txBox="1"/>
          <p:nvPr/>
        </p:nvSpPr>
        <p:spPr>
          <a:xfrm>
            <a:off x="804000" y="5488138"/>
            <a:ext cx="1134372" cy="308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0" i="0">
                <a:solidFill>
                  <a:srgbClr val="333639"/>
                </a:solidFill>
                <a:effectLst/>
                <a:latin typeface="v-sans"/>
              </a:defRPr>
            </a:lvl1pPr>
          </a:lstStyle>
          <a:p/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07E558B-3970-9D73-24AE-AD9705556DA3}"/>
              </a:ext>
            </a:extLst>
          </p:cNvPr>
          <p:cNvSpPr txBox="1"/>
          <p:nvPr/>
        </p:nvSpPr>
        <p:spPr>
          <a:xfrm>
            <a:off x="545674" y="675767"/>
            <a:ext cx="3804434" cy="512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uLnTx/>
                <a:uFillTx/>
                <a:latin typeface="+mn-ea"/>
              </a:defRPr>
            </a:lvl1pPr>
          </a:lstStyle>
          <a:p>
            <a:r>
              <a:rPr sz="2200">
                <a:solidFill>
                  <a:srgbClr val="E6F5FF"/>
                </a:solidFill>
                <a:latin typeface="Microsoft YaHei"/>
              </a:rPr>
              <a:t>创新点与风险控制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7482831-469C-E208-C32F-00B23E366345}"/>
              </a:ext>
            </a:extLst>
          </p:cNvPr>
          <p:cNvGrpSpPr/>
          <p:nvPr/>
        </p:nvGrpSpPr>
        <p:grpSpPr>
          <a:xfrm>
            <a:off x="-18375" y="751954"/>
            <a:ext cx="362021" cy="296275"/>
            <a:chOff x="-5864720" y="822384"/>
            <a:chExt cx="362021" cy="126522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DF19BBD5-0152-2CE0-9B14-BA64A682E997}"/>
                </a:ext>
              </a:extLst>
            </p:cNvPr>
            <p:cNvSpPr/>
            <p:nvPr/>
          </p:nvSpPr>
          <p:spPr>
            <a:xfrm>
              <a:off x="-5864720" y="822384"/>
              <a:ext cx="274804" cy="1265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A37F4EAC-7D1D-0EFF-D862-4CCA15958D33}"/>
                </a:ext>
              </a:extLst>
            </p:cNvPr>
            <p:cNvSpPr/>
            <p:nvPr/>
          </p:nvSpPr>
          <p:spPr>
            <a:xfrm>
              <a:off x="-5548418" y="822384"/>
              <a:ext cx="45719" cy="1265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E18A53F-35BD-B4C6-0458-B2CF18A39F9D}"/>
              </a:ext>
            </a:extLst>
          </p:cNvPr>
          <p:cNvSpPr/>
          <p:nvPr/>
        </p:nvSpPr>
        <p:spPr>
          <a:xfrm>
            <a:off x="0" y="0"/>
            <a:ext cx="12191999" cy="4235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666B2475-C0E1-443B-EBA8-E487FBE819A7}"/>
              </a:ext>
            </a:extLst>
          </p:cNvPr>
          <p:cNvSpPr/>
          <p:nvPr/>
        </p:nvSpPr>
        <p:spPr>
          <a:xfrm flipV="1">
            <a:off x="11065365" y="378755"/>
            <a:ext cx="216000" cy="1080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F14FF3-AF10-6B10-0E70-D082DBB658D5}"/>
              </a:ext>
            </a:extLst>
          </p:cNvPr>
          <p:cNvSpPr/>
          <p:nvPr/>
        </p:nvSpPr>
        <p:spPr>
          <a:xfrm>
            <a:off x="0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930A1B-6910-769F-7D98-6987EFA2A9E8}"/>
              </a:ext>
            </a:extLst>
          </p:cNvPr>
          <p:cNvSpPr/>
          <p:nvPr/>
        </p:nvSpPr>
        <p:spPr>
          <a:xfrm>
            <a:off x="202589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50A249-0504-F05E-8B6B-713DA363A425}"/>
              </a:ext>
            </a:extLst>
          </p:cNvPr>
          <p:cNvSpPr/>
          <p:nvPr/>
        </p:nvSpPr>
        <p:spPr>
          <a:xfrm>
            <a:off x="405810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3E9A1D-9892-2941-4572-FF372F661C65}"/>
              </a:ext>
            </a:extLst>
          </p:cNvPr>
          <p:cNvSpPr/>
          <p:nvPr/>
        </p:nvSpPr>
        <p:spPr>
          <a:xfrm>
            <a:off x="609031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50DBD5-6DF5-8A3E-4FD3-626764182620}"/>
              </a:ext>
            </a:extLst>
          </p:cNvPr>
          <p:cNvSpPr/>
          <p:nvPr/>
        </p:nvSpPr>
        <p:spPr>
          <a:xfrm>
            <a:off x="8122521" y="0"/>
            <a:ext cx="2037266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A372E2-A1C0-3F77-B59F-A6881459B591}"/>
              </a:ext>
            </a:extLst>
          </p:cNvPr>
          <p:cNvSpPr/>
          <p:nvPr/>
        </p:nvSpPr>
        <p:spPr>
          <a:xfrm>
            <a:off x="10154733" y="0"/>
            <a:ext cx="2037266" cy="385449"/>
          </a:xfrm>
          <a:prstGeom prst="rect">
            <a:avLst/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686D9E-660B-1D04-7453-60BB328B119F}"/>
              </a:ext>
            </a:extLst>
          </p:cNvPr>
          <p:cNvSpPr/>
          <p:nvPr/>
        </p:nvSpPr>
        <p:spPr>
          <a:xfrm>
            <a:off x="0" y="0"/>
            <a:ext cx="2030947" cy="385449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266EC6-78FA-93CE-656C-EFC64B1BCB7F}"/>
              </a:ext>
            </a:extLst>
          </p:cNvPr>
          <p:cNvSpPr txBox="1"/>
          <p:nvPr/>
        </p:nvSpPr>
        <p:spPr>
          <a:xfrm>
            <a:off x="2587915" y="77031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研究思路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95DB7D-909A-34EF-503E-C176B79BA005}"/>
              </a:ext>
            </a:extLst>
          </p:cNvPr>
          <p:cNvSpPr txBox="1"/>
          <p:nvPr/>
        </p:nvSpPr>
        <p:spPr>
          <a:xfrm>
            <a:off x="207559" y="770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研究信息与背景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277C9B-3966-E988-E823-DD028B070BFD}"/>
              </a:ext>
            </a:extLst>
          </p:cNvPr>
          <p:cNvSpPr txBox="1"/>
          <p:nvPr/>
        </p:nvSpPr>
        <p:spPr>
          <a:xfrm>
            <a:off x="4618861" y="77031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研究成果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6416ACF-FDFD-ECDF-259E-006F9B3C0A64}"/>
              </a:ext>
            </a:extLst>
          </p:cNvPr>
          <p:cNvSpPr txBox="1"/>
          <p:nvPr/>
        </p:nvSpPr>
        <p:spPr>
          <a:xfrm>
            <a:off x="6303559" y="77031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研究结论与讨论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79FA14E-9E2E-C418-572D-77F374A4E249}"/>
              </a:ext>
            </a:extLst>
          </p:cNvPr>
          <p:cNvSpPr txBox="1"/>
          <p:nvPr/>
        </p:nvSpPr>
        <p:spPr>
          <a:xfrm>
            <a:off x="8565338" y="77031"/>
            <a:ext cx="1154162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展望与借鉴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FDB0346-B368-8868-B29A-6F6EB6023789}"/>
              </a:ext>
            </a:extLst>
          </p:cNvPr>
          <p:cNvSpPr txBox="1"/>
          <p:nvPr/>
        </p:nvSpPr>
        <p:spPr>
          <a:xfrm>
            <a:off x="10403924" y="61642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创新点与启发</a:t>
            </a:r>
          </a:p>
        </p:txBody>
      </p:sp>
      <p:sp>
        <p:nvSpPr>
          <p:cNvPr id="19" name="灯片编号占位符 5">
            <a:extLst>
              <a:ext uri="{FF2B5EF4-FFF2-40B4-BE49-F238E27FC236}">
                <a16:creationId xmlns:a16="http://schemas.microsoft.com/office/drawing/2014/main" id="{6BEFBB71-6CD6-EBF7-3758-3BDE23DAE007}"/>
              </a:ext>
            </a:extLst>
          </p:cNvPr>
          <p:cNvSpPr txBox="1">
            <a:spLocks/>
          </p:cNvSpPr>
          <p:nvPr/>
        </p:nvSpPr>
        <p:spPr>
          <a:xfrm>
            <a:off x="11064000" y="6523006"/>
            <a:ext cx="689177" cy="24622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B9D861-A37E-41C9-AD6C-452E9AD9AABC}" type="slidenum">
              <a:rPr lang="zh-CN" altLang="en-US" sz="1200" smtClean="0"/>
              <a:pPr/>
              <a:t>31</a:t>
            </a:fld>
            <a:endParaRPr lang="zh-CN" altLang="en-US" sz="1200" dirty="0"/>
          </a:p>
        </p:txBody>
      </p:sp>
      <p:pic>
        <p:nvPicPr>
          <p:cNvPr id="61" name="Picture 60" descr="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078992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695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53EF4-127E-111B-BCAF-61EA570D6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>
            <a:extLst>
              <a:ext uri="{FF2B5EF4-FFF2-40B4-BE49-F238E27FC236}">
                <a16:creationId xmlns:a16="http://schemas.microsoft.com/office/drawing/2014/main" id="{511BD11C-5F75-F0BD-7D7C-86E5435F57F3}"/>
              </a:ext>
            </a:extLst>
          </p:cNvPr>
          <p:cNvGrpSpPr/>
          <p:nvPr/>
        </p:nvGrpSpPr>
        <p:grpSpPr>
          <a:xfrm>
            <a:off x="-1" y="1403211"/>
            <a:ext cx="11928002" cy="2630512"/>
            <a:chOff x="-2" y="1587369"/>
            <a:chExt cx="12054841" cy="2921631"/>
          </a:xfrm>
        </p:grpSpPr>
        <p:sp>
          <p:nvSpPr>
            <p:cNvPr id="3" name="任意多边形 18">
              <a:extLst>
                <a:ext uri="{FF2B5EF4-FFF2-40B4-BE49-F238E27FC236}">
                  <a16:creationId xmlns:a16="http://schemas.microsoft.com/office/drawing/2014/main" id="{DC8A5B2E-2E93-5452-6CFD-D0D31CE18056}"/>
                </a:ext>
              </a:extLst>
            </p:cNvPr>
            <p:cNvSpPr/>
            <p:nvPr/>
          </p:nvSpPr>
          <p:spPr>
            <a:xfrm>
              <a:off x="-2" y="1587369"/>
              <a:ext cx="12054841" cy="2846492"/>
            </a:xfrm>
            <a:custGeom>
              <a:avLst/>
              <a:gdLst>
                <a:gd name="connsiteX0" fmla="*/ 0 w 12192000"/>
                <a:gd name="connsiteY0" fmla="*/ 0 h 3374549"/>
                <a:gd name="connsiteX1" fmla="*/ 10383370 w 12192000"/>
                <a:gd name="connsiteY1" fmla="*/ 0 h 3374549"/>
                <a:gd name="connsiteX2" fmla="*/ 10537371 w 12192000"/>
                <a:gd name="connsiteY2" fmla="*/ 0 h 3374549"/>
                <a:gd name="connsiteX3" fmla="*/ 12192000 w 12192000"/>
                <a:gd name="connsiteY3" fmla="*/ 0 h 3374549"/>
                <a:gd name="connsiteX4" fmla="*/ 12192000 w 12192000"/>
                <a:gd name="connsiteY4" fmla="*/ 3374549 h 3374549"/>
                <a:gd name="connsiteX5" fmla="*/ 10537371 w 12192000"/>
                <a:gd name="connsiteY5" fmla="*/ 3374549 h 3374549"/>
                <a:gd name="connsiteX6" fmla="*/ 10383370 w 12192000"/>
                <a:gd name="connsiteY6" fmla="*/ 3374549 h 3374549"/>
                <a:gd name="connsiteX7" fmla="*/ 0 w 12192000"/>
                <a:gd name="connsiteY7" fmla="*/ 3374549 h 3374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3374549">
                  <a:moveTo>
                    <a:pt x="0" y="0"/>
                  </a:moveTo>
                  <a:lnTo>
                    <a:pt x="10383370" y="0"/>
                  </a:lnTo>
                  <a:lnTo>
                    <a:pt x="10537371" y="0"/>
                  </a:lnTo>
                  <a:lnTo>
                    <a:pt x="12192000" y="0"/>
                  </a:lnTo>
                  <a:lnTo>
                    <a:pt x="12192000" y="3374549"/>
                  </a:lnTo>
                  <a:lnTo>
                    <a:pt x="10537371" y="3374549"/>
                  </a:lnTo>
                  <a:lnTo>
                    <a:pt x="10383370" y="3374549"/>
                  </a:lnTo>
                  <a:lnTo>
                    <a:pt x="0" y="3374549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7" name="任意多边形 18">
              <a:extLst>
                <a:ext uri="{FF2B5EF4-FFF2-40B4-BE49-F238E27FC236}">
                  <a16:creationId xmlns:a16="http://schemas.microsoft.com/office/drawing/2014/main" id="{A01FF447-7830-C221-670F-5F82CEA7155F}"/>
                </a:ext>
              </a:extLst>
            </p:cNvPr>
            <p:cNvSpPr/>
            <p:nvPr/>
          </p:nvSpPr>
          <p:spPr>
            <a:xfrm>
              <a:off x="-2" y="4475783"/>
              <a:ext cx="12054841" cy="33217"/>
            </a:xfrm>
            <a:custGeom>
              <a:avLst/>
              <a:gdLst>
                <a:gd name="connsiteX0" fmla="*/ 0 w 12192000"/>
                <a:gd name="connsiteY0" fmla="*/ 0 h 3374549"/>
                <a:gd name="connsiteX1" fmla="*/ 10383370 w 12192000"/>
                <a:gd name="connsiteY1" fmla="*/ 0 h 3374549"/>
                <a:gd name="connsiteX2" fmla="*/ 10537371 w 12192000"/>
                <a:gd name="connsiteY2" fmla="*/ 0 h 3374549"/>
                <a:gd name="connsiteX3" fmla="*/ 12192000 w 12192000"/>
                <a:gd name="connsiteY3" fmla="*/ 0 h 3374549"/>
                <a:gd name="connsiteX4" fmla="*/ 12192000 w 12192000"/>
                <a:gd name="connsiteY4" fmla="*/ 3374549 h 3374549"/>
                <a:gd name="connsiteX5" fmla="*/ 10537371 w 12192000"/>
                <a:gd name="connsiteY5" fmla="*/ 3374549 h 3374549"/>
                <a:gd name="connsiteX6" fmla="*/ 10383370 w 12192000"/>
                <a:gd name="connsiteY6" fmla="*/ 3374549 h 3374549"/>
                <a:gd name="connsiteX7" fmla="*/ 0 w 12192000"/>
                <a:gd name="connsiteY7" fmla="*/ 3374549 h 3374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3374549">
                  <a:moveTo>
                    <a:pt x="0" y="0"/>
                  </a:moveTo>
                  <a:lnTo>
                    <a:pt x="10383370" y="0"/>
                  </a:lnTo>
                  <a:lnTo>
                    <a:pt x="10537371" y="0"/>
                  </a:lnTo>
                  <a:lnTo>
                    <a:pt x="12192000" y="0"/>
                  </a:lnTo>
                  <a:lnTo>
                    <a:pt x="12192000" y="3374549"/>
                  </a:lnTo>
                  <a:lnTo>
                    <a:pt x="10537371" y="3374549"/>
                  </a:lnTo>
                  <a:lnTo>
                    <a:pt x="10383370" y="3374549"/>
                  </a:lnTo>
                  <a:lnTo>
                    <a:pt x="0" y="33745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65CC58D-C210-B3CC-573C-5E3B464AC9DD}"/>
              </a:ext>
            </a:extLst>
          </p:cNvPr>
          <p:cNvGrpSpPr/>
          <p:nvPr/>
        </p:nvGrpSpPr>
        <p:grpSpPr>
          <a:xfrm>
            <a:off x="11317292" y="1161000"/>
            <a:ext cx="450529" cy="748085"/>
            <a:chOff x="10868660" y="1395304"/>
            <a:chExt cx="723881" cy="823703"/>
          </a:xfrm>
        </p:grpSpPr>
        <p:sp>
          <p:nvSpPr>
            <p:cNvPr id="5" name="任意多边形 19">
              <a:extLst>
                <a:ext uri="{FF2B5EF4-FFF2-40B4-BE49-F238E27FC236}">
                  <a16:creationId xmlns:a16="http://schemas.microsoft.com/office/drawing/2014/main" id="{13D407CF-06F3-B661-C781-4C6D2A537155}"/>
                </a:ext>
              </a:extLst>
            </p:cNvPr>
            <p:cNvSpPr/>
            <p:nvPr/>
          </p:nvSpPr>
          <p:spPr>
            <a:xfrm>
              <a:off x="10868660" y="1395305"/>
              <a:ext cx="573713" cy="823702"/>
            </a:xfrm>
            <a:custGeom>
              <a:avLst/>
              <a:gdLst>
                <a:gd name="connsiteX0" fmla="*/ 0 w 6912665"/>
                <a:gd name="connsiteY0" fmla="*/ 0 h 6858000"/>
                <a:gd name="connsiteX1" fmla="*/ 6912665 w 6912665"/>
                <a:gd name="connsiteY1" fmla="*/ 0 h 6858000"/>
                <a:gd name="connsiteX2" fmla="*/ 6912665 w 6912665"/>
                <a:gd name="connsiteY2" fmla="*/ 6858000 h 6858000"/>
                <a:gd name="connsiteX3" fmla="*/ 6874497 w 6912665"/>
                <a:gd name="connsiteY3" fmla="*/ 6858000 h 6858000"/>
                <a:gd name="connsiteX4" fmla="*/ 3456333 w 6912665"/>
                <a:gd name="connsiteY4" fmla="*/ 5578439 h 6858000"/>
                <a:gd name="connsiteX5" fmla="*/ 38168 w 6912665"/>
                <a:gd name="connsiteY5" fmla="*/ 6858000 h 6858000"/>
                <a:gd name="connsiteX6" fmla="*/ 0 w 6912665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12665" h="6858000">
                  <a:moveTo>
                    <a:pt x="0" y="0"/>
                  </a:moveTo>
                  <a:lnTo>
                    <a:pt x="6912665" y="0"/>
                  </a:lnTo>
                  <a:lnTo>
                    <a:pt x="6912665" y="6858000"/>
                  </a:lnTo>
                  <a:lnTo>
                    <a:pt x="6874497" y="6858000"/>
                  </a:lnTo>
                  <a:lnTo>
                    <a:pt x="3456333" y="5578439"/>
                  </a:lnTo>
                  <a:lnTo>
                    <a:pt x="3816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  <p:sp>
          <p:nvSpPr>
            <p:cNvPr id="6" name="直角三角形 5">
              <a:extLst>
                <a:ext uri="{FF2B5EF4-FFF2-40B4-BE49-F238E27FC236}">
                  <a16:creationId xmlns:a16="http://schemas.microsoft.com/office/drawing/2014/main" id="{BBD9DF09-E584-A655-EA68-D44B756C56DB}"/>
                </a:ext>
              </a:extLst>
            </p:cNvPr>
            <p:cNvSpPr/>
            <p:nvPr/>
          </p:nvSpPr>
          <p:spPr>
            <a:xfrm>
              <a:off x="11442377" y="1395304"/>
              <a:ext cx="150164" cy="265252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9894B3B-E731-42D2-19DA-783A83B4B90D}"/>
              </a:ext>
            </a:extLst>
          </p:cNvPr>
          <p:cNvSpPr txBox="1"/>
          <p:nvPr/>
        </p:nvSpPr>
        <p:spPr>
          <a:xfrm>
            <a:off x="586315" y="2367839"/>
            <a:ext cx="10766562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>
                <a:solidFill>
                  <a:srgbClr val="E6F5FF"/>
                </a:solidFill>
                <a:latin typeface="Microsoft YaHei"/>
              </a:rPr>
              <a:t>感谢各位老师指导</a:t>
            </a:r>
          </a:p>
          <a:p>
            <a:r>
              <a:rPr sz="3000">
                <a:solidFill>
                  <a:srgbClr val="E6F5FF"/>
                </a:solidFill>
                <a:latin typeface="Microsoft YaHei"/>
              </a:rPr>
              <a:t>敬请批评指正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5A61494A-7377-ADF8-5516-7267C98D363F}"/>
              </a:ext>
            </a:extLst>
          </p:cNvPr>
          <p:cNvGrpSpPr>
            <a:grpSpLocks/>
          </p:cNvGrpSpPr>
          <p:nvPr/>
        </p:nvGrpSpPr>
        <p:grpSpPr>
          <a:xfrm>
            <a:off x="4592320" y="5453253"/>
            <a:ext cx="3007360" cy="391084"/>
            <a:chOff x="8473440" y="5778139"/>
            <a:chExt cx="2626452" cy="39108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6A65851-0EA5-562B-40F4-8460ECFEB2B5}"/>
                </a:ext>
              </a:extLst>
            </p:cNvPr>
            <p:cNvSpPr txBox="1"/>
            <p:nvPr/>
          </p:nvSpPr>
          <p:spPr>
            <a:xfrm>
              <a:off x="8653871" y="5850571"/>
              <a:ext cx="2265590" cy="246221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/>
                  <a:cs typeface="+mn-cs"/>
                </a:rPr>
                <a:t>期刊：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/>
                  <a:cs typeface="+mn-cs"/>
                </a:rPr>
                <a:t>ACS Central Science</a:t>
              </a:r>
            </a:p>
          </p:txBody>
        </p:sp>
        <p:sp>
          <p:nvSpPr>
            <p:cNvPr id="29" name="矩形: 剪去对角 28">
              <a:extLst>
                <a:ext uri="{FF2B5EF4-FFF2-40B4-BE49-F238E27FC236}">
                  <a16:creationId xmlns:a16="http://schemas.microsoft.com/office/drawing/2014/main" id="{CB65F58C-37EA-3A07-07DD-BA87C7136C9C}"/>
                </a:ext>
              </a:extLst>
            </p:cNvPr>
            <p:cNvSpPr/>
            <p:nvPr/>
          </p:nvSpPr>
          <p:spPr>
            <a:xfrm>
              <a:off x="8473440" y="5778139"/>
              <a:ext cx="2626452" cy="391084"/>
            </a:xfrm>
            <a:prstGeom prst="snip2DiagRect">
              <a:avLst/>
            </a:prstGeom>
            <a:noFill/>
            <a:ln w="6350">
              <a:solidFill>
                <a:schemeClr val="accent1"/>
              </a:solidFill>
              <a:prstDash val="lgDash"/>
            </a:ln>
            <a:effectLst>
              <a:outerShdw blurRad="266700" dist="63500" dir="2700000" algn="tl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/>
                <a:cs typeface="+mn-cs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FF74584-F6EE-B856-DC6C-7CAB519B866C}"/>
              </a:ext>
            </a:extLst>
          </p:cNvPr>
          <p:cNvGrpSpPr/>
          <p:nvPr/>
        </p:nvGrpSpPr>
        <p:grpSpPr>
          <a:xfrm>
            <a:off x="1488054" y="5453253"/>
            <a:ext cx="2626452" cy="391084"/>
            <a:chOff x="1189620" y="5778139"/>
            <a:chExt cx="2626452" cy="391084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50DE995-9E1A-6E7B-BEC2-4EEB4F5551DF}"/>
                </a:ext>
              </a:extLst>
            </p:cNvPr>
            <p:cNvSpPr txBox="1">
              <a:spLocks/>
            </p:cNvSpPr>
            <p:nvPr/>
          </p:nvSpPr>
          <p:spPr>
            <a:xfrm>
              <a:off x="1260445" y="5856378"/>
              <a:ext cx="2484802" cy="246221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/>
                  <a:cs typeface="+mn-cs"/>
                </a:rPr>
                <a:t>发表日期：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/>
                  <a:cs typeface="+mn-cs"/>
                </a:rPr>
                <a:t> 202X.0X.XX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/>
                <a:cs typeface="+mn-cs"/>
              </a:endParaRPr>
            </a:p>
          </p:txBody>
        </p:sp>
        <p:sp>
          <p:nvSpPr>
            <p:cNvPr id="28" name="矩形: 剪去对角 27">
              <a:extLst>
                <a:ext uri="{FF2B5EF4-FFF2-40B4-BE49-F238E27FC236}">
                  <a16:creationId xmlns:a16="http://schemas.microsoft.com/office/drawing/2014/main" id="{0F163717-F64B-5D3C-FD6C-020DAF31B9CC}"/>
                </a:ext>
              </a:extLst>
            </p:cNvPr>
            <p:cNvSpPr/>
            <p:nvPr/>
          </p:nvSpPr>
          <p:spPr>
            <a:xfrm>
              <a:off x="1189620" y="5778139"/>
              <a:ext cx="2626452" cy="391084"/>
            </a:xfrm>
            <a:prstGeom prst="snip2DiagRect">
              <a:avLst/>
            </a:prstGeom>
            <a:noFill/>
            <a:ln w="6350">
              <a:solidFill>
                <a:schemeClr val="accent1"/>
              </a:solidFill>
              <a:prstDash val="lgDash"/>
            </a:ln>
            <a:effectLst>
              <a:outerShdw blurRad="266700" dist="63500" dir="2700000" algn="tl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/>
                <a:cs typeface="+mn-cs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0EBE420-928F-5300-5B21-CE4A2B6F8DD1}"/>
              </a:ext>
            </a:extLst>
          </p:cNvPr>
          <p:cNvGrpSpPr>
            <a:grpSpLocks/>
          </p:cNvGrpSpPr>
          <p:nvPr/>
        </p:nvGrpSpPr>
        <p:grpSpPr>
          <a:xfrm>
            <a:off x="8077494" y="5453253"/>
            <a:ext cx="2626452" cy="391084"/>
            <a:chOff x="5017440" y="5778139"/>
            <a:chExt cx="2626452" cy="391084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BFDD4427-7B12-B9C4-DCC0-9FB23EB1D3EF}"/>
                </a:ext>
              </a:extLst>
            </p:cNvPr>
            <p:cNvSpPr txBox="1"/>
            <p:nvPr/>
          </p:nvSpPr>
          <p:spPr>
            <a:xfrm>
              <a:off x="5208263" y="5850571"/>
              <a:ext cx="2265590" cy="246221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/>
                  <a:cs typeface="+mn-cs"/>
                </a:rPr>
                <a:t>汇报人：小堇在做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黑体 CN Regular"/>
                  <a:cs typeface="+mn-cs"/>
                </a:rPr>
                <a:t>ppt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/>
                <a:cs typeface="+mn-cs"/>
              </a:endParaRPr>
            </a:p>
          </p:txBody>
        </p:sp>
        <p:sp>
          <p:nvSpPr>
            <p:cNvPr id="37" name="矩形: 剪去对角 36">
              <a:extLst>
                <a:ext uri="{FF2B5EF4-FFF2-40B4-BE49-F238E27FC236}">
                  <a16:creationId xmlns:a16="http://schemas.microsoft.com/office/drawing/2014/main" id="{95736523-4C71-EF11-CC0D-36448AFFA15E}"/>
                </a:ext>
              </a:extLst>
            </p:cNvPr>
            <p:cNvSpPr/>
            <p:nvPr/>
          </p:nvSpPr>
          <p:spPr>
            <a:xfrm>
              <a:off x="5017440" y="5778139"/>
              <a:ext cx="2626452" cy="391084"/>
            </a:xfrm>
            <a:prstGeom prst="snip2DiagRect">
              <a:avLst/>
            </a:prstGeom>
            <a:noFill/>
            <a:ln w="6350">
              <a:solidFill>
                <a:schemeClr val="accent1"/>
              </a:solidFill>
              <a:prstDash val="lgDash"/>
            </a:ln>
            <a:effectLst>
              <a:outerShdw blurRad="266700" dist="63500" dir="2700000" algn="tl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46165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5"/>
</p:tagLst>
</file>

<file path=ppt/theme/theme1.xml><?xml version="1.0" encoding="utf-8"?>
<a:theme xmlns:a="http://schemas.openxmlformats.org/drawingml/2006/main" name="默认">
  <a:themeElements>
    <a:clrScheme name="自定义 296">
      <a:dk1>
        <a:sysClr val="windowText" lastClr="000000"/>
      </a:dk1>
      <a:lt1>
        <a:sysClr val="window" lastClr="FFFFFF"/>
      </a:lt1>
      <a:dk2>
        <a:srgbClr val="2D3847"/>
      </a:dk2>
      <a:lt2>
        <a:srgbClr val="E7E6E6"/>
      </a:lt2>
      <a:accent1>
        <a:srgbClr val="001D79"/>
      </a:accent1>
      <a:accent2>
        <a:srgbClr val="0A3793"/>
      </a:accent2>
      <a:accent3>
        <a:srgbClr val="2E68B3"/>
      </a:accent3>
      <a:accent4>
        <a:srgbClr val="595959"/>
      </a:accent4>
      <a:accent5>
        <a:srgbClr val="404040"/>
      </a:accent5>
      <a:accent6>
        <a:srgbClr val="262626"/>
      </a:accent6>
      <a:hlink>
        <a:srgbClr val="0563C1"/>
      </a:hlink>
      <a:folHlink>
        <a:srgbClr val="954F72"/>
      </a:folHlink>
    </a:clrScheme>
    <a:fontScheme name="【商用-常用1】">
      <a:majorFont>
        <a:latin typeface="思源黑体 CN Bold"/>
        <a:ea typeface="思源黑体 CN Bold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indent="0" algn="l" fontAlgn="auto">
          <a:lnSpc>
            <a:spcPct val="150000"/>
          </a:lnSpc>
          <a:buFont typeface="Wingdings" panose="05000000000000000000" charset="0"/>
          <a:buNone/>
          <a:defRPr lang="zh-CN" altLang="en-US" sz="1600" b="1">
            <a:solidFill>
              <a:schemeClr val="tx1"/>
            </a:solidFill>
            <a:sym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常用空白模板</Template>
  <TotalTime>2722</TotalTime>
  <Words>8135</Words>
  <Application>Microsoft Office PowerPoint</Application>
  <PresentationFormat>宽屏</PresentationFormat>
  <Paragraphs>725</Paragraphs>
  <Slides>34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OPPOSans B</vt:lpstr>
      <vt:lpstr>OPPOSans R</vt:lpstr>
      <vt:lpstr>v-sans</vt:lpstr>
      <vt:lpstr>等线</vt:lpstr>
      <vt:lpstr>思源黑体 CN Bold</vt:lpstr>
      <vt:lpstr>思源黑体 CN Regular</vt:lpstr>
      <vt:lpstr>微软雅黑</vt:lpstr>
      <vt:lpstr>Arial</vt:lpstr>
      <vt:lpstr>Roboto</vt:lpstr>
      <vt:lpstr>Wingdings</vt:lpstr>
      <vt:lpstr>默认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子卉 董</dc:creator>
  <cp:lastModifiedBy>Tianyuan Xu</cp:lastModifiedBy>
  <cp:revision>51</cp:revision>
  <dcterms:created xsi:type="dcterms:W3CDTF">2025-05-28T07:09:01Z</dcterms:created>
  <dcterms:modified xsi:type="dcterms:W3CDTF">2026-10-26T15:13:38Z</dcterms:modified>
</cp:coreProperties>
</file>