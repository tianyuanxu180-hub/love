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06426a30834087" /><Relationship Type="http://schemas.openxmlformats.org/officeDocument/2006/relationships/extended-properties" Target="/docProps/app.xml" Id="R2298551dc4b441f7" /><Relationship Type="http://schemas.openxmlformats.org/officeDocument/2006/relationships/officeDocument" Target="/ppt/presentation.xml" Id="R7b5e8ce8b92c43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c6232265d1400c"/>
  </p:sldMasterIdLst>
  <p:notesMasterIdLst>
    <p:notesMasterId xmlns:r="http://schemas.openxmlformats.org/officeDocument/2006/relationships" r:id="Rd581a81ee5134afc"/>
  </p:notesMasterIdLst>
  <p:sldIdLst>
    <p:sldId xmlns:r="http://schemas.openxmlformats.org/officeDocument/2006/relationships" id="256" r:id="R653dc0f0b3d44f17"/>
    <p:sldId xmlns:r="http://schemas.openxmlformats.org/officeDocument/2006/relationships" id="257" r:id="R6849aa84865e4ca7"/>
    <p:sldId xmlns:r="http://schemas.openxmlformats.org/officeDocument/2006/relationships" id="258" r:id="R195df508c6b7434a"/>
    <p:sldId xmlns:r="http://schemas.openxmlformats.org/officeDocument/2006/relationships" id="259" r:id="R5089d2f0d6e44e50"/>
    <p:sldId xmlns:r="http://schemas.openxmlformats.org/officeDocument/2006/relationships" id="260" r:id="Rc77bc7534fb0456c"/>
    <p:sldId xmlns:r="http://schemas.openxmlformats.org/officeDocument/2006/relationships" id="261" r:id="R53d24d3c359543d5"/>
    <p:sldId xmlns:r="http://schemas.openxmlformats.org/officeDocument/2006/relationships" id="262" r:id="R006b69b1420641e0"/>
    <p:sldId xmlns:r="http://schemas.openxmlformats.org/officeDocument/2006/relationships" id="263" r:id="R9bcfe392d85141b3"/>
    <p:sldId xmlns:r="http://schemas.openxmlformats.org/officeDocument/2006/relationships" id="264" r:id="Rd875a9ffd3d94d5a"/>
    <p:sldId xmlns:r="http://schemas.openxmlformats.org/officeDocument/2006/relationships" id="265" r:id="R69e39d1fbdcc4c04"/>
    <p:sldId xmlns:r="http://schemas.openxmlformats.org/officeDocument/2006/relationships" id="266" r:id="R5ef33627f6314f24"/>
    <p:sldId xmlns:r="http://schemas.openxmlformats.org/officeDocument/2006/relationships" id="267" r:id="Rd51b9d05b71b41e3"/>
    <p:sldId xmlns:r="http://schemas.openxmlformats.org/officeDocument/2006/relationships" id="268" r:id="Rbacc35be4fe14149"/>
    <p:sldId xmlns:r="http://schemas.openxmlformats.org/officeDocument/2006/relationships" id="269" r:id="R80282014c6a54d96"/>
    <p:sldId xmlns:r="http://schemas.openxmlformats.org/officeDocument/2006/relationships" id="270" r:id="R9b9eff7770f24cbb"/>
    <p:sldId xmlns:r="http://schemas.openxmlformats.org/officeDocument/2006/relationships" id="271" r:id="Rc07a621b6a6c42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ac19a51950402e" /><Relationship Type="http://schemas.openxmlformats.org/officeDocument/2006/relationships/slideMaster" Target="/ppt/slideMasters/slideMaster1.xml" Id="R10c6232265d1400c" /><Relationship Type="http://schemas.openxmlformats.org/officeDocument/2006/relationships/notesMaster" Target="/ppt/notesMasters/notesMaster1.xml" Id="Rd581a81ee5134afc" /><Relationship Type="http://schemas.openxmlformats.org/officeDocument/2006/relationships/presProps" Target="/ppt/presProps.xml" Id="Rd1ce84d3b4334485" /><Relationship Type="http://schemas.openxmlformats.org/officeDocument/2006/relationships/tableStyles" Target="/ppt/tableStyles.xml" Id="R9c75d98d4f634d90" /><Relationship Type="http://schemas.openxmlformats.org/officeDocument/2006/relationships/slide" Target="/ppt/slides/slide1.xml" Id="R653dc0f0b3d44f17" /><Relationship Type="http://schemas.openxmlformats.org/officeDocument/2006/relationships/slide" Target="/ppt/slides/slide2.xml" Id="R6849aa84865e4ca7" /><Relationship Type="http://schemas.openxmlformats.org/officeDocument/2006/relationships/slide" Target="/ppt/slides/slide3.xml" Id="R195df508c6b7434a" /><Relationship Type="http://schemas.openxmlformats.org/officeDocument/2006/relationships/slide" Target="/ppt/slides/slide4.xml" Id="R5089d2f0d6e44e50" /><Relationship Type="http://schemas.openxmlformats.org/officeDocument/2006/relationships/slide" Target="/ppt/slides/slide5.xml" Id="Rc77bc7534fb0456c" /><Relationship Type="http://schemas.openxmlformats.org/officeDocument/2006/relationships/slide" Target="/ppt/slides/slide6.xml" Id="R53d24d3c359543d5" /><Relationship Type="http://schemas.openxmlformats.org/officeDocument/2006/relationships/slide" Target="/ppt/slides/slide7.xml" Id="R006b69b1420641e0" /><Relationship Type="http://schemas.openxmlformats.org/officeDocument/2006/relationships/slide" Target="/ppt/slides/slide8.xml" Id="R9bcfe392d85141b3" /><Relationship Type="http://schemas.openxmlformats.org/officeDocument/2006/relationships/slide" Target="/ppt/slides/slide9.xml" Id="Rd875a9ffd3d94d5a" /><Relationship Type="http://schemas.openxmlformats.org/officeDocument/2006/relationships/slide" Target="/ppt/slides/slide10.xml" Id="R69e39d1fbdcc4c04" /><Relationship Type="http://schemas.openxmlformats.org/officeDocument/2006/relationships/slide" Target="/ppt/slides/slide11.xml" Id="R5ef33627f6314f24" /><Relationship Type="http://schemas.openxmlformats.org/officeDocument/2006/relationships/slide" Target="/ppt/slides/slide12.xml" Id="Rd51b9d05b71b41e3" /><Relationship Type="http://schemas.openxmlformats.org/officeDocument/2006/relationships/slide" Target="/ppt/slides/slide13.xml" Id="Rbacc35be4fe14149" /><Relationship Type="http://schemas.openxmlformats.org/officeDocument/2006/relationships/slide" Target="/ppt/slides/slide14.xml" Id="R80282014c6a54d96" /><Relationship Type="http://schemas.openxmlformats.org/officeDocument/2006/relationships/slide" Target="/ppt/slides/slide15.xml" Id="R9b9eff7770f24cbb" /><Relationship Type="http://schemas.openxmlformats.org/officeDocument/2006/relationships/slide" Target="/ppt/slides/slide16.xml" Id="Rc07a621b6a6c42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7b91e1992840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9bb18160d5419a" /><Relationship Type="http://schemas.openxmlformats.org/officeDocument/2006/relationships/notesMaster" Target="/ppt/notesMasters/notesMaster1.xml" Id="R8d71a1569b9e4af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c1361fdee44115" /><Relationship Type="http://schemas.openxmlformats.org/officeDocument/2006/relationships/notesMaster" Target="/ppt/notesMasters/notesMaster1.xml" Id="Redea554f8d5c42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78216e77234d41" /><Relationship Type="http://schemas.openxmlformats.org/officeDocument/2006/relationships/notesMaster" Target="/ppt/notesMasters/notesMaster1.xml" Id="R73b5b2ebef884d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a618062dc74860" /><Relationship Type="http://schemas.openxmlformats.org/officeDocument/2006/relationships/notesMaster" Target="/ppt/notesMasters/notesMaster1.xml" Id="R81b37f3b268846b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3f08a7359664b4d" /><Relationship Type="http://schemas.openxmlformats.org/officeDocument/2006/relationships/notesMaster" Target="/ppt/notesMasters/notesMaster1.xml" Id="R8f6d6fa23d864c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58ca2bb2504c02" /><Relationship Type="http://schemas.openxmlformats.org/officeDocument/2006/relationships/notesMaster" Target="/ppt/notesMasters/notesMaster1.xml" Id="Rf45aefbf3c3d48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f98304db0b44a1" /><Relationship Type="http://schemas.openxmlformats.org/officeDocument/2006/relationships/notesMaster" Target="/ppt/notesMasters/notesMaster1.xml" Id="R6bc6d6f062934d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e996fe303e41ce" /><Relationship Type="http://schemas.openxmlformats.org/officeDocument/2006/relationships/notesMaster" Target="/ppt/notesMasters/notesMaster1.xml" Id="Rad39f4057aef4d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c3bea673634b2a" /><Relationship Type="http://schemas.openxmlformats.org/officeDocument/2006/relationships/notesMaster" Target="/ppt/notesMasters/notesMaster1.xml" Id="R54b9c6afeca544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b15a1ccb3d4834" /><Relationship Type="http://schemas.openxmlformats.org/officeDocument/2006/relationships/notesMaster" Target="/ppt/notesMasters/notesMaster1.xml" Id="R8cd81968941248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2b6320f6ff54407" /><Relationship Type="http://schemas.openxmlformats.org/officeDocument/2006/relationships/notesMaster" Target="/ppt/notesMasters/notesMaster1.xml" Id="R8d037690c6594f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2a77a8eadd4436" /><Relationship Type="http://schemas.openxmlformats.org/officeDocument/2006/relationships/notesMaster" Target="/ppt/notesMasters/notesMaster1.xml" Id="R540f8f185a374fe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cf78c4ea3c4075" /><Relationship Type="http://schemas.openxmlformats.org/officeDocument/2006/relationships/notesMaster" Target="/ppt/notesMasters/notesMaster1.xml" Id="Rdf9cd63dc51c40a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fc499d80ccf4830" /><Relationship Type="http://schemas.openxmlformats.org/officeDocument/2006/relationships/notesMaster" Target="/ppt/notesMasters/notesMaster1.xml" Id="R8b539c840f5841e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01459347d564c73" /><Relationship Type="http://schemas.openxmlformats.org/officeDocument/2006/relationships/notesMaster" Target="/ppt/notesMasters/notesMaster1.xml" Id="R37c95ac02ab34be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90138ff084e4df8" /><Relationship Type="http://schemas.openxmlformats.org/officeDocument/2006/relationships/notesMaster" Target="/ppt/notesMasters/notesMaster1.xml" Id="R0b639205ff284b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大家好，我们介绍X射线衍射，也就是XRD。我们想讲清楚：一张衍射图能告诉我们什么，又需要哪些其他证据才能得出可靠结论。下面以MOF和COF多孔材料为例。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用户提供的参考PPT封面插图，沿用为概念示意，不对应某种具体材料。课程要求见用户提供的图片。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F和COF都可以形成有孔道的晶体网络。MOF用金属离子或金属簇作为接头，连接有机配体。COF则由有机单元通过共价键连接。这里可以把它们理解为内部有规律空间的材料。研究中首先要问：目标结构有没有形成，处理后还在不在？XRD适合回答周期排列的问题。但孔道能否被分子进入，以及吸附或储能性能怎么样，需要其他测试来回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[1] Dai S., Simms C., Patriarche G., et al. Highly defective ultra-small tetravalent MOF nanocrystals. Nature Communications 15, 3434 (2024). https://doi.org/10.1038/s41467-024-47426-x</a:t>
            </a:r>
          </a:p>
          <a:p xmlns:a="http://schemas.openxmlformats.org/drawingml/2006/main">
            <a:r>
              <a:t>[2] Xie Y., Rong Q., Mao F., et al. Engineering the pore environment of antiparallel stacked covalent organic frameworks for capture of iodine pollutants. Nature Communications 15, 2671 (2024). https://doi.org/10.1038/s41467-024-46942-0</a:t>
            </a:r>
          </a:p>
          <a:p xmlns:a="http://schemas.openxmlformats.org/drawingml/2006/main">
            <a:r>
              <a:t>[3] Xu Q., Fu K., Liu Z., et al. Thiophene-Based Bipolar-Type Covalent Organic Frameworks with Extended π-Conjugation as Superior Cathode for Lithium-Ion Batteries. Advanced Functional Materials 35, 2506111 (2025). https://doi.org/10.1002/adfm.202506111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X射线照射晶体时，不同位置的原子都会散射X射线。由于原子周期排列，在某些方向上，散射波能够相互增强，形成衍射峰。可以借助图中的平行晶面理解：相邻晶面的散射波存在路程差，当路程差是波长的整数倍时，就满足布拉格条件。公式中d是晶面间距，θ是射线和晶面的夹角。特别注意，实验图谱横轴通常标的是2θ，计算时要先除以二。同一波长和同一级次下，较大的晶面间距对应较低角度的峰。这个间距不能直接作为材料的孔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Rigaku, Powder X-ray Diffraction Basic Course. https://rigaku.com/products/x-ray-diffraction-and-scattering/xrd/learning/basics</a:t>
            </a:r>
          </a:p>
          <a:p xmlns:a="http://schemas.openxmlformats.org/drawingml/2006/main">
            <a:r>
              <a:t>原理图：Keigo Nagao, Introduction to powder X-ray diffractometry I. Overview. Rigaku Journal 36(2), 19–24 (2020), Fig. 1。来源：https://rigaku.com/hubfs/2024%20Rigaku%20Global%20Site/Resource%20Hub/Knowledge%20Library/Rigaku%20Journals/Volume%2036%282%29%20-%20Summer%202020/Rigaku%20Journal%2036-2_19-24.pdf 。原图未重绘。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拿到图谱时，我们先看三个直观特征。第一是峰位，也就是峰出现在横轴什么位置，它与晶面间距有关。发现峰位移动后，要先排除仪器和样品高度的影响。第二是峰宽，可以理解为峰有多胖。较小的相干衍射区域通常带来更宽的峰，但微应变和仪器也会影响峰宽。第三是相对峰强。某个峰变高，可能与晶粒取向或制样有关，因此不能直接等同于结晶度提高。这里三组曲线只是帮助理解的模拟图，分析真实样品时还要看全谱和参考图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Rigaku, Powder X-ray Diffraction Basic Course. https://rigaku.com/products/x-ray-diffraction-and-scattering/xrd/learning/basics</a:t>
            </a:r>
          </a:p>
          <a:p xmlns:a="http://schemas.openxmlformats.org/drawingml/2006/main">
            <a:r>
              <a:t>教学数据为人为构造的高斯峰，专用于解释峰位、峰宽和强度，不作定量实验结论。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质量首先取决于制样。粉末应温和处理、铺平，并注意样品高度。MOF和COF可能因为失去溶剂或接触空气而变化，所以要记录样品状态。扫描范围要根据目标结构安排，尤其不要漏掉低角特征峰。例如使用铜靶时，可以先考虑2到40度的范围，但这只是起点，若目标峰低于2度，就需要进一步扩展。比较不同样品时，也要尽量保持测试条件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Rigaku, Powder X-ray Diffraction Basic Course. https://rigaku.com/products/x-ray-diffraction-and-scattering/xrd/learning/basics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一页看真实论文中的UiO-66。图中最下方的黑色虚线是模拟图谱，彩色曲线对应不同乙醇用量。随着合成时的乙醇用量增加，峰逐渐变宽，最高用量时，相邻的主要衍射峰已经明显重叠。作者同时用透射电子显微镜，也就是TEM，统计出平均粒径从约40纳米，逐步降到14、9和5纳米。超小颗粒中仍能观察到局部晶格。因此，这组数据支持有序区域尺度减小带来的展宽。它也提醒我们：宽峰不自动意味着完全无定形。XRD反映的相干衍射区域和TEM看到的颗粒尺寸也不一定完全相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[1] Dai S., Simms C., Patriarche G., et al. Highly defective ultra-small tetravalent MOF nanocrystals. Nature Communications 15, 3434 (2024). https://doi.org/10.1038/s41467-024-47426-x</a:t>
            </a:r>
          </a:p>
          <a:p xmlns:a="http://schemas.openxmlformats.org/drawingml/2006/main">
            <a:r>
              <a:t>图源：原论文Fig. 2b、c。图中粒径为作者TEM统计近似平均值。不同曲线作纵向平移，不能比较其绝对峰高。图片仅裁剪并放大，不重绘原始曲线。许可证：https://creativecommons.org/licenses/by/4.0/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OF-1是一种用于碘污染物捕获的COF。先看图例：黑色是实验数据，红色是Pawley拟合，蓝色是结构模型的模拟图谱，绿色短线表示理论峰位，最下方灰线是实验与拟合的差值。我们可以看到多个低角峰与模型对应。Pawley拟合可以先理解为：依据候选晶胞描述峰的位置，并调整峰形和各峰强度，使计算曲线接近实验。这里Rwp是5.71%，它衡量拟合偏差，不是结晶度。尤其要注意，Pawley拟合不直接验证原子位置，也不能单独确定层间如何堆积。作者结合其他散射数据、高分辨TEM及计算，提出反平行AA模型，也就是相邻层的方向相反、位置大致对应。我们应表述为多种证据支持这一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[2] Xie Y., Rong Q., Mao F., et al. Engineering the pore environment of antiparallel stacked covalent organic frameworks for capture of iodine pollutants. Nature Communications 15, 2671 (2024). https://doi.org/10.1038/s41467-024-46942-0</a:t>
            </a:r>
          </a:p>
          <a:p xmlns:a="http://schemas.openxmlformats.org/drawingml/2006/main">
            <a:r>
              <a:t>G. S. Pawley. Unit-cell refinement from powder diffraction scans. Journal of Applied Crystallography 14, 357–361 (1981). https://doi.org/10.1107/S0021889881009618</a:t>
            </a:r>
          </a:p>
          <a:p xmlns:a="http://schemas.openxmlformats.org/drawingml/2006/main">
            <a:r>
              <a:t>图源：原论文Fig. 2d，仅裁剪并放大，不重绘曲线。许可证：https://creativecommons.org/licenses/by/4.0/</a:t>
            </a:r>
          </a:p>
          <a:p xmlns:a="http://schemas.openxmlformats.org/drawingml/2006/main">
            <a:r>
              <a:t>“模型支持”表示与这些证据相容，不宣称唯一解。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建议用时：55秒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学过的几类方法各有分工。XRD主要提供样品平均周期结构的信息。SEM和TEM告诉我们形貌与粒径，TEM还可能看到局部晶格。能谱，也就是EDS，帮助判断元素种类及分布，通常不能给出价态。XPS更关注表面元素的化学态和化学环境。对COF合成反应，可以用红外等方法补充键合证据。对多孔材料，还要通过气体吸附了解孔隙是否可进入。比如处理后XRD峰仍然保留，我们可以说周期结构大体保留，但不能进一步直接说孔道一定畅通、性能一定没有下降。不同结论需要各自对应的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[1] Dai S., Simms C., Patriarche G., et al. Highly defective ultra-small tetravalent MOF nanocrystals. Nature Communications 15, 3434 (2024). https://doi.org/10.1038/s41467-024-47426-x</a:t>
            </a:r>
          </a:p>
          <a:p xmlns:a="http://schemas.openxmlformats.org/drawingml/2006/main">
            <a:r>
              <a:t>[2] Xie Y., Rong Q., Mao F., et al. Engineering the pore environment of antiparallel stacked covalent organic frameworks for capture of iodine pollutants. Nature Communications 15, 2671 (2024). https://doi.org/10.1038/s41467-024-46942-0</a:t>
            </a:r>
          </a:p>
          <a:p xmlns:a="http://schemas.openxmlformats.org/drawingml/2006/main">
            <a:r>
              <a:t>XPS信息深度和化学态分辨能力依样品、仪器和谱峰质量而定。气体吸附的可达性受探针分子及测试温度等条件影响。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后简要看看结构和性能怎样联系。原稿中的两种COF都用于电池正极，其XRD图谱分别与各自候选结构相符。在每克200毫安的电流密度下，论文报告TT材料的比容量为每克309毫安时，对照材料为195毫安时。这个数值来自充放电测试，而不是从XRD推算。为什么会有差异，还要结合导电性、活性位点及其他测试来解释。不能因为某张XRD图拟合误差较低，就认为它的电池性能一定更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[3] Xu Q., Fu K., Liu Z., et al. Thiophene-Based Bipolar-Type Covalent Organic Frameworks with Extended π-Conjugation as Superior Cathode for Lithium-Ion Batteries. Advanced Functional Materials 35, 2506111 (2025). https://doi.org/10.1002/adfm.202506111</a:t>
            </a:r>
          </a:p>
          <a:p xmlns:a="http://schemas.openxmlformats.org/drawingml/2006/main">
            <a:r>
              <a:t>数据来源：Wiley出版社摘要，电流密度均为200 mA g−1。柱图为文献报告值的可编辑整理，并非本组测量。实验PXRD图谱在备用页1中保留。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建议用时：30秒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总结一下，XRD帮助我们认识材料的周期结构。入门分析要综合多个峰和全谱，解释峰位与峰宽变化时，要考虑测试条件和样品状态。MOF与COF的研究结论还需要显微、光谱、气体吸附以及性能测试共同支持。我们最想强调的是：说清楚图谱观察到什么，以及这些证据能够支持到哪一步。谢谢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Rigaku, Powder X-ray Diffraction Basic Course. https://rigaku.com/products/x-ray-diffraction-and-scattering/xrd/learning/basics</a:t>
            </a:r>
          </a:p>
          <a:p xmlns:a="http://schemas.openxmlformats.org/drawingml/2006/main">
            <a:r>
              <a:t>[1] Dai S., Simms C., Patriarche G., et al. Highly defective ultra-small tetravalent MOF nanocrystals. Nature Communications 15, 3434 (2024). https://doi.org/10.1038/s41467-024-47426-x</a:t>
            </a:r>
          </a:p>
          <a:p xmlns:a="http://schemas.openxmlformats.org/drawingml/2006/main">
            <a:r>
              <a:t>[2] Xie Y., Rong Q., Mao F., et al. Engineering the pore environment of antiparallel stacked covalent organic frameworks for capture of iodine pollutants. Nature Communications 15, 2671 (2024). https://doi.org/10.1038/s41467-024-46942-0</a:t>
            </a:r>
          </a:p>
          <a:p xmlns:a="http://schemas.openxmlformats.org/drawingml/2006/main">
            <a:r>
              <a:t>[3] Xu Q., Fu K., Liu Z., et al. Thiophene-Based Bipolar-Type Covalent Organic Frameworks with Extended π-Conjugation as Superior Cathode for Lithium-Ion Batteries. Advanced Functional Materials 35, 2506111 (2025). https://doi.org/10.1002/adfm.202506111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备用页：讨论时选用，不计入8分钟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Experimental是实验数据，Pawley Refined是全谱拟合线，Simulated是结构模型模拟图谱，Bragg Positions是理论峰位，Difference是实验与拟合的差值。两幅图各自拟合较好，但不同样品的误差指标还受计数统计、背景、权重与拟合策略影响，不能据此排列结晶度高低。Pawley方法将各反射强度作为独立参数，不以原子位置计算的结构因子约束峰强。拟合良好并不能证明堆积模型唯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[3] Xu Q., Fu K., Liu Z., et al. Thiophene-Based Bipolar-Type Covalent Organic Frameworks with Extended π-Conjugation as Superior Cathode for Lithium-Ion Batteries. Advanced Functional Materials 35, 2506111 (2025). https://doi.org/10.1002/adfm.202506111</a:t>
            </a:r>
          </a:p>
          <a:p xmlns:a="http://schemas.openxmlformats.org/drawingml/2006/main">
            <a:r>
              <a:t>G. S. Pawley. Unit-cell refinement from powder diffraction scans. Journal of Applied Crystallography 14, 357–361 (1981). https://doi.org/10.1107/S0021889881009618</a:t>
            </a:r>
          </a:p>
          <a:p xmlns:a="http://schemas.openxmlformats.org/drawingml/2006/main">
            <a:r>
              <a:t>图像沿用用户附件第7、8页。题录及性能数值经出版社摘要核对，原图来源继承自用户附件，未重新计算或数字化曲线。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备用页：讨论时选用，不计入8分钟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F和COF可能不在常用物相数据库中，应结合可靠论文或CIF结构文件进行模拟比较。数据库匹配只筛选候选，不能替代化学组成与全谱检查。Pawley与Rietveld不同：Pawley不需要已知原子结构，Rietveld则由原子结构模型计算强度。使用复杂拟合前应先学习原理，并保留模型与处理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MDI：https://www.materialsdata.com/products.htm</a:t>
            </a:r>
          </a:p>
          <a:p xmlns:a="http://schemas.openxmlformats.org/drawingml/2006/main">
            <a:r>
              <a:t>Match!：https://www.crystalimpact.com/match/</a:t>
            </a:r>
          </a:p>
          <a:p xmlns:a="http://schemas.openxmlformats.org/drawingml/2006/main">
            <a:r>
              <a:t>GSAS-II：https://advancedphotonsource.github.io/GSAS-II-tutorials/documentation.html</a:t>
            </a:r>
          </a:p>
          <a:p xmlns:a="http://schemas.openxmlformats.org/drawingml/2006/main">
            <a:r>
              <a:t>BIOVIA：https://www.3ds.com/products/biovia/materials-studio</a:t>
            </a:r>
          </a:p>
          <a:p xmlns:a="http://schemas.openxmlformats.org/drawingml/2006/main">
            <a:r>
              <a:t>Bruker：https://www.bruker.com/en/products-and-solutions/diffractometers-and-x-ray-microscopes/x-ray-diffraction-software.html</a:t>
            </a:r>
          </a:p>
          <a:p xmlns:a="http://schemas.openxmlformats.org/drawingml/2006/main">
            <a:r>
              <a:t>Origin：https://docs.originlab.com/tutorials/peakfitting-baseline</a:t>
            </a:r>
          </a:p>
          <a:p xmlns:a="http://schemas.openxmlformats.org/drawingml/2006/main">
            <a:r>
              <a:t>G. S. Pawley. Unit-cell refinement from powder diffraction scans. Journal of Applied Crystallography 14, 357–361 (1981). https://doi.org/10.1107/S0021889881009618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备用页：讨论时选用，不计入8分钟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布拉格示例按一级衍射计算。Scherrer示例中的β是峰宽参数，此处取校正后的半高宽，且假设展宽主要来自尺寸效应。实际分析需考虑仪器展宽、微应变、形状因子和峰重叠。这里给定β仅为教学假设值，不能据此声称文献样品的真实晶畴尺寸。K随形状和峰宽定义等条件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Rigaku, Powder X-ray Diffraction Basic Course. https://rigaku.com/products/x-ray-diffraction-and-scattering/xrd/learning/basics</a:t>
            </a:r>
          </a:p>
          <a:p xmlns:a="http://schemas.openxmlformats.org/drawingml/2006/main">
            <a:r>
              <a:t>数值复核：0.15406/(2*sin(1.25°))=3.5311 nm；0.9*0.15406/((1.5*pi/180)*cos(3.7°))=5.3074 nm。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备用页：讨论时选用，不计入8分钟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结晶度的定量比较需要合适的背景、非晶贡献处理、测量可比性及适用方法。不要用单个峰高或Pawley残差替代结晶度。PXRD平均结构对少量杂相、局部缺陷或表面变化的灵敏度有限，也不能据此宣称样品绝对纯。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Rigaku, Powder X-ray Diffraction Basic Course. https://rigaku.com/products/x-ray-diffraction-and-scattering/xrd/learning/basics</a:t>
            </a:r>
          </a:p>
          <a:p xmlns:a="http://schemas.openxmlformats.org/drawingml/2006/main">
            <a:r>
              <a:t>G. S. Pawley. Unit-cell refinement from powder diffraction scans. Journal of Applied Crystallography 14, 357–361 (1981). https://doi.org/10.1107/S0021889881009618</a:t>
            </a:r>
          </a:p>
          <a:p xmlns:a="http://schemas.openxmlformats.org/drawingml/2006/main">
            <a:r>
              <a:t>[1] Dai S., Simms C., Patriarche G., et al. Highly defective ultra-small tetravalent MOF nanocrystals. Nature Communications 15, 3434 (2024). https://doi.org/10.1038/s41467-024-47426-x</a:t>
            </a:r>
          </a:p>
          <a:p xmlns:a="http://schemas.openxmlformats.org/drawingml/2006/main">
            <a:r>
              <a:t>[2] Xie Y., Rong Q., Mao F., et al. Engineering the pore environment of antiparallel stacked covalent organic frameworks for capture of iodine pollutants. Nature Communications 15, 2671 (2024). https://doi.org/10.1038/s41467-024-46942-0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备用页：讨论时选用，不计入8分钟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两篇Nature Communications论文的图像均按CC BY 4.0使用，来源和裁剪方式已注明。许可证：https://creativecommons.org/licenses/by/4.0/。原稿中的COF电池图谱沿用附件，性能数值和论文题录核对出版社摘要。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[1] Dai S., Simms C., Patriarche G., et al. Highly defective ultra-small tetravalent MOF nanocrystals. Nature Communications 15, 3434 (2024). https://doi.org/10.1038/s41467-024-47426-x</a:t>
            </a:r>
          </a:p>
          <a:p xmlns:a="http://schemas.openxmlformats.org/drawingml/2006/main">
            <a:r>
              <a:t>[2] Xie Y., Rong Q., Mao F., et al. Engineering the pore environment of antiparallel stacked covalent organic frameworks for capture of iodine pollutants. Nature Communications 15, 2671 (2024). https://doi.org/10.1038/s41467-024-46942-0</a:t>
            </a:r>
          </a:p>
          <a:p xmlns:a="http://schemas.openxmlformats.org/drawingml/2006/main">
            <a:r>
              <a:t>[3] Xu Q., Fu K., Liu Z., et al. Thiophene-Based Bipolar-Type Covalent Organic Frameworks with Extended π-Conjugation as Superior Cathode for Lithium-Ion Batteries. Advanced Functional Materials 35, 2506111 (2025). https://doi.org/10.1002/adfm.202506111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备用页：讨论时选用，不计入8分钟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入门阶段先掌握XRD的基本问题、图例和结论边界，无需在8分钟内展开全谱拟合的数学推导。Pawley和Rietveld使用不同约束，不能以笼统的“拟合好”代替结构真实性检验。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</a:t>
            </a:r>
          </a:p>
          <a:p xmlns:a="http://schemas.openxmlformats.org/drawingml/2006/main">
            <a:r>
              <a:t>Rigaku, Powder X-ray Diffraction Basic Course. https://rigaku.com/products/x-ray-diffraction-and-scattering/xrd/learning/basics</a:t>
            </a:r>
          </a:p>
          <a:p xmlns:a="http://schemas.openxmlformats.org/drawingml/2006/main">
            <a:r>
              <a:t>G. S. Pawley. Unit-cell refinement from powder diffraction scans. Journal of Applied Crystallography 14, 357–361 (1981). https://doi.org/10.1107/S0021889881009618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a5d0da97514a5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550e2691654ce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e29210a0e649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7345fff90b4e1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b8bd9270274ec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9ade9dd0f342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A07464-9EFC-4048-9A00-1EFFBB5106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DAFD6B4-D069-4208-B160-DC49E4E257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9466DE2-30C7-45DC-9FA6-F4C29EADF8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93425C-B5E9-4652-A124-D0EE53BCCE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2A29A38-88A0-4A5D-ACDD-E1B094AE10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B920BE0-5AE8-415B-8AA3-D23A642A87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AF82222-4BD4-480B-8A99-BD89000858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A04BB0F-6BBC-40FD-97A6-62A416DF4AC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238CE7-893C-48CD-9282-C81B29361D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367FFB-930E-42D2-B68E-17717F9B70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ee3be33b9f486f" /><Relationship Type="http://schemas.openxmlformats.org/officeDocument/2006/relationships/slideLayout" Target="/ppt/slideLayouts/slideLayout1.xml" Id="Rb25c2636b7094a52" /><Relationship Type="http://schemas.openxmlformats.org/officeDocument/2006/relationships/slideLayout" Target="/ppt/slideLayouts/slideLayout2.xml" Id="R18f2df20b1384643" /><Relationship Type="http://schemas.openxmlformats.org/officeDocument/2006/relationships/slideLayout" Target="/ppt/slideLayouts/slideLayout3.xml" Id="R422c2e812cd248c1" /><Relationship Type="http://schemas.openxmlformats.org/officeDocument/2006/relationships/slideLayout" Target="/ppt/slideLayouts/slideLayout4.xml" Id="R8c5cdc04d6a74210" /><Relationship Type="http://schemas.openxmlformats.org/officeDocument/2006/relationships/slideLayout" Target="/ppt/slideLayouts/slideLayout5.xml" Id="R1fcf0c9c03164a41" /><Relationship Type="http://schemas.openxmlformats.org/officeDocument/2006/relationships/slideLayout" Target="/ppt/slideLayouts/slideLayout6.xml" Id="Ra616a82c9c2142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5c2636b7094a52"/>
    <p:sldLayoutId xmlns:r="http://schemas.openxmlformats.org/officeDocument/2006/relationships" id="2147483650" r:id="R18f2df20b1384643"/>
    <p:sldLayoutId xmlns:r="http://schemas.openxmlformats.org/officeDocument/2006/relationships" id="2147483651" r:id="R422c2e812cd248c1"/>
    <p:sldLayoutId xmlns:r="http://schemas.openxmlformats.org/officeDocument/2006/relationships" id="2147483652" r:id="R8c5cdc04d6a74210"/>
    <p:sldLayoutId xmlns:r="http://schemas.openxmlformats.org/officeDocument/2006/relationships" id="2147483653" r:id="R1fcf0c9c03164a41"/>
    <p:sldLayoutId xmlns:r="http://schemas.openxmlformats.org/officeDocument/2006/relationships" id="2147483654" r:id="Ra616a82c9c2142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c461f4d9f84094" /><Relationship Type="http://schemas.openxmlformats.org/officeDocument/2006/relationships/image" Target="/ppt/media/image.png" Id="Re9fb44c89f514c1d" /><Relationship Type="http://schemas.openxmlformats.org/officeDocument/2006/relationships/notesSlide" Target="/ppt/notesSlides/notesSlide1.xml" Id="Rd67477c78c0245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75771f17274781" /><Relationship Type="http://schemas.openxmlformats.org/officeDocument/2006/relationships/notesSlide" Target="/ppt/notesSlides/notesSlide2.xml" Id="Rfc36a5f618774bd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54873fc8204ac6" /><Relationship Type="http://schemas.openxmlformats.org/officeDocument/2006/relationships/image" Target="/ppt/media/image2.png" Id="R0981525f3eb5499e" /><Relationship Type="http://schemas.openxmlformats.org/officeDocument/2006/relationships/notesSlide" Target="/ppt/notesSlides/notesSlide3.xml" Id="Rd2acadd3f0cb4d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a9392c4e424335" /><Relationship Type="http://schemas.openxmlformats.org/officeDocument/2006/relationships/chart" Target="/ppt/slides/charts/chart1.xml" Id="R0b687ea39af34b3b" /><Relationship Type="http://schemas.openxmlformats.org/officeDocument/2006/relationships/chart" Target="/ppt/slides/charts/chart2.xml" Id="R62ac2ac452a945ee" /><Relationship Type="http://schemas.openxmlformats.org/officeDocument/2006/relationships/chart" Target="/ppt/slides/charts/chart3.xml" Id="Rf2916f3918354501" /><Relationship Type="http://schemas.openxmlformats.org/officeDocument/2006/relationships/notesSlide" Target="/ppt/notesSlides/notesSlide4.xml" Id="Refebed2445694c0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aeab15754342ac" /><Relationship Type="http://schemas.openxmlformats.org/officeDocument/2006/relationships/notesSlide" Target="/ppt/notesSlides/notesSlide5.xml" Id="R8aa408af3f8441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1a23a06ea54f3d" /><Relationship Type="http://schemas.openxmlformats.org/officeDocument/2006/relationships/image" Target="/ppt/media/image3.png" Id="Ra73e247507224456" /><Relationship Type="http://schemas.openxmlformats.org/officeDocument/2006/relationships/notesSlide" Target="/ppt/notesSlides/notesSlide6.xml" Id="R64a5d021b70b46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c40e7ebd244c31" /><Relationship Type="http://schemas.openxmlformats.org/officeDocument/2006/relationships/image" Target="/ppt/media/image4.png" Id="R31ec1572ab714fb6" /><Relationship Type="http://schemas.openxmlformats.org/officeDocument/2006/relationships/notesSlide" Target="/ppt/notesSlides/notesSlide7.xml" Id="R0c5c5ebe959941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1ebd6e46f04bae" /><Relationship Type="http://schemas.openxmlformats.org/officeDocument/2006/relationships/notesSlide" Target="/ppt/notesSlides/notesSlide8.xml" Id="R3811d977a0654a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d556e121214195" /><Relationship Type="http://schemas.openxmlformats.org/officeDocument/2006/relationships/chart" Target="/ppt/slides/charts/chart4.xml" Id="Rf20d53cf0b614cb3" /><Relationship Type="http://schemas.openxmlformats.org/officeDocument/2006/relationships/notesSlide" Target="/ppt/notesSlides/notesSlide9.xml" Id="Ra9485adb7cb249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9d1addcf7f4524" /><Relationship Type="http://schemas.openxmlformats.org/officeDocument/2006/relationships/notesSlide" Target="/ppt/notesSlides/notesSlide10.xml" Id="R4dfbf07d4a1540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cf43fd22e24882" /><Relationship Type="http://schemas.openxmlformats.org/officeDocument/2006/relationships/image" Target="/ppt/media/image5.png" Id="R9c3ef1516efc46ac" /><Relationship Type="http://schemas.openxmlformats.org/officeDocument/2006/relationships/image" Target="/ppt/media/image6.png" Id="Rc6e83a02ce4d4fbb" /><Relationship Type="http://schemas.openxmlformats.org/officeDocument/2006/relationships/notesSlide" Target="/ppt/notesSlides/notesSlide11.xml" Id="R859ad3f7c1d74c5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74e52ca91c400c" /><Relationship Type="http://schemas.openxmlformats.org/officeDocument/2006/relationships/notesSlide" Target="/ppt/notesSlides/notesSlide12.xml" Id="Rf9532b091ce643b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675b90841a44d2" /><Relationship Type="http://schemas.openxmlformats.org/officeDocument/2006/relationships/notesSlide" Target="/ppt/notesSlides/notesSlide13.xml" Id="R93a2e5742ea847f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e73c47500e466f" /><Relationship Type="http://schemas.openxmlformats.org/officeDocument/2006/relationships/notesSlide" Target="/ppt/notesSlides/notesSlide14.xml" Id="R8edcddc1eb84460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eacf4d0bf74ef2" /><Relationship Type="http://schemas.openxmlformats.org/officeDocument/2006/relationships/hyperlink" Target="https://doi.org/10.1038/s41467-024-47426-x" TargetMode="External" Id="R9711d923661e41e1" /><Relationship Type="http://schemas.openxmlformats.org/officeDocument/2006/relationships/hyperlink" Target="https://doi.org/10.1038/s41467-024-46942-0" TargetMode="External" Id="Rdb9108f398c94c1d" /><Relationship Type="http://schemas.openxmlformats.org/officeDocument/2006/relationships/hyperlink" Target="https://doi.org/10.1002/adfm.202506111" TargetMode="External" Id="R5bb49e216fc44557" /><Relationship Type="http://schemas.openxmlformats.org/officeDocument/2006/relationships/notesSlide" Target="/ppt/notesSlides/notesSlide15.xml" Id="R1648b3bf881a428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e28bc83cc6460f" /><Relationship Type="http://schemas.openxmlformats.org/officeDocument/2006/relationships/hyperlink" Target="https://rigaku.com/products/x-ray-diffraction-and-scattering/xrd/learning/basics" TargetMode="External" Id="Redda240273ae46f8" /><Relationship Type="http://schemas.openxmlformats.org/officeDocument/2006/relationships/hyperlink" Target="https://doi.org/10.1107/S0021889881009618" TargetMode="External" Id="R2a67db2e22a148c9" /><Relationship Type="http://schemas.openxmlformats.org/officeDocument/2006/relationships/notesSlide" Target="/ppt/notesSlides/notesSlide16.xml" Id="R8120f27c41ad42d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状态A</c:v>
          </c:tx>
          <c:spPr>
            <a:ln xmlns:a="http://schemas.openxmlformats.org/drawingml/2006/main" w="28575">
              <a:solidFill>
                <a:srgbClr val="007F83"/>
              </a:solidFill>
            </a:ln>
          </c:spPr>
          <c:marker>
            <c:symbol val="none"/>
          </c:marker>
          <c:xVal>
            <c:numRef>
              <c:f>'Chart Data'!$A$2:$A$82</c:f>
              <c:numCache>
                <c:formatCode>General</c:formatCode>
                <c:ptCount val="81"/>
                <c:pt idx="0">
                  <c:v>5</c:v>
                </c:pt>
                <c:pt idx="1">
                  <c:v>5.125</c:v>
                </c:pt>
                <c:pt idx="2">
                  <c:v>5.25</c:v>
                </c:pt>
                <c:pt idx="3">
                  <c:v>5.375</c:v>
                </c:pt>
                <c:pt idx="4">
                  <c:v>5.5</c:v>
                </c:pt>
                <c:pt idx="5">
                  <c:v>5.625</c:v>
                </c:pt>
                <c:pt idx="6">
                  <c:v>5.75</c:v>
                </c:pt>
                <c:pt idx="7">
                  <c:v>5.875</c:v>
                </c:pt>
                <c:pt idx="8">
                  <c:v>6</c:v>
                </c:pt>
                <c:pt idx="9">
                  <c:v>6.125</c:v>
                </c:pt>
                <c:pt idx="10">
                  <c:v>6.25</c:v>
                </c:pt>
                <c:pt idx="11">
                  <c:v>6.375</c:v>
                </c:pt>
                <c:pt idx="12">
                  <c:v>6.5</c:v>
                </c:pt>
                <c:pt idx="13">
                  <c:v>6.625</c:v>
                </c:pt>
                <c:pt idx="14">
                  <c:v>6.75</c:v>
                </c:pt>
                <c:pt idx="15">
                  <c:v>6.875</c:v>
                </c:pt>
                <c:pt idx="16">
                  <c:v>7</c:v>
                </c:pt>
                <c:pt idx="17">
                  <c:v>7.125</c:v>
                </c:pt>
                <c:pt idx="18">
                  <c:v>7.25</c:v>
                </c:pt>
                <c:pt idx="19">
                  <c:v>7.375</c:v>
                </c:pt>
                <c:pt idx="20">
                  <c:v>7.5</c:v>
                </c:pt>
                <c:pt idx="21">
                  <c:v>7.625</c:v>
                </c:pt>
                <c:pt idx="22">
                  <c:v>7.75</c:v>
                </c:pt>
                <c:pt idx="23">
                  <c:v>7.875</c:v>
                </c:pt>
                <c:pt idx="24">
                  <c:v>8</c:v>
                </c:pt>
                <c:pt idx="25">
                  <c:v>8.125</c:v>
                </c:pt>
                <c:pt idx="26">
                  <c:v>8.25</c:v>
                </c:pt>
                <c:pt idx="27">
                  <c:v>8.375</c:v>
                </c:pt>
                <c:pt idx="28">
                  <c:v>8.5</c:v>
                </c:pt>
                <c:pt idx="29">
                  <c:v>8.625</c:v>
                </c:pt>
                <c:pt idx="30">
                  <c:v>8.75</c:v>
                </c:pt>
                <c:pt idx="31">
                  <c:v>8.875</c:v>
                </c:pt>
                <c:pt idx="32">
                  <c:v>9</c:v>
                </c:pt>
                <c:pt idx="33">
                  <c:v>9.125</c:v>
                </c:pt>
                <c:pt idx="34">
                  <c:v>9.25</c:v>
                </c:pt>
                <c:pt idx="35">
                  <c:v>9.375</c:v>
                </c:pt>
                <c:pt idx="36">
                  <c:v>9.5</c:v>
                </c:pt>
                <c:pt idx="37">
                  <c:v>9.625</c:v>
                </c:pt>
                <c:pt idx="38">
                  <c:v>9.75</c:v>
                </c:pt>
                <c:pt idx="39">
                  <c:v>9.875</c:v>
                </c:pt>
                <c:pt idx="40">
                  <c:v>10</c:v>
                </c:pt>
                <c:pt idx="41">
                  <c:v>10.125</c:v>
                </c:pt>
                <c:pt idx="42">
                  <c:v>10.25</c:v>
                </c:pt>
                <c:pt idx="43">
                  <c:v>10.375</c:v>
                </c:pt>
                <c:pt idx="44">
                  <c:v>10.5</c:v>
                </c:pt>
                <c:pt idx="45">
                  <c:v>10.625</c:v>
                </c:pt>
                <c:pt idx="46">
                  <c:v>10.75</c:v>
                </c:pt>
                <c:pt idx="47">
                  <c:v>10.875</c:v>
                </c:pt>
                <c:pt idx="48">
                  <c:v>11</c:v>
                </c:pt>
                <c:pt idx="49">
                  <c:v>11.125</c:v>
                </c:pt>
                <c:pt idx="50">
                  <c:v>11.25</c:v>
                </c:pt>
                <c:pt idx="51">
                  <c:v>11.375</c:v>
                </c:pt>
                <c:pt idx="52">
                  <c:v>11.5</c:v>
                </c:pt>
                <c:pt idx="53">
                  <c:v>11.625</c:v>
                </c:pt>
                <c:pt idx="54">
                  <c:v>11.75</c:v>
                </c:pt>
                <c:pt idx="55">
                  <c:v>11.875</c:v>
                </c:pt>
                <c:pt idx="56">
                  <c:v>12</c:v>
                </c:pt>
                <c:pt idx="57">
                  <c:v>12.125</c:v>
                </c:pt>
                <c:pt idx="58">
                  <c:v>12.25</c:v>
                </c:pt>
                <c:pt idx="59">
                  <c:v>12.375</c:v>
                </c:pt>
                <c:pt idx="60">
                  <c:v>12.5</c:v>
                </c:pt>
                <c:pt idx="61">
                  <c:v>12.625</c:v>
                </c:pt>
                <c:pt idx="62">
                  <c:v>12.75</c:v>
                </c:pt>
                <c:pt idx="63">
                  <c:v>12.875</c:v>
                </c:pt>
                <c:pt idx="64">
                  <c:v>13</c:v>
                </c:pt>
                <c:pt idx="65">
                  <c:v>13.125</c:v>
                </c:pt>
                <c:pt idx="66">
                  <c:v>13.25</c:v>
                </c:pt>
                <c:pt idx="67">
                  <c:v>13.375</c:v>
                </c:pt>
                <c:pt idx="68">
                  <c:v>13.5</c:v>
                </c:pt>
                <c:pt idx="69">
                  <c:v>13.625</c:v>
                </c:pt>
                <c:pt idx="70">
                  <c:v>13.75</c:v>
                </c:pt>
                <c:pt idx="71">
                  <c:v>13.875</c:v>
                </c:pt>
                <c:pt idx="72">
                  <c:v>14</c:v>
                </c:pt>
                <c:pt idx="73">
                  <c:v>14.125</c:v>
                </c:pt>
                <c:pt idx="74">
                  <c:v>14.25</c:v>
                </c:pt>
                <c:pt idx="75">
                  <c:v>14.375</c:v>
                </c:pt>
                <c:pt idx="76">
                  <c:v>14.5</c:v>
                </c:pt>
                <c:pt idx="77">
                  <c:v>14.625</c:v>
                </c:pt>
                <c:pt idx="78">
                  <c:v>14.75</c:v>
                </c:pt>
                <c:pt idx="79">
                  <c:v>14.875</c:v>
                </c:pt>
                <c:pt idx="80">
                  <c:v>15</c:v>
                </c:pt>
              </c:numCache>
            </c:numRef>
          </c:xVal>
          <c:yVal>
            <c:numRef>
              <c:f>'Chart Data'!$B$2:$B$82</c:f>
              <c:numCache>
                <c:formatCode>General</c:formatCode>
                <c:ptCount val="8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2E-06</c:v>
                </c:pt>
                <c:pt idx="18">
                  <c:v>3E-05</c:v>
                </c:pt>
                <c:pt idx="19">
                  <c:v>0.000307</c:v>
                </c:pt>
                <c:pt idx="20">
                  <c:v>0.00236</c:v>
                </c:pt>
                <c:pt idx="21">
                  <c:v>0.013481</c:v>
                </c:pt>
                <c:pt idx="22">
                  <c:v>0.057316</c:v>
                </c:pt>
                <c:pt idx="23">
                  <c:v>0.181367</c:v>
                </c:pt>
                <c:pt idx="24">
                  <c:v>0.427132</c:v>
                </c:pt>
                <c:pt idx="25">
                  <c:v>0.748667</c:v>
                </c:pt>
                <c:pt idx="26">
                  <c:v>0.976648</c:v>
                </c:pt>
                <c:pt idx="27">
                  <c:v>0.948222</c:v>
                </c:pt>
                <c:pt idx="28">
                  <c:v>0.685181</c:v>
                </c:pt>
                <c:pt idx="29">
                  <c:v>0.368488</c:v>
                </c:pt>
                <c:pt idx="30">
                  <c:v>0.147491</c:v>
                </c:pt>
                <c:pt idx="31">
                  <c:v>0.043937</c:v>
                </c:pt>
                <c:pt idx="32">
                  <c:v>0.009741</c:v>
                </c:pt>
                <c:pt idx="33">
                  <c:v>0.001607</c:v>
                </c:pt>
                <c:pt idx="34">
                  <c:v>0.000197</c:v>
                </c:pt>
                <c:pt idx="35">
                  <c:v>1.8E-05</c:v>
                </c:pt>
                <c:pt idx="36">
                  <c:v>1E-06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</c:numCache>
            </c:numRef>
          </c:yVal>
        </c:ser>
        <c:ser>
          <c:idx val="1"/>
          <c:order val="1"/>
          <c:tx>
            <c:v>状态B</c:v>
          </c:tx>
          <c:spPr>
            <a:ln xmlns:a="http://schemas.openxmlformats.org/drawingml/2006/main" w="28575">
              <a:solidFill>
                <a:srgbClr val="4F77AA"/>
              </a:solidFill>
            </a:ln>
          </c:spPr>
          <c:marker>
            <c:symbol val="none"/>
          </c:marker>
          <c:xVal>
            <c:numRef>
              <c:f>'Chart Data'!$C$2:$C$82</c:f>
              <c:numCache>
                <c:formatCode>General</c:formatCode>
                <c:ptCount val="81"/>
                <c:pt idx="0">
                  <c:v>5</c:v>
                </c:pt>
                <c:pt idx="1">
                  <c:v>5.125</c:v>
                </c:pt>
                <c:pt idx="2">
                  <c:v>5.25</c:v>
                </c:pt>
                <c:pt idx="3">
                  <c:v>5.375</c:v>
                </c:pt>
                <c:pt idx="4">
                  <c:v>5.5</c:v>
                </c:pt>
                <c:pt idx="5">
                  <c:v>5.625</c:v>
                </c:pt>
                <c:pt idx="6">
                  <c:v>5.75</c:v>
                </c:pt>
                <c:pt idx="7">
                  <c:v>5.875</c:v>
                </c:pt>
                <c:pt idx="8">
                  <c:v>6</c:v>
                </c:pt>
                <c:pt idx="9">
                  <c:v>6.125</c:v>
                </c:pt>
                <c:pt idx="10">
                  <c:v>6.25</c:v>
                </c:pt>
                <c:pt idx="11">
                  <c:v>6.375</c:v>
                </c:pt>
                <c:pt idx="12">
                  <c:v>6.5</c:v>
                </c:pt>
                <c:pt idx="13">
                  <c:v>6.625</c:v>
                </c:pt>
                <c:pt idx="14">
                  <c:v>6.75</c:v>
                </c:pt>
                <c:pt idx="15">
                  <c:v>6.875</c:v>
                </c:pt>
                <c:pt idx="16">
                  <c:v>7</c:v>
                </c:pt>
                <c:pt idx="17">
                  <c:v>7.125</c:v>
                </c:pt>
                <c:pt idx="18">
                  <c:v>7.25</c:v>
                </c:pt>
                <c:pt idx="19">
                  <c:v>7.375</c:v>
                </c:pt>
                <c:pt idx="20">
                  <c:v>7.5</c:v>
                </c:pt>
                <c:pt idx="21">
                  <c:v>7.625</c:v>
                </c:pt>
                <c:pt idx="22">
                  <c:v>7.75</c:v>
                </c:pt>
                <c:pt idx="23">
                  <c:v>7.875</c:v>
                </c:pt>
                <c:pt idx="24">
                  <c:v>8</c:v>
                </c:pt>
                <c:pt idx="25">
                  <c:v>8.125</c:v>
                </c:pt>
                <c:pt idx="26">
                  <c:v>8.25</c:v>
                </c:pt>
                <c:pt idx="27">
                  <c:v>8.375</c:v>
                </c:pt>
                <c:pt idx="28">
                  <c:v>8.5</c:v>
                </c:pt>
                <c:pt idx="29">
                  <c:v>8.625</c:v>
                </c:pt>
                <c:pt idx="30">
                  <c:v>8.75</c:v>
                </c:pt>
                <c:pt idx="31">
                  <c:v>8.875</c:v>
                </c:pt>
                <c:pt idx="32">
                  <c:v>9</c:v>
                </c:pt>
                <c:pt idx="33">
                  <c:v>9.125</c:v>
                </c:pt>
                <c:pt idx="34">
                  <c:v>9.25</c:v>
                </c:pt>
                <c:pt idx="35">
                  <c:v>9.375</c:v>
                </c:pt>
                <c:pt idx="36">
                  <c:v>9.5</c:v>
                </c:pt>
                <c:pt idx="37">
                  <c:v>9.625</c:v>
                </c:pt>
                <c:pt idx="38">
                  <c:v>9.75</c:v>
                </c:pt>
                <c:pt idx="39">
                  <c:v>9.875</c:v>
                </c:pt>
                <c:pt idx="40">
                  <c:v>10</c:v>
                </c:pt>
                <c:pt idx="41">
                  <c:v>10.125</c:v>
                </c:pt>
                <c:pt idx="42">
                  <c:v>10.25</c:v>
                </c:pt>
                <c:pt idx="43">
                  <c:v>10.375</c:v>
                </c:pt>
                <c:pt idx="44">
                  <c:v>10.5</c:v>
                </c:pt>
                <c:pt idx="45">
                  <c:v>10.625</c:v>
                </c:pt>
                <c:pt idx="46">
                  <c:v>10.75</c:v>
                </c:pt>
                <c:pt idx="47">
                  <c:v>10.875</c:v>
                </c:pt>
                <c:pt idx="48">
                  <c:v>11</c:v>
                </c:pt>
                <c:pt idx="49">
                  <c:v>11.125</c:v>
                </c:pt>
                <c:pt idx="50">
                  <c:v>11.25</c:v>
                </c:pt>
                <c:pt idx="51">
                  <c:v>11.375</c:v>
                </c:pt>
                <c:pt idx="52">
                  <c:v>11.5</c:v>
                </c:pt>
                <c:pt idx="53">
                  <c:v>11.625</c:v>
                </c:pt>
                <c:pt idx="54">
                  <c:v>11.75</c:v>
                </c:pt>
                <c:pt idx="55">
                  <c:v>11.875</c:v>
                </c:pt>
                <c:pt idx="56">
                  <c:v>12</c:v>
                </c:pt>
                <c:pt idx="57">
                  <c:v>12.125</c:v>
                </c:pt>
                <c:pt idx="58">
                  <c:v>12.25</c:v>
                </c:pt>
                <c:pt idx="59">
                  <c:v>12.375</c:v>
                </c:pt>
                <c:pt idx="60">
                  <c:v>12.5</c:v>
                </c:pt>
                <c:pt idx="61">
                  <c:v>12.625</c:v>
                </c:pt>
                <c:pt idx="62">
                  <c:v>12.75</c:v>
                </c:pt>
                <c:pt idx="63">
                  <c:v>12.875</c:v>
                </c:pt>
                <c:pt idx="64">
                  <c:v>13</c:v>
                </c:pt>
                <c:pt idx="65">
                  <c:v>13.125</c:v>
                </c:pt>
                <c:pt idx="66">
                  <c:v>13.25</c:v>
                </c:pt>
                <c:pt idx="67">
                  <c:v>13.375</c:v>
                </c:pt>
                <c:pt idx="68">
                  <c:v>13.5</c:v>
                </c:pt>
                <c:pt idx="69">
                  <c:v>13.625</c:v>
                </c:pt>
                <c:pt idx="70">
                  <c:v>13.75</c:v>
                </c:pt>
                <c:pt idx="71">
                  <c:v>13.875</c:v>
                </c:pt>
                <c:pt idx="72">
                  <c:v>14</c:v>
                </c:pt>
                <c:pt idx="73">
                  <c:v>14.125</c:v>
                </c:pt>
                <c:pt idx="74">
                  <c:v>14.25</c:v>
                </c:pt>
                <c:pt idx="75">
                  <c:v>14.375</c:v>
                </c:pt>
                <c:pt idx="76">
                  <c:v>14.5</c:v>
                </c:pt>
                <c:pt idx="77">
                  <c:v>14.625</c:v>
                </c:pt>
                <c:pt idx="78">
                  <c:v>14.75</c:v>
                </c:pt>
                <c:pt idx="79">
                  <c:v>14.875</c:v>
                </c:pt>
                <c:pt idx="80">
                  <c:v>15</c:v>
                </c:pt>
              </c:numCache>
            </c:numRef>
          </c:xVal>
          <c:yVal>
            <c:numRef>
              <c:f>'Chart Data'!$D$2:$D$82</c:f>
              <c:numCache>
                <c:formatCode>General</c:formatCode>
                <c:ptCount val="8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1E-06</c:v>
                </c:pt>
                <c:pt idx="32">
                  <c:v>1.1E-05</c:v>
                </c:pt>
                <c:pt idx="33">
                  <c:v>0.000125</c:v>
                </c:pt>
                <c:pt idx="34">
                  <c:v>0.001082</c:v>
                </c:pt>
                <c:pt idx="35">
                  <c:v>0.006956</c:v>
                </c:pt>
                <c:pt idx="36">
                  <c:v>0.033285</c:v>
                </c:pt>
                <c:pt idx="37">
                  <c:v>0.118533</c:v>
                </c:pt>
                <c:pt idx="38">
                  <c:v>0.314162</c:v>
                </c:pt>
                <c:pt idx="39">
                  <c:v>0.619714</c:v>
                </c:pt>
                <c:pt idx="40">
                  <c:v>0.909811</c:v>
                </c:pt>
                <c:pt idx="41">
                  <c:v>0.99411</c:v>
                </c:pt>
                <c:pt idx="42">
                  <c:v>0.808427</c:v>
                </c:pt>
                <c:pt idx="43">
                  <c:v>0.489294</c:v>
                </c:pt>
                <c:pt idx="44">
                  <c:v>0.220405</c:v>
                </c:pt>
                <c:pt idx="45">
                  <c:v>0.073892</c:v>
                </c:pt>
                <c:pt idx="46">
                  <c:v>0.018437</c:v>
                </c:pt>
                <c:pt idx="47">
                  <c:v>0.003424</c:v>
                </c:pt>
                <c:pt idx="48">
                  <c:v>0.000473</c:v>
                </c:pt>
                <c:pt idx="49">
                  <c:v>4.9E-05</c:v>
                </c:pt>
                <c:pt idx="50">
                  <c:v>4E-06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15"/>
          <c:min val="0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</c:valAx>
      <c:valAx>
        <c:axId val="48650112"/>
        <c:scaling>
          <c:orientation val="minMax"/>
          <c:max val="15"/>
          <c:min val="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 CJK SC"/>
                    <a:ea typeface="Noto Sans CJK SC"/>
                    <a:cs typeface="Noto Sans CJK SC"/>
                  </a:rPr>
                  <a:t>2θ (°)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5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状态A</c:v>
          </c:tx>
          <c:spPr>
            <a:ln xmlns:a="http://schemas.openxmlformats.org/drawingml/2006/main" w="28575">
              <a:solidFill>
                <a:srgbClr val="007F83"/>
              </a:solidFill>
            </a:ln>
          </c:spPr>
          <c:marker>
            <c:symbol val="none"/>
          </c:marker>
          <c:xVal>
            <c:numRef>
              <c:f>'Chart Data'!$A$2:$A$82</c:f>
              <c:numCache>
                <c:formatCode>General</c:formatCode>
                <c:ptCount val="81"/>
                <c:pt idx="0">
                  <c:v>5</c:v>
                </c:pt>
                <c:pt idx="1">
                  <c:v>5.125</c:v>
                </c:pt>
                <c:pt idx="2">
                  <c:v>5.25</c:v>
                </c:pt>
                <c:pt idx="3">
                  <c:v>5.375</c:v>
                </c:pt>
                <c:pt idx="4">
                  <c:v>5.5</c:v>
                </c:pt>
                <c:pt idx="5">
                  <c:v>5.625</c:v>
                </c:pt>
                <c:pt idx="6">
                  <c:v>5.75</c:v>
                </c:pt>
                <c:pt idx="7">
                  <c:v>5.875</c:v>
                </c:pt>
                <c:pt idx="8">
                  <c:v>6</c:v>
                </c:pt>
                <c:pt idx="9">
                  <c:v>6.125</c:v>
                </c:pt>
                <c:pt idx="10">
                  <c:v>6.25</c:v>
                </c:pt>
                <c:pt idx="11">
                  <c:v>6.375</c:v>
                </c:pt>
                <c:pt idx="12">
                  <c:v>6.5</c:v>
                </c:pt>
                <c:pt idx="13">
                  <c:v>6.625</c:v>
                </c:pt>
                <c:pt idx="14">
                  <c:v>6.75</c:v>
                </c:pt>
                <c:pt idx="15">
                  <c:v>6.875</c:v>
                </c:pt>
                <c:pt idx="16">
                  <c:v>7</c:v>
                </c:pt>
                <c:pt idx="17">
                  <c:v>7.125</c:v>
                </c:pt>
                <c:pt idx="18">
                  <c:v>7.25</c:v>
                </c:pt>
                <c:pt idx="19">
                  <c:v>7.375</c:v>
                </c:pt>
                <c:pt idx="20">
                  <c:v>7.5</c:v>
                </c:pt>
                <c:pt idx="21">
                  <c:v>7.625</c:v>
                </c:pt>
                <c:pt idx="22">
                  <c:v>7.75</c:v>
                </c:pt>
                <c:pt idx="23">
                  <c:v>7.875</c:v>
                </c:pt>
                <c:pt idx="24">
                  <c:v>8</c:v>
                </c:pt>
                <c:pt idx="25">
                  <c:v>8.125</c:v>
                </c:pt>
                <c:pt idx="26">
                  <c:v>8.25</c:v>
                </c:pt>
                <c:pt idx="27">
                  <c:v>8.375</c:v>
                </c:pt>
                <c:pt idx="28">
                  <c:v>8.5</c:v>
                </c:pt>
                <c:pt idx="29">
                  <c:v>8.625</c:v>
                </c:pt>
                <c:pt idx="30">
                  <c:v>8.75</c:v>
                </c:pt>
                <c:pt idx="31">
                  <c:v>8.875</c:v>
                </c:pt>
                <c:pt idx="32">
                  <c:v>9</c:v>
                </c:pt>
                <c:pt idx="33">
                  <c:v>9.125</c:v>
                </c:pt>
                <c:pt idx="34">
                  <c:v>9.25</c:v>
                </c:pt>
                <c:pt idx="35">
                  <c:v>9.375</c:v>
                </c:pt>
                <c:pt idx="36">
                  <c:v>9.5</c:v>
                </c:pt>
                <c:pt idx="37">
                  <c:v>9.625</c:v>
                </c:pt>
                <c:pt idx="38">
                  <c:v>9.75</c:v>
                </c:pt>
                <c:pt idx="39">
                  <c:v>9.875</c:v>
                </c:pt>
                <c:pt idx="40">
                  <c:v>10</c:v>
                </c:pt>
                <c:pt idx="41">
                  <c:v>10.125</c:v>
                </c:pt>
                <c:pt idx="42">
                  <c:v>10.25</c:v>
                </c:pt>
                <c:pt idx="43">
                  <c:v>10.375</c:v>
                </c:pt>
                <c:pt idx="44">
                  <c:v>10.5</c:v>
                </c:pt>
                <c:pt idx="45">
                  <c:v>10.625</c:v>
                </c:pt>
                <c:pt idx="46">
                  <c:v>10.75</c:v>
                </c:pt>
                <c:pt idx="47">
                  <c:v>10.875</c:v>
                </c:pt>
                <c:pt idx="48">
                  <c:v>11</c:v>
                </c:pt>
                <c:pt idx="49">
                  <c:v>11.125</c:v>
                </c:pt>
                <c:pt idx="50">
                  <c:v>11.25</c:v>
                </c:pt>
                <c:pt idx="51">
                  <c:v>11.375</c:v>
                </c:pt>
                <c:pt idx="52">
                  <c:v>11.5</c:v>
                </c:pt>
                <c:pt idx="53">
                  <c:v>11.625</c:v>
                </c:pt>
                <c:pt idx="54">
                  <c:v>11.75</c:v>
                </c:pt>
                <c:pt idx="55">
                  <c:v>11.875</c:v>
                </c:pt>
                <c:pt idx="56">
                  <c:v>12</c:v>
                </c:pt>
                <c:pt idx="57">
                  <c:v>12.125</c:v>
                </c:pt>
                <c:pt idx="58">
                  <c:v>12.25</c:v>
                </c:pt>
                <c:pt idx="59">
                  <c:v>12.375</c:v>
                </c:pt>
                <c:pt idx="60">
                  <c:v>12.5</c:v>
                </c:pt>
                <c:pt idx="61">
                  <c:v>12.625</c:v>
                </c:pt>
                <c:pt idx="62">
                  <c:v>12.75</c:v>
                </c:pt>
                <c:pt idx="63">
                  <c:v>12.875</c:v>
                </c:pt>
                <c:pt idx="64">
                  <c:v>13</c:v>
                </c:pt>
                <c:pt idx="65">
                  <c:v>13.125</c:v>
                </c:pt>
                <c:pt idx="66">
                  <c:v>13.25</c:v>
                </c:pt>
                <c:pt idx="67">
                  <c:v>13.375</c:v>
                </c:pt>
                <c:pt idx="68">
                  <c:v>13.5</c:v>
                </c:pt>
                <c:pt idx="69">
                  <c:v>13.625</c:v>
                </c:pt>
                <c:pt idx="70">
                  <c:v>13.75</c:v>
                </c:pt>
                <c:pt idx="71">
                  <c:v>13.875</c:v>
                </c:pt>
                <c:pt idx="72">
                  <c:v>14</c:v>
                </c:pt>
                <c:pt idx="73">
                  <c:v>14.125</c:v>
                </c:pt>
                <c:pt idx="74">
                  <c:v>14.25</c:v>
                </c:pt>
                <c:pt idx="75">
                  <c:v>14.375</c:v>
                </c:pt>
                <c:pt idx="76">
                  <c:v>14.5</c:v>
                </c:pt>
                <c:pt idx="77">
                  <c:v>14.625</c:v>
                </c:pt>
                <c:pt idx="78">
                  <c:v>14.75</c:v>
                </c:pt>
                <c:pt idx="79">
                  <c:v>14.875</c:v>
                </c:pt>
                <c:pt idx="80">
                  <c:v>15</c:v>
                </c:pt>
              </c:numCache>
            </c:numRef>
          </c:xVal>
          <c:yVal>
            <c:numRef>
              <c:f>'Chart Data'!$B$2:$B$82</c:f>
              <c:numCache>
                <c:formatCode>General</c:formatCode>
                <c:ptCount val="8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4E-06</c:v>
                </c:pt>
                <c:pt idx="25">
                  <c:v>7E-05</c:v>
                </c:pt>
                <c:pt idx="26">
                  <c:v>0.000884</c:v>
                </c:pt>
                <c:pt idx="27">
                  <c:v>0.007576</c:v>
                </c:pt>
                <c:pt idx="28">
                  <c:v>0.043937</c:v>
                </c:pt>
                <c:pt idx="29">
                  <c:v>0.172422</c:v>
                </c:pt>
                <c:pt idx="30">
                  <c:v>0.457833</c:v>
                </c:pt>
                <c:pt idx="31">
                  <c:v>0.822578</c:v>
                </c:pt>
                <c:pt idx="32">
                  <c:v>1</c:v>
                </c:pt>
                <c:pt idx="33">
                  <c:v>0.822578</c:v>
                </c:pt>
                <c:pt idx="34">
                  <c:v>0.457833</c:v>
                </c:pt>
                <c:pt idx="35">
                  <c:v>0.172422</c:v>
                </c:pt>
                <c:pt idx="36">
                  <c:v>0.043937</c:v>
                </c:pt>
                <c:pt idx="37">
                  <c:v>0.007576</c:v>
                </c:pt>
                <c:pt idx="38">
                  <c:v>0.000884</c:v>
                </c:pt>
                <c:pt idx="39">
                  <c:v>7E-05</c:v>
                </c:pt>
                <c:pt idx="40">
                  <c:v>4E-06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</c:numCache>
            </c:numRef>
          </c:yVal>
        </c:ser>
        <c:ser>
          <c:idx val="1"/>
          <c:order val="1"/>
          <c:tx>
            <c:v>状态B</c:v>
          </c:tx>
          <c:spPr>
            <a:ln xmlns:a="http://schemas.openxmlformats.org/drawingml/2006/main" w="28575">
              <a:solidFill>
                <a:srgbClr val="4F77AA"/>
              </a:solidFill>
            </a:ln>
          </c:spPr>
          <c:marker>
            <c:symbol val="none"/>
          </c:marker>
          <c:xVal>
            <c:numRef>
              <c:f>'Chart Data'!$C$2:$C$82</c:f>
              <c:numCache>
                <c:formatCode>General</c:formatCode>
                <c:ptCount val="81"/>
                <c:pt idx="0">
                  <c:v>5</c:v>
                </c:pt>
                <c:pt idx="1">
                  <c:v>5.125</c:v>
                </c:pt>
                <c:pt idx="2">
                  <c:v>5.25</c:v>
                </c:pt>
                <c:pt idx="3">
                  <c:v>5.375</c:v>
                </c:pt>
                <c:pt idx="4">
                  <c:v>5.5</c:v>
                </c:pt>
                <c:pt idx="5">
                  <c:v>5.625</c:v>
                </c:pt>
                <c:pt idx="6">
                  <c:v>5.75</c:v>
                </c:pt>
                <c:pt idx="7">
                  <c:v>5.875</c:v>
                </c:pt>
                <c:pt idx="8">
                  <c:v>6</c:v>
                </c:pt>
                <c:pt idx="9">
                  <c:v>6.125</c:v>
                </c:pt>
                <c:pt idx="10">
                  <c:v>6.25</c:v>
                </c:pt>
                <c:pt idx="11">
                  <c:v>6.375</c:v>
                </c:pt>
                <c:pt idx="12">
                  <c:v>6.5</c:v>
                </c:pt>
                <c:pt idx="13">
                  <c:v>6.625</c:v>
                </c:pt>
                <c:pt idx="14">
                  <c:v>6.75</c:v>
                </c:pt>
                <c:pt idx="15">
                  <c:v>6.875</c:v>
                </c:pt>
                <c:pt idx="16">
                  <c:v>7</c:v>
                </c:pt>
                <c:pt idx="17">
                  <c:v>7.125</c:v>
                </c:pt>
                <c:pt idx="18">
                  <c:v>7.25</c:v>
                </c:pt>
                <c:pt idx="19">
                  <c:v>7.375</c:v>
                </c:pt>
                <c:pt idx="20">
                  <c:v>7.5</c:v>
                </c:pt>
                <c:pt idx="21">
                  <c:v>7.625</c:v>
                </c:pt>
                <c:pt idx="22">
                  <c:v>7.75</c:v>
                </c:pt>
                <c:pt idx="23">
                  <c:v>7.875</c:v>
                </c:pt>
                <c:pt idx="24">
                  <c:v>8</c:v>
                </c:pt>
                <c:pt idx="25">
                  <c:v>8.125</c:v>
                </c:pt>
                <c:pt idx="26">
                  <c:v>8.25</c:v>
                </c:pt>
                <c:pt idx="27">
                  <c:v>8.375</c:v>
                </c:pt>
                <c:pt idx="28">
                  <c:v>8.5</c:v>
                </c:pt>
                <c:pt idx="29">
                  <c:v>8.625</c:v>
                </c:pt>
                <c:pt idx="30">
                  <c:v>8.75</c:v>
                </c:pt>
                <c:pt idx="31">
                  <c:v>8.875</c:v>
                </c:pt>
                <c:pt idx="32">
                  <c:v>9</c:v>
                </c:pt>
                <c:pt idx="33">
                  <c:v>9.125</c:v>
                </c:pt>
                <c:pt idx="34">
                  <c:v>9.25</c:v>
                </c:pt>
                <c:pt idx="35">
                  <c:v>9.375</c:v>
                </c:pt>
                <c:pt idx="36">
                  <c:v>9.5</c:v>
                </c:pt>
                <c:pt idx="37">
                  <c:v>9.625</c:v>
                </c:pt>
                <c:pt idx="38">
                  <c:v>9.75</c:v>
                </c:pt>
                <c:pt idx="39">
                  <c:v>9.875</c:v>
                </c:pt>
                <c:pt idx="40">
                  <c:v>10</c:v>
                </c:pt>
                <c:pt idx="41">
                  <c:v>10.125</c:v>
                </c:pt>
                <c:pt idx="42">
                  <c:v>10.25</c:v>
                </c:pt>
                <c:pt idx="43">
                  <c:v>10.375</c:v>
                </c:pt>
                <c:pt idx="44">
                  <c:v>10.5</c:v>
                </c:pt>
                <c:pt idx="45">
                  <c:v>10.625</c:v>
                </c:pt>
                <c:pt idx="46">
                  <c:v>10.75</c:v>
                </c:pt>
                <c:pt idx="47">
                  <c:v>10.875</c:v>
                </c:pt>
                <c:pt idx="48">
                  <c:v>11</c:v>
                </c:pt>
                <c:pt idx="49">
                  <c:v>11.125</c:v>
                </c:pt>
                <c:pt idx="50">
                  <c:v>11.25</c:v>
                </c:pt>
                <c:pt idx="51">
                  <c:v>11.375</c:v>
                </c:pt>
                <c:pt idx="52">
                  <c:v>11.5</c:v>
                </c:pt>
                <c:pt idx="53">
                  <c:v>11.625</c:v>
                </c:pt>
                <c:pt idx="54">
                  <c:v>11.75</c:v>
                </c:pt>
                <c:pt idx="55">
                  <c:v>11.875</c:v>
                </c:pt>
                <c:pt idx="56">
                  <c:v>12</c:v>
                </c:pt>
                <c:pt idx="57">
                  <c:v>12.125</c:v>
                </c:pt>
                <c:pt idx="58">
                  <c:v>12.25</c:v>
                </c:pt>
                <c:pt idx="59">
                  <c:v>12.375</c:v>
                </c:pt>
                <c:pt idx="60">
                  <c:v>12.5</c:v>
                </c:pt>
                <c:pt idx="61">
                  <c:v>12.625</c:v>
                </c:pt>
                <c:pt idx="62">
                  <c:v>12.75</c:v>
                </c:pt>
                <c:pt idx="63">
                  <c:v>12.875</c:v>
                </c:pt>
                <c:pt idx="64">
                  <c:v>13</c:v>
                </c:pt>
                <c:pt idx="65">
                  <c:v>13.125</c:v>
                </c:pt>
                <c:pt idx="66">
                  <c:v>13.25</c:v>
                </c:pt>
                <c:pt idx="67">
                  <c:v>13.375</c:v>
                </c:pt>
                <c:pt idx="68">
                  <c:v>13.5</c:v>
                </c:pt>
                <c:pt idx="69">
                  <c:v>13.625</c:v>
                </c:pt>
                <c:pt idx="70">
                  <c:v>13.75</c:v>
                </c:pt>
                <c:pt idx="71">
                  <c:v>13.875</c:v>
                </c:pt>
                <c:pt idx="72">
                  <c:v>14</c:v>
                </c:pt>
                <c:pt idx="73">
                  <c:v>14.125</c:v>
                </c:pt>
                <c:pt idx="74">
                  <c:v>14.25</c:v>
                </c:pt>
                <c:pt idx="75">
                  <c:v>14.375</c:v>
                </c:pt>
                <c:pt idx="76">
                  <c:v>14.5</c:v>
                </c:pt>
                <c:pt idx="77">
                  <c:v>14.625</c:v>
                </c:pt>
                <c:pt idx="78">
                  <c:v>14.75</c:v>
                </c:pt>
                <c:pt idx="79">
                  <c:v>14.875</c:v>
                </c:pt>
                <c:pt idx="80">
                  <c:v>15</c:v>
                </c:pt>
              </c:numCache>
            </c:numRef>
          </c:xVal>
          <c:yVal>
            <c:numRef>
              <c:f>'Chart Data'!$D$2:$D$82</c:f>
              <c:numCache>
                <c:formatCode>General</c:formatCode>
                <c:ptCount val="8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1E-06</c:v>
                </c:pt>
                <c:pt idx="5">
                  <c:v>1E-06</c:v>
                </c:pt>
                <c:pt idx="6">
                  <c:v>4E-06</c:v>
                </c:pt>
                <c:pt idx="7">
                  <c:v>1E-05</c:v>
                </c:pt>
                <c:pt idx="8">
                  <c:v>2.4E-05</c:v>
                </c:pt>
                <c:pt idx="9">
                  <c:v>5.6E-05</c:v>
                </c:pt>
                <c:pt idx="10">
                  <c:v>0.00013</c:v>
                </c:pt>
                <c:pt idx="11">
                  <c:v>0.000287</c:v>
                </c:pt>
                <c:pt idx="12">
                  <c:v>0.000613</c:v>
                </c:pt>
                <c:pt idx="13">
                  <c:v>0.001262</c:v>
                </c:pt>
                <c:pt idx="14">
                  <c:v>0.002501</c:v>
                </c:pt>
                <c:pt idx="15">
                  <c:v>0.004777</c:v>
                </c:pt>
                <c:pt idx="16">
                  <c:v>0.008794</c:v>
                </c:pt>
                <c:pt idx="17">
                  <c:v>0.0156</c:v>
                </c:pt>
                <c:pt idx="18">
                  <c:v>0.026669</c:v>
                </c:pt>
                <c:pt idx="19">
                  <c:v>0.043937</c:v>
                </c:pt>
                <c:pt idx="20">
                  <c:v>0.069758</c:v>
                </c:pt>
                <c:pt idx="21">
                  <c:v>0.106733</c:v>
                </c:pt>
                <c:pt idx="22">
                  <c:v>0.157377</c:v>
                </c:pt>
                <c:pt idx="23">
                  <c:v>0.223626</c:v>
                </c:pt>
                <c:pt idx="24">
                  <c:v>0.306226</c:v>
                </c:pt>
                <c:pt idx="25">
                  <c:v>0.404111</c:v>
                </c:pt>
                <c:pt idx="26">
                  <c:v>0.513924</c:v>
                </c:pt>
                <c:pt idx="27">
                  <c:v>0.629847</c:v>
                </c:pt>
                <c:pt idx="28">
                  <c:v>0.743893</c:v>
                </c:pt>
                <c:pt idx="29">
                  <c:v>0.84669</c:v>
                </c:pt>
                <c:pt idx="30">
                  <c:v>0.928705</c:v>
                </c:pt>
                <c:pt idx="31">
                  <c:v>0.981679</c:v>
                </c:pt>
                <c:pt idx="32">
                  <c:v>1</c:v>
                </c:pt>
                <c:pt idx="33">
                  <c:v>0.981679</c:v>
                </c:pt>
                <c:pt idx="34">
                  <c:v>0.928705</c:v>
                </c:pt>
                <c:pt idx="35">
                  <c:v>0.84669</c:v>
                </c:pt>
                <c:pt idx="36">
                  <c:v>0.743893</c:v>
                </c:pt>
                <c:pt idx="37">
                  <c:v>0.629847</c:v>
                </c:pt>
                <c:pt idx="38">
                  <c:v>0.513924</c:v>
                </c:pt>
                <c:pt idx="39">
                  <c:v>0.404111</c:v>
                </c:pt>
                <c:pt idx="40">
                  <c:v>0.306226</c:v>
                </c:pt>
                <c:pt idx="41">
                  <c:v>0.223626</c:v>
                </c:pt>
                <c:pt idx="42">
                  <c:v>0.157377</c:v>
                </c:pt>
                <c:pt idx="43">
                  <c:v>0.106733</c:v>
                </c:pt>
                <c:pt idx="44">
                  <c:v>0.069758</c:v>
                </c:pt>
                <c:pt idx="45">
                  <c:v>0.043937</c:v>
                </c:pt>
                <c:pt idx="46">
                  <c:v>0.026669</c:v>
                </c:pt>
                <c:pt idx="47">
                  <c:v>0.0156</c:v>
                </c:pt>
                <c:pt idx="48">
                  <c:v>0.008794</c:v>
                </c:pt>
                <c:pt idx="49">
                  <c:v>0.004777</c:v>
                </c:pt>
                <c:pt idx="50">
                  <c:v>0.002501</c:v>
                </c:pt>
                <c:pt idx="51">
                  <c:v>0.001262</c:v>
                </c:pt>
                <c:pt idx="52">
                  <c:v>0.000613</c:v>
                </c:pt>
                <c:pt idx="53">
                  <c:v>0.000287</c:v>
                </c:pt>
                <c:pt idx="54">
                  <c:v>0.00013</c:v>
                </c:pt>
                <c:pt idx="55">
                  <c:v>5.6E-05</c:v>
                </c:pt>
                <c:pt idx="56">
                  <c:v>2.4E-05</c:v>
                </c:pt>
                <c:pt idx="57">
                  <c:v>1E-05</c:v>
                </c:pt>
                <c:pt idx="58">
                  <c:v>4E-06</c:v>
                </c:pt>
                <c:pt idx="59">
                  <c:v>1E-06</c:v>
                </c:pt>
                <c:pt idx="60">
                  <c:v>1E-06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15"/>
          <c:min val="0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</c:valAx>
      <c:valAx>
        <c:axId val="48650112"/>
        <c:scaling>
          <c:orientation val="minMax"/>
          <c:max val="15"/>
          <c:min val="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 CJK SC"/>
                    <a:ea typeface="Noto Sans CJK SC"/>
                    <a:cs typeface="Noto Sans CJK SC"/>
                  </a:rPr>
                  <a:t>2θ (°)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5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状态A</c:v>
          </c:tx>
          <c:spPr>
            <a:ln xmlns:a="http://schemas.openxmlformats.org/drawingml/2006/main" w="28575">
              <a:solidFill>
                <a:srgbClr val="007F83"/>
              </a:solidFill>
            </a:ln>
          </c:spPr>
          <c:marker>
            <c:symbol val="none"/>
          </c:marker>
          <c:xVal>
            <c:numRef>
              <c:f>'Chart Data'!$A$2:$A$82</c:f>
              <c:numCache>
                <c:formatCode>General</c:formatCode>
                <c:ptCount val="81"/>
                <c:pt idx="0">
                  <c:v>5</c:v>
                </c:pt>
                <c:pt idx="1">
                  <c:v>5.125</c:v>
                </c:pt>
                <c:pt idx="2">
                  <c:v>5.25</c:v>
                </c:pt>
                <c:pt idx="3">
                  <c:v>5.375</c:v>
                </c:pt>
                <c:pt idx="4">
                  <c:v>5.5</c:v>
                </c:pt>
                <c:pt idx="5">
                  <c:v>5.625</c:v>
                </c:pt>
                <c:pt idx="6">
                  <c:v>5.75</c:v>
                </c:pt>
                <c:pt idx="7">
                  <c:v>5.875</c:v>
                </c:pt>
                <c:pt idx="8">
                  <c:v>6</c:v>
                </c:pt>
                <c:pt idx="9">
                  <c:v>6.125</c:v>
                </c:pt>
                <c:pt idx="10">
                  <c:v>6.25</c:v>
                </c:pt>
                <c:pt idx="11">
                  <c:v>6.375</c:v>
                </c:pt>
                <c:pt idx="12">
                  <c:v>6.5</c:v>
                </c:pt>
                <c:pt idx="13">
                  <c:v>6.625</c:v>
                </c:pt>
                <c:pt idx="14">
                  <c:v>6.75</c:v>
                </c:pt>
                <c:pt idx="15">
                  <c:v>6.875</c:v>
                </c:pt>
                <c:pt idx="16">
                  <c:v>7</c:v>
                </c:pt>
                <c:pt idx="17">
                  <c:v>7.125</c:v>
                </c:pt>
                <c:pt idx="18">
                  <c:v>7.25</c:v>
                </c:pt>
                <c:pt idx="19">
                  <c:v>7.375</c:v>
                </c:pt>
                <c:pt idx="20">
                  <c:v>7.5</c:v>
                </c:pt>
                <c:pt idx="21">
                  <c:v>7.625</c:v>
                </c:pt>
                <c:pt idx="22">
                  <c:v>7.75</c:v>
                </c:pt>
                <c:pt idx="23">
                  <c:v>7.875</c:v>
                </c:pt>
                <c:pt idx="24">
                  <c:v>8</c:v>
                </c:pt>
                <c:pt idx="25">
                  <c:v>8.125</c:v>
                </c:pt>
                <c:pt idx="26">
                  <c:v>8.25</c:v>
                </c:pt>
                <c:pt idx="27">
                  <c:v>8.375</c:v>
                </c:pt>
                <c:pt idx="28">
                  <c:v>8.5</c:v>
                </c:pt>
                <c:pt idx="29">
                  <c:v>8.625</c:v>
                </c:pt>
                <c:pt idx="30">
                  <c:v>8.75</c:v>
                </c:pt>
                <c:pt idx="31">
                  <c:v>8.875</c:v>
                </c:pt>
                <c:pt idx="32">
                  <c:v>9</c:v>
                </c:pt>
                <c:pt idx="33">
                  <c:v>9.125</c:v>
                </c:pt>
                <c:pt idx="34">
                  <c:v>9.25</c:v>
                </c:pt>
                <c:pt idx="35">
                  <c:v>9.375</c:v>
                </c:pt>
                <c:pt idx="36">
                  <c:v>9.5</c:v>
                </c:pt>
                <c:pt idx="37">
                  <c:v>9.625</c:v>
                </c:pt>
                <c:pt idx="38">
                  <c:v>9.75</c:v>
                </c:pt>
                <c:pt idx="39">
                  <c:v>9.875</c:v>
                </c:pt>
                <c:pt idx="40">
                  <c:v>10</c:v>
                </c:pt>
                <c:pt idx="41">
                  <c:v>10.125</c:v>
                </c:pt>
                <c:pt idx="42">
                  <c:v>10.25</c:v>
                </c:pt>
                <c:pt idx="43">
                  <c:v>10.375</c:v>
                </c:pt>
                <c:pt idx="44">
                  <c:v>10.5</c:v>
                </c:pt>
                <c:pt idx="45">
                  <c:v>10.625</c:v>
                </c:pt>
                <c:pt idx="46">
                  <c:v>10.75</c:v>
                </c:pt>
                <c:pt idx="47">
                  <c:v>10.875</c:v>
                </c:pt>
                <c:pt idx="48">
                  <c:v>11</c:v>
                </c:pt>
                <c:pt idx="49">
                  <c:v>11.125</c:v>
                </c:pt>
                <c:pt idx="50">
                  <c:v>11.25</c:v>
                </c:pt>
                <c:pt idx="51">
                  <c:v>11.375</c:v>
                </c:pt>
                <c:pt idx="52">
                  <c:v>11.5</c:v>
                </c:pt>
                <c:pt idx="53">
                  <c:v>11.625</c:v>
                </c:pt>
                <c:pt idx="54">
                  <c:v>11.75</c:v>
                </c:pt>
                <c:pt idx="55">
                  <c:v>11.875</c:v>
                </c:pt>
                <c:pt idx="56">
                  <c:v>12</c:v>
                </c:pt>
                <c:pt idx="57">
                  <c:v>12.125</c:v>
                </c:pt>
                <c:pt idx="58">
                  <c:v>12.25</c:v>
                </c:pt>
                <c:pt idx="59">
                  <c:v>12.375</c:v>
                </c:pt>
                <c:pt idx="60">
                  <c:v>12.5</c:v>
                </c:pt>
                <c:pt idx="61">
                  <c:v>12.625</c:v>
                </c:pt>
                <c:pt idx="62">
                  <c:v>12.75</c:v>
                </c:pt>
                <c:pt idx="63">
                  <c:v>12.875</c:v>
                </c:pt>
                <c:pt idx="64">
                  <c:v>13</c:v>
                </c:pt>
                <c:pt idx="65">
                  <c:v>13.125</c:v>
                </c:pt>
                <c:pt idx="66">
                  <c:v>13.25</c:v>
                </c:pt>
                <c:pt idx="67">
                  <c:v>13.375</c:v>
                </c:pt>
                <c:pt idx="68">
                  <c:v>13.5</c:v>
                </c:pt>
                <c:pt idx="69">
                  <c:v>13.625</c:v>
                </c:pt>
                <c:pt idx="70">
                  <c:v>13.75</c:v>
                </c:pt>
                <c:pt idx="71">
                  <c:v>13.875</c:v>
                </c:pt>
                <c:pt idx="72">
                  <c:v>14</c:v>
                </c:pt>
                <c:pt idx="73">
                  <c:v>14.125</c:v>
                </c:pt>
                <c:pt idx="74">
                  <c:v>14.25</c:v>
                </c:pt>
                <c:pt idx="75">
                  <c:v>14.375</c:v>
                </c:pt>
                <c:pt idx="76">
                  <c:v>14.5</c:v>
                </c:pt>
                <c:pt idx="77">
                  <c:v>14.625</c:v>
                </c:pt>
                <c:pt idx="78">
                  <c:v>14.75</c:v>
                </c:pt>
                <c:pt idx="79">
                  <c:v>14.875</c:v>
                </c:pt>
                <c:pt idx="80">
                  <c:v>15</c:v>
                </c:pt>
              </c:numCache>
            </c:numRef>
          </c:xVal>
          <c:yVal>
            <c:numRef>
              <c:f>'Chart Data'!$B$2:$B$82</c:f>
              <c:numCache>
                <c:formatCode>General</c:formatCode>
                <c:ptCount val="8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2E-06</c:v>
                </c:pt>
                <c:pt idx="16">
                  <c:v>3.3E-05</c:v>
                </c:pt>
                <c:pt idx="17">
                  <c:v>0.000367</c:v>
                </c:pt>
                <c:pt idx="18">
                  <c:v>0.002995</c:v>
                </c:pt>
                <c:pt idx="19">
                  <c:v>0.017679</c:v>
                </c:pt>
                <c:pt idx="20">
                  <c:v>0.075574</c:v>
                </c:pt>
                <c:pt idx="21">
                  <c:v>0.233929</c:v>
                </c:pt>
                <c:pt idx="22">
                  <c:v>0.524316</c:v>
                </c:pt>
                <c:pt idx="23">
                  <c:v>0.850939</c:v>
                </c:pt>
                <c:pt idx="24">
                  <c:v>1</c:v>
                </c:pt>
                <c:pt idx="25">
                  <c:v>0.850939</c:v>
                </c:pt>
                <c:pt idx="26">
                  <c:v>0.524316</c:v>
                </c:pt>
                <c:pt idx="27">
                  <c:v>0.233929</c:v>
                </c:pt>
                <c:pt idx="28">
                  <c:v>0.075574</c:v>
                </c:pt>
                <c:pt idx="29">
                  <c:v>0.017679</c:v>
                </c:pt>
                <c:pt idx="30">
                  <c:v>0.002995</c:v>
                </c:pt>
                <c:pt idx="31">
                  <c:v>0.000367</c:v>
                </c:pt>
                <c:pt idx="32">
                  <c:v>3.3E-05</c:v>
                </c:pt>
                <c:pt idx="33">
                  <c:v>2E-06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6E-06</c:v>
                </c:pt>
                <c:pt idx="41">
                  <c:v>5.8E-05</c:v>
                </c:pt>
                <c:pt idx="42">
                  <c:v>0.000439</c:v>
                </c:pt>
                <c:pt idx="43">
                  <c:v>0.002591</c:v>
                </c:pt>
                <c:pt idx="44">
                  <c:v>0.011905</c:v>
                </c:pt>
                <c:pt idx="45">
                  <c:v>0.042603</c:v>
                </c:pt>
                <c:pt idx="46">
                  <c:v>0.118739</c:v>
                </c:pt>
                <c:pt idx="47">
                  <c:v>0.257734</c:v>
                </c:pt>
                <c:pt idx="48">
                  <c:v>0.435689</c:v>
                </c:pt>
                <c:pt idx="49">
                  <c:v>0.573598</c:v>
                </c:pt>
                <c:pt idx="50">
                  <c:v>0.588119</c:v>
                </c:pt>
                <c:pt idx="51">
                  <c:v>0.469623</c:v>
                </c:pt>
                <c:pt idx="52">
                  <c:v>0.292051</c:v>
                </c:pt>
                <c:pt idx="53">
                  <c:v>0.141448</c:v>
                </c:pt>
                <c:pt idx="54">
                  <c:v>0.053353</c:v>
                </c:pt>
                <c:pt idx="55">
                  <c:v>0.015673</c:v>
                </c:pt>
                <c:pt idx="56">
                  <c:v>0.003586</c:v>
                </c:pt>
                <c:pt idx="57">
                  <c:v>0.000639</c:v>
                </c:pt>
                <c:pt idx="58">
                  <c:v>8.9E-05</c:v>
                </c:pt>
                <c:pt idx="59">
                  <c:v>1E-05</c:v>
                </c:pt>
                <c:pt idx="60">
                  <c:v>1E-06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</c:numCache>
            </c:numRef>
          </c:yVal>
        </c:ser>
        <c:ser>
          <c:idx val="1"/>
          <c:order val="1"/>
          <c:tx>
            <c:v>状态B</c:v>
          </c:tx>
          <c:spPr>
            <a:ln xmlns:a="http://schemas.openxmlformats.org/drawingml/2006/main" w="28575">
              <a:solidFill>
                <a:srgbClr val="4F77AA"/>
              </a:solidFill>
            </a:ln>
          </c:spPr>
          <c:marker>
            <c:symbol val="none"/>
          </c:marker>
          <c:xVal>
            <c:numRef>
              <c:f>'Chart Data'!$C$2:$C$82</c:f>
              <c:numCache>
                <c:formatCode>General</c:formatCode>
                <c:ptCount val="81"/>
                <c:pt idx="0">
                  <c:v>5</c:v>
                </c:pt>
                <c:pt idx="1">
                  <c:v>5.125</c:v>
                </c:pt>
                <c:pt idx="2">
                  <c:v>5.25</c:v>
                </c:pt>
                <c:pt idx="3">
                  <c:v>5.375</c:v>
                </c:pt>
                <c:pt idx="4">
                  <c:v>5.5</c:v>
                </c:pt>
                <c:pt idx="5">
                  <c:v>5.625</c:v>
                </c:pt>
                <c:pt idx="6">
                  <c:v>5.75</c:v>
                </c:pt>
                <c:pt idx="7">
                  <c:v>5.875</c:v>
                </c:pt>
                <c:pt idx="8">
                  <c:v>6</c:v>
                </c:pt>
                <c:pt idx="9">
                  <c:v>6.125</c:v>
                </c:pt>
                <c:pt idx="10">
                  <c:v>6.25</c:v>
                </c:pt>
                <c:pt idx="11">
                  <c:v>6.375</c:v>
                </c:pt>
                <c:pt idx="12">
                  <c:v>6.5</c:v>
                </c:pt>
                <c:pt idx="13">
                  <c:v>6.625</c:v>
                </c:pt>
                <c:pt idx="14">
                  <c:v>6.75</c:v>
                </c:pt>
                <c:pt idx="15">
                  <c:v>6.875</c:v>
                </c:pt>
                <c:pt idx="16">
                  <c:v>7</c:v>
                </c:pt>
                <c:pt idx="17">
                  <c:v>7.125</c:v>
                </c:pt>
                <c:pt idx="18">
                  <c:v>7.25</c:v>
                </c:pt>
                <c:pt idx="19">
                  <c:v>7.375</c:v>
                </c:pt>
                <c:pt idx="20">
                  <c:v>7.5</c:v>
                </c:pt>
                <c:pt idx="21">
                  <c:v>7.625</c:v>
                </c:pt>
                <c:pt idx="22">
                  <c:v>7.75</c:v>
                </c:pt>
                <c:pt idx="23">
                  <c:v>7.875</c:v>
                </c:pt>
                <c:pt idx="24">
                  <c:v>8</c:v>
                </c:pt>
                <c:pt idx="25">
                  <c:v>8.125</c:v>
                </c:pt>
                <c:pt idx="26">
                  <c:v>8.25</c:v>
                </c:pt>
                <c:pt idx="27">
                  <c:v>8.375</c:v>
                </c:pt>
                <c:pt idx="28">
                  <c:v>8.5</c:v>
                </c:pt>
                <c:pt idx="29">
                  <c:v>8.625</c:v>
                </c:pt>
                <c:pt idx="30">
                  <c:v>8.75</c:v>
                </c:pt>
                <c:pt idx="31">
                  <c:v>8.875</c:v>
                </c:pt>
                <c:pt idx="32">
                  <c:v>9</c:v>
                </c:pt>
                <c:pt idx="33">
                  <c:v>9.125</c:v>
                </c:pt>
                <c:pt idx="34">
                  <c:v>9.25</c:v>
                </c:pt>
                <c:pt idx="35">
                  <c:v>9.375</c:v>
                </c:pt>
                <c:pt idx="36">
                  <c:v>9.5</c:v>
                </c:pt>
                <c:pt idx="37">
                  <c:v>9.625</c:v>
                </c:pt>
                <c:pt idx="38">
                  <c:v>9.75</c:v>
                </c:pt>
                <c:pt idx="39">
                  <c:v>9.875</c:v>
                </c:pt>
                <c:pt idx="40">
                  <c:v>10</c:v>
                </c:pt>
                <c:pt idx="41">
                  <c:v>10.125</c:v>
                </c:pt>
                <c:pt idx="42">
                  <c:v>10.25</c:v>
                </c:pt>
                <c:pt idx="43">
                  <c:v>10.375</c:v>
                </c:pt>
                <c:pt idx="44">
                  <c:v>10.5</c:v>
                </c:pt>
                <c:pt idx="45">
                  <c:v>10.625</c:v>
                </c:pt>
                <c:pt idx="46">
                  <c:v>10.75</c:v>
                </c:pt>
                <c:pt idx="47">
                  <c:v>10.875</c:v>
                </c:pt>
                <c:pt idx="48">
                  <c:v>11</c:v>
                </c:pt>
                <c:pt idx="49">
                  <c:v>11.125</c:v>
                </c:pt>
                <c:pt idx="50">
                  <c:v>11.25</c:v>
                </c:pt>
                <c:pt idx="51">
                  <c:v>11.375</c:v>
                </c:pt>
                <c:pt idx="52">
                  <c:v>11.5</c:v>
                </c:pt>
                <c:pt idx="53">
                  <c:v>11.625</c:v>
                </c:pt>
                <c:pt idx="54">
                  <c:v>11.75</c:v>
                </c:pt>
                <c:pt idx="55">
                  <c:v>11.875</c:v>
                </c:pt>
                <c:pt idx="56">
                  <c:v>12</c:v>
                </c:pt>
                <c:pt idx="57">
                  <c:v>12.125</c:v>
                </c:pt>
                <c:pt idx="58">
                  <c:v>12.25</c:v>
                </c:pt>
                <c:pt idx="59">
                  <c:v>12.375</c:v>
                </c:pt>
                <c:pt idx="60">
                  <c:v>12.5</c:v>
                </c:pt>
                <c:pt idx="61">
                  <c:v>12.625</c:v>
                </c:pt>
                <c:pt idx="62">
                  <c:v>12.75</c:v>
                </c:pt>
                <c:pt idx="63">
                  <c:v>12.875</c:v>
                </c:pt>
                <c:pt idx="64">
                  <c:v>13</c:v>
                </c:pt>
                <c:pt idx="65">
                  <c:v>13.125</c:v>
                </c:pt>
                <c:pt idx="66">
                  <c:v>13.25</c:v>
                </c:pt>
                <c:pt idx="67">
                  <c:v>13.375</c:v>
                </c:pt>
                <c:pt idx="68">
                  <c:v>13.5</c:v>
                </c:pt>
                <c:pt idx="69">
                  <c:v>13.625</c:v>
                </c:pt>
                <c:pt idx="70">
                  <c:v>13.75</c:v>
                </c:pt>
                <c:pt idx="71">
                  <c:v>13.875</c:v>
                </c:pt>
                <c:pt idx="72">
                  <c:v>14</c:v>
                </c:pt>
                <c:pt idx="73">
                  <c:v>14.125</c:v>
                </c:pt>
                <c:pt idx="74">
                  <c:v>14.25</c:v>
                </c:pt>
                <c:pt idx="75">
                  <c:v>14.375</c:v>
                </c:pt>
                <c:pt idx="76">
                  <c:v>14.5</c:v>
                </c:pt>
                <c:pt idx="77">
                  <c:v>14.625</c:v>
                </c:pt>
                <c:pt idx="78">
                  <c:v>14.75</c:v>
                </c:pt>
                <c:pt idx="79">
                  <c:v>14.875</c:v>
                </c:pt>
                <c:pt idx="80">
                  <c:v>15</c:v>
                </c:pt>
              </c:numCache>
            </c:numRef>
          </c:xVal>
          <c:yVal>
            <c:numRef>
              <c:f>'Chart Data'!$D$2:$D$82</c:f>
              <c:numCache>
                <c:formatCode>General</c:formatCode>
                <c:ptCount val="8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1E-06</c:v>
                </c:pt>
                <c:pt idx="16">
                  <c:v>1.6E-05</c:v>
                </c:pt>
                <c:pt idx="17">
                  <c:v>0.000184</c:v>
                </c:pt>
                <c:pt idx="18">
                  <c:v>0.001497</c:v>
                </c:pt>
                <c:pt idx="19">
                  <c:v>0.008839</c:v>
                </c:pt>
                <c:pt idx="20">
                  <c:v>0.037787</c:v>
                </c:pt>
                <c:pt idx="21">
                  <c:v>0.116965</c:v>
                </c:pt>
                <c:pt idx="22">
                  <c:v>0.262158</c:v>
                </c:pt>
                <c:pt idx="23">
                  <c:v>0.425469</c:v>
                </c:pt>
                <c:pt idx="24">
                  <c:v>0.5</c:v>
                </c:pt>
                <c:pt idx="25">
                  <c:v>0.425469</c:v>
                </c:pt>
                <c:pt idx="26">
                  <c:v>0.262158</c:v>
                </c:pt>
                <c:pt idx="27">
                  <c:v>0.116965</c:v>
                </c:pt>
                <c:pt idx="28">
                  <c:v>0.037787</c:v>
                </c:pt>
                <c:pt idx="29">
                  <c:v>0.008839</c:v>
                </c:pt>
                <c:pt idx="30">
                  <c:v>0.001497</c:v>
                </c:pt>
                <c:pt idx="31">
                  <c:v>0.000184</c:v>
                </c:pt>
                <c:pt idx="32">
                  <c:v>1.6E-05</c:v>
                </c:pt>
                <c:pt idx="33">
                  <c:v>1E-06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1E-06</c:v>
                </c:pt>
                <c:pt idx="40">
                  <c:v>1E-05</c:v>
                </c:pt>
                <c:pt idx="41">
                  <c:v>9.7E-05</c:v>
                </c:pt>
                <c:pt idx="42">
                  <c:v>0.000732</c:v>
                </c:pt>
                <c:pt idx="43">
                  <c:v>0.004318</c:v>
                </c:pt>
                <c:pt idx="44">
                  <c:v>0.019841</c:v>
                </c:pt>
                <c:pt idx="45">
                  <c:v>0.071005</c:v>
                </c:pt>
                <c:pt idx="46">
                  <c:v>0.197899</c:v>
                </c:pt>
                <c:pt idx="47">
                  <c:v>0.429557</c:v>
                </c:pt>
                <c:pt idx="48">
                  <c:v>0.726149</c:v>
                </c:pt>
                <c:pt idx="49">
                  <c:v>0.955997</c:v>
                </c:pt>
                <c:pt idx="50">
                  <c:v>0.980199</c:v>
                </c:pt>
                <c:pt idx="51">
                  <c:v>0.782705</c:v>
                </c:pt>
                <c:pt idx="52">
                  <c:v>0.486752</c:v>
                </c:pt>
                <c:pt idx="53">
                  <c:v>0.235746</c:v>
                </c:pt>
                <c:pt idx="54">
                  <c:v>0.088922</c:v>
                </c:pt>
                <c:pt idx="55">
                  <c:v>0.026121</c:v>
                </c:pt>
                <c:pt idx="56">
                  <c:v>0.005976</c:v>
                </c:pt>
                <c:pt idx="57">
                  <c:v>0.001065</c:v>
                </c:pt>
                <c:pt idx="58">
                  <c:v>0.000148</c:v>
                </c:pt>
                <c:pt idx="59">
                  <c:v>1.6E-05</c:v>
                </c:pt>
                <c:pt idx="60">
                  <c:v>1E-06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15"/>
          <c:min val="0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</c:valAx>
      <c:valAx>
        <c:axId val="48650112"/>
        <c:scaling>
          <c:orientation val="minMax"/>
          <c:max val="15"/>
          <c:min val="5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 CJK SC"/>
                    <a:ea typeface="Noto Sans CJK SC"/>
                    <a:cs typeface="Noto Sans CJK SC"/>
                  </a:rPr>
                  <a:t>2θ (°)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5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比容量</c:v>
          </c:tx>
          <c:spPr>
            <a:solidFill xmlns:a="http://schemas.openxmlformats.org/drawingml/2006/main">
              <a:srgbClr val="007F83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4F77AA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TT-TPDA-COF</c:v>
                </c:pt>
                <c:pt idx="1">
                  <c:v>Np-TPDA-COF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309</c:v>
                </c:pt>
                <c:pt idx="1">
                  <c:v>195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32D42"/>
                  </a:solidFill>
                  <a:latin typeface="Noto Sans CJK SC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7EB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Noto Sans CJK SC"/>
                    <a:ea typeface="Noto Sans CJK SC"/>
                    <a:cs typeface="Noto Sans CJK SC"/>
                  </a:rPr>
                  <a:t>比容量 / mAh g⁻¹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D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323DE-42ED-4465-9E7B-85604D834E9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fb44c89f514c1d"/>
          <a:stretch xmlns:a="http://schemas.openxmlformats.org/drawingml/2006/main"/>
        </p:blipFill>
        <p:spPr>
          <a:xfrm xmlns:a="http://schemas.openxmlformats.org/drawingml/2006/main">
            <a:off x="6000750" y="1247775"/>
            <a:ext cx="6000750" cy="4000500"/>
          </a:xfrm>
          <a:prstGeom xmlns:a="http://schemas.openxmlformats.org/drawingml/2006/main" prst="rect">
            <a:avLst/>
          </a:prstGeom>
        </p:spPr>
      </p:pic>
      <p:sp>
        <p:nvSpPr>
          <p:cNvPr id="2" name="XRD表征技术">
            <a:extLst xmlns:a="http://schemas.openxmlformats.org/drawingml/2006/main">
              <a:ext uri="{FF2B5EF4-FFF2-40B4-BE49-F238E27FC236}">
                <a16:creationId xmlns:a16="http://schemas.microsoft.com/office/drawing/2014/main" id="{02BF19A6-C177-42A2-ABBB-E8A6C44A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33500"/>
            <a:ext cx="581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40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XRD表征技术</a:t>
            </a:r>
          </a:p>
        </p:txBody>
      </p:sp>
      <p:sp>
        <p:nvSpPr>
          <p:cNvPr id="3" name="及MOF / COF案例解析">
            <a:extLst xmlns:a="http://schemas.openxmlformats.org/drawingml/2006/main">
              <a:ext uri="{FF2B5EF4-FFF2-40B4-BE49-F238E27FC236}">
                <a16:creationId xmlns:a16="http://schemas.microsoft.com/office/drawing/2014/main" id="{67E5D2E9-5D7B-4D3F-8027-AB02BCA6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及MOF / COF案例解析</a:t>
            </a:r>
          </a:p>
        </p:txBody>
      </p:sp>
      <p:sp>
        <p:nvSpPr>
          <p:cNvPr id="4" name="读懂衍射峰，理解结构证据">
            <a:extLst xmlns:a="http://schemas.openxmlformats.org/drawingml/2006/main">
              <a:ext uri="{FF2B5EF4-FFF2-40B4-BE49-F238E27FC236}">
                <a16:creationId xmlns:a16="http://schemas.microsoft.com/office/drawing/2014/main" id="{5F49B297-5961-4AA1-A3F1-A98088FF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0992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B5E4E1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B5E4E1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B5E4E1"/>
                </a:solidFill>
                <a:latin typeface="Noto Sans CJK SC"/>
                <a:ea typeface="Noto Sans CJK SC"/>
                <a:cs typeface="Noto Sans CJK SC"/>
              </a:rPr>
              <a:t>读懂衍射峰，理解结构证据</a:t>
            </a:r>
          </a:p>
        </p:txBody>
      </p:sp>
      <p:sp>
        <p:nvSpPr>
          <p:cNvPr id="5" name="《材料与化工现代研究方法》小组汇报">
            <a:extLst xmlns:a="http://schemas.openxmlformats.org/drawingml/2006/main">
              <a:ext uri="{FF2B5EF4-FFF2-40B4-BE49-F238E27FC236}">
                <a16:creationId xmlns:a16="http://schemas.microsoft.com/office/drawing/2014/main" id="{171BE4E8-EFD2-46D3-A727-07D1E350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14875"/>
            <a:ext cx="561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《材料与化工现代研究方法》小组汇报</a:t>
            </a:r>
          </a:p>
        </p:txBody>
      </p:sp>
      <p:sp>
        <p:nvSpPr>
          <p:cNvPr id="6" name="小组：________   组员：_____________">
            <a:extLst xmlns:a="http://schemas.openxmlformats.org/drawingml/2006/main">
              <a:ext uri="{FF2B5EF4-FFF2-40B4-BE49-F238E27FC236}">
                <a16:creationId xmlns:a16="http://schemas.microsoft.com/office/drawing/2014/main" id="{ADE1FDB3-31B3-4344-8FF0-80BAB481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B7C8D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B7C8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B7C8D0"/>
                </a:solidFill>
                <a:latin typeface="Noto Sans CJK SC"/>
                <a:ea typeface="Noto Sans CJK SC"/>
                <a:cs typeface="Noto Sans CJK SC"/>
              </a:rPr>
              <a:t>小组：________   组员：________________</a:t>
            </a:r>
          </a:p>
        </p:txBody>
      </p:sp>
      <p:sp>
        <p:nvSpPr>
          <p:cNvPr id="7" name="化学与工程技术专业   2026年10月">
            <a:extLst xmlns:a="http://schemas.openxmlformats.org/drawingml/2006/main">
              <a:ext uri="{FF2B5EF4-FFF2-40B4-BE49-F238E27FC236}">
                <a16:creationId xmlns:a16="http://schemas.microsoft.com/office/drawing/2014/main" id="{DFDA5B16-A9E4-4A58-8AC1-B9D2ECB6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86425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B7C8D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B7C8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B7C8D0"/>
                </a:solidFill>
                <a:latin typeface="Noto Sans CJK SC"/>
                <a:ea typeface="Noto Sans CJK SC"/>
                <a:cs typeface="Noto Sans CJK SC"/>
              </a:rPr>
              <a:t>化学与工程技术专业   2026年10月</a:t>
            </a:r>
          </a:p>
        </p:txBody>
      </p:sp>
      <p:sp>
        <p:nvSpPr>
          <p:cNvPr id="8" name="概念插图，非实验数据">
            <a:extLst xmlns:a="http://schemas.openxmlformats.org/drawingml/2006/main">
              <a:ext uri="{FF2B5EF4-FFF2-40B4-BE49-F238E27FC236}">
                <a16:creationId xmlns:a16="http://schemas.microsoft.com/office/drawing/2014/main" id="{5035E767-D204-426D-B346-C218E773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200775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B7C8D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B7C8D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B7C8D0"/>
                </a:solidFill>
                <a:latin typeface="Noto Sans CJK SC"/>
                <a:ea typeface="Noto Sans CJK SC"/>
                <a:cs typeface="Noto Sans CJK SC"/>
              </a:rPr>
              <a:t>概念插图，非实验数据</a:t>
            </a:r>
          </a:p>
        </p:txBody>
      </p:sp>
    </p:spTree>
    <p:extLst>
      <p:ext uri="{BB962C8B-B14F-4D97-AF65-F5344CB8AC3E}">
        <p14:creationId xmlns:p14="http://schemas.microsoft.com/office/powerpoint/2010/main" val="2237080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研究对象：MOF与COF多孔材料">
            <a:extLst xmlns:a="http://schemas.openxmlformats.org/drawingml/2006/main">
              <a:ext uri="{FF2B5EF4-FFF2-40B4-BE49-F238E27FC236}">
                <a16:creationId xmlns:a16="http://schemas.microsoft.com/office/drawing/2014/main" id="{D5C71C53-1837-4893-A7EE-D8D6D6BC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研究对象：MOF与COF多孔材料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1D609-3D0D-4FFE-A87C-1826B5D1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3" name="概念及案例背景见文献[1]–[3]，参考文献列于备用页">
            <a:extLst xmlns:a="http://schemas.openxmlformats.org/drawingml/2006/main">
              <a:ext uri="{FF2B5EF4-FFF2-40B4-BE49-F238E27FC236}">
                <a16:creationId xmlns:a16="http://schemas.microsoft.com/office/drawing/2014/main" id="{673B9C0F-656D-44CD-9C70-FCE74EC6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概念及案例背景见文献[1]–[3]，参考文献列于备用页</a:t>
            </a:r>
          </a:p>
        </p:txBody>
      </p:sp>
      <p:sp>
        <p:nvSpPr>
          <p:cNvPr id="4" name="02 / 10">
            <a:extLst xmlns:a="http://schemas.openxmlformats.org/drawingml/2006/main">
              <a:ext uri="{FF2B5EF4-FFF2-40B4-BE49-F238E27FC236}">
                <a16:creationId xmlns:a16="http://schemas.microsoft.com/office/drawing/2014/main" id="{FBAD649D-7469-49FC-8FA2-2EFB11A6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02 / 10</a:t>
            </a:r>
          </a:p>
        </p:txBody>
      </p:sp>
      <p:sp>
        <p:nvSpPr>
          <p:cNvPr id="5" name="MOF  金属有机框架">
            <a:extLst xmlns:a="http://schemas.openxmlformats.org/drawingml/2006/main">
              <a:ext uri="{FF2B5EF4-FFF2-40B4-BE49-F238E27FC236}">
                <a16:creationId xmlns:a16="http://schemas.microsoft.com/office/drawing/2014/main" id="{5DAD9D22-A7E8-4EE0-A261-6977AA47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81150"/>
            <a:ext cx="533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MOF  金属有机框架</a:t>
            </a:r>
          </a:p>
        </p:txBody>
      </p:sp>
      <p:sp>
        <p:nvSpPr>
          <p:cNvPr id="6" name="金属离子或金属簇与有机配体连接">
            <a:extLst xmlns:a="http://schemas.openxmlformats.org/drawingml/2006/main">
              <a:ext uri="{FF2B5EF4-FFF2-40B4-BE49-F238E27FC236}">
                <a16:creationId xmlns:a16="http://schemas.microsoft.com/office/drawing/2014/main" id="{A28B99F1-50DE-4ABD-85E6-22C4F5BF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52650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金属离子或金属簇与有机配体连接</a:t>
            </a:r>
          </a:p>
        </p:txBody>
      </p:sp>
      <p:sp>
        <p:nvSpPr>
          <p:cNvPr id="7" name="可理解为：用金属“接头”连接有机“杆件”">
            <a:extLst xmlns:a="http://schemas.openxmlformats.org/drawingml/2006/main">
              <a:ext uri="{FF2B5EF4-FFF2-40B4-BE49-F238E27FC236}">
                <a16:creationId xmlns:a16="http://schemas.microsoft.com/office/drawing/2014/main" id="{A2223D94-D4FA-42E3-A671-C737B74C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86050"/>
            <a:ext cx="528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可理解为：用金属“接头”连接有机“杆件”</a:t>
            </a:r>
          </a:p>
        </p:txBody>
      </p:sp>
      <p:sp>
        <p:nvSpPr>
          <p:cNvPr id="8" name="COF  共价有机框架">
            <a:extLst xmlns:a="http://schemas.openxmlformats.org/drawingml/2006/main">
              <a:ext uri="{FF2B5EF4-FFF2-40B4-BE49-F238E27FC236}">
                <a16:creationId xmlns:a16="http://schemas.microsoft.com/office/drawing/2014/main" id="{700E5A90-EC9A-465E-B6CB-E42D1A0F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81150"/>
            <a:ext cx="5048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COF  共价有机框架</a:t>
            </a:r>
          </a:p>
        </p:txBody>
      </p:sp>
      <p:sp>
        <p:nvSpPr>
          <p:cNvPr id="9" name="有机构筑单元通过共价键连接">
            <a:extLst xmlns:a="http://schemas.openxmlformats.org/drawingml/2006/main">
              <a:ext uri="{FF2B5EF4-FFF2-40B4-BE49-F238E27FC236}">
                <a16:creationId xmlns:a16="http://schemas.microsoft.com/office/drawing/2014/main" id="{D8D9D469-D3D2-4901-9DD5-ABE3420D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5095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有机构筑单元通过共价键连接</a:t>
            </a:r>
          </a:p>
        </p:txBody>
      </p:sp>
      <p:sp>
        <p:nvSpPr>
          <p:cNvPr id="10" name="可理解为：用共价键搭建规则的有机网络">
            <a:extLst xmlns:a="http://schemas.openxmlformats.org/drawingml/2006/main">
              <a:ext uri="{FF2B5EF4-FFF2-40B4-BE49-F238E27FC236}">
                <a16:creationId xmlns:a16="http://schemas.microsoft.com/office/drawing/2014/main" id="{8A2F0083-A388-4AD5-89F3-5AE89C411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5095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可理解为：用共价键搭建规则的有机网络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95FB02-887B-40E0-A68C-85C82E95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385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B"/>
          </a:solidFill>
          <a:ln xmlns:a="http://schemas.openxmlformats.org/drawingml/2006/main" w="0">
            <a:noFill/>
          </a:ln>
        </p:spPr>
      </p:sp>
      <p:sp>
        <p:nvSpPr>
          <p:cNvPr id="12" name="多孔材料研究中的常见问题">
            <a:extLst xmlns:a="http://schemas.openxmlformats.org/drawingml/2006/main">
              <a:ext uri="{FF2B5EF4-FFF2-40B4-BE49-F238E27FC236}">
                <a16:creationId xmlns:a16="http://schemas.microsoft.com/office/drawing/2014/main" id="{057CDCCF-A19D-488E-A858-707116B0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4812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多孔材料研究中的常见问题</a:t>
            </a:r>
          </a:p>
        </p:txBody>
      </p:sp>
      <p:sp>
        <p:nvSpPr>
          <p:cNvPr id="13" name="目标晶体结构形成了吗？">
            <a:extLst xmlns:a="http://schemas.openxmlformats.org/drawingml/2006/main">
              <a:ext uri="{FF2B5EF4-FFF2-40B4-BE49-F238E27FC236}">
                <a16:creationId xmlns:a16="http://schemas.microsoft.com/office/drawing/2014/main" id="{F3D23A84-E953-44EF-94C0-17FB533C1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767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目标晶体结构形成了吗？</a:t>
            </a:r>
          </a:p>
        </p:txBody>
      </p:sp>
      <p:sp>
        <p:nvSpPr>
          <p:cNvPr id="14" name="处理后，周期结构还保留吗？">
            <a:extLst xmlns:a="http://schemas.openxmlformats.org/drawingml/2006/main">
              <a:ext uri="{FF2B5EF4-FFF2-40B4-BE49-F238E27FC236}">
                <a16:creationId xmlns:a16="http://schemas.microsoft.com/office/drawing/2014/main" id="{81DEBCC5-085B-4F54-89C0-225EDBEA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处理后，周期结构还保留吗？</a:t>
            </a:r>
          </a:p>
        </p:txBody>
      </p:sp>
      <p:sp>
        <p:nvSpPr>
          <p:cNvPr id="15" name="XRD提供晶体周期排列的证据">
            <a:extLst xmlns:a="http://schemas.openxmlformats.org/drawingml/2006/main">
              <a:ext uri="{FF2B5EF4-FFF2-40B4-BE49-F238E27FC236}">
                <a16:creationId xmlns:a16="http://schemas.microsoft.com/office/drawing/2014/main" id="{492B037A-67AD-4067-B042-91EBC23A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52900"/>
            <a:ext cx="5095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XRD提供晶体周期排列的证据</a:t>
            </a:r>
          </a:p>
        </p:txBody>
      </p:sp>
      <p:sp>
        <p:nvSpPr>
          <p:cNvPr id="16" name="孔道是否开放、吸附或储能表现如何，&#10;还需要相应的独立测试。">
            <a:extLst xmlns:a="http://schemas.openxmlformats.org/drawingml/2006/main">
              <a:ext uri="{FF2B5EF4-FFF2-40B4-BE49-F238E27FC236}">
                <a16:creationId xmlns:a16="http://schemas.microsoft.com/office/drawing/2014/main" id="{74BAFD3C-59C3-468E-95E3-92D6B914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86325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孔道是否开放、吸附或储能表现如何，</a:t>
            </a:r>
          </a:p>
          <a:p xmlns:a="http://schemas.openxmlformats.org/drawingml/2006/main">
            <a:pPr algn="l">
              <a:defRPr sz="195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还需要相应的独立测试。</a:t>
            </a:r>
          </a:p>
        </p:txBody>
      </p:sp>
    </p:spTree>
    <p:extLst>
      <p:ext uri="{BB962C8B-B14F-4D97-AF65-F5344CB8AC3E}">
        <p14:creationId xmlns:p14="http://schemas.microsoft.com/office/powerpoint/2010/main" val="14272956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基本原理：周期排列产生衍射峰">
            <a:extLst xmlns:a="http://schemas.openxmlformats.org/drawingml/2006/main">
              <a:ext uri="{FF2B5EF4-FFF2-40B4-BE49-F238E27FC236}">
                <a16:creationId xmlns:a16="http://schemas.microsoft.com/office/drawing/2014/main" id="{169A49DB-106B-4C49-9C4D-01F0F0728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基本原理：周期排列产生衍射峰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0E757-39C5-4A83-87C3-7206831F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3" name="原理示意图：Nagao, Rigaku Journal 36">
            <a:extLst xmlns:a="http://schemas.openxmlformats.org/drawingml/2006/main">
              <a:ext uri="{FF2B5EF4-FFF2-40B4-BE49-F238E27FC236}">
                <a16:creationId xmlns:a16="http://schemas.microsoft.com/office/drawing/2014/main" id="{467C23B0-0EAC-455C-A996-846FAA51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原理示意图：Nagao, Rigaku Journal 36(2), 19–24 (2020), Fig. 1，原图未重绘</a:t>
            </a:r>
          </a:p>
        </p:txBody>
      </p:sp>
      <p:sp>
        <p:nvSpPr>
          <p:cNvPr id="4" name="03 / 10">
            <a:extLst xmlns:a="http://schemas.openxmlformats.org/drawingml/2006/main">
              <a:ext uri="{FF2B5EF4-FFF2-40B4-BE49-F238E27FC236}">
                <a16:creationId xmlns:a16="http://schemas.microsoft.com/office/drawing/2014/main" id="{60E0B4EE-34C2-4C67-B4BA-FF84C50D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03 / 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8079B-D1B1-48FE-B44C-09EC36C339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81525f3eb5499e"/>
          <a:stretch xmlns:a="http://schemas.openxmlformats.org/drawingml/2006/main"/>
        </p:blipFill>
        <p:spPr>
          <a:xfrm xmlns:a="http://schemas.openxmlformats.org/drawingml/2006/main">
            <a:off x="571500" y="1768272"/>
            <a:ext cx="6191250" cy="3321456"/>
          </a:xfrm>
          <a:prstGeom xmlns:a="http://schemas.openxmlformats.org/drawingml/2006/main" prst="rect">
            <a:avLst/>
          </a:prstGeom>
        </p:spPr>
      </p:pic>
      <p:sp>
        <p:nvSpPr>
          <p:cNvPr id="6" name="不同晶面散射的波在特定方向相互增强">
            <a:extLst xmlns:a="http://schemas.openxmlformats.org/drawingml/2006/main">
              <a:ext uri="{FF2B5EF4-FFF2-40B4-BE49-F238E27FC236}">
                <a16:creationId xmlns:a16="http://schemas.microsoft.com/office/drawing/2014/main" id="{2880A64C-AC53-4CFD-9106-3B649369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91175"/>
            <a:ext cx="6238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不同晶面散射的波在特定方向相互增强</a:t>
            </a:r>
          </a:p>
        </p:txBody>
      </p:sp>
      <p:sp>
        <p:nvSpPr>
          <p:cNvPr id="7" name="布拉格关系">
            <a:extLst xmlns:a="http://schemas.openxmlformats.org/drawingml/2006/main">
              <a:ext uri="{FF2B5EF4-FFF2-40B4-BE49-F238E27FC236}">
                <a16:creationId xmlns:a16="http://schemas.microsoft.com/office/drawing/2014/main" id="{C63F0203-12E0-4E9D-BCC1-F8E68636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6573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布拉格关系</a:t>
            </a:r>
          </a:p>
        </p:txBody>
      </p:sp>
      <p:sp>
        <p:nvSpPr>
          <p:cNvPr id="8" name="nλ = 2d sinθ">
            <a:extLst xmlns:a="http://schemas.openxmlformats.org/drawingml/2006/main">
              <a:ext uri="{FF2B5EF4-FFF2-40B4-BE49-F238E27FC236}">
                <a16:creationId xmlns:a16="http://schemas.microsoft.com/office/drawing/2014/main" id="{4F74BE96-E594-4E36-85D9-82D3B7FC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05050"/>
            <a:ext cx="419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75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375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375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nλ = 2d sinθ</a:t>
            </a:r>
          </a:p>
        </p:txBody>
      </p:sp>
      <p:sp>
        <p:nvSpPr>
          <p:cNvPr id="9" name="λ：X射线波长&#10;d：晶面间距&#10;θ：射线与晶面的夹角&#10;n：衍射">
            <a:extLst xmlns:a="http://schemas.openxmlformats.org/drawingml/2006/main">
              <a:ext uri="{FF2B5EF4-FFF2-40B4-BE49-F238E27FC236}">
                <a16:creationId xmlns:a16="http://schemas.microsoft.com/office/drawing/2014/main" id="{21F2A028-93CD-4D19-A2E3-09165E14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09925"/>
            <a:ext cx="4333875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λ：X射线波长</a:t>
            </a:r>
          </a:p>
          <a:p xmlns:a="http://schemas.openxmlformats.org/drawingml/2006/main">
            <a: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d：晶面间距</a:t>
            </a:r>
          </a:p>
          <a:p xmlns:a="http://schemas.openxmlformats.org/drawingml/2006/main">
            <a: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θ：射线与晶面的夹角</a:t>
            </a:r>
          </a:p>
          <a:p xmlns:a="http://schemas.openxmlformats.org/drawingml/2006/main">
            <a: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n：衍射级数（常取1）</a:t>
            </a:r>
          </a:p>
        </p:txBody>
      </p:sp>
      <p:sp>
        <p:nvSpPr>
          <p:cNvPr id="10" name="图谱横轴通常是2θ">
            <a:extLst xmlns:a="http://schemas.openxmlformats.org/drawingml/2006/main">
              <a:ext uri="{FF2B5EF4-FFF2-40B4-BE49-F238E27FC236}">
                <a16:creationId xmlns:a16="http://schemas.microsoft.com/office/drawing/2014/main" id="{88693F9F-C733-4FA2-9C9C-4E4FE976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0387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图谱横轴通常是2θ</a:t>
            </a:r>
          </a:p>
        </p:txBody>
      </p:sp>
      <p:sp>
        <p:nvSpPr>
          <p:cNvPr id="11" name="同一波长、同一级次下，d越大，峰位越低。">
            <a:extLst xmlns:a="http://schemas.openxmlformats.org/drawingml/2006/main">
              <a:ext uri="{FF2B5EF4-FFF2-40B4-BE49-F238E27FC236}">
                <a16:creationId xmlns:a16="http://schemas.microsoft.com/office/drawing/2014/main" id="{0874A06A-3709-4803-8237-712BF637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591175"/>
            <a:ext cx="4305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同一波长、同一级次下，d越大，峰位越低。</a:t>
            </a:r>
          </a:p>
        </p:txBody>
      </p:sp>
    </p:spTree>
    <p:extLst>
      <p:ext uri="{BB962C8B-B14F-4D97-AF65-F5344CB8AC3E}">
        <p14:creationId xmlns:p14="http://schemas.microsoft.com/office/powerpoint/2010/main" val="15597667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图谱入门：峰位、峰宽与相对峰强">
            <a:extLst xmlns:a="http://schemas.openxmlformats.org/drawingml/2006/main">
              <a:ext uri="{FF2B5EF4-FFF2-40B4-BE49-F238E27FC236}">
                <a16:creationId xmlns:a16="http://schemas.microsoft.com/office/drawing/2014/main" id="{72DAE2AA-4D99-413F-8F76-7F43CCB5B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图谱入门：峰位、峰宽与相对峰强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34288-F57E-4D0D-8E45-2F9D15E5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3" name="三组曲线均为教学模拟数据，不对应实际样品，纵轴为相对强度">
            <a:extLst xmlns:a="http://schemas.openxmlformats.org/drawingml/2006/main">
              <a:ext uri="{FF2B5EF4-FFF2-40B4-BE49-F238E27FC236}">
                <a16:creationId xmlns:a16="http://schemas.microsoft.com/office/drawing/2014/main" id="{E0660865-76CD-452A-813B-861D74D5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三组曲线均为教学模拟数据，不对应实际样品，纵轴为相对强度</a:t>
            </a:r>
          </a:p>
        </p:txBody>
      </p:sp>
      <p:sp>
        <p:nvSpPr>
          <p:cNvPr id="4" name="04 / 10">
            <a:extLst xmlns:a="http://schemas.openxmlformats.org/drawingml/2006/main">
              <a:ext uri="{FF2B5EF4-FFF2-40B4-BE49-F238E27FC236}">
                <a16:creationId xmlns:a16="http://schemas.microsoft.com/office/drawing/2014/main" id="{739C6097-A80A-406E-A292-431D6477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04 / 10</a:t>
            </a:r>
          </a:p>
        </p:txBody>
      </p:sp>
      <p:sp>
        <p:nvSpPr>
          <p:cNvPr id="5" name="峰位">
            <a:extLst xmlns:a="http://schemas.openxmlformats.org/drawingml/2006/main">
              <a:ext uri="{FF2B5EF4-FFF2-40B4-BE49-F238E27FC236}">
                <a16:creationId xmlns:a16="http://schemas.microsoft.com/office/drawing/2014/main" id="{017C3C35-5F22-408C-ADEB-9740737B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峰位</a:t>
            </a:r>
          </a:p>
        </p:txBody>
      </p:sp>
      <p:sp>
        <p:nvSpPr>
          <p:cNvPr id="6" name="与晶面间距有关">
            <a:extLst xmlns:a="http://schemas.openxmlformats.org/drawingml/2006/main">
              <a:ext uri="{FF2B5EF4-FFF2-40B4-BE49-F238E27FC236}">
                <a16:creationId xmlns:a16="http://schemas.microsoft.com/office/drawing/2014/main" id="{ECBC26E5-8817-4BCB-B6F9-BB7626E5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85975"/>
            <a:ext cx="3581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与晶面间距有关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E8A3E86D-CC74-4D5C-B62F-324FCB6571D8}"/>
              </a:ext>
            </a:extLst>
          </p:cNvPr>
          <p:cNvGraphicFramePr/>
          <p:nvPr/>
        </p:nvGraphicFramePr>
        <p:xfrm>
          <a:off xmlns:a="http://schemas.openxmlformats.org/drawingml/2006/main" x="523875" y="2790825"/>
          <a:ext xmlns:a="http://schemas.openxmlformats.org/drawingml/2006/main" cx="371475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687ea39af34b3b"/>
          </a:graphicData>
        </a:graphic>
      </p:graphicFrame>
      <p:sp>
        <p:nvSpPr>
          <p:cNvPr id="8" name="先排除装样或仪器误差">
            <a:extLst xmlns:a="http://schemas.openxmlformats.org/drawingml/2006/main">
              <a:ext uri="{FF2B5EF4-FFF2-40B4-BE49-F238E27FC236}">
                <a16:creationId xmlns:a16="http://schemas.microsoft.com/office/drawing/2014/main" id="{7C2377D4-557A-406D-B2E7-94845800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76875"/>
            <a:ext cx="35337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先排除装样或仪器误差</a:t>
            </a:r>
          </a:p>
        </p:txBody>
      </p:sp>
      <p:sp>
        <p:nvSpPr>
          <p:cNvPr id="9" name="峰宽">
            <a:extLst xmlns:a="http://schemas.openxmlformats.org/drawingml/2006/main">
              <a:ext uri="{FF2B5EF4-FFF2-40B4-BE49-F238E27FC236}">
                <a16:creationId xmlns:a16="http://schemas.microsoft.com/office/drawing/2014/main" id="{FE1C91EB-F4E5-4696-9243-5EB575E2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240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峰宽</a:t>
            </a:r>
          </a:p>
        </p:txBody>
      </p:sp>
      <p:sp>
        <p:nvSpPr>
          <p:cNvPr id="10" name="与有序区域尺度等因素有关">
            <a:extLst xmlns:a="http://schemas.openxmlformats.org/drawingml/2006/main">
              <a:ext uri="{FF2B5EF4-FFF2-40B4-BE49-F238E27FC236}">
                <a16:creationId xmlns:a16="http://schemas.microsoft.com/office/drawing/2014/main" id="{4DF06B66-EB1A-4355-9155-992447A1A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85975"/>
            <a:ext cx="3581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与有序区域尺度等因素有关</a:t>
            </a:r>
          </a:p>
        </p:txBody>
      </p:sp>
      <p:graphicFrame>
        <p:nvGraphicFramePr>
          <p:cNvPr id="11" name="Chart">
            <a:extLst xmlns:a="http://schemas.openxmlformats.org/drawingml/2006/main">
              <a:ext uri="{FF2B5EF4-FFF2-40B4-BE49-F238E27FC236}">
                <a16:creationId xmlns:a16="http://schemas.microsoft.com/office/drawing/2014/main" id="{35FD3C3E-DA1E-44F9-82E5-D95FB7571CF8}"/>
              </a:ext>
            </a:extLst>
          </p:cNvPr>
          <p:cNvGraphicFramePr/>
          <p:nvPr/>
        </p:nvGraphicFramePr>
        <p:xfrm>
          <a:off xmlns:a="http://schemas.openxmlformats.org/drawingml/2006/main" x="4429125" y="2790825"/>
          <a:ext xmlns:a="http://schemas.openxmlformats.org/drawingml/2006/main" cx="371475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ac2ac452a945ee"/>
          </a:graphicData>
        </a:graphic>
      </p:graphicFrame>
      <p:sp>
        <p:nvSpPr>
          <p:cNvPr id="12" name="宽峰还受微应变、仪器影响">
            <a:extLst xmlns:a="http://schemas.openxmlformats.org/drawingml/2006/main">
              <a:ext uri="{FF2B5EF4-FFF2-40B4-BE49-F238E27FC236}">
                <a16:creationId xmlns:a16="http://schemas.microsoft.com/office/drawing/2014/main" id="{5C0C5DA5-5398-42F1-82DF-063614C5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76875"/>
            <a:ext cx="35337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宽峰还受微应变、仪器影响</a:t>
            </a:r>
          </a:p>
        </p:txBody>
      </p:sp>
      <p:sp>
        <p:nvSpPr>
          <p:cNvPr id="13" name="相对峰强">
            <a:extLst xmlns:a="http://schemas.openxmlformats.org/drawingml/2006/main">
              <a:ext uri="{FF2B5EF4-FFF2-40B4-BE49-F238E27FC236}">
                <a16:creationId xmlns:a16="http://schemas.microsoft.com/office/drawing/2014/main" id="{B05F2CEB-9F25-4D6E-BBE7-43C3E856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240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相对峰强</a:t>
            </a:r>
          </a:p>
        </p:txBody>
      </p:sp>
      <p:sp>
        <p:nvSpPr>
          <p:cNvPr id="14" name="还受取向、制样等因素影响">
            <a:extLst xmlns:a="http://schemas.openxmlformats.org/drawingml/2006/main">
              <a:ext uri="{FF2B5EF4-FFF2-40B4-BE49-F238E27FC236}">
                <a16:creationId xmlns:a16="http://schemas.microsoft.com/office/drawing/2014/main" id="{C2D77C77-EE9E-41F3-A2E7-42B3C668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85975"/>
            <a:ext cx="3581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还受取向、制样等因素影响</a:t>
            </a:r>
          </a:p>
        </p:txBody>
      </p:sp>
      <p:graphicFrame>
        <p:nvGraphicFramePr>
          <p:cNvPr id="15" name="Chart">
            <a:extLst xmlns:a="http://schemas.openxmlformats.org/drawingml/2006/main">
              <a:ext uri="{FF2B5EF4-FFF2-40B4-BE49-F238E27FC236}">
                <a16:creationId xmlns:a16="http://schemas.microsoft.com/office/drawing/2014/main" id="{F182B6FF-B331-458F-AB27-0DE921F4A5F7}"/>
              </a:ext>
            </a:extLst>
          </p:cNvPr>
          <p:cNvGraphicFramePr/>
          <p:nvPr/>
        </p:nvGraphicFramePr>
        <p:xfrm>
          <a:off xmlns:a="http://schemas.openxmlformats.org/drawingml/2006/main" x="8334375" y="2790825"/>
          <a:ext xmlns:a="http://schemas.openxmlformats.org/drawingml/2006/main" cx="3714750" cy="2428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916f3918354501"/>
          </a:graphicData>
        </a:graphic>
      </p:graphicFrame>
      <p:sp>
        <p:nvSpPr>
          <p:cNvPr id="16" name="峰高不能直接代表结晶度">
            <a:extLst xmlns:a="http://schemas.openxmlformats.org/drawingml/2006/main">
              <a:ext uri="{FF2B5EF4-FFF2-40B4-BE49-F238E27FC236}">
                <a16:creationId xmlns:a16="http://schemas.microsoft.com/office/drawing/2014/main" id="{E7581E4D-ECDB-49D1-9D4E-188EBDC9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476875"/>
            <a:ext cx="35337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峰高不能直接代表结晶度</a:t>
            </a:r>
          </a:p>
        </p:txBody>
      </p:sp>
    </p:spTree>
    <p:extLst>
      <p:ext uri="{BB962C8B-B14F-4D97-AF65-F5344CB8AC3E}">
        <p14:creationId xmlns:p14="http://schemas.microsoft.com/office/powerpoint/2010/main" val="3035656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可靠数据：制样与测试条件">
            <a:extLst xmlns:a="http://schemas.openxmlformats.org/drawingml/2006/main">
              <a:ext uri="{FF2B5EF4-FFF2-40B4-BE49-F238E27FC236}">
                <a16:creationId xmlns:a16="http://schemas.microsoft.com/office/drawing/2014/main" id="{44D91BD8-D0A7-43AC-9938-B3919F40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可靠数据：制样与测试条件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16469-06D9-4D7C-AFF3-8808D43D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3" name="方法参考Rigaku基础课程。示例范围需按目标峰位、仪器及样">
            <a:extLst xmlns:a="http://schemas.openxmlformats.org/drawingml/2006/main">
              <a:ext uri="{FF2B5EF4-FFF2-40B4-BE49-F238E27FC236}">
                <a16:creationId xmlns:a16="http://schemas.microsoft.com/office/drawing/2014/main" id="{880161B0-AE76-42F3-85BF-ECF3E3FD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方法参考Rigaku基础课程。示例范围需按目标峰位、仪器及样品状态调整</a:t>
            </a:r>
          </a:p>
        </p:txBody>
      </p:sp>
      <p:sp>
        <p:nvSpPr>
          <p:cNvPr id="4" name="05 / 10">
            <a:extLst xmlns:a="http://schemas.openxmlformats.org/drawingml/2006/main">
              <a:ext uri="{FF2B5EF4-FFF2-40B4-BE49-F238E27FC236}">
                <a16:creationId xmlns:a16="http://schemas.microsoft.com/office/drawing/2014/main" id="{0BDF116D-3B84-4451-B053-A8740B16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05 / 10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EBE09-53C9-4430-BE3B-C9D42D6DD56B}"/>
              </a:ext>
            </a:extLst>
          </p:cNvPr>
          <p:cNvGraphicFramePr/>
          <p:nvPr/>
        </p:nvGraphicFramePr>
        <p:xfrm>
          <a:off xmlns:a="http://schemas.openxmlformats.org/drawingml/2006/main" x="590550" y="1562100"/>
          <a:ext xmlns:a="http://schemas.openxmlformats.org/drawingml/2006/main" cx="11010900" cy="3409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9058275"/>
              </a:tblGrid>
              <a:tr h="68199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环节</a:t>
                      </a:r>
                    </a:p>
                  </a:txBody>
                  <a:tcPr marL="142875" marR="114300" marT="114300" marB="95250" anchor="ctr">
                    <a:solidFill>
                      <a:srgbClr val="13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研一入门时需要掌握的要点</a:t>
                      </a:r>
                    </a:p>
                  </a:txBody>
                  <a:tcPr marL="142875" marR="114300" marT="114300" marB="95250" anchor="ctr">
                    <a:solidFill>
                      <a:srgbClr val="132D42"/>
                    </a:solidFill>
                  </a:tcPr>
                </a:tc>
              </a:tr>
              <a:tr h="68199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制样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温和研磨、铺平，控制样品高度，避免强压和过度研磨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</a:tr>
              <a:tr h="68199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样品状态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记录是否活化、含溶剂或暴露空气，敏感样品考虑密封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</a:tr>
              <a:tr h="68199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扫描范围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MOF / COF注意低角区，不能漏掉目标结构的首个特征峰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</a:tr>
              <a:tr h="68199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对比条件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比较前后样品时，尽量保持光源、几何和采集条件一致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一个起始示例">
            <a:extLst xmlns:a="http://schemas.openxmlformats.org/drawingml/2006/main">
              <a:ext uri="{FF2B5EF4-FFF2-40B4-BE49-F238E27FC236}">
                <a16:creationId xmlns:a16="http://schemas.microsoft.com/office/drawing/2014/main" id="{449D02A9-B20A-4B46-BF68-E6784BE6D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530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一个起始示例</a:t>
            </a:r>
          </a:p>
        </p:txBody>
      </p:sp>
      <p:sp>
        <p:nvSpPr>
          <p:cNvPr id="7" name="Cu Kα，λ ≈ 0.15406 nm，2θ可先考虑2–4">
            <a:extLst xmlns:a="http://schemas.openxmlformats.org/drawingml/2006/main">
              <a:ext uri="{FF2B5EF4-FFF2-40B4-BE49-F238E27FC236}">
                <a16:creationId xmlns:a16="http://schemas.microsoft.com/office/drawing/2014/main" id="{6CD1131E-EB1C-4AA5-9572-9F4341D50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353050"/>
            <a:ext cx="8477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Cu Kα，λ ≈ 0.15406 nm，2θ可先考虑2–40°</a:t>
            </a:r>
          </a:p>
        </p:txBody>
      </p:sp>
      <p:sp>
        <p:nvSpPr>
          <p:cNvPr id="8" name="若预期峰低于2°，需向更低角度扩展，并检查低角背景与仪器能力">
            <a:extLst xmlns:a="http://schemas.openxmlformats.org/drawingml/2006/main">
              <a:ext uri="{FF2B5EF4-FFF2-40B4-BE49-F238E27FC236}">
                <a16:creationId xmlns:a16="http://schemas.microsoft.com/office/drawing/2014/main" id="{D781317A-04ED-4E13-A79F-AFFF02AC9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86450"/>
            <a:ext cx="11001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若预期峰低于2°，需向更低角度扩展，并检查低角背景与仪器能力。</a:t>
            </a:r>
          </a:p>
        </p:txBody>
      </p:sp>
    </p:spTree>
    <p:extLst>
      <p:ext uri="{BB962C8B-B14F-4D97-AF65-F5344CB8AC3E}">
        <p14:creationId xmlns:p14="http://schemas.microsoft.com/office/powerpoint/2010/main" val="10492131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OF案例：UiO-66峰变宽与尺寸减小">
            <a:extLst xmlns:a="http://schemas.openxmlformats.org/drawingml/2006/main">
              <a:ext uri="{FF2B5EF4-FFF2-40B4-BE49-F238E27FC236}">
                <a16:creationId xmlns:a16="http://schemas.microsoft.com/office/drawing/2014/main" id="{12AB37ED-74D1-4A32-B265-B42F8B24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MOF案例：UiO-66峰变宽与尺寸减小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3A6C82-4CD1-4D49-B12C-2705A06A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3" name="[1] Dai et al., Nat. Commun. 1">
            <a:extLst xmlns:a="http://schemas.openxmlformats.org/drawingml/2006/main">
              <a:ext uri="{FF2B5EF4-FFF2-40B4-BE49-F238E27FC236}">
                <a16:creationId xmlns:a16="http://schemas.microsoft.com/office/drawing/2014/main" id="{96348321-822B-4270-BA99-A340CAAB7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[1] Dai et al., Nat. Commun. 15, 3434 (2024), Fig. 2b、c，裁剪显示，CC BY 4.0</a:t>
            </a:r>
          </a:p>
        </p:txBody>
      </p:sp>
      <p:sp>
        <p:nvSpPr>
          <p:cNvPr id="4" name="06 / 10">
            <a:extLst xmlns:a="http://schemas.openxmlformats.org/drawingml/2006/main">
              <a:ext uri="{FF2B5EF4-FFF2-40B4-BE49-F238E27FC236}">
                <a16:creationId xmlns:a16="http://schemas.microsoft.com/office/drawing/2014/main" id="{60A4AA0C-990B-4722-A9D0-BF877D00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06 / 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5FEC99-1223-4436-8ABC-D2EF16D0CF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e247507224456"/>
          <a:srcRect xmlns:a="http://schemas.openxmlformats.org/drawingml/2006/main" l="39700" t="700" r="31500" b="68600"/>
          <a:stretch xmlns:a="http://schemas.openxmlformats.org/drawingml/2006/main"/>
        </p:blipFill>
        <p:spPr>
          <a:xfrm xmlns:a="http://schemas.openxmlformats.org/drawingml/2006/main">
            <a:off x="590550" y="1476375"/>
            <a:ext cx="5572125" cy="4695825"/>
          </a:xfrm>
          <a:prstGeom xmlns:a="http://schemas.openxmlformats.org/drawingml/2006/main" prst="rect">
            <a:avLst/>
          </a:prstGeom>
        </p:spPr>
      </p:pic>
      <p:sp>
        <p:nvSpPr>
          <p:cNvPr id="6" name="观察：峰逐渐变宽">
            <a:extLst xmlns:a="http://schemas.openxmlformats.org/drawingml/2006/main">
              <a:ext uri="{FF2B5EF4-FFF2-40B4-BE49-F238E27FC236}">
                <a16:creationId xmlns:a16="http://schemas.microsoft.com/office/drawing/2014/main" id="{773E89F5-98BC-4B6E-82F9-98F3FF0C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811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观察：峰逐渐变宽</a:t>
            </a:r>
          </a:p>
        </p:txBody>
      </p:sp>
      <p:sp>
        <p:nvSpPr>
          <p:cNvPr id="7" name="乙醇用量由10增至80 mL时，&#10;相邻峰逐渐重叠。">
            <a:extLst xmlns:a="http://schemas.openxmlformats.org/drawingml/2006/main">
              <a:ext uri="{FF2B5EF4-FFF2-40B4-BE49-F238E27FC236}">
                <a16:creationId xmlns:a16="http://schemas.microsoft.com/office/drawing/2014/main" id="{F2BFCAA2-F86B-4941-B760-6567C69F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1930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乙醇用量由10增至80 mL时，</a:t>
            </a:r>
          </a:p>
          <a:p xmlns:a="http://schemas.openxmlformats.org/drawingml/2006/main">
            <a: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相邻峰逐渐重叠。</a:t>
            </a:r>
          </a:p>
        </p:txBody>
      </p:sp>
      <p:sp>
        <p:nvSpPr>
          <p:cNvPr id="8" name="TEM统计平均粒径">
            <a:extLst xmlns:a="http://schemas.openxmlformats.org/drawingml/2006/main">
              <a:ext uri="{FF2B5EF4-FFF2-40B4-BE49-F238E27FC236}">
                <a16:creationId xmlns:a16="http://schemas.microsoft.com/office/drawing/2014/main" id="{C32C8CBA-8E01-4BFD-B80C-CB1B6149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7657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TEM统计平均粒径</a:t>
            </a:r>
          </a:p>
        </p:txBody>
      </p:sp>
      <p:sp>
        <p:nvSpPr>
          <p:cNvPr id="9" name="40   14   9   5 nm">
            <a:extLst xmlns:a="http://schemas.openxmlformats.org/drawingml/2006/main">
              <a:ext uri="{FF2B5EF4-FFF2-40B4-BE49-F238E27FC236}">
                <a16:creationId xmlns:a16="http://schemas.microsoft.com/office/drawing/2014/main" id="{A78899F1-8B8A-4306-AC93-7BEE57BB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43300"/>
            <a:ext cx="495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925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40   14   9   5 nm</a:t>
            </a:r>
          </a:p>
        </p:txBody>
      </p:sp>
      <p:sp>
        <p:nvSpPr>
          <p:cNvPr id="10" name="乙醇用量：10 / 20 / 40 / 80 mL">
            <a:extLst xmlns:a="http://schemas.openxmlformats.org/drawingml/2006/main">
              <a:ext uri="{FF2B5EF4-FFF2-40B4-BE49-F238E27FC236}">
                <a16:creationId xmlns:a16="http://schemas.microsoft.com/office/drawing/2014/main" id="{D657CD9D-8666-4B67-B70B-AA2EE6C9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052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乙醇用量：10 / 20 / 40 / 80 mL</a:t>
            </a:r>
          </a:p>
        </p:txBody>
      </p:sp>
      <p:sp>
        <p:nvSpPr>
          <p:cNvPr id="11" name="合理解释">
            <a:extLst xmlns:a="http://schemas.openxmlformats.org/drawingml/2006/main">
              <a:ext uri="{FF2B5EF4-FFF2-40B4-BE49-F238E27FC236}">
                <a16:creationId xmlns:a16="http://schemas.microsoft.com/office/drawing/2014/main" id="{A58C8E2E-54EC-4E20-9EEF-D6A18BDE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148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合理解释</a:t>
            </a:r>
          </a:p>
        </p:txBody>
      </p:sp>
      <p:sp>
        <p:nvSpPr>
          <p:cNvPr id="12" name="峰展宽与有序区域尺度减小相一致，&#10;结合TEM判断，不能只凭宽">
            <a:extLst xmlns:a="http://schemas.openxmlformats.org/drawingml/2006/main">
              <a:ext uri="{FF2B5EF4-FFF2-40B4-BE49-F238E27FC236}">
                <a16:creationId xmlns:a16="http://schemas.microsoft.com/office/drawing/2014/main" id="{BC4B4459-05A6-4A08-8C56-B0B5BCFA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81600"/>
            <a:ext cx="4953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峰展宽与有序区域尺度减小相一致，</a:t>
            </a:r>
          </a:p>
          <a:p xmlns:a="http://schemas.openxmlformats.org/drawingml/2006/main">
            <a: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结合TEM判断，不能只凭宽峰认定无定形。</a:t>
            </a:r>
          </a:p>
        </p:txBody>
      </p:sp>
    </p:spTree>
    <p:extLst>
      <p:ext uri="{BB962C8B-B14F-4D97-AF65-F5344CB8AC3E}">
        <p14:creationId xmlns:p14="http://schemas.microsoft.com/office/powerpoint/2010/main" val="16803022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F案例：ACOF-1的图谱与结构模型">
            <a:extLst xmlns:a="http://schemas.openxmlformats.org/drawingml/2006/main">
              <a:ext uri="{FF2B5EF4-FFF2-40B4-BE49-F238E27FC236}">
                <a16:creationId xmlns:a16="http://schemas.microsoft.com/office/drawing/2014/main" id="{EFE85DA2-AA43-4149-896D-CFAE8081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COF案例：ACOF-1的图谱与结构模型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73F16-7DE3-4E1B-8F8A-2473AE9C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3" name="[2] Xie et al., Nat. Commun. 1">
            <a:extLst xmlns:a="http://schemas.openxmlformats.org/drawingml/2006/main">
              <a:ext uri="{FF2B5EF4-FFF2-40B4-BE49-F238E27FC236}">
                <a16:creationId xmlns:a16="http://schemas.microsoft.com/office/drawing/2014/main" id="{FDEE19B0-4562-41E8-8BB7-84EC1F13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[2] Xie et al., Nat. Commun. 15, 2671 (2024), Fig. 2d，裁剪显示，CC BY 4.0</a:t>
            </a:r>
          </a:p>
        </p:txBody>
      </p:sp>
      <p:sp>
        <p:nvSpPr>
          <p:cNvPr id="4" name="07 / 10">
            <a:extLst xmlns:a="http://schemas.openxmlformats.org/drawingml/2006/main">
              <a:ext uri="{FF2B5EF4-FFF2-40B4-BE49-F238E27FC236}">
                <a16:creationId xmlns:a16="http://schemas.microsoft.com/office/drawing/2014/main" id="{160FD7A4-6FBF-4230-99B0-5733060F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07 / 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3E553-FBD1-44C6-8554-D367942BBE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c1572ab714fb6"/>
          <a:srcRect xmlns:a="http://schemas.openxmlformats.org/drawingml/2006/main" l="0" t="32300" r="66200" b="34600"/>
          <a:stretch xmlns:a="http://schemas.openxmlformats.org/drawingml/2006/main"/>
        </p:blipFill>
        <p:spPr>
          <a:xfrm xmlns:a="http://schemas.openxmlformats.org/drawingml/2006/main">
            <a:off x="571500" y="1581150"/>
            <a:ext cx="5572125" cy="4305300"/>
          </a:xfrm>
          <a:prstGeom xmlns:a="http://schemas.openxmlformats.org/drawingml/2006/main" prst="rect">
            <a:avLst/>
          </a:prstGeom>
        </p:spPr>
      </p:pic>
      <p:sp>
        <p:nvSpPr>
          <p:cNvPr id="6" name="黑：实验   红：拟合   蓝：模拟&#10;绿：理论峰位   灰：">
            <a:extLst xmlns:a="http://schemas.openxmlformats.org/drawingml/2006/main">
              <a:ext uri="{FF2B5EF4-FFF2-40B4-BE49-F238E27FC236}">
                <a16:creationId xmlns:a16="http://schemas.microsoft.com/office/drawing/2014/main" id="{D1DCA91E-8D27-4DEA-97B3-36F609EC5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15025"/>
            <a:ext cx="5572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黑：实验   红：拟合   蓝：模拟</a:t>
            </a:r>
          </a:p>
          <a:p xmlns:a="http://schemas.openxmlformats.org/drawingml/2006/main">
            <a:pPr algn="l">
              <a:defRPr sz="142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绿：理论峰位   灰：实验与拟合差值</a:t>
            </a:r>
          </a:p>
        </p:txBody>
      </p:sp>
      <p:sp>
        <p:nvSpPr>
          <p:cNvPr id="7" name="观察：多个低角峰相对应">
            <a:extLst xmlns:a="http://schemas.openxmlformats.org/drawingml/2006/main">
              <a:ext uri="{FF2B5EF4-FFF2-40B4-BE49-F238E27FC236}">
                <a16:creationId xmlns:a16="http://schemas.microsoft.com/office/drawing/2014/main" id="{15D1626D-9679-4E7B-84E1-D6FBD394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906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观察：多个低角峰相对应</a:t>
            </a:r>
          </a:p>
        </p:txBody>
      </p:sp>
      <p:sp>
        <p:nvSpPr>
          <p:cNvPr id="8" name="约2.5°、4.2°、4.9°等峰位，&#10;可由作者提出的晶胞描">
            <a:extLst xmlns:a="http://schemas.openxmlformats.org/drawingml/2006/main">
              <a:ext uri="{FF2B5EF4-FFF2-40B4-BE49-F238E27FC236}">
                <a16:creationId xmlns:a16="http://schemas.microsoft.com/office/drawing/2014/main" id="{5714FF56-BDF5-4DA3-A901-B9D7BA19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28825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约2.5°、4.2°、4.9°等峰位，</a:t>
            </a:r>
          </a:p>
          <a:p xmlns:a="http://schemas.openxmlformats.org/drawingml/2006/main">
            <a: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可由作者提出的晶胞描述。</a:t>
            </a:r>
          </a:p>
        </p:txBody>
      </p:sp>
      <p:sp>
        <p:nvSpPr>
          <p:cNvPr id="9" name="Pawley拟合：比较整张图谱">
            <a:extLst xmlns:a="http://schemas.openxmlformats.org/drawingml/2006/main">
              <a:ext uri="{FF2B5EF4-FFF2-40B4-BE49-F238E27FC236}">
                <a16:creationId xmlns:a16="http://schemas.microsoft.com/office/drawing/2014/main" id="{C204BC90-7AB1-41B8-BF30-5360456B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Pawley拟合：比较整张图谱</a:t>
            </a:r>
          </a:p>
        </p:txBody>
      </p:sp>
      <p:sp>
        <p:nvSpPr>
          <p:cNvPr id="10" name="Rwp = 5.71%表示拟合偏差指标，&#10;不直接验证原子位置">
            <a:extLst xmlns:a="http://schemas.openxmlformats.org/drawingml/2006/main">
              <a:ext uri="{FF2B5EF4-FFF2-40B4-BE49-F238E27FC236}">
                <a16:creationId xmlns:a16="http://schemas.microsoft.com/office/drawing/2014/main" id="{2B075ED0-F286-4F3C-8CA8-69CD71B8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81400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Rwp = 5.71%表示拟合偏差指标，</a:t>
            </a:r>
          </a:p>
          <a:p xmlns:a="http://schemas.openxmlformats.org/drawingml/2006/main">
            <a: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不直接验证原子位置或层间堆积。</a:t>
            </a:r>
          </a:p>
        </p:txBody>
      </p:sp>
      <p:sp>
        <p:nvSpPr>
          <p:cNvPr id="11" name="结构判断：需要更多约束">
            <a:extLst xmlns:a="http://schemas.openxmlformats.org/drawingml/2006/main">
              <a:ext uri="{FF2B5EF4-FFF2-40B4-BE49-F238E27FC236}">
                <a16:creationId xmlns:a16="http://schemas.microsoft.com/office/drawing/2014/main" id="{36E64A29-77ED-4D68-801F-8E0C4D2E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9582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结构判断：需要更多约束</a:t>
            </a:r>
          </a:p>
        </p:txBody>
      </p:sp>
      <p:sp>
        <p:nvSpPr>
          <p:cNvPr id="12" name="结合模拟、X射线散射及高分辨TEM，&#10;作者提出反平行AA堆积">
            <a:extLst xmlns:a="http://schemas.openxmlformats.org/drawingml/2006/main">
              <a:ext uri="{FF2B5EF4-FFF2-40B4-BE49-F238E27FC236}">
                <a16:creationId xmlns:a16="http://schemas.microsoft.com/office/drawing/2014/main" id="{D5B0D7A1-461D-4197-B979-476AEB4F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33975"/>
            <a:ext cx="495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结合模拟、X射线散射及高分辨TEM，</a:t>
            </a:r>
          </a:p>
          <a:p xmlns:a="http://schemas.openxmlformats.org/drawingml/2006/main">
            <a: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作者提出反平行AA堆积模型。</a:t>
            </a:r>
          </a:p>
        </p:txBody>
      </p:sp>
    </p:spTree>
    <p:extLst>
      <p:ext uri="{BB962C8B-B14F-4D97-AF65-F5344CB8AC3E}">
        <p14:creationId xmlns:p14="http://schemas.microsoft.com/office/powerpoint/2010/main" val="16124232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联合表征：不同方法回答不同问题">
            <a:extLst xmlns:a="http://schemas.openxmlformats.org/drawingml/2006/main">
              <a:ext uri="{FF2B5EF4-FFF2-40B4-BE49-F238E27FC236}">
                <a16:creationId xmlns:a16="http://schemas.microsoft.com/office/drawing/2014/main" id="{D8EED9E1-EBB0-4AFF-9251-A3C7A9E6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联合表征：不同方法回答不同问题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19BD3A-95DA-43DC-81D8-02782DB3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3" name="方法范围及联合使用示例见文献[1]、[2]，各方法的结论需结">
            <a:extLst xmlns:a="http://schemas.openxmlformats.org/drawingml/2006/main">
              <a:ext uri="{FF2B5EF4-FFF2-40B4-BE49-F238E27FC236}">
                <a16:creationId xmlns:a16="http://schemas.microsoft.com/office/drawing/2014/main" id="{82EE3CE7-335D-4FF9-94D9-BE51A0C2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方法范围及联合使用示例见文献[1]、[2]，各方法的结论需结合测试条件</a:t>
            </a:r>
          </a:p>
        </p:txBody>
      </p:sp>
      <p:sp>
        <p:nvSpPr>
          <p:cNvPr id="4" name="08 / 10">
            <a:extLst xmlns:a="http://schemas.openxmlformats.org/drawingml/2006/main">
              <a:ext uri="{FF2B5EF4-FFF2-40B4-BE49-F238E27FC236}">
                <a16:creationId xmlns:a16="http://schemas.microsoft.com/office/drawing/2014/main" id="{775EB731-ED41-4E9E-9E9F-886161ED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08 / 10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90F2C7-EA3C-4348-A33C-8A624EE1ECDB}"/>
              </a:ext>
            </a:extLst>
          </p:cNvPr>
          <p:cNvGraphicFramePr/>
          <p:nvPr/>
        </p:nvGraphicFramePr>
        <p:xfrm>
          <a:off xmlns:a="http://schemas.openxmlformats.org/drawingml/2006/main" x="571500" y="1524000"/>
          <a:ext xmlns:a="http://schemas.openxmlformats.org/drawingml/2006/main" cx="110490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7625"/>
                <a:gridCol w="2428875"/>
                <a:gridCol w="4762500"/>
              </a:tblGrid>
              <a:tr h="650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研究问题</a:t>
                      </a:r>
                    </a:p>
                  </a:txBody>
                  <a:tcPr marL="142875" marR="114300" marT="114300" marB="95250" anchor="ctr">
                    <a:solidFill>
                      <a:srgbClr val="13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主要方法</a:t>
                      </a:r>
                    </a:p>
                  </a:txBody>
                  <a:tcPr marL="142875" marR="114300" marT="114300" marB="95250" anchor="ctr">
                    <a:solidFill>
                      <a:srgbClr val="13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能够补充的信息</a:t>
                      </a:r>
                    </a:p>
                  </a:txBody>
                  <a:tcPr marL="142875" marR="114300" marT="114300" marB="95250" anchor="ctr">
                    <a:solidFill>
                      <a:srgbClr val="132D42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晶体结构是否与目标相符？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XRD / PXRD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平均周期结构、物相与变化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颗粒长什么样、多大？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SEM / TEM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形貌、粒径，TEM还可观察局部晶格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有什么元素、分布在哪里？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EDS（能谱）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元素组成和空间分布，通常不提供价态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表面元素处于什么化学环境？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XPS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表面组成、化学态信息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化学键形成了吗？孔道可进入吗？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红外 / 气体吸附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分别补充键合信息、孔隙可达性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XRD峰保留，可以支持周期结构保留">
            <a:extLst xmlns:a="http://schemas.openxmlformats.org/drawingml/2006/main">
              <a:ext uri="{FF2B5EF4-FFF2-40B4-BE49-F238E27FC236}">
                <a16:creationId xmlns:a16="http://schemas.microsoft.com/office/drawing/2014/main" id="{7DD00288-1369-4646-BB27-C9EB6183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34050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XRD峰保留，可以支持周期结构保留</a:t>
            </a:r>
          </a:p>
        </p:txBody>
      </p:sp>
      <p:sp>
        <p:nvSpPr>
          <p:cNvPr id="7" name="孔隙、表面化学与使用性能，仍需分别验证。">
            <a:extLst xmlns:a="http://schemas.openxmlformats.org/drawingml/2006/main">
              <a:ext uri="{FF2B5EF4-FFF2-40B4-BE49-F238E27FC236}">
                <a16:creationId xmlns:a16="http://schemas.microsoft.com/office/drawing/2014/main" id="{E99810F2-EA89-4259-B1A8-52FD3A42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43625"/>
            <a:ext cx="1085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孔隙、表面化学与使用性能，仍需分别验证。</a:t>
            </a:r>
          </a:p>
        </p:txBody>
      </p:sp>
    </p:spTree>
    <p:extLst>
      <p:ext uri="{BB962C8B-B14F-4D97-AF65-F5344CB8AC3E}">
        <p14:creationId xmlns:p14="http://schemas.microsoft.com/office/powerpoint/2010/main" val="4621184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性能联系：结构证据还需电化学测试">
            <a:extLst xmlns:a="http://schemas.openxmlformats.org/drawingml/2006/main">
              <a:ext uri="{FF2B5EF4-FFF2-40B4-BE49-F238E27FC236}">
                <a16:creationId xmlns:a16="http://schemas.microsoft.com/office/drawing/2014/main" id="{1D9C71D3-94A9-4BC6-9B65-A4157E69C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性能联系：结构证据还需电化学测试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A81FF-B2F9-4684-B6EC-5CDFBD160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3" name="[3] Xu et al., Adv. Funct. Mat">
            <a:extLst xmlns:a="http://schemas.openxmlformats.org/drawingml/2006/main">
              <a:ext uri="{FF2B5EF4-FFF2-40B4-BE49-F238E27FC236}">
                <a16:creationId xmlns:a16="http://schemas.microsoft.com/office/drawing/2014/main" id="{F48D97BE-D16C-4AE7-AA6E-2233F1A3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[3] Xu et al., Adv. Funct. Mater. 35, 2506111 (2025)，按文献摘要报告值整理</a:t>
            </a:r>
          </a:p>
        </p:txBody>
      </p:sp>
      <p:sp>
        <p:nvSpPr>
          <p:cNvPr id="4" name="09 / 10">
            <a:extLst xmlns:a="http://schemas.openxmlformats.org/drawingml/2006/main">
              <a:ext uri="{FF2B5EF4-FFF2-40B4-BE49-F238E27FC236}">
                <a16:creationId xmlns:a16="http://schemas.microsoft.com/office/drawing/2014/main" id="{ACDA004E-3B2A-4F74-94F7-AB1EB91B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09 / 10</a:t>
            </a:r>
          </a:p>
        </p:txBody>
      </p:sp>
      <p:sp>
        <p:nvSpPr>
          <p:cNvPr id="5" name="COF作为锂离子电池正极">
            <a:extLst xmlns:a="http://schemas.openxmlformats.org/drawingml/2006/main">
              <a:ext uri="{FF2B5EF4-FFF2-40B4-BE49-F238E27FC236}">
                <a16:creationId xmlns:a16="http://schemas.microsoft.com/office/drawing/2014/main" id="{54399184-859B-4A93-AE27-C47088B2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33525"/>
            <a:ext cx="619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COF作为锂离子电池正极</a:t>
            </a:r>
          </a:p>
        </p:txBody>
      </p:sp>
      <p:sp>
        <p:nvSpPr>
          <p:cNvPr id="6" name="文献报告比容量（电流密度200 mA g⁻¹）">
            <a:extLst xmlns:a="http://schemas.openxmlformats.org/drawingml/2006/main">
              <a:ext uri="{FF2B5EF4-FFF2-40B4-BE49-F238E27FC236}">
                <a16:creationId xmlns:a16="http://schemas.microsoft.com/office/drawing/2014/main" id="{EB5258E8-D050-4347-9E8F-C874B7A43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95500"/>
            <a:ext cx="657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文献报告比容量（电流密度200 mA g⁻¹）</a:t>
            </a:r>
          </a:p>
        </p:txBody>
      </p:sp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7184B8F3-D5FD-4D82-AC31-E88065C93BC4}"/>
              </a:ext>
            </a:extLst>
          </p:cNvPr>
          <p:cNvGraphicFramePr/>
          <p:nvPr/>
        </p:nvGraphicFramePr>
        <p:xfrm>
          <a:off xmlns:a="http://schemas.openxmlformats.org/drawingml/2006/main" x="619125" y="2781300"/>
          <a:ext xmlns:a="http://schemas.openxmlformats.org/drawingml/2006/main" cx="5905500" cy="29622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20d53cf0b614cb3"/>
          </a:graphicData>
        </a:graphic>
      </p:graphicFrame>
      <p:sp>
        <p:nvSpPr>
          <p:cNvPr id="8" name="XRD支持结构分析">
            <a:extLst xmlns:a="http://schemas.openxmlformats.org/drawingml/2006/main">
              <a:ext uri="{FF2B5EF4-FFF2-40B4-BE49-F238E27FC236}">
                <a16:creationId xmlns:a16="http://schemas.microsoft.com/office/drawing/2014/main" id="{65D11EA0-3D96-434A-B9FE-B78A3848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124075"/>
            <a:ext cx="423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XRD支持结构分析</a:t>
            </a:r>
          </a:p>
        </p:txBody>
      </p:sp>
      <p:sp>
        <p:nvSpPr>
          <p:cNvPr id="9" name="两种COF的图谱分别与&#10;各自候选结构相符。">
            <a:extLst xmlns:a="http://schemas.openxmlformats.org/drawingml/2006/main">
              <a:ext uri="{FF2B5EF4-FFF2-40B4-BE49-F238E27FC236}">
                <a16:creationId xmlns:a16="http://schemas.microsoft.com/office/drawing/2014/main" id="{BAD5A6AA-99F0-44B2-930F-481DD7F2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667000"/>
            <a:ext cx="42672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两种COF的图谱分别与</a:t>
            </a:r>
          </a:p>
          <a:p xmlns:a="http://schemas.openxmlformats.org/drawingml/2006/main">
            <a:pPr algn="l">
              <a:defRPr sz="20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各自候选结构相符。</a:t>
            </a:r>
          </a:p>
        </p:txBody>
      </p:sp>
      <p:sp>
        <p:nvSpPr>
          <p:cNvPr id="10" name="性能差异来自独立测试">
            <a:extLst xmlns:a="http://schemas.openxmlformats.org/drawingml/2006/main">
              <a:ext uri="{FF2B5EF4-FFF2-40B4-BE49-F238E27FC236}">
                <a16:creationId xmlns:a16="http://schemas.microsoft.com/office/drawing/2014/main" id="{7ABEDE2C-BA09-4DEF-B7C4-8D959CE4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914775"/>
            <a:ext cx="426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性能差异来自独立测试</a:t>
            </a:r>
          </a:p>
        </p:txBody>
      </p:sp>
      <p:sp>
        <p:nvSpPr>
          <p:cNvPr id="11" name="比容量来自充放电测试。&#10;导电性与活性位点等信息，&#10;有助于解释">
            <a:extLst xmlns:a="http://schemas.openxmlformats.org/drawingml/2006/main">
              <a:ext uri="{FF2B5EF4-FFF2-40B4-BE49-F238E27FC236}">
                <a16:creationId xmlns:a16="http://schemas.microsoft.com/office/drawing/2014/main" id="{93E50325-A87F-42F3-A232-F8DD7AC8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467225"/>
            <a:ext cx="4267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比容量来自充放电测试。</a:t>
            </a:r>
          </a:p>
          <a:p xmlns:a="http://schemas.openxmlformats.org/drawingml/2006/main">
            <a:pPr algn="l">
              <a:defRPr sz="20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导电性与活性位点等信息，</a:t>
            </a:r>
          </a:p>
          <a:p xmlns:a="http://schemas.openxmlformats.org/drawingml/2006/main">
            <a:pPr algn="l">
              <a:defRPr sz="20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有助于解释性能差异。</a:t>
            </a:r>
          </a:p>
        </p:txBody>
      </p:sp>
      <p:sp>
        <p:nvSpPr>
          <p:cNvPr id="12" name="文献数据用于说明证据分工，不代表不同条件下的普适性能。">
            <a:extLst xmlns:a="http://schemas.openxmlformats.org/drawingml/2006/main">
              <a:ext uri="{FF2B5EF4-FFF2-40B4-BE49-F238E27FC236}">
                <a16:creationId xmlns:a16="http://schemas.microsoft.com/office/drawing/2014/main" id="{3FF8FCA0-5ED2-4E8D-AAC8-CAC952D03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007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文献数据用于说明证据分工，不代表不同条件下的普适性能。</a:t>
            </a:r>
          </a:p>
        </p:txBody>
      </p:sp>
    </p:spTree>
    <p:extLst>
      <p:ext uri="{BB962C8B-B14F-4D97-AF65-F5344CB8AC3E}">
        <p14:creationId xmlns:p14="http://schemas.microsoft.com/office/powerpoint/2010/main" val="189974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总结：XRD结论应与证据范围对应">
            <a:extLst xmlns:a="http://schemas.openxmlformats.org/drawingml/2006/main">
              <a:ext uri="{FF2B5EF4-FFF2-40B4-BE49-F238E27FC236}">
                <a16:creationId xmlns:a16="http://schemas.microsoft.com/office/drawing/2014/main" id="{47782E92-C448-4053-BBC4-3DA664AA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总结：XRD结论应与证据范围对应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19ED2-7D10-4A6D-9AF1-CEF9365E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3" name="主讲到此结束。后续为备用页，可用于讨论">
            <a:extLst xmlns:a="http://schemas.openxmlformats.org/drawingml/2006/main">
              <a:ext uri="{FF2B5EF4-FFF2-40B4-BE49-F238E27FC236}">
                <a16:creationId xmlns:a16="http://schemas.microsoft.com/office/drawing/2014/main" id="{D71F320B-65E4-45A9-A0FF-EDC909E0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主讲到此结束。后续为备用页，可用于讨论</a:t>
            </a:r>
          </a:p>
        </p:txBody>
      </p:sp>
      <p:sp>
        <p:nvSpPr>
          <p:cNvPr id="4" name="10 / 10">
            <a:extLst xmlns:a="http://schemas.openxmlformats.org/drawingml/2006/main">
              <a:ext uri="{FF2B5EF4-FFF2-40B4-BE49-F238E27FC236}">
                <a16:creationId xmlns:a16="http://schemas.microsoft.com/office/drawing/2014/main" id="{8651110A-C5A4-4CC7-AFE6-6F9DB392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10 / 10</a:t>
            </a:r>
          </a:p>
        </p:txBody>
      </p:sp>
      <p:sp>
        <p:nvSpPr>
          <p:cNvPr id="5" name="结构识别">
            <a:extLst xmlns:a="http://schemas.openxmlformats.org/drawingml/2006/main">
              <a:ext uri="{FF2B5EF4-FFF2-40B4-BE49-F238E27FC236}">
                <a16:creationId xmlns:a16="http://schemas.microsoft.com/office/drawing/2014/main" id="{37229CA3-4AAA-405D-817D-3F285847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954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结构识别</a:t>
            </a:r>
          </a:p>
        </p:txBody>
      </p:sp>
      <p:sp>
        <p:nvSpPr>
          <p:cNvPr id="6" name="多峰与全谱比对，判断样品和目标结构的一致性">
            <a:extLst xmlns:a="http://schemas.openxmlformats.org/drawingml/2006/main">
              <a:ext uri="{FF2B5EF4-FFF2-40B4-BE49-F238E27FC236}">
                <a16:creationId xmlns:a16="http://schemas.microsoft.com/office/drawing/2014/main" id="{59AAF1AA-DD88-4679-B9DB-0BE5251E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24025"/>
            <a:ext cx="8334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多峰与全谱比对，判断样品和目标结构的一致性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E46C7C-4E89-4081-BE3F-F8BEDB81A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937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B"/>
          </a:solidFill>
          <a:ln xmlns:a="http://schemas.openxmlformats.org/drawingml/2006/main" w="0">
            <a:noFill/>
          </a:ln>
        </p:spPr>
      </p:sp>
      <p:sp>
        <p:nvSpPr>
          <p:cNvPr id="8" name="变化分析">
            <a:extLst xmlns:a="http://schemas.openxmlformats.org/drawingml/2006/main">
              <a:ext uri="{FF2B5EF4-FFF2-40B4-BE49-F238E27FC236}">
                <a16:creationId xmlns:a16="http://schemas.microsoft.com/office/drawing/2014/main" id="{3400CAD6-71D9-4872-B258-98248CB5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765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变化分析</a:t>
            </a:r>
          </a:p>
        </p:txBody>
      </p:sp>
      <p:sp>
        <p:nvSpPr>
          <p:cNvPr id="9" name="关注峰位和峰宽，同时检查制样、仪器与样品状态">
            <a:extLst xmlns:a="http://schemas.openxmlformats.org/drawingml/2006/main">
              <a:ext uri="{FF2B5EF4-FFF2-40B4-BE49-F238E27FC236}">
                <a16:creationId xmlns:a16="http://schemas.microsoft.com/office/drawing/2014/main" id="{096C804D-9B1D-4A98-A5B0-250BFB33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905125"/>
            <a:ext cx="8334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关注峰位和峰宽，同时检查制样、仪器与样品状态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34C55-D29D-4AEF-B787-EEDC567B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0047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EB"/>
          </a:solidFill>
          <a:ln xmlns:a="http://schemas.openxmlformats.org/drawingml/2006/main" w="0">
            <a:noFill/>
          </a:ln>
        </p:spPr>
      </p:sp>
      <p:sp>
        <p:nvSpPr>
          <p:cNvPr id="11" name="联合验证">
            <a:extLst xmlns:a="http://schemas.openxmlformats.org/drawingml/2006/main">
              <a:ext uri="{FF2B5EF4-FFF2-40B4-BE49-F238E27FC236}">
                <a16:creationId xmlns:a16="http://schemas.microsoft.com/office/drawing/2014/main" id="{0F148202-B401-483F-AA8C-DCA1D9C0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576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联合验证</a:t>
            </a:r>
          </a:p>
        </p:txBody>
      </p:sp>
      <p:sp>
        <p:nvSpPr>
          <p:cNvPr id="12" name="用显微、光谱、吸附和性能测试补全研究结论">
            <a:extLst xmlns:a="http://schemas.openxmlformats.org/drawingml/2006/main">
              <a:ext uri="{FF2B5EF4-FFF2-40B4-BE49-F238E27FC236}">
                <a16:creationId xmlns:a16="http://schemas.microsoft.com/office/drawing/2014/main" id="{90BE6DCA-3C7C-47D2-98AD-01B2BE9B8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086225"/>
            <a:ext cx="8334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用显微、光谱、吸附和性能测试补全研究结论</a:t>
            </a:r>
          </a:p>
        </p:txBody>
      </p:sp>
      <p:sp>
        <p:nvSpPr>
          <p:cNvPr id="13" name="记住：单一图谱的解释，要有明确边界">
            <a:extLst xmlns:a="http://schemas.openxmlformats.org/drawingml/2006/main">
              <a:ext uri="{FF2B5EF4-FFF2-40B4-BE49-F238E27FC236}">
                <a16:creationId xmlns:a16="http://schemas.microsoft.com/office/drawing/2014/main" id="{6E55B605-1275-4FB2-86B4-F30BD65F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00700"/>
            <a:ext cx="10896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625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记住：单一图谱的解释，要有明确边界</a:t>
            </a:r>
          </a:p>
        </p:txBody>
      </p:sp>
    </p:spTree>
    <p:extLst>
      <p:ext uri="{BB962C8B-B14F-4D97-AF65-F5344CB8AC3E}">
        <p14:creationId xmlns:p14="http://schemas.microsoft.com/office/powerpoint/2010/main" val="18726481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备用1：拟合图例与两种COF的原始图谱">
            <a:extLst xmlns:a="http://schemas.openxmlformats.org/drawingml/2006/main">
              <a:ext uri="{FF2B5EF4-FFF2-40B4-BE49-F238E27FC236}">
                <a16:creationId xmlns:a16="http://schemas.microsoft.com/office/drawing/2014/main" id="{ED1C4952-7504-4349-BED9-BC2FEA4B3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备用1：拟合图例与两种COF的原始图谱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63351F-ED33-45CE-A431-DDE59299C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3" name="[3] 原图沿用用户提供的PPT第7、8页，对应论文Fig.">
            <a:extLst xmlns:a="http://schemas.openxmlformats.org/drawingml/2006/main">
              <a:ext uri="{FF2B5EF4-FFF2-40B4-BE49-F238E27FC236}">
                <a16:creationId xmlns:a16="http://schemas.microsoft.com/office/drawing/2014/main" id="{7EC603C2-5B50-4049-B7AC-2515CC0A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[3] 原图沿用用户提供的PPT第7、8页，对应论文Fig. 1a、b，原曲线未重绘</a:t>
            </a:r>
          </a:p>
        </p:txBody>
      </p:sp>
      <p:sp>
        <p:nvSpPr>
          <p:cNvPr id="4" name="备用 1">
            <a:extLst xmlns:a="http://schemas.openxmlformats.org/drawingml/2006/main">
              <a:ext uri="{FF2B5EF4-FFF2-40B4-BE49-F238E27FC236}">
                <a16:creationId xmlns:a16="http://schemas.microsoft.com/office/drawing/2014/main" id="{2E848B5B-A336-4274-8538-1EF07AE1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备用 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637A2-78D7-415D-96CC-E9DA3B09EB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3ef1516efc46ac"/>
          <a:stretch xmlns:a="http://schemas.openxmlformats.org/drawingml/2006/main"/>
        </p:blipFill>
        <p:spPr>
          <a:xfrm xmlns:a="http://schemas.openxmlformats.org/drawingml/2006/main">
            <a:off x="777387" y="1504950"/>
            <a:ext cx="4788877" cy="40957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44D921-6120-45C5-9E10-99153F77C5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83a02ce4d4fbb"/>
          <a:stretch xmlns:a="http://schemas.openxmlformats.org/drawingml/2006/main"/>
        </p:blipFill>
        <p:spPr>
          <a:xfrm xmlns:a="http://schemas.openxmlformats.org/drawingml/2006/main">
            <a:off x="6543309" y="1504950"/>
            <a:ext cx="4820383" cy="4095750"/>
          </a:xfrm>
          <a:prstGeom xmlns:a="http://schemas.openxmlformats.org/drawingml/2006/main" prst="rect">
            <a:avLst/>
          </a:prstGeom>
        </p:spPr>
      </p:pic>
      <p:sp>
        <p:nvSpPr>
          <p:cNvPr id="7" name="TT-TPDA-COF：Rwp = 5.28%">
            <a:extLst xmlns:a="http://schemas.openxmlformats.org/drawingml/2006/main">
              <a:ext uri="{FF2B5EF4-FFF2-40B4-BE49-F238E27FC236}">
                <a16:creationId xmlns:a16="http://schemas.microsoft.com/office/drawing/2014/main" id="{4DFCF9D2-7A07-406C-A146-2F15C5BC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62625"/>
            <a:ext cx="5238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TT-TPDA-COF：Rwp = 5.28%</a:t>
            </a:r>
          </a:p>
        </p:txBody>
      </p:sp>
      <p:sp>
        <p:nvSpPr>
          <p:cNvPr id="8" name="Np-TPDA-COF：Rwp = 4.98%">
            <a:extLst xmlns:a="http://schemas.openxmlformats.org/drawingml/2006/main">
              <a:ext uri="{FF2B5EF4-FFF2-40B4-BE49-F238E27FC236}">
                <a16:creationId xmlns:a16="http://schemas.microsoft.com/office/drawing/2014/main" id="{BED3D713-A401-43FC-A783-0F03B254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762625"/>
            <a:ext cx="514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Np-TPDA-COF：Rwp = 4.98%</a:t>
            </a:r>
          </a:p>
        </p:txBody>
      </p:sp>
    </p:spTree>
    <p:extLst>
      <p:ext uri="{BB962C8B-B14F-4D97-AF65-F5344CB8AC3E}">
        <p14:creationId xmlns:p14="http://schemas.microsoft.com/office/powerpoint/2010/main" val="15142244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备用2：数据分析流程与常用软件">
            <a:extLst xmlns:a="http://schemas.openxmlformats.org/drawingml/2006/main">
              <a:ext uri="{FF2B5EF4-FFF2-40B4-BE49-F238E27FC236}">
                <a16:creationId xmlns:a16="http://schemas.microsoft.com/office/drawing/2014/main" id="{EAF7543B-70BC-4B56-AB56-06858008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备用2：数据分析流程与常用软件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446EC-BED3-4A30-862B-E41A89E6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3" name="软件功能为入门概括，具体操作以版本和官方文档为准">
            <a:extLst xmlns:a="http://schemas.openxmlformats.org/drawingml/2006/main">
              <a:ext uri="{FF2B5EF4-FFF2-40B4-BE49-F238E27FC236}">
                <a16:creationId xmlns:a16="http://schemas.microsoft.com/office/drawing/2014/main" id="{FF512384-FDA7-4E37-84EF-20206CDC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软件功能为入门概括，具体操作以版本和官方文档为准</a:t>
            </a:r>
          </a:p>
        </p:txBody>
      </p:sp>
      <p:sp>
        <p:nvSpPr>
          <p:cNvPr id="4" name="备用 2">
            <a:extLst xmlns:a="http://schemas.openxmlformats.org/drawingml/2006/main">
              <a:ext uri="{FF2B5EF4-FFF2-40B4-BE49-F238E27FC236}">
                <a16:creationId xmlns:a16="http://schemas.microsoft.com/office/drawing/2014/main" id="{57383ED8-5A58-4309-BC7C-B3865332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备用 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EC643-2617-43B3-AF5F-258B48662DB2}"/>
              </a:ext>
            </a:extLst>
          </p:cNvPr>
          <p:cNvGraphicFramePr/>
          <p:nvPr/>
        </p:nvGraphicFramePr>
        <p:xfrm>
          <a:off xmlns:a="http://schemas.openxmlformats.org/drawingml/2006/main" x="590550" y="1562100"/>
          <a:ext xmlns:a="http://schemas.openxmlformats.org/drawingml/2006/main" cx="11029950" cy="3752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3810000"/>
                <a:gridCol w="4219575"/>
              </a:tblGrid>
              <a:tr h="75057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步骤</a:t>
                      </a:r>
                    </a:p>
                  </a:txBody>
                  <a:tcPr marL="142875" marR="114300" marT="114300" marB="95250" anchor="ctr">
                    <a:solidFill>
                      <a:srgbClr val="13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工具示例</a:t>
                      </a:r>
                    </a:p>
                  </a:txBody>
                  <a:tcPr marL="142875" marR="114300" marT="114300" marB="95250" anchor="ctr">
                    <a:solidFill>
                      <a:srgbClr val="132D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需要保留的结果</a:t>
                      </a:r>
                    </a:p>
                  </a:txBody>
                  <a:tcPr marL="142875" marR="114300" marT="114300" marB="95250" anchor="ctr">
                    <a:solidFill>
                      <a:srgbClr val="132D42"/>
                    </a:solidFill>
                  </a:tcPr>
                </a:tc>
              </a:tr>
              <a:tr h="75057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检查原始数据与绘图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Origin / OriginPro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原始文件、样品状态及处理记录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</a:tr>
              <a:tr h="75057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寻峰与物相检索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JADE、Match!、DIFFRAC.EVA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候选物相，并用组成与全谱复核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</a:tr>
              <a:tr h="75057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根据结构计算图谱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Materials Studio（Reflex）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结构文件、光源及模拟参数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</a:tr>
              <a:tr h="75057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全谱拟合与进一步分析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GSAS-II、TOPAS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32D42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拟合模型、差值、残差指标和工程文件</a:t>
                      </a:r>
                    </a:p>
                  </a:txBody>
                  <a:tcPr marL="142875" marR="114300" marT="11430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数据处理应可追溯">
            <a:extLst xmlns:a="http://schemas.openxmlformats.org/drawingml/2006/main">
              <a:ext uri="{FF2B5EF4-FFF2-40B4-BE49-F238E27FC236}">
                <a16:creationId xmlns:a16="http://schemas.microsoft.com/office/drawing/2014/main" id="{62F73F1D-F971-474A-A121-DF1E9712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578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数据处理应可追溯</a:t>
            </a:r>
          </a:p>
        </p:txBody>
      </p:sp>
      <p:sp>
        <p:nvSpPr>
          <p:cNvPr id="7" name="保留原始数据，避免过度平滑。数据库命中仅作为候选证据。">
            <a:extLst xmlns:a="http://schemas.openxmlformats.org/drawingml/2006/main">
              <a:ext uri="{FF2B5EF4-FFF2-40B4-BE49-F238E27FC236}">
                <a16:creationId xmlns:a16="http://schemas.microsoft.com/office/drawing/2014/main" id="{5A1CAB47-9B22-4EA0-890A-6743D454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96000"/>
            <a:ext cx="10858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保留原始数据，避免过度平滑。数据库命中仅作为候选证据。</a:t>
            </a:r>
          </a:p>
        </p:txBody>
      </p:sp>
    </p:spTree>
    <p:extLst>
      <p:ext uri="{BB962C8B-B14F-4D97-AF65-F5344CB8AC3E}">
        <p14:creationId xmlns:p14="http://schemas.microsoft.com/office/powerpoint/2010/main" val="12449753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备用3：晶面间距与晶畴尺寸的计算">
            <a:extLst xmlns:a="http://schemas.openxmlformats.org/drawingml/2006/main">
              <a:ext uri="{FF2B5EF4-FFF2-40B4-BE49-F238E27FC236}">
                <a16:creationId xmlns:a16="http://schemas.microsoft.com/office/drawing/2014/main" id="{F2B2AA64-06C3-424C-80BB-69C9CC45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备用3：晶面间距与晶畴尺寸的计算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33DD1-864E-4010-AB11-69D9120C0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3" name="以下为教学假设值，不是对文献原图重新拟合得到的实验结果">
            <a:extLst xmlns:a="http://schemas.openxmlformats.org/drawingml/2006/main">
              <a:ext uri="{FF2B5EF4-FFF2-40B4-BE49-F238E27FC236}">
                <a16:creationId xmlns:a16="http://schemas.microsoft.com/office/drawing/2014/main" id="{11111C72-1B5E-4CA9-9F14-9C62C316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以下为教学假设值，不是对文献原图重新拟合得到的实验结果</a:t>
            </a:r>
          </a:p>
        </p:txBody>
      </p:sp>
      <p:sp>
        <p:nvSpPr>
          <p:cNvPr id="4" name="备用 3">
            <a:extLst xmlns:a="http://schemas.openxmlformats.org/drawingml/2006/main">
              <a:ext uri="{FF2B5EF4-FFF2-40B4-BE49-F238E27FC236}">
                <a16:creationId xmlns:a16="http://schemas.microsoft.com/office/drawing/2014/main" id="{372C928B-E92E-452C-82FC-4AB9A0B8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备用 3</a:t>
            </a:r>
          </a:p>
        </p:txBody>
      </p:sp>
      <p:sp>
        <p:nvSpPr>
          <p:cNvPr id="5" name="布拉格关系">
            <a:extLst xmlns:a="http://schemas.openxmlformats.org/drawingml/2006/main">
              <a:ext uri="{FF2B5EF4-FFF2-40B4-BE49-F238E27FC236}">
                <a16:creationId xmlns:a16="http://schemas.microsoft.com/office/drawing/2014/main" id="{79F7EFAC-1CB0-47AB-B5A6-92D710E5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383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布拉格关系</a:t>
            </a:r>
          </a:p>
        </p:txBody>
      </p:sp>
      <p:sp>
        <p:nvSpPr>
          <p:cNvPr id="6" name="d = λ / (2 sinθ)">
            <a:extLst xmlns:a="http://schemas.openxmlformats.org/drawingml/2006/main">
              <a:ext uri="{FF2B5EF4-FFF2-40B4-BE49-F238E27FC236}">
                <a16:creationId xmlns:a16="http://schemas.microsoft.com/office/drawing/2014/main" id="{9A9552B1-869C-43AA-AC36-0795F4047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86000"/>
            <a:ext cx="5429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d = λ / (2 sinθ)</a:t>
            </a:r>
          </a:p>
        </p:txBody>
      </p:sp>
      <p:sp>
        <p:nvSpPr>
          <p:cNvPr id="7" name="Cu Kα：λ = 0.15406 nm&#10;若2θ = 2.5">
            <a:extLst xmlns:a="http://schemas.openxmlformats.org/drawingml/2006/main">
              <a:ext uri="{FF2B5EF4-FFF2-40B4-BE49-F238E27FC236}">
                <a16:creationId xmlns:a16="http://schemas.microsoft.com/office/drawing/2014/main" id="{FC25A3FB-4D9E-45C2-8DDB-29D09F55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90875"/>
            <a:ext cx="54292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Cu Kα：λ = 0.15406 nm</a:t>
            </a:r>
          </a:p>
          <a:p xmlns:a="http://schemas.openxmlformats.org/drawingml/2006/main">
            <a:pPr algn="l">
              <a:defRPr sz="210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若2θ = 2.50°，则θ = 1.25°</a:t>
            </a:r>
          </a:p>
          <a:p xmlns:a="http://schemas.openxmlformats.org/drawingml/2006/main">
            <a:pPr algn="l">
              <a:defRPr sz="210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计算得d ≈ 3.53 nm</a:t>
            </a:r>
          </a:p>
        </p:txBody>
      </p:sp>
      <p:sp>
        <p:nvSpPr>
          <p:cNvPr id="8" name="这个值是晶面间距，不能直接作为孔径。">
            <a:extLst xmlns:a="http://schemas.openxmlformats.org/drawingml/2006/main">
              <a:ext uri="{FF2B5EF4-FFF2-40B4-BE49-F238E27FC236}">
                <a16:creationId xmlns:a16="http://schemas.microsoft.com/office/drawing/2014/main" id="{B7D06BD1-7E14-418D-9DEE-AAC19C1D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9700"/>
            <a:ext cx="519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B876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B876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B87624"/>
                </a:solidFill>
                <a:latin typeface="Noto Sans CJK SC"/>
                <a:ea typeface="Noto Sans CJK SC"/>
                <a:cs typeface="Noto Sans CJK SC"/>
              </a:rPr>
              <a:t>这个值是晶面间距，不能直接作为孔径。</a:t>
            </a:r>
          </a:p>
        </p:txBody>
      </p:sp>
      <p:sp>
        <p:nvSpPr>
          <p:cNvPr id="9" name="Scherrer（谢乐）估算">
            <a:extLst xmlns:a="http://schemas.openxmlformats.org/drawingml/2006/main">
              <a:ext uri="{FF2B5EF4-FFF2-40B4-BE49-F238E27FC236}">
                <a16:creationId xmlns:a16="http://schemas.microsoft.com/office/drawing/2014/main" id="{AE175510-5F59-4747-B6C4-050DB55F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383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Scherrer（谢乐）估算</a:t>
            </a:r>
          </a:p>
        </p:txBody>
      </p:sp>
      <p:sp>
        <p:nvSpPr>
          <p:cNvPr id="10" name="D = Kλ / (β cosθ)">
            <a:extLst xmlns:a="http://schemas.openxmlformats.org/drawingml/2006/main">
              <a:ext uri="{FF2B5EF4-FFF2-40B4-BE49-F238E27FC236}">
                <a16:creationId xmlns:a16="http://schemas.microsoft.com/office/drawing/2014/main" id="{B26B603B-4821-40A0-9752-9F72FCF5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7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D = Kλ / (β cosθ)</a:t>
            </a:r>
          </a:p>
        </p:txBody>
      </p:sp>
      <p:sp>
        <p:nvSpPr>
          <p:cNvPr id="11" name="取K = 0.9，2θ = 7.4°&#10;校正后β = 1.5°">
            <a:extLst xmlns:a="http://schemas.openxmlformats.org/drawingml/2006/main">
              <a:ext uri="{FF2B5EF4-FFF2-40B4-BE49-F238E27FC236}">
                <a16:creationId xmlns:a16="http://schemas.microsoft.com/office/drawing/2014/main" id="{27B26AEE-457B-4179-966D-E43734367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90875"/>
            <a:ext cx="4857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取K = 0.9，2θ = 7.4°</a:t>
            </a:r>
          </a:p>
          <a:p xmlns:a="http://schemas.openxmlformats.org/drawingml/2006/main">
            <a:pPr algn="l">
              <a:defRPr sz="20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校正后β = 1.5° = 0.02618 rad</a:t>
            </a:r>
          </a:p>
          <a:p xmlns:a="http://schemas.openxmlformats.org/drawingml/2006/main">
            <a:pPr algn="l">
              <a:defRPr sz="20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估算得D ≈ 5.31 nm</a:t>
            </a:r>
          </a:p>
        </p:txBody>
      </p:sp>
      <p:sp>
        <p:nvSpPr>
          <p:cNvPr id="12" name="D为该方向相干衍射区域的尺度，&#10;不一定等于TEM颗粒尺寸。">
            <a:extLst xmlns:a="http://schemas.openxmlformats.org/drawingml/2006/main">
              <a:ext uri="{FF2B5EF4-FFF2-40B4-BE49-F238E27FC236}">
                <a16:creationId xmlns:a16="http://schemas.microsoft.com/office/drawing/2014/main" id="{EB865C1D-D595-4253-B715-0A97FCD3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19700"/>
            <a:ext cx="4857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B8762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B876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B87624"/>
                </a:solidFill>
                <a:latin typeface="Noto Sans CJK SC"/>
                <a:ea typeface="Noto Sans CJK SC"/>
                <a:cs typeface="Noto Sans CJK SC"/>
              </a:rPr>
              <a:t>D为该方向相干衍射区域的尺度，</a:t>
            </a:r>
          </a:p>
          <a:p xmlns:a="http://schemas.openxmlformats.org/drawingml/2006/main">
            <a:pPr algn="l">
              <a:defRPr sz="1950" b="1">
                <a:solidFill>
                  <a:srgbClr val="B8762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B87624"/>
                </a:solidFill>
                <a:latin typeface="Noto Sans CJK SC"/>
                <a:ea typeface="Noto Sans CJK SC"/>
                <a:cs typeface="Noto Sans CJK SC"/>
              </a:rPr>
              <a:t>不一定等于TEM颗粒尺寸。</a:t>
            </a:r>
          </a:p>
        </p:txBody>
      </p:sp>
    </p:spTree>
    <p:extLst>
      <p:ext uri="{BB962C8B-B14F-4D97-AF65-F5344CB8AC3E}">
        <p14:creationId xmlns:p14="http://schemas.microsoft.com/office/powerpoint/2010/main" val="13697708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备用4：讨论中常见问题">
            <a:extLst xmlns:a="http://schemas.openxmlformats.org/drawingml/2006/main">
              <a:ext uri="{FF2B5EF4-FFF2-40B4-BE49-F238E27FC236}">
                <a16:creationId xmlns:a16="http://schemas.microsoft.com/office/drawing/2014/main" id="{FE8362E2-CCD0-4C22-BC53-FD6038B5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备用4：讨论中常见问题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04E7D-A6A6-42A3-BE01-1FDA0099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3" name="建议回答时区分直接观察、合理解释与仍需验证的内容">
            <a:extLst xmlns:a="http://schemas.openxmlformats.org/drawingml/2006/main">
              <a:ext uri="{FF2B5EF4-FFF2-40B4-BE49-F238E27FC236}">
                <a16:creationId xmlns:a16="http://schemas.microsoft.com/office/drawing/2014/main" id="{A4062904-C0F6-420F-ABEC-13CA1A4E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建议回答时区分直接观察、合理解释与仍需验证的内容</a:t>
            </a:r>
          </a:p>
        </p:txBody>
      </p:sp>
      <p:sp>
        <p:nvSpPr>
          <p:cNvPr id="4" name="备用 4">
            <a:extLst xmlns:a="http://schemas.openxmlformats.org/drawingml/2006/main">
              <a:ext uri="{FF2B5EF4-FFF2-40B4-BE49-F238E27FC236}">
                <a16:creationId xmlns:a16="http://schemas.microsoft.com/office/drawing/2014/main" id="{719F529F-ED25-492D-B80E-F3594DCA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备用 4</a:t>
            </a:r>
          </a:p>
        </p:txBody>
      </p:sp>
      <p:sp>
        <p:nvSpPr>
          <p:cNvPr id="5" name="只有一个强峰，能证明目标结构形成吗？">
            <a:extLst xmlns:a="http://schemas.openxmlformats.org/drawingml/2006/main">
              <a:ext uri="{FF2B5EF4-FFF2-40B4-BE49-F238E27FC236}">
                <a16:creationId xmlns:a16="http://schemas.microsoft.com/office/drawing/2014/main" id="{2CE0138F-7A8F-423A-BAC8-5A3C040C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只有一个强峰，能证明目标结构形成吗？</a:t>
            </a:r>
          </a:p>
        </p:txBody>
      </p:sp>
      <p:sp>
        <p:nvSpPr>
          <p:cNvPr id="6" name="证据通常不足，需要多个峰、全谱比较及其他表征共同支持。">
            <a:extLst xmlns:a="http://schemas.openxmlformats.org/drawingml/2006/main">
              <a:ext uri="{FF2B5EF4-FFF2-40B4-BE49-F238E27FC236}">
                <a16:creationId xmlns:a16="http://schemas.microsoft.com/office/drawing/2014/main" id="{48B880D9-DA47-4709-A371-58C9199C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90725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证据通常不足，需要多个峰、全谱比较及其他表征共同支持。</a:t>
            </a:r>
          </a:p>
        </p:txBody>
      </p:sp>
      <p:sp>
        <p:nvSpPr>
          <p:cNvPr id="7" name="处理后XRD峰没变，能证明材料性能没变吗？">
            <a:extLst xmlns:a="http://schemas.openxmlformats.org/drawingml/2006/main">
              <a:ext uri="{FF2B5EF4-FFF2-40B4-BE49-F238E27FC236}">
                <a16:creationId xmlns:a16="http://schemas.microsoft.com/office/drawing/2014/main" id="{30EAC4E5-63BA-4BA6-939D-505BC8F0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处理后XRD峰没变，能证明材料性能没变吗？</a:t>
            </a:r>
          </a:p>
        </p:txBody>
      </p:sp>
      <p:sp>
        <p:nvSpPr>
          <p:cNvPr id="8" name="可支持周期结构保留，孔隙可达性、表面化学及性能仍需独立验证。">
            <a:extLst xmlns:a="http://schemas.openxmlformats.org/drawingml/2006/main">
              <a:ext uri="{FF2B5EF4-FFF2-40B4-BE49-F238E27FC236}">
                <a16:creationId xmlns:a16="http://schemas.microsoft.com/office/drawing/2014/main" id="{1328EFB1-1BA5-420D-BC99-C4E449B5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33725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可支持周期结构保留，孔隙可达性、表面化学及性能仍需独立验证。</a:t>
            </a:r>
          </a:p>
        </p:txBody>
      </p:sp>
      <p:sp>
        <p:nvSpPr>
          <p:cNvPr id="9" name="Rwp越小，材料就越好或结晶度越高吗？">
            <a:extLst xmlns:a="http://schemas.openxmlformats.org/drawingml/2006/main">
              <a:ext uri="{FF2B5EF4-FFF2-40B4-BE49-F238E27FC236}">
                <a16:creationId xmlns:a16="http://schemas.microsoft.com/office/drawing/2014/main" id="{54EB81BC-311A-4990-A95A-D505AC57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Rwp越小，材料就越好或结晶度越高吗？</a:t>
            </a:r>
          </a:p>
        </p:txBody>
      </p:sp>
      <p:sp>
        <p:nvSpPr>
          <p:cNvPr id="10" name="它反映拟合偏差，数值还受数据质量和拟合设置影响。">
            <a:extLst xmlns:a="http://schemas.openxmlformats.org/drawingml/2006/main">
              <a:ext uri="{FF2B5EF4-FFF2-40B4-BE49-F238E27FC236}">
                <a16:creationId xmlns:a16="http://schemas.microsoft.com/office/drawing/2014/main" id="{CAB2E102-38C2-4449-A816-C2F04DE8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76725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它反映拟合偏差，数值还受数据质量和拟合设置影响。</a:t>
            </a:r>
          </a:p>
        </p:txBody>
      </p:sp>
      <p:sp>
        <p:nvSpPr>
          <p:cNvPr id="11" name="低角峰对应的d值，就是孔径吗？">
            <a:extLst xmlns:a="http://schemas.openxmlformats.org/drawingml/2006/main">
              <a:ext uri="{FF2B5EF4-FFF2-40B4-BE49-F238E27FC236}">
                <a16:creationId xmlns:a16="http://schemas.microsoft.com/office/drawing/2014/main" id="{F04AD04D-0A92-4593-AB2A-A87AE762C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低角峰对应的d值，就是孔径吗？</a:t>
            </a:r>
          </a:p>
        </p:txBody>
      </p:sp>
      <p:sp>
        <p:nvSpPr>
          <p:cNvPr id="12" name="d是晶面间距，孔径还需结合结构模型或合适的吸附分析。">
            <a:extLst xmlns:a="http://schemas.openxmlformats.org/drawingml/2006/main">
              <a:ext uri="{FF2B5EF4-FFF2-40B4-BE49-F238E27FC236}">
                <a16:creationId xmlns:a16="http://schemas.microsoft.com/office/drawing/2014/main" id="{ACBA7DBF-951E-4FAB-93B2-C3A0C885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19725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d是晶面间距，孔径还需结合结构模型或合适的吸附分析。</a:t>
            </a:r>
          </a:p>
        </p:txBody>
      </p:sp>
    </p:spTree>
    <p:extLst>
      <p:ext uri="{BB962C8B-B14F-4D97-AF65-F5344CB8AC3E}">
        <p14:creationId xmlns:p14="http://schemas.microsoft.com/office/powerpoint/2010/main" val="82311202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备用5：案例文献与图源">
            <a:extLst xmlns:a="http://schemas.openxmlformats.org/drawingml/2006/main">
              <a:ext uri="{FF2B5EF4-FFF2-40B4-BE49-F238E27FC236}">
                <a16:creationId xmlns:a16="http://schemas.microsoft.com/office/drawing/2014/main" id="{75FE5981-2DDD-4843-A7A7-29C45605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备用5：案例文献与图源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D30C1-043B-4A9B-90A2-1D9AA28C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3" name="文献DOI及完整图源同时保留在相应页的演讲者备注中">
            <a:extLst xmlns:a="http://schemas.openxmlformats.org/drawingml/2006/main">
              <a:ext uri="{FF2B5EF4-FFF2-40B4-BE49-F238E27FC236}">
                <a16:creationId xmlns:a16="http://schemas.microsoft.com/office/drawing/2014/main" id="{FF5DA8AA-DA94-4A37-94D6-83679E79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文献DOI及完整图源同时保留在相应页的演讲者备注中</a:t>
            </a:r>
          </a:p>
        </p:txBody>
      </p:sp>
      <p:sp>
        <p:nvSpPr>
          <p:cNvPr id="4" name="备用 5">
            <a:extLst xmlns:a="http://schemas.openxmlformats.org/drawingml/2006/main">
              <a:ext uri="{FF2B5EF4-FFF2-40B4-BE49-F238E27FC236}">
                <a16:creationId xmlns:a16="http://schemas.microsoft.com/office/drawing/2014/main" id="{1B8BFFB6-F02D-49DD-9E9D-9C640E86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备用 5</a:t>
            </a:r>
          </a:p>
        </p:txBody>
      </p:sp>
      <p:sp>
        <p:nvSpPr>
          <p:cNvPr id="5" name="[1] MOF尺寸与峰宽">
            <a:extLst xmlns:a="http://schemas.openxmlformats.org/drawingml/2006/main">
              <a:ext uri="{FF2B5EF4-FFF2-40B4-BE49-F238E27FC236}">
                <a16:creationId xmlns:a16="http://schemas.microsoft.com/office/drawing/2014/main" id="{D91136A0-A82A-435A-884E-C846AB06F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[1] MOF尺寸与峰宽</a:t>
            </a:r>
          </a:p>
        </p:txBody>
      </p:sp>
      <p:sp>
        <p:nvSpPr>
          <p:cNvPr id="6" name="Dai S. et al. Highly defective">
            <a:extLst xmlns:a="http://schemas.openxmlformats.org/drawingml/2006/main">
              <a:ext uri="{FF2B5EF4-FFF2-40B4-BE49-F238E27FC236}">
                <a16:creationId xmlns:a16="http://schemas.microsoft.com/office/drawing/2014/main" id="{3982A9CA-1373-40CB-8512-C2FF07A5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Dai S. et al. Highly defective ultra-small tetravalent MOF nanocrystals.</a:t>
            </a:r>
          </a:p>
          <a:p xmlns:a="http://schemas.openxmlformats.org/drawingml/2006/main">
            <a:pPr algn="l">
              <a:defRPr sz="14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Nature Communications 15, 3434 (2024).</a:t>
            </a:r>
          </a:p>
        </p:txBody>
      </p:sp>
      <p:sp>
        <p:nvSpPr>
          <p:cNvPr id="7" name="https://doi.org/10.1038/s41467">
            <a:extLst xmlns:a="http://schemas.openxmlformats.org/drawingml/2006/main">
              <a:ext uri="{FF2B5EF4-FFF2-40B4-BE49-F238E27FC236}">
                <a16:creationId xmlns:a16="http://schemas.microsoft.com/office/drawing/2014/main" id="{E427C299-6A5D-41B5-989E-B5ECDC25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0982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77A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77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77AA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9711d923661e41e1"/>
              </a:rPr>
              <a:t>https://doi.org/10.1038/s41467-024-47426-x</a:t>
            </a:r>
          </a:p>
        </p:txBody>
      </p:sp>
      <p:sp>
        <p:nvSpPr>
          <p:cNvPr id="8" name="主讲第6页：Fig. 2b、c，原论文图裁剪显示，CC BY">
            <a:extLst xmlns:a="http://schemas.openxmlformats.org/drawingml/2006/main">
              <a:ext uri="{FF2B5EF4-FFF2-40B4-BE49-F238E27FC236}">
                <a16:creationId xmlns:a16="http://schemas.microsoft.com/office/drawing/2014/main" id="{5C5BE447-8F4E-4184-8916-BA237AA9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09825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主讲第6页：Fig. 2b、c，原论文图裁剪显示，CC BY 4.0。</a:t>
            </a:r>
          </a:p>
        </p:txBody>
      </p:sp>
      <p:sp>
        <p:nvSpPr>
          <p:cNvPr id="9" name="[2] COF结构模型">
            <a:extLst xmlns:a="http://schemas.openxmlformats.org/drawingml/2006/main">
              <a:ext uri="{FF2B5EF4-FFF2-40B4-BE49-F238E27FC236}">
                <a16:creationId xmlns:a16="http://schemas.microsoft.com/office/drawing/2014/main" id="{BA7CAE68-082A-40C6-A5D3-D6A6B5F3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527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[2] COF结构模型</a:t>
            </a:r>
          </a:p>
        </p:txBody>
      </p:sp>
      <p:sp>
        <p:nvSpPr>
          <p:cNvPr id="10" name="Xie Y. et al. Engineering the ">
            <a:extLst xmlns:a="http://schemas.openxmlformats.org/drawingml/2006/main">
              <a:ext uri="{FF2B5EF4-FFF2-40B4-BE49-F238E27FC236}">
                <a16:creationId xmlns:a16="http://schemas.microsoft.com/office/drawing/2014/main" id="{DB774277-D09B-41DB-B5B2-3DC7C812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10858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Xie Y. et al. Engineering the pore environment of antiparallel stacked</a:t>
            </a:r>
          </a:p>
          <a:p xmlns:a="http://schemas.openxmlformats.org/drawingml/2006/main">
            <a:pPr algn="l">
              <a:defRPr sz="14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covalent organic frameworks for capture of iodine pollutants.</a:t>
            </a:r>
          </a:p>
          <a:p xmlns:a="http://schemas.openxmlformats.org/drawingml/2006/main">
            <a:pPr algn="l">
              <a:defRPr sz="14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Nature Communications 15, 2671 (2024).</a:t>
            </a:r>
          </a:p>
        </p:txBody>
      </p:sp>
      <p:sp>
        <p:nvSpPr>
          <p:cNvPr id="11" name="https://doi.org/10.1038/s41467">
            <a:extLst xmlns:a="http://schemas.openxmlformats.org/drawingml/2006/main">
              <a:ext uri="{FF2B5EF4-FFF2-40B4-BE49-F238E27FC236}">
                <a16:creationId xmlns:a16="http://schemas.microsoft.com/office/drawing/2014/main" id="{A0DA5DE8-BC0B-4A50-ADD5-5419D335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2432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77A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77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77AA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db9108f398c94c1d"/>
              </a:rPr>
              <a:t>https://doi.org/10.1038/s41467-024-46942-0</a:t>
            </a:r>
          </a:p>
        </p:txBody>
      </p:sp>
      <p:sp>
        <p:nvSpPr>
          <p:cNvPr id="12" name="主讲第7页：Fig. 2d，原论文图裁剪显示，CC BY 4">
            <a:extLst xmlns:a="http://schemas.openxmlformats.org/drawingml/2006/main">
              <a:ext uri="{FF2B5EF4-FFF2-40B4-BE49-F238E27FC236}">
                <a16:creationId xmlns:a16="http://schemas.microsoft.com/office/drawing/2014/main" id="{7A7B7838-2FFE-4ACF-A87D-976B193E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124325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主讲第7页：Fig. 2d，原论文图裁剪显示，CC BY 4.0。</a:t>
            </a:r>
          </a:p>
        </p:txBody>
      </p:sp>
      <p:sp>
        <p:nvSpPr>
          <p:cNvPr id="13" name="[3] COF电池正极">
            <a:extLst xmlns:a="http://schemas.openxmlformats.org/drawingml/2006/main">
              <a:ext uri="{FF2B5EF4-FFF2-40B4-BE49-F238E27FC236}">
                <a16:creationId xmlns:a16="http://schemas.microsoft.com/office/drawing/2014/main" id="{6E4EDF2B-4C5C-4C64-93FD-142F1DD6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196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[3] COF电池正极</a:t>
            </a:r>
          </a:p>
        </p:txBody>
      </p:sp>
      <p:sp>
        <p:nvSpPr>
          <p:cNvPr id="14" name="Xu Q. et al. Thiophene-Based B">
            <a:extLst xmlns:a="http://schemas.openxmlformats.org/drawingml/2006/main">
              <a:ext uri="{FF2B5EF4-FFF2-40B4-BE49-F238E27FC236}">
                <a16:creationId xmlns:a16="http://schemas.microsoft.com/office/drawing/2014/main" id="{E6F2BA34-CE9D-4C29-9F8E-AA0A5C92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00625"/>
            <a:ext cx="10858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Xu Q. et al. Thiophene-Based Bipolar-Type Covalent Organic Frameworks</a:t>
            </a:r>
          </a:p>
          <a:p xmlns:a="http://schemas.openxmlformats.org/drawingml/2006/main">
            <a:pPr algn="l">
              <a:defRPr sz="14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with Extended π-Conjugation as Superior Cathode for Lithium-Ion Batteries.</a:t>
            </a:r>
          </a:p>
          <a:p xmlns:a="http://schemas.openxmlformats.org/drawingml/2006/main">
            <a:pPr algn="l">
              <a:defRPr sz="14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Advanced Functional Materials 35, 2506111 (2025).</a:t>
            </a:r>
          </a:p>
        </p:txBody>
      </p:sp>
      <p:sp>
        <p:nvSpPr>
          <p:cNvPr id="15" name="https://doi.org/10.1002/adfm.2">
            <a:extLst xmlns:a="http://schemas.openxmlformats.org/drawingml/2006/main">
              <a:ext uri="{FF2B5EF4-FFF2-40B4-BE49-F238E27FC236}">
                <a16:creationId xmlns:a16="http://schemas.microsoft.com/office/drawing/2014/main" id="{DD652CF9-10CC-4E36-AA65-AE05F841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91200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77A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77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77AA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5bb49e216fc44557"/>
              </a:rPr>
              <a:t>https://doi.org/10.1002/adfm.202506111</a:t>
            </a:r>
          </a:p>
        </p:txBody>
      </p:sp>
      <p:sp>
        <p:nvSpPr>
          <p:cNvPr id="16" name="主讲第9页：摘要性能数值。备用1图谱沿用用户附件。">
            <a:extLst xmlns:a="http://schemas.openxmlformats.org/drawingml/2006/main">
              <a:ext uri="{FF2B5EF4-FFF2-40B4-BE49-F238E27FC236}">
                <a16:creationId xmlns:a16="http://schemas.microsoft.com/office/drawing/2014/main" id="{8CD7C9B2-8368-4BC4-B2DB-2B1805425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791200"/>
            <a:ext cx="3905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主讲第9页：摘要性能数值。备用1图谱沿用用户附件。</a:t>
            </a:r>
          </a:p>
        </p:txBody>
      </p:sp>
    </p:spTree>
    <p:extLst>
      <p:ext uri="{BB962C8B-B14F-4D97-AF65-F5344CB8AC3E}">
        <p14:creationId xmlns:p14="http://schemas.microsoft.com/office/powerpoint/2010/main" val="6268970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D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备用6：方法资料与术语边界">
            <a:extLst xmlns:a="http://schemas.openxmlformats.org/drawingml/2006/main">
              <a:ext uri="{FF2B5EF4-FFF2-40B4-BE49-F238E27FC236}">
                <a16:creationId xmlns:a16="http://schemas.microsoft.com/office/drawing/2014/main" id="{69A1FAF6-3ED4-4688-A275-70256F40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"/>
            <a:ext cx="11096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000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备用6：方法资料与术语边界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E84DB9-81A2-484E-93BB-8694D269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33475"/>
            <a:ext cx="11087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83"/>
          </a:solidFill>
          <a:ln xmlns:a="http://schemas.openxmlformats.org/drawingml/2006/main" w="0">
            <a:noFill/>
          </a:ln>
        </p:spPr>
      </p:sp>
      <p:sp>
        <p:nvSpPr>
          <p:cNvPr id="3" name="基础方法文献及软件资料可供课后学习，访问日期：2026-10">
            <a:extLst xmlns:a="http://schemas.openxmlformats.org/drawingml/2006/main">
              <a:ext uri="{FF2B5EF4-FFF2-40B4-BE49-F238E27FC236}">
                <a16:creationId xmlns:a16="http://schemas.microsoft.com/office/drawing/2014/main" id="{FCAFB83B-082A-4094-8DA8-856F5B91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038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00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基础方法文献及软件资料可供课后学习，访问日期：2026-10-15</a:t>
            </a:r>
          </a:p>
        </p:txBody>
      </p:sp>
      <p:sp>
        <p:nvSpPr>
          <p:cNvPr id="4" name="备用 6">
            <a:extLst xmlns:a="http://schemas.openxmlformats.org/drawingml/2006/main">
              <a:ext uri="{FF2B5EF4-FFF2-40B4-BE49-F238E27FC236}">
                <a16:creationId xmlns:a16="http://schemas.microsoft.com/office/drawing/2014/main" id="{0330CA33-259B-4E2E-94EB-C0B7DEA9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76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75" b="0">
                <a:solidFill>
                  <a:srgbClr val="536A78"/>
                </a:solidFill>
                <a:latin typeface="Noto Sans CJK SC"/>
                <a:ea typeface="Noto Sans CJK SC"/>
                <a:cs typeface="Noto Sans CJK SC"/>
              </a:rPr>
              <a:t>备用 6</a:t>
            </a:r>
          </a:p>
        </p:txBody>
      </p:sp>
      <p:sp>
        <p:nvSpPr>
          <p:cNvPr id="5" name="粉末XRD基础、制样、晶粒尺寸及结晶度">
            <a:extLst xmlns:a="http://schemas.openxmlformats.org/drawingml/2006/main">
              <a:ext uri="{FF2B5EF4-FFF2-40B4-BE49-F238E27FC236}">
                <a16:creationId xmlns:a16="http://schemas.microsoft.com/office/drawing/2014/main" id="{6D0BF9E2-9E6A-41C1-9754-DC2F4B30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43050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粉末XRD基础、制样、晶粒尺寸及结晶度</a:t>
            </a:r>
          </a:p>
        </p:txBody>
      </p:sp>
      <p:sp>
        <p:nvSpPr>
          <p:cNvPr id="6" name="Rigaku：Powder X-ray Diffractio">
            <a:extLst xmlns:a="http://schemas.openxmlformats.org/drawingml/2006/main">
              <a:ext uri="{FF2B5EF4-FFF2-40B4-BE49-F238E27FC236}">
                <a16:creationId xmlns:a16="http://schemas.microsoft.com/office/drawing/2014/main" id="{C190B200-1C86-42F0-8F4A-36A52009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Rigaku：Powder X-ray Diffraction Basic Course</a:t>
            </a:r>
          </a:p>
        </p:txBody>
      </p:sp>
      <p:sp>
        <p:nvSpPr>
          <p:cNvPr id="7" name="https://rigaku.com/products/x-">
            <a:extLst xmlns:a="http://schemas.openxmlformats.org/drawingml/2006/main">
              <a:ext uri="{FF2B5EF4-FFF2-40B4-BE49-F238E27FC236}">
                <a16:creationId xmlns:a16="http://schemas.microsoft.com/office/drawing/2014/main" id="{E59D50EF-A202-4D7E-A81E-5C104C64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860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4F77A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4F77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4F77AA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edda240273ae46f8"/>
              </a:rPr>
              <a:t>https://rigaku.com/products/x-ray-diffraction-and-scattering/xrd/learning/basics</a:t>
            </a:r>
          </a:p>
        </p:txBody>
      </p:sp>
      <p:sp>
        <p:nvSpPr>
          <p:cNvPr id="8" name="Pawley全谱拟合的原始方法">
            <a:extLst xmlns:a="http://schemas.openxmlformats.org/drawingml/2006/main">
              <a:ext uri="{FF2B5EF4-FFF2-40B4-BE49-F238E27FC236}">
                <a16:creationId xmlns:a16="http://schemas.microsoft.com/office/drawing/2014/main" id="{ABB24706-CAB7-4E3F-94B2-57288549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09925"/>
            <a:ext cx="1095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007F83"/>
                </a:solidFill>
                <a:latin typeface="Noto Sans CJK SC"/>
                <a:ea typeface="Noto Sans CJK SC"/>
                <a:cs typeface="Noto Sans CJK SC"/>
              </a:rPr>
              <a:t>Pawley全谱拟合的原始方法</a:t>
            </a:r>
          </a:p>
        </p:txBody>
      </p:sp>
      <p:sp>
        <p:nvSpPr>
          <p:cNvPr id="9" name="Pawley G. S. Unit-cell refinem">
            <a:extLst xmlns:a="http://schemas.openxmlformats.org/drawingml/2006/main">
              <a:ext uri="{FF2B5EF4-FFF2-40B4-BE49-F238E27FC236}">
                <a16:creationId xmlns:a16="http://schemas.microsoft.com/office/drawing/2014/main" id="{4B844B12-8DFB-46B2-960E-09DAA755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33800"/>
            <a:ext cx="10953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Pawley G. S. Unit-cell refinement from powder diffraction scans.</a:t>
            </a:r>
          </a:p>
          <a:p xmlns:a="http://schemas.openxmlformats.org/drawingml/2006/main">
            <a:pPr algn="l">
              <a:defRPr sz="180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Journal of Applied Crystallography 14, 357–361 (1981).</a:t>
            </a:r>
          </a:p>
        </p:txBody>
      </p:sp>
      <p:sp>
        <p:nvSpPr>
          <p:cNvPr id="10" name="https://doi.org/10.1107/S00218">
            <a:extLst xmlns:a="http://schemas.openxmlformats.org/drawingml/2006/main">
              <a:ext uri="{FF2B5EF4-FFF2-40B4-BE49-F238E27FC236}">
                <a16:creationId xmlns:a16="http://schemas.microsoft.com/office/drawing/2014/main" id="{216C7BA5-BF99-400F-827E-5AAC0C6C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624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4F77A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4F77A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4F77AA"/>
                </a:solidFill>
                <a:latin typeface="Noto Sans CJK SC"/>
                <a:ea typeface="Noto Sans CJK SC"/>
                <a:cs typeface="Noto Sans CJK SC"/>
                <a:hlinkClick xmlns:r="http://schemas.openxmlformats.org/officeDocument/2006/relationships" r:id="R2a67db2e22a148c9"/>
              </a:rPr>
              <a:t>https://doi.org/10.1107/S0021889881009618</a:t>
            </a:r>
          </a:p>
        </p:txBody>
      </p:sp>
      <p:sp>
        <p:nvSpPr>
          <p:cNvPr id="11" name="Pawley拟合独立调整反射强度，不以原子结构验证峰强。&#10;R">
            <a:extLst xmlns:a="http://schemas.openxmlformats.org/drawingml/2006/main">
              <a:ext uri="{FF2B5EF4-FFF2-40B4-BE49-F238E27FC236}">
                <a16:creationId xmlns:a16="http://schemas.microsoft.com/office/drawing/2014/main" id="{2D13F3FE-8E06-4FBB-B8BD-42A3DDE0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05425"/>
            <a:ext cx="109537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Pawley拟合独立调整反射强度，不以原子结构验证峰强。</a:t>
            </a:r>
          </a:p>
          <a:p xmlns:a="http://schemas.openxmlformats.org/drawingml/2006/main">
            <a:pPr algn="l">
              <a:defRPr sz="1875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2D42"/>
                </a:solidFill>
                <a:latin typeface="Noto Sans CJK SC"/>
                <a:ea typeface="Noto Sans CJK SC"/>
                <a:cs typeface="Noto Sans CJK SC"/>
              </a:rPr>
              <a:t>Rietveld拟合使用原子结构模型，两种方法不能混称。</a:t>
            </a:r>
          </a:p>
        </p:txBody>
      </p:sp>
    </p:spTree>
    <p:extLst>
      <p:ext uri="{BB962C8B-B14F-4D97-AF65-F5344CB8AC3E}">
        <p14:creationId xmlns:p14="http://schemas.microsoft.com/office/powerpoint/2010/main" val="6756913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2026-10-15T16:10:13.2350000Z</dcterms:created>
  <dcterms:modified xsi:type="dcterms:W3CDTF">2026-10-15T16:10:13.2350000Z</dcterms:modified>
</coreProperties>
</file>