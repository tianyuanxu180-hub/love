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4c05eac6143f0" /><Relationship Type="http://schemas.openxmlformats.org/officeDocument/2006/relationships/extended-properties" Target="/docProps/app.xml" Id="R42d5acdbc8294582" /><Relationship Type="http://schemas.openxmlformats.org/officeDocument/2006/relationships/officeDocument" Target="/ppt/presentation.xml" Id="R36ec4198070d4f0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e63b724e4a74a3f"/>
  </p:sldMasterIdLst>
  <p:notesMasterIdLst>
    <p:notesMasterId xmlns:r="http://schemas.openxmlformats.org/officeDocument/2006/relationships" r:id="R3c4ff8f764fd4fa2"/>
  </p:notesMasterIdLst>
  <p:sldIdLst>
    <p:sldId xmlns:r="http://schemas.openxmlformats.org/officeDocument/2006/relationships" id="262" r:id="R0e5e172f42b546d4"/>
    <p:sldId xmlns:r="http://schemas.openxmlformats.org/officeDocument/2006/relationships" id="263" r:id="R6151be8a5a6b4a68"/>
    <p:sldId xmlns:r="http://schemas.openxmlformats.org/officeDocument/2006/relationships" id="264" r:id="R4e24c9774da44d60"/>
    <p:sldId xmlns:r="http://schemas.openxmlformats.org/officeDocument/2006/relationships" id="265" r:id="Rb4d830f0995945f6"/>
  </p:sldIdLst>
  <p:sldSz cx="12192000" cy="6858000"/>
  <p:notesSz cx="6858000" cy="9144000"/>
  <p:embeddedFontLst>
    <p:embeddedFont>
      <p:font typeface="思源宋体 CN"/>
      <p:regular xmlns:r="http://schemas.openxmlformats.org/officeDocument/2006/relationships" r:id="R02e96a995b354fc6"/>
    </p:embeddedFont>
    <p:embeddedFont>
      <p:font typeface="微软雅黑"/>
      <p:regular xmlns:r="http://schemas.openxmlformats.org/officeDocument/2006/relationships" r:id="R3d7a774715fd4627"/>
    </p:embeddedFont>
    <p:embeddedFont>
      <p:font typeface="Impact"/>
      <p:regular xmlns:r="http://schemas.openxmlformats.org/officeDocument/2006/relationships" r:id="R4d925618bc9042f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9d895838b5a7471b"/><Relationship Type="http://schemas.openxmlformats.org/officeDocument/2006/relationships/slideMaster" Target="/ppt/slideMasters/slideMaster1.xml" Id="R1e63b724e4a74a3f"/><Relationship Type="http://schemas.openxmlformats.org/officeDocument/2006/relationships/notesMaster" Target="/ppt/notesMasters/notesMaster1.xml" Id="R3c4ff8f764fd4fa2"/><Relationship Type="http://schemas.openxmlformats.org/officeDocument/2006/relationships/presProps" Target="/ppt/presProps.xml" Id="R1da8061ad4d74cfb"/><Relationship Type="http://schemas.openxmlformats.org/officeDocument/2006/relationships/viewProps" Target="/ppt/viewProps.xml" Id="R5c60e54ac9fd4dee"/><Relationship Type="http://schemas.openxmlformats.org/officeDocument/2006/relationships/tableStyles" Target="/ppt/tableStyles.xml" Id="Rf73a96a64fe84e1b"/><Relationship Type="http://schemas.openxmlformats.org/officeDocument/2006/relationships/font" Target="/ppt/fonts/font.dat" Id="R02e96a995b354fc6"/><Relationship Type="http://schemas.openxmlformats.org/officeDocument/2006/relationships/font" Target="/ppt/fonts/font2.dat" Id="R3d7a774715fd4627"/><Relationship Type="http://schemas.openxmlformats.org/officeDocument/2006/relationships/font" Target="/ppt/fonts/font3.dat" Id="R4d925618bc9042f5"/><Relationship Type="http://schemas.openxmlformats.org/officeDocument/2006/relationships/slide" Target="/ppt/slides/slide7.xml" Id="R0e5e172f42b546d4"/><Relationship Type="http://schemas.openxmlformats.org/officeDocument/2006/relationships/slide" Target="/ppt/slides/slide8.xml" Id="R6151be8a5a6b4a68"/><Relationship Type="http://schemas.openxmlformats.org/officeDocument/2006/relationships/slide" Target="/ppt/slides/slide9.xml" Id="R4e24c9774da44d60"/><Relationship Type="http://schemas.openxmlformats.org/officeDocument/2006/relationships/slide" Target="/ppt/slides/slide10.xml" Id="Rb4d830f0995945f6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87eae043c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47cd84e1b2422d" /><Relationship Type="http://schemas.openxmlformats.org/officeDocument/2006/relationships/notesMaster" Target="/ppt/notesMasters/notesMaster1.xml" Id="R545f083bba74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34088041f47ee" /><Relationship Type="http://schemas.openxmlformats.org/officeDocument/2006/relationships/notesMaster" Target="/ppt/notesMasters/notesMaster1.xml" Id="Ra563ccd3f6c240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b5c8665c424190" /><Relationship Type="http://schemas.openxmlformats.org/officeDocument/2006/relationships/notesMaster" Target="/ppt/notesMasters/notesMaster1.xml" Id="R3f25ef08c3bd45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6fcbd97bc74c0c" /><Relationship Type="http://schemas.openxmlformats.org/officeDocument/2006/relationships/notesMaster" Target="/ppt/notesMasters/notesMaster1.xml" Id="R0ff1aef05096458c" /></Relationship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文献题录已由出版社页面及Crossref核实。公开图注将TT-TPDA-COF列为Fig. 1a，但本次未取得论文原始图像，不宣称已独立完成图像核对。请取得原文Fig. 1后再确认图形、Rp=3.86%、Rwp=5.28%及AA模型。</ns0:t>
            </ns0:r>
          </ns0:p>
          <ns1:p xmlns:ns1="http://schemas.openxmlformats.org/drawingml/2006/main">
            <ns1:r>
              <ns1:t>[1] XU Q, FU K, LIU Z, et al. Thiophene-Based Bipolar-Type Covalent Organic Frameworks with Extended π-Conjugation as Superior Cathode for Lithium-Ion Batteries[J]. Advanced Functional Materials, 2025, 35(39): 2506111. DOI: 10.1002/adfm.202506111.</ns1:t>
            </ns1:r>
          </ns1:p>
          <ns2:p xmlns:ns2="http://schemas.openxmlformats.org/drawingml/2006/main">
            <ns2:r>
              <ns2:t>出版社：https://advanced.onlinelibrary.wiley.com/doi/10.1002/adfm.202506111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文献题录已由出版社页面及Crossref核实。公开图注将Np-TPDA-COF列为Fig. 1b，但本次未取得论文原始图像，不宣称已独立完成图像核对。请取得原文Fig. 1后再确认图形、Rp=3.47%、Rwp=4.98%及模型。</ns0:t>
            </ns0:r>
          </ns0:p>
          <ns1:p xmlns:ns1="http://schemas.openxmlformats.org/drawingml/2006/main">
            <ns1:r>
              <ns1:t>[1] XU Q, FU K, LIU Z, et al. Thiophene-Based Bipolar-Type Covalent Organic Frameworks with Extended π-Conjugation as Superior Cathode for Lithium-Ion Batteries[J]. Advanced Functional Materials, 2025, 35(39): 2506111. DOI: 10.1002/adfm.202506111.</ns1:t>
            </ns1:r>
          </ns1:p>
          <ns2:p xmlns:ns2="http://schemas.openxmlformats.org/drawingml/2006/main">
            <ns2:r>
              <ns2:t>出版社：https://advanced.onlinelibrary.wiley.com/doi/10.1002/adfm.202506111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已直接对照出版社完整Fig. 2：所用图为Fig. 2b；乙醇体积10/20/40/80 mL、彩色曲线、峰标记、模拟曲线及横轴一致。TEM平均粒径40/14/9/5 nm来自Fig. 2c，不能写成由本页PXRD图直接测得。图片裁剪，适用CC BY 4.0：https://creativecommons.org/licenses/by/4.0/ 。</ns0:t>
            </ns0:r>
          </ns0:p>
          <ns1:p xmlns:ns1="http://schemas.openxmlformats.org/drawingml/2006/main">
            <ns1:r>
              <ns1:t>[2] DAI S, SIMMS C, PATRIARCHE G, et al. Highly defective ultra-small tetravalent MOF nanocrystals[J]. Nature Communications, 2024, 15(1): 3434. DOI: 10.1038/s41467-024-47426-x.</ns1:t>
            </ns1:r>
          </ns1:p>
          <ns2:p xmlns:ns2="http://schemas.openxmlformats.org/drawingml/2006/main">
            <ns2:r>
              <ns2:t>出版社：https://www.nature.com/articles/s41467-024-47426-x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已直接对照出版社完整Fig. 2及正文：所用图为Fig. 2d，实验黑色、Pawley拟合红色、模拟蓝色、Bragg位置绿色、差值灰色，与原图一致。2.5/4.2/4.9/6.5/8.4度与(100)/(110)/(200)/(210)/(310)对应。Rp=3.89%、Rwp=5.71%见正文；SAXS及HRTEM辅助证据见Fig. 2f-h。拟合良好不能单独证明模型唯一。图片裁剪，适用CC BY 4.0：https://creativecommons.org/licenses/by/4.0/ 。</ns0:t>
            </ns0:r>
          </ns0:p>
          <ns1:p xmlns:ns1="http://schemas.openxmlformats.org/drawingml/2006/main">
            <ns1:r>
              <ns1:t>[3] XIE Y, RONG Q, MAO F, et al. Engineering the pore environment of antiparallel stacked covalent organic frameworks for capture of iodine pollutants[J]. Nature Communications, 2024, 15(1): 2671. DOI: 10.1038/s41467-024-46942-0.</ns1:t>
            </ns1:r>
          </ns1:p>
          <ns2:p xmlns:ns2="http://schemas.openxmlformats.org/drawingml/2006/main">
            <ns2:r>
              <ns2:t>出版社：https://www.nature.com/articles/s41467-024-46942-0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786c6c64f43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85b06a04840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7b597a7d84c52" /><Relationship Type="http://schemas.openxmlformats.org/officeDocument/2006/relationships/image" Target="/ppt/media/image.png" Id="R39bbcd1bee00421b" /><Relationship Type="http://schemas.openxmlformats.org/officeDocument/2006/relationships/image" Target="/ppt/media/image2.png" Id="R3a94baa6f2234c06" /><Relationship Type="http://schemas.openxmlformats.org/officeDocument/2006/relationships/image" Target="/ppt/media/image.svg" Id="Rbbf6d5f740ff4441" /><Relationship Type="http://schemas.openxmlformats.org/officeDocument/2006/relationships/image" Target="/ppt/media/image3.png" Id="R626de926f31d4d29" /><Relationship Type="http://schemas.openxmlformats.org/officeDocument/2006/relationships/image" Target="/ppt/media/image2.svg" Id="R0def4f8b7dda4a33" /><Relationship Type="http://schemas.openxmlformats.org/officeDocument/2006/relationships/image" Target="/ppt/media/image4.png" Id="R4387983938c649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c00b713814079" /><Relationship Type="http://schemas.openxmlformats.org/officeDocument/2006/relationships/image" Target="/ppt/media/image5.png" Id="Rb9e60d1be5524971" /><Relationship Type="http://schemas.openxmlformats.org/officeDocument/2006/relationships/image" Target="/ppt/media/image2.png" Id="R18fbfd46d3c749ed" /><Relationship Type="http://schemas.openxmlformats.org/officeDocument/2006/relationships/image" Target="/ppt/media/image.svg" Id="Rf414432fee8d4e9f" /><Relationship Type="http://schemas.openxmlformats.org/officeDocument/2006/relationships/image" Target="/ppt/media/image3.png" Id="R26844f34c46f411f" /><Relationship Type="http://schemas.openxmlformats.org/officeDocument/2006/relationships/image" Target="/ppt/media/image2.svg" Id="R7a6fda33572e4618" /><Relationship Type="http://schemas.openxmlformats.org/officeDocument/2006/relationships/image" Target="/ppt/media/image4.png" Id="R28ffb8baa63f44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8f0e9f28b46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0c742d69d4f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83a1bfd5948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e1797270545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22e6a8b374591" /><Relationship Type="http://schemas.openxmlformats.org/officeDocument/2006/relationships/image" Target="/ppt/media/image6.png" Id="R54a4c487cd8f4050" /><Relationship Type="http://schemas.openxmlformats.org/officeDocument/2006/relationships/image" Target="/ppt/media/image7.png" Id="Rbc049cb306f64062" /><Relationship Type="http://schemas.openxmlformats.org/officeDocument/2006/relationships/image" Target="/ppt/media/image3.svg" Id="Rcaed93edd0f14b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9954a2acf47c9" /><Relationship Type="http://schemas.openxmlformats.org/officeDocument/2006/relationships/image" Target="/ppt/media/image8.png" Id="R82b8f3122de047ee" /><Relationship Type="http://schemas.openxmlformats.org/officeDocument/2006/relationships/image" Target="/ppt/media/image9.png" Id="R16b92b22c1ac4796" /><Relationship Type="http://schemas.openxmlformats.org/officeDocument/2006/relationships/image" Target="/ppt/media/image4.svg" Id="R36f2fca0fdb547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153567538450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4bdebc20343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60c34337843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51332248e49a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cd06e9e7c4e0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18E50F89-F516-47FA-A1B4-2622D501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494075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EC0D3DF5-519A-40A6-9018-ACD4133F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925558"/>
            <a:ext cx="12192000" cy="14809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9B5F54-C646-4EFC-BEB6-BB4639BDB2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88571" y="1139131"/>
            <a:ext cx="10014858" cy="118291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3D54F37-1C21-4F62-8F23-A5DA18CE7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206856"/>
            <a:ext cx="9144000" cy="60234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C60527-387D-4F80-A4CF-F30D88105C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2C36F1-92E5-48C9-ADB5-4765A43EF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67FB7E-8BED-4122-A581-1EE250AEF3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矩形 160">
            <a:extLst xmlns:a="http://schemas.openxmlformats.org/drawingml/2006/main">
              <a:ext uri="{FF2B5EF4-FFF2-40B4-BE49-F238E27FC236}">
                <a16:creationId xmlns:a16="http://schemas.microsoft.com/office/drawing/2014/main" id="{771F1C1E-CDE0-4FB9-B87C-4F9190F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35772"/>
            <a:ext cx="12192000" cy="26222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5000"/>
            </a:schemeClr>
          </a:solidFill>
          <a:ln xmlns:a="http://schemas.openxmlformats.org/drawingml/2006/main" w="1905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60+">
            <a:extLst xmlns:a="http://schemas.openxmlformats.org/drawingml/2006/main">
              <a:ext uri="{FF2B5EF4-FFF2-40B4-BE49-F238E27FC236}">
                <a16:creationId xmlns:a16="http://schemas.microsoft.com/office/drawing/2014/main" id="{CCEB20B1-531C-4853-B06B-559DA268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161" y="4630994"/>
            <a:ext cx="12192000" cy="2227005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bg1"/>
              </a:gs>
              <a:gs pos="100000">
                <a:schemeClr val="accent3">
                  <a:lumMod val="16000"/>
                  <a:lumOff val="84000"/>
                  <a:alpha val="55000"/>
                </a:schemeClr>
              </a:gs>
            </a:gsLst>
            <a:lin ang="8100000" scaled="1"/>
            <a:tileRect/>
          </a:gradFill>
          <a:ln xmlns:a="http://schemas.openxmlformats.org/drawingml/2006/main" w="1905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AA8931C3-8428-4EC0-B5FA-4B112E2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35311"/>
            <a:ext cx="12192000" cy="319568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1F8A34-53B4-4A0B-BA83-9395D0C34F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88571" y="2441695"/>
            <a:ext cx="10014858" cy="118291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617858F2-E124-4952-B874-DDE3151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4940935"/>
          </a:xfrm>
          <a:custGeom xmlns:a="http://schemas.openxmlformats.org/drawingml/2006/main"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图片 24">
            <a:extLst xmlns:a="http://schemas.openxmlformats.org/drawingml/2006/main">
              <a:ext uri="{FF2B5EF4-FFF2-40B4-BE49-F238E27FC236}">
                <a16:creationId xmlns:a16="http://schemas.microsoft.com/office/drawing/2014/main" id="{9A627882-C8BF-4E0A-B801-36D546482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bcd1bee00421b">
            <a:alphaModFix amt="2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2178685"/>
            <a:ext cx="7843520" cy="2764790"/>
          </a:xfrm>
        </p:spPr>
      </p:pic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DD89E2CA-DA67-4439-BD4B-B52D017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3945255"/>
            <a:ext cx="12192000" cy="1186815"/>
          </a:xfrm>
          <a:custGeom xmlns:a="http://schemas.openxmlformats.org/drawingml/2006/main"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xmlns:a="http://schemas.openxmlformats.org/drawingml/2006/main"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B6BBED1-E4C7-4ABE-BE3F-EE8CC3C75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CA2EB1E-1FC9-4882-8D79-C7F72002E4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2DC7CD2-CED3-47DE-BD37-FC34B2D3A7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图形 4">
            <a:extLst xmlns:a="http://schemas.openxmlformats.org/drawingml/2006/main">
              <a:ext uri="{FF2B5EF4-FFF2-40B4-BE49-F238E27FC236}">
                <a16:creationId xmlns:a16="http://schemas.microsoft.com/office/drawing/2014/main" id="{D675F954-2B67-4126-9ABB-F5349BC3D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4baa6f2234c06">
            <a:extLst>
              <a:ext uri="{96DAC541-7B7A-43D3-8B79-37D633B846F1}">
                <asvg:svgBlip xmlns:asvg="http://schemas.microsoft.com/office/drawing/2016/SVG/main" r:embed="Rbbf6d5f740ff44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32" y="273748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95C404D3-7235-499C-9356-8183C1A0B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de926f31d4d29">
            <a:extLst>
              <a:ext uri="{96DAC541-7B7A-43D3-8B79-37D633B846F1}">
                <asvg:svgBlip xmlns:asvg="http://schemas.microsoft.com/office/drawing/2016/SVG/main" r:embed="R0def4f8b7dda4a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9845288" y="208238"/>
            <a:ext cx="2401315" cy="1700047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DCE8D685-F9A4-400A-B113-F258A401A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7983938c649a4">
            <a:biLevel thresh="7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4561" y="-97236"/>
            <a:ext cx="3111762" cy="1036406"/>
          </a:xfrm>
          <a:prstGeom xmlns:a="http://schemas.openxmlformats.org/drawingml/2006/main" prst="rect">
            <a:avLst/>
          </a:prstGeom>
        </p:spPr>
      </p:pic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94F28DD-EE52-4EBC-B02A-C3B2ADB4DE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72751" y="1843897"/>
            <a:ext cx="8175171" cy="12446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点击输入章节标题</a:t>
            </a:r>
            <a:endParaRPr/>
          </a:p>
        </p:txBody>
      </p:sp>
      <p:sp>
        <p:nvSpPr>
          <p:cNvPr id="27" name="内容占位符 26">
            <a:extLst xmlns:a="http://schemas.openxmlformats.org/drawingml/2006/main">
              <a:ext uri="{FF2B5EF4-FFF2-40B4-BE49-F238E27FC236}">
                <a16:creationId xmlns:a16="http://schemas.microsoft.com/office/drawing/2014/main" id="{592A6388-78D3-49A1-B6F3-347583C49514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873500" y="3089275"/>
            <a:ext cx="8174038" cy="51337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Enter Chapter Title</a:t>
            </a:r>
            <a:endParaRPr/>
          </a:p>
        </p:txBody>
      </p:sp>
      <p:sp>
        <p:nvSpPr>
          <p:cNvPr id="35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7557942A-8A43-446F-828E-07CA9CE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223" y="724017"/>
            <a:ext cx="108255" cy="35634"/>
          </a:xfrm>
          <a:custGeom xmlns:a="http://schemas.openxmlformats.org/drawingml/2006/main"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6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AB3534CE-ADBF-4FCE-8CD1-DA83E56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1074" y="572876"/>
            <a:ext cx="204070" cy="172762"/>
          </a:xfrm>
          <a:custGeom xmlns:a="http://schemas.openxmlformats.org/drawingml/2006/main"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7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17FE9994-0442-4360-8B31-837FBD0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2696" y="362216"/>
            <a:ext cx="112832" cy="382184"/>
          </a:xfrm>
          <a:custGeom xmlns:a="http://schemas.openxmlformats.org/drawingml/2006/main"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3FF5C114-FA08-43ED-AD1B-EF820CE6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8926" y="339269"/>
            <a:ext cx="142405" cy="404369"/>
          </a:xfrm>
          <a:custGeom xmlns:a="http://schemas.openxmlformats.org/drawingml/2006/main"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E573E9B-DA84-4554-9320-7A950EA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923" y="422062"/>
            <a:ext cx="174174" cy="319195"/>
          </a:xfrm>
          <a:custGeom xmlns:a="http://schemas.openxmlformats.org/drawingml/2006/main"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7D0B0C7E-EAA4-459C-B569-2310AC7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4387" y="503624"/>
            <a:ext cx="269979" cy="244967"/>
          </a:xfrm>
          <a:custGeom xmlns:a="http://schemas.openxmlformats.org/drawingml/2006/main"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73D2A182-534B-4C7B-95D7-D4C3670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7244" y="663343"/>
            <a:ext cx="246245" cy="104018"/>
          </a:xfrm>
          <a:custGeom xmlns:a="http://schemas.openxmlformats.org/drawingml/2006/main"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C70EA2EC-E6E8-4A05-93F1-BD33941E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7148" y="758974"/>
            <a:ext cx="107015" cy="37138"/>
          </a:xfrm>
          <a:custGeom xmlns:a="http://schemas.openxmlformats.org/drawingml/2006/main"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115193A5-7FB1-490E-93B4-E525B22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957" y="408349"/>
            <a:ext cx="221392" cy="338622"/>
          </a:xfrm>
          <a:custGeom xmlns:a="http://schemas.openxmlformats.org/drawingml/2006/main"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4BC1CFDB-EF63-43F9-A812-A69930E3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559" y="803943"/>
            <a:ext cx="76250" cy="40500"/>
          </a:xfrm>
          <a:custGeom xmlns:a="http://schemas.openxmlformats.org/drawingml/2006/main"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A769A796-62A6-4E64-A837-0C0DF9D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6150" y="764795"/>
            <a:ext cx="191658" cy="65708"/>
          </a:xfrm>
          <a:custGeom xmlns:a="http://schemas.openxmlformats.org/drawingml/2006/main"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9D00CC5-FD72-41A6-A203-CE53B45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2920" y="565451"/>
            <a:ext cx="204508" cy="228871"/>
          </a:xfrm>
          <a:custGeom xmlns:a="http://schemas.openxmlformats.org/drawingml/2006/main"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76A353BE-D982-42EE-8203-8FA7C97C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21892" y="500488"/>
            <a:ext cx="148965" cy="290596"/>
          </a:xfrm>
          <a:custGeom xmlns:a="http://schemas.openxmlformats.org/drawingml/2006/main"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CC63D1BF-9BAC-4D9A-B998-F6E6B0E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0104" y="646567"/>
            <a:ext cx="228942" cy="151493"/>
          </a:xfrm>
          <a:custGeom xmlns:a="http://schemas.openxmlformats.org/drawingml/2006/main"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25A1A9ED-A159-4156-A0E1-5D57835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430" y="532285"/>
            <a:ext cx="96959" cy="254608"/>
          </a:xfrm>
          <a:custGeom xmlns:a="http://schemas.openxmlformats.org/drawingml/2006/main"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8BBAC97-E633-48DD-9410-75057200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812" y="636434"/>
            <a:ext cx="132715" cy="152935"/>
          </a:xfrm>
          <a:custGeom xmlns:a="http://schemas.openxmlformats.org/drawingml/2006/main"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53F0E29B-21F8-4CA6-B046-00FD0654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335" y="760223"/>
            <a:ext cx="77870" cy="36609"/>
          </a:xfrm>
          <a:custGeom xmlns:a="http://schemas.openxmlformats.org/drawingml/2006/main"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4EEE4464-2320-4710-86F7-0AD3F0C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3898" y="501576"/>
            <a:ext cx="98672" cy="289127"/>
          </a:xfrm>
          <a:custGeom xmlns:a="http://schemas.openxmlformats.org/drawingml/2006/main"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Picture 10">
            <a:extLst xmlns:a="http://schemas.openxmlformats.org/drawingml/2006/main">
              <a:ext uri="{FF2B5EF4-FFF2-40B4-BE49-F238E27FC236}">
                <a16:creationId xmlns:a16="http://schemas.microsoft.com/office/drawing/2014/main" id="{D43373B8-8463-4E55-86B4-223DBD2E5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60d1be552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4366" y="3560774"/>
            <a:ext cx="7319035" cy="3297226"/>
          </a:xfrm>
          <a:prstGeom xmlns:a="http://schemas.openxmlformats.org/drawingml/2006/main" prst="rect">
            <a:avLst/>
          </a:prstGeom>
        </p:spPr>
      </p:pic>
      <p:sp>
        <p:nvSpPr>
          <p:cNvPr id="8" name="图形 6">
            <a:extLst xmlns:a="http://schemas.openxmlformats.org/drawingml/2006/main">
              <a:ext uri="{FF2B5EF4-FFF2-40B4-BE49-F238E27FC236}">
                <a16:creationId xmlns:a16="http://schemas.microsoft.com/office/drawing/2014/main" id="{1841A463-9503-47C3-B4FC-ADA2DD2C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40935"/>
          </a:xfrm>
          <a:custGeom xmlns:a="http://schemas.openxmlformats.org/drawingml/2006/main"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67A321C-5F65-472B-BCD8-07338A586E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B42BFF8-C660-4CAF-9033-767793F5CA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9AE35A1-24B1-44B3-BDE7-E92A8BBD27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图形 4">
            <a:extLst xmlns:a="http://schemas.openxmlformats.org/drawingml/2006/main">
              <a:ext uri="{FF2B5EF4-FFF2-40B4-BE49-F238E27FC236}">
                <a16:creationId xmlns:a16="http://schemas.microsoft.com/office/drawing/2014/main" id="{4C8D0B35-17C3-42C7-91E8-870682F7F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bfd46d3c749ed">
            <a:extLst>
              <a:ext uri="{96DAC541-7B7A-43D3-8B79-37D633B846F1}">
                <asvg:svgBlip xmlns:asvg="http://schemas.microsoft.com/office/drawing/2016/SVG/main" r:embed="Rf414432fee8d4e9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32" y="273748"/>
            <a:ext cx="3758048" cy="738188"/>
          </a:xfrm>
          <a:prstGeom xmlns:a="http://schemas.openxmlformats.org/drawingml/2006/main" prst="rect">
            <a:avLst/>
          </a:prstGeom>
        </p:spPr>
      </p:pic>
      <p:pic>
        <p:nvPic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1F7E7852-5DD1-446D-8AD3-8CFF3C6E5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44f34c46f411f">
            <a:extLst>
              <a:ext uri="{96DAC541-7B7A-43D3-8B79-37D633B846F1}">
                <asvg:svgBlip xmlns:asvg="http://schemas.microsoft.com/office/drawing/2016/SVG/main" r:embed="R7a6fda33572e46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9845288" y="208238"/>
            <a:ext cx="2401315" cy="1700047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2B0D2E70-C79B-4480-9FC3-23FDF2CB4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fb8baa63f4482">
            <a:biLevel thresh="75000"/>
          </a:blip>
          <a:srcRect xmlns:a="http://schemas.openxmlformats.org/drawingml/2006/main" l="0" t="0" r="0" b="79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4561" y="-97236"/>
            <a:ext cx="3111762" cy="1036406"/>
          </a:xfrm>
          <a:prstGeom xmlns:a="http://schemas.openxmlformats.org/drawingml/2006/main" prst="rect">
            <a:avLst/>
          </a:prstGeom>
        </p:spPr>
      </p:pic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D4CFDF3-CC91-45A2-B08A-975D9DDF74F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872751" y="1843897"/>
            <a:ext cx="8175171" cy="1244600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点击输入章节标题</a:t>
            </a:r>
            <a:endParaRPr/>
          </a:p>
        </p:txBody>
      </p:sp>
      <p:sp>
        <p:nvSpPr>
          <p:cNvPr id="27" name="内容占位符 26">
            <a:extLst xmlns:a="http://schemas.openxmlformats.org/drawingml/2006/main">
              <a:ext uri="{FF2B5EF4-FFF2-40B4-BE49-F238E27FC236}">
                <a16:creationId xmlns:a16="http://schemas.microsoft.com/office/drawing/2014/main" id="{9DD001A2-97DF-4DBE-A521-DC2F6DF0FA32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3873500" y="3089275"/>
            <a:ext cx="8174038" cy="51337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Enter Chapter Title</a:t>
            </a:r>
            <a:endParaRPr/>
          </a:p>
        </p:txBody>
      </p:sp>
      <p:sp>
        <p:nvSpPr>
          <p:cNvPr id="35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A607160D-C590-4AF3-9944-4A23DC59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223" y="724017"/>
            <a:ext cx="108255" cy="35634"/>
          </a:xfrm>
          <a:custGeom xmlns:a="http://schemas.openxmlformats.org/drawingml/2006/main"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6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FF72D1D4-F9D2-4E58-BAF6-258FD89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1074" y="572876"/>
            <a:ext cx="204070" cy="172762"/>
          </a:xfrm>
          <a:custGeom xmlns:a="http://schemas.openxmlformats.org/drawingml/2006/main"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7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B772ADC-DA9B-401C-8576-68B41BEC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2696" y="362216"/>
            <a:ext cx="112832" cy="382184"/>
          </a:xfrm>
          <a:custGeom xmlns:a="http://schemas.openxmlformats.org/drawingml/2006/main"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67F0E322-1F51-42AB-87F9-5A08633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8926" y="339269"/>
            <a:ext cx="142405" cy="404369"/>
          </a:xfrm>
          <a:custGeom xmlns:a="http://schemas.openxmlformats.org/drawingml/2006/main"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6B09F85-9543-4115-90A0-8AA339A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5923" y="422062"/>
            <a:ext cx="174174" cy="319195"/>
          </a:xfrm>
          <a:custGeom xmlns:a="http://schemas.openxmlformats.org/drawingml/2006/main"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69C529A1-CD27-4BFB-A80F-8AC004F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4387" y="503624"/>
            <a:ext cx="269979" cy="244967"/>
          </a:xfrm>
          <a:custGeom xmlns:a="http://schemas.openxmlformats.org/drawingml/2006/main"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A0C9095-E395-409F-8FB7-F0D40AA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7244" y="663343"/>
            <a:ext cx="246245" cy="104018"/>
          </a:xfrm>
          <a:custGeom xmlns:a="http://schemas.openxmlformats.org/drawingml/2006/main"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EE05DF90-B8EB-425B-8D16-49CEF423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7148" y="758974"/>
            <a:ext cx="107015" cy="37138"/>
          </a:xfrm>
          <a:custGeom xmlns:a="http://schemas.openxmlformats.org/drawingml/2006/main"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9CF4C148-E4F0-41F9-9012-8B1A6D1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957" y="408349"/>
            <a:ext cx="221392" cy="338622"/>
          </a:xfrm>
          <a:custGeom xmlns:a="http://schemas.openxmlformats.org/drawingml/2006/main"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3175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0130422B-5271-4259-9DC4-E1AF511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559" y="803943"/>
            <a:ext cx="76250" cy="40500"/>
          </a:xfrm>
          <a:custGeom xmlns:a="http://schemas.openxmlformats.org/drawingml/2006/main"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B09EB80D-FA6A-476B-BAB7-7AC8CCDE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6150" y="764795"/>
            <a:ext cx="191658" cy="65708"/>
          </a:xfrm>
          <a:custGeom xmlns:a="http://schemas.openxmlformats.org/drawingml/2006/main"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CBF6FA2-207E-4300-BE6A-49754F4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2920" y="565451"/>
            <a:ext cx="204508" cy="228871"/>
          </a:xfrm>
          <a:custGeom xmlns:a="http://schemas.openxmlformats.org/drawingml/2006/main"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0015C994-17F7-4B5F-90C2-1391A7C7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21892" y="500488"/>
            <a:ext cx="148965" cy="290596"/>
          </a:xfrm>
          <a:custGeom xmlns:a="http://schemas.openxmlformats.org/drawingml/2006/main"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8A9120B9-BA96-4E36-B75F-E97268E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0104" y="646567"/>
            <a:ext cx="228942" cy="151493"/>
          </a:xfrm>
          <a:custGeom xmlns:a="http://schemas.openxmlformats.org/drawingml/2006/main"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D89CFD7-274D-41E7-82E4-27CE131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430" y="532285"/>
            <a:ext cx="96959" cy="254608"/>
          </a:xfrm>
          <a:custGeom xmlns:a="http://schemas.openxmlformats.org/drawingml/2006/main"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485EB5A-33D6-47A8-8F5A-9DEF1E92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812" y="636434"/>
            <a:ext cx="132715" cy="152935"/>
          </a:xfrm>
          <a:custGeom xmlns:a="http://schemas.openxmlformats.org/drawingml/2006/main"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F418C8F6-DF6B-4E37-B1FD-D41FAB5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3335" y="760223"/>
            <a:ext cx="77870" cy="36609"/>
          </a:xfrm>
          <a:custGeom xmlns:a="http://schemas.openxmlformats.org/drawingml/2006/main"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11EBAE48-3649-414B-AE31-964D9F1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3898" y="501576"/>
            <a:ext cx="98672" cy="289127"/>
          </a:xfrm>
          <a:custGeom xmlns:a="http://schemas.openxmlformats.org/drawingml/2006/main"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 xmlns:a="http://schemas.openxmlformats.org/drawingml/2006/main">
            <a:srgbClr val="E3EEF5"/>
          </a:solidFill>
          <a:ln xmlns:a="http://schemas.openxmlformats.org/drawingml/2006/main" w="6350" cap="flat">
            <a:solidFill>
              <a:schemeClr val="accent1"/>
            </a:solidFill>
            <a:prstDash val="solid"/>
            <a:miter/>
          </a:ln>
        </p:spPr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D86A944B-AF43-49DF-98D8-6438184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5255"/>
            <a:ext cx="12192000" cy="1186815"/>
          </a:xfrm>
          <a:custGeom xmlns:a="http://schemas.openxmlformats.org/drawingml/2006/main"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xmlns:a="http://schemas.openxmlformats.org/drawingml/2006/main"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DDBB2E-56F9-47FC-AB55-317607705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56F9CE4-9A7D-4589-8A31-FE5E848DC1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1F7BF0-8C14-49C9-A3B2-BB550EBCF5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7D2639-DBD4-470C-98DF-C201ECF0F1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43A7A6-E426-4AA0-B4C1-FC6023F88B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1B35-5042-4EA9-9736-27363483A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753CDE-3746-4612-A81A-8143D9EC96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B902D6-2BE3-443B-BB79-567DE3CCF1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9E5AA87-0D03-4260-B6AD-F58DEBA10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6B5FAC-6BA0-442C-B21E-3EBCD2D837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92E7875-63D8-483A-8B05-A291D81BE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2909C3D-2C3E-49E7-8DFF-63EAFEAB0C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568B2CC-FA8B-422C-B911-C4E1B2DCD7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5D61058-D08D-4D28-AD5A-43158ED0BE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0C858B-8DC2-4FD2-A6EB-23A93527F3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CD41746-39B0-435A-8892-4B8068D716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EC35F7-23E1-4233-8EAD-9683E4482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92F4B0-20D3-4B81-87EF-CAAF4B2A8E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33DE06C-0518-45FB-B7CB-47BC706C33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9C222C8-BF0E-4197-9F32-4CBBAE71FE8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AFE9321-65AC-4D68-A69C-9F9F5D5A3D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B06C94A-A45B-404D-9BA2-AFF8F5A620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CA2A03B-15E5-447E-BAD3-327A30001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F2C6410-A6EE-4F16-8718-D8D201B679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0E7248A-02DE-464F-947E-3B349824A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C81404E-DB47-439B-90FE-BC7910AE93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图形 7">
            <a:extLst xmlns:a="http://schemas.openxmlformats.org/drawingml/2006/main">
              <a:ext uri="{FF2B5EF4-FFF2-40B4-BE49-F238E27FC236}">
                <a16:creationId xmlns:a16="http://schemas.microsoft.com/office/drawing/2014/main" id="{E27355F1-0B09-4883-A7B0-960C5363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00" y="6312472"/>
            <a:ext cx="1425635" cy="420115"/>
          </a:xfrm>
          <a:custGeom xmlns:a="http://schemas.openxmlformats.org/drawingml/2006/main"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7676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3A8BC19-EE52-4F0A-9280-1D01CC4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1475"/>
            <a:ext cx="12192000" cy="136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A19B9F0-1247-412D-A666-C54F071C4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31517" y="6465093"/>
            <a:ext cx="9144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0CCC339-7F9A-4103-9A0E-607B8425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0"/>
            <a:ext cx="12197080" cy="897351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108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2">
            <a:extLst xmlns:a="http://schemas.openxmlformats.org/drawingml/2006/main">
              <a:ext uri="{FF2B5EF4-FFF2-40B4-BE49-F238E27FC236}">
                <a16:creationId xmlns:a16="http://schemas.microsoft.com/office/drawing/2014/main" id="{04B234A8-B221-435F-BA15-81AEE8A55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4c487cd8f4050">
            <a:alphaModFix amt="7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0278" y="0"/>
            <a:ext cx="2452843" cy="864627"/>
          </a:xfrm>
          <a:prstGeom xmlns:a="http://schemas.openxmlformats.org/drawingml/2006/main" prst="rect">
            <a:avLst/>
          </a:prstGeom>
        </p:spPr>
      </p:pic>
      <p:pic>
        <p:nvPicPr>
          <p:cNvPr id="6" name="图形 5">
            <a:extLst xmlns:a="http://schemas.openxmlformats.org/drawingml/2006/main">
              <a:ext uri="{FF2B5EF4-FFF2-40B4-BE49-F238E27FC236}">
                <a16:creationId xmlns:a16="http://schemas.microsoft.com/office/drawing/2014/main" id="{6385EB48-6ABF-4E95-B536-5D3A0FF12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49cb306f64062">
            <a:extLst>
              <a:ext uri="{96DAC541-7B7A-43D3-8B79-37D633B846F1}">
                <asvg:svgBlip xmlns:asvg="http://schemas.microsoft.com/office/drawing/2016/SVG/main" r:embed="Rcaed93edd0f14b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2531" y="155112"/>
            <a:ext cx="2989004" cy="587126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DC36CA-180B-4C7F-B17A-5733C894DF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88950" y="38368"/>
            <a:ext cx="10515600" cy="82061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在此处添加标题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93E9BD-BFC6-42BE-B4A2-112353752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803EEA4-8A41-456B-8D1F-6E852698B8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AE44724-CD72-4787-8F36-048E7A6103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3190B8B6-4F05-429D-8579-16E049ED2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8f3122de047ee"/>
          <a:srcRect xmlns:a="http://schemas.openxmlformats.org/drawingml/2006/main" l="19710" t="0" r="0" b="11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9522" y="3598450"/>
            <a:ext cx="3972009" cy="3259549"/>
          </a:xfrm>
          <a:prstGeom xmlns:a="http://schemas.openxmlformats.org/drawingml/2006/main" prst="rect">
            <a:avLst/>
          </a:prstGeom>
        </p:spPr>
      </p:pic>
      <p:sp>
        <p:nvSpPr>
          <p:cNvPr id="6" name="图形 6">
            <a:extLst xmlns:a="http://schemas.openxmlformats.org/drawingml/2006/main">
              <a:ext uri="{FF2B5EF4-FFF2-40B4-BE49-F238E27FC236}">
                <a16:creationId xmlns:a16="http://schemas.microsoft.com/office/drawing/2014/main" id="{C05156C5-2B3D-43F2-8600-2561DCF3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2"/>
            <a:ext cx="3962399" cy="6858002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2000">
                <a:schemeClr val="accent1"/>
              </a:gs>
              <a:gs pos="85040">
                <a:srgbClr val="005B94">
                  <a:alpha val="80000"/>
                </a:srgbClr>
              </a:gs>
              <a:gs pos="100000">
                <a:srgbClr val="005B94">
                  <a:alpha val="65000"/>
                </a:srgbClr>
              </a:gs>
            </a:gsLst>
            <a:lin ang="540000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图形 6">
            <a:extLst xmlns:a="http://schemas.openxmlformats.org/drawingml/2006/main">
              <a:ext uri="{FF2B5EF4-FFF2-40B4-BE49-F238E27FC236}">
                <a16:creationId xmlns:a16="http://schemas.microsoft.com/office/drawing/2014/main" id="{FFBF74D1-FE73-4C52-B191-D9CE5911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4839" y="3357560"/>
            <a:ext cx="6857999" cy="142878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100000">
                <a:schemeClr val="accent3">
                  <a:lumMod val="42000"/>
                  <a:lumOff val="58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 w="9525" cap="flat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Box 4">
            <a:extLst xmlns:a="http://schemas.openxmlformats.org/drawingml/2006/main">
              <a:ext uri="{FF2B5EF4-FFF2-40B4-BE49-F238E27FC236}">
                <a16:creationId xmlns:a16="http://schemas.microsoft.com/office/drawing/2014/main" id="{C487B095-B138-4B76-97EA-BDE5A5D8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68" y="2790199"/>
            <a:ext cx="3096260" cy="1529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91416" tIns="45708" rIns="91416" bIns="45708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44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j-ea"/>
                <a:ea typeface="+mj-ea"/>
                <a:cs typeface="+mj-ea"/>
              </a:rPr>
              <a:t>目 录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800" b="1" i="0" u="none" strike="noStrik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形 12">
            <a:extLst xmlns:a="http://schemas.openxmlformats.org/drawingml/2006/main">
              <a:ext uri="{FF2B5EF4-FFF2-40B4-BE49-F238E27FC236}">
                <a16:creationId xmlns:a16="http://schemas.microsoft.com/office/drawing/2014/main" id="{086A69E3-CDCD-4217-933C-4FD4375AB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2b22c1ac4796">
            <a:extLst>
              <a:ext uri="{96DAC541-7B7A-43D3-8B79-37D633B846F1}">
                <asvg:svgBlip xmlns:asvg="http://schemas.microsoft.com/office/drawing/2016/SVG/main" r:embed="R36f2fca0fdb547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2129" y="1090159"/>
            <a:ext cx="1478138" cy="147813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F36CE9A-8CE3-497F-9C50-458DDDE59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6D7DDA6-485B-4F97-819E-50062B9320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594463D-5347-41F7-A778-310F923BA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6CAD46-6593-45BE-9F41-2F105473D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DE9DB3-3F2D-484D-BBD4-DB208275AA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F064109-23DD-4C65-AC34-8615074AF4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DA5EDEC-B6D0-4853-A852-84FCE8C65A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303B88-3CC5-464C-8280-D5DBC285BF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BE47084-8C4E-44F2-BFBD-DB3CC4577E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C5124F6-C995-4AF9-86D7-6E55C5EB5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8848D6C-5FC0-4016-A9D9-6EFAE839AFC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4B3AB4E-0C4E-4BEE-88B3-8B13026A2B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AD1674F-CA12-4521-992B-843ED791C4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20C53C3-869F-4B80-8876-31596B2552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18D9409-E232-490C-99D5-AADAB5DAD3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99130D-1FE9-47F4-BE78-DE7727D63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40C261F-6C51-43A0-B503-E5E9AE4E52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F0DBFE4-6D2D-46D3-B4E3-16068D97AE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EB52EE-6642-4A47-8C7D-4723A80EFD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63D4DA-AEFF-4FEE-BF81-5D4C72DAA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EDD5E30-E9B3-4975-9DDA-ACFA05AE0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55E4EA6-51B4-453B-B117-A5E75AE03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0075880-725C-4183-975B-41C91E2C7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02A5F5-B778-4F76-8730-85F35957C2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9A0975-4002-4C25-A97F-7EE4680813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18f44dc6af49ac" /><Relationship Type="http://schemas.openxmlformats.org/officeDocument/2006/relationships/slideLayout" Target="/ppt/slideLayouts/slideLayout1.xml" Id="R7ae86a37dd8543df" /><Relationship Type="http://schemas.openxmlformats.org/officeDocument/2006/relationships/slideLayout" Target="/ppt/slideLayouts/slideLayout2.xml" Id="R34ef24cb54bf4447" /><Relationship Type="http://schemas.openxmlformats.org/officeDocument/2006/relationships/slideLayout" Target="/ppt/slideLayouts/slideLayout3.xml" Id="Rbbd5d6335c7f41cd" /><Relationship Type="http://schemas.openxmlformats.org/officeDocument/2006/relationships/slideLayout" Target="/ppt/slideLayouts/slideLayout4.xml" Id="Rbb95120b0faf48a6" /><Relationship Type="http://schemas.openxmlformats.org/officeDocument/2006/relationships/slideLayout" Target="/ppt/slideLayouts/slideLayout5.xml" Id="Rfb074e5b93504235" /><Relationship Type="http://schemas.openxmlformats.org/officeDocument/2006/relationships/slideLayout" Target="/ppt/slideLayouts/slideLayout6.xml" Id="R0df7a099fb4141ee" /><Relationship Type="http://schemas.openxmlformats.org/officeDocument/2006/relationships/slideLayout" Target="/ppt/slideLayouts/slideLayout7.xml" Id="Ra8ee33ffe1db4b63" /><Relationship Type="http://schemas.openxmlformats.org/officeDocument/2006/relationships/slideLayout" Target="/ppt/slideLayouts/slideLayout8.xml" Id="R289cb20a75f54b2f" /><Relationship Type="http://schemas.openxmlformats.org/officeDocument/2006/relationships/slideLayout" Target="/ppt/slideLayouts/slideLayout9.xml" Id="Rb4dd29c8ac774a29" /><Relationship Type="http://schemas.openxmlformats.org/officeDocument/2006/relationships/slideLayout" Target="/ppt/slideLayouts/slideLayout10.xml" Id="R347e6391e89846e5" /><Relationship Type="http://schemas.openxmlformats.org/officeDocument/2006/relationships/slideLayout" Target="/ppt/slideLayouts/slideLayout11.xml" Id="R1c77e67eb92a44b0" /><Relationship Type="http://schemas.openxmlformats.org/officeDocument/2006/relationships/slideLayout" Target="/ppt/slideLayouts/slideLayout12.xml" Id="Rc20cb6c344354716" /><Relationship Type="http://schemas.openxmlformats.org/officeDocument/2006/relationships/slideLayout" Target="/ppt/slideLayouts/slideLayout13.xml" Id="Rf88e18cbc904423a" /><Relationship Type="http://schemas.openxmlformats.org/officeDocument/2006/relationships/slideLayout" Target="/ppt/slideLayouts/slideLayout14.xml" Id="R4d3d615fb96244c4" /><Relationship Type="http://schemas.openxmlformats.org/officeDocument/2006/relationships/slideLayout" Target="/ppt/slideLayouts/slideLayout15.xml" Id="Rfe05f5b50bf747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8A849AA-0EBA-4DF7-8A24-EA75A1BB0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92C8CB1-68C7-4304-93E4-2F9AD92C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81F065-4806-4E18-96AF-142322EFA6C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4BCE9CC-D00D-44CA-947C-CE3890398BA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48008DF-755E-42FC-B289-7D023966C7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86a37dd8543df"/>
    <p:sldLayoutId xmlns:r="http://schemas.openxmlformats.org/officeDocument/2006/relationships" id="2147483650" r:id="R34ef24cb54bf4447"/>
    <p:sldLayoutId xmlns:r="http://schemas.openxmlformats.org/officeDocument/2006/relationships" id="2147483651" r:id="Rbbd5d6335c7f41cd"/>
    <p:sldLayoutId xmlns:r="http://schemas.openxmlformats.org/officeDocument/2006/relationships" id="2147483652" r:id="Rbb95120b0faf48a6"/>
    <p:sldLayoutId xmlns:r="http://schemas.openxmlformats.org/officeDocument/2006/relationships" id="2147483653" r:id="Rfb074e5b93504235"/>
    <p:sldLayoutId xmlns:r="http://schemas.openxmlformats.org/officeDocument/2006/relationships" id="2147483654" r:id="R0df7a099fb4141ee"/>
    <p:sldLayoutId xmlns:r="http://schemas.openxmlformats.org/officeDocument/2006/relationships" id="2147483655" r:id="Ra8ee33ffe1db4b63"/>
    <p:sldLayoutId xmlns:r="http://schemas.openxmlformats.org/officeDocument/2006/relationships" id="2147483656" r:id="R289cb20a75f54b2f"/>
    <p:sldLayoutId xmlns:r="http://schemas.openxmlformats.org/officeDocument/2006/relationships" id="2147483657" r:id="Rb4dd29c8ac774a29"/>
    <p:sldLayoutId xmlns:r="http://schemas.openxmlformats.org/officeDocument/2006/relationships" id="2147483658" r:id="R347e6391e89846e5"/>
    <p:sldLayoutId xmlns:r="http://schemas.openxmlformats.org/officeDocument/2006/relationships" id="2147483659" r:id="R1c77e67eb92a44b0"/>
    <p:sldLayoutId xmlns:r="http://schemas.openxmlformats.org/officeDocument/2006/relationships" id="2147483660" r:id="Rc20cb6c344354716"/>
    <p:sldLayoutId xmlns:r="http://schemas.openxmlformats.org/officeDocument/2006/relationships" id="2147483661" r:id="Rf88e18cbc904423a"/>
    <p:sldLayoutId xmlns:r="http://schemas.openxmlformats.org/officeDocument/2006/relationships" id="2147483662" r:id="R4d3d615fb96244c4"/>
    <p:sldLayoutId xmlns:r="http://schemas.openxmlformats.org/officeDocument/2006/relationships" id="2147483663" r:id="Rfe05f5b50bf7474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f734c0ab7424335" /><Relationship Type="http://schemas.openxmlformats.org/officeDocument/2006/relationships/image" Target="/ppt/media/image20.png" Id="Rde67fa0a33e546ac" /><Relationship Type="http://schemas.openxmlformats.org/officeDocument/2006/relationships/notesSlide" Target="/ppt/notesSlides/notesSlide7.xml" Id="R15e18f5d15a148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ccfc3bc294841a6" /><Relationship Type="http://schemas.openxmlformats.org/officeDocument/2006/relationships/image" Target="/ppt/media/image21.png" Id="Raa66e7098f404057" /><Relationship Type="http://schemas.openxmlformats.org/officeDocument/2006/relationships/notesSlide" Target="/ppt/notesSlides/notesSlide8.xml" Id="Rdd80d620ca8947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6d8d4e42d704f05" /><Relationship Type="http://schemas.openxmlformats.org/officeDocument/2006/relationships/image" Target="/ppt/media/image22.png" Id="R9a0eace9fe5c4fe9" /><Relationship Type="http://schemas.openxmlformats.org/officeDocument/2006/relationships/notesSlide" Target="/ppt/notesSlides/notesSlide9.xml" Id="R5fbc2f8ce73243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1b167b8db1b41b3" /><Relationship Type="http://schemas.openxmlformats.org/officeDocument/2006/relationships/image" Target="/ppt/media/image23.png" Id="R2f27c837a643471f" /><Relationship Type="http://schemas.openxmlformats.org/officeDocument/2006/relationships/notesSlide" Target="/ppt/notesSlides/notesSlide10.xml" Id="R5b173f6cbf064ced" /></Relationships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E4836143-C8FC-4532-8326-7E9C816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 案例①：TT-TPDA-COF的结构表征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13F467-66AA-417C-8E02-EB36BB0E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C73FEC-EC2C-403B-9D2B-EF981388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DAE947E-978F-4F71-AB73-8B3E3FF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674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defRPr>
              <ns0:spcBef>
                <ns0:spcPts val="0"/>
              </ns0:spcBef>
              <ns0:spcAft>
                <ns0:spcPts val="0"/>
              </ns0:spcAft>
              <ns0:lnSpc>
                <ns0:spcPct val="105000"/>
              </ns0:lnSpc>
            </ns0:pPr>
            <ns0:r>
              <ns0: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rPr>
              <ns0:t>[1] XU Q, FU K, LIU Z, et al. Thiophene-Based Bipolar-Type Covalent Organic Frameworks with Extended π-Conjugation as Superior Cathode for Lithium-Ion Batteries[J]. Advanced Functional Materials, 2025, 35(39): 2506111.</ns0:t>
            </ns0:r>
          </ns0:p>
          <ns1:p xmlns:ns1="http://schemas.openxmlformats.org/drawingml/2006/main">
            <ns1:pPr algn="l">
              <ns1:def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defRPr>
              <ns1:spcBef>
                <ns1:spcPts val="0"/>
              </ns1:spcBef>
              <ns1:spcAft>
                <ns1:spcPts val="0"/>
              </ns1:spcAft>
              <ns1:lnSpc>
                <ns1:spcPct val="105000"/>
              </ns1:lnSpc>
            </ns1:pPr>
            <ns1:r>
              <ns1: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rPr>
              <ns1:t>DOI: 10.1002/adfm.202506111. 图源：文献[1]图1(a)（公开图注相符，原图待复核）。</ns1:t>
            </ns1:r>
          </ns1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FE40FE-4662-48F5-8F0F-376F0890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研究主题：扩展π共轭的噻吩基COF用于锂离子电池正极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837BB-D4CF-4488-A8FF-0A263D7A7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7fa0a33e546ac"/>
          <a:stretch xmlns:a="http://schemas.openxmlformats.org/drawingml/2006/main"/>
        </p:blipFill>
        <p:spPr>
          <a:xfrm xmlns:a="http://schemas.openxmlformats.org/drawingml/2006/main">
            <a:off x="1329104" y="1352550"/>
            <a:ext cx="4009292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A378710-922C-4234-B251-35AE690E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Experimental：实验数据；Pawley Refined：全谱拟合</ns0:t>
            </ns0:r>
          </ns0:p>
          <ns1:p xmlns:ns1="http://schemas.openxmlformats.org/drawingml/2006/main">
            <ns1:pPr algn="l">
              <ns1:def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Simulated：模拟图谱；Bragg Positions：理论峰位</ns1:t>
            </ns1:r>
          </ns1:p>
          <ns2:p xmlns:ns2="http://schemas.openxmlformats.org/drawingml/2006/main">
            <ns2:pPr algn="l">
              <ns2:def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Difference：实验与拟合差值</ns2:t>
            </ns2:r>
          </ns2:p>
          <ns3:p xmlns:ns3="http://schemas.openxmlformats.org/drawingml/2006/main">
            <ns3:pPr algn="l">
              <ns3:def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Intensity (a.u.)：相对强度；2θ (degree)：衍射角（°）</ns3:t>
            </ns3:r>
          </ns3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1F78167-8FB3-4C52-A24C-82DF0131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低角衍射峰与结构特征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37D93CF-59A8-4E06-B29C-D14E938C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主峰位于2θ &lt; 5°的低角区域。</a:t>
            </a:r>
          </a:p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实验数据与Pawley全谱拟合线基本吻合。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D103687-BE64-4D83-9A17-DD1A52DE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EE07E7E-AD84-48AB-8627-6FBF4AE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4:p xmlns:ns4="http://schemas.openxmlformats.org/drawingml/2006/main">
            <ns4:pPr algn="l">
              <ns4:def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rPr>
              <ns4:t>Rp = 3.86%，Rwp = 5.28%（拟合残差）</ns4:t>
            </ns4:r>
          </ns4:p>
          <ns5:p xmlns:ns5="http://schemas.openxmlformats.org/drawingml/2006/main">
            <ns5:pPr algn="l">
              <ns5:def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模拟峰位与实验特征峰总体对应。</ns5:t>
            </ns5:r>
          </ns5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C50B4434-4641-413B-B97B-CEE310CC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ns6:p xmlns:ns6="http://schemas.openxmlformats.org/drawingml/2006/main">
            <ns6:pPr algn="l">
              <ns6:def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rPr>
              <ns6:t>图谱分析</ns6:t>
            </ns6:r>
          </ns6:p>
          <ns7:p xmlns:ns7="http://schemas.openxmlformats.org/drawingml/2006/main">
            <ns7:pPr algn="l">
              <ns7:def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rPr>
              <ns7:t>结合模拟，图谱与AA堆积模型相容。</ns7:t>
            </ns7:r>
          </ns7:p>
          <ns8:p xmlns:ns8="http://schemas.openxmlformats.org/drawingml/2006/main">
            <ns8:pPr algn="l">
              <ns8:def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rPr>
              <ns8:t>仅凭峰强不能定量判断结晶度。</ns8:t>
            </ns8:r>
          </ns8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E717DFC5-AA53-4240-B844-4ED8B16F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 案例②：Np-TPDA-COF的对照分析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1123919-EC2C-48CD-9D24-C0C97583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25050E2-8D98-4AE7-8831-D9C47494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ABFDA9-0260-4A85-92EB-EE6D6067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674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defRPr>
              <ns0:spcBef>
                <ns0:spcPts val="0"/>
              </ns0:spcBef>
              <ns0:spcAft>
                <ns0:spcPts val="0"/>
              </ns0:spcAft>
              <ns0:lnSpc>
                <ns0:spcPct val="105000"/>
              </ns0:lnSpc>
            </ns0:pPr>
            <ns0:r>
              <ns0: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rPr>
              <ns0:t>[1] XU Q, FU K, LIU Z, et al. Thiophene-Based Bipolar-Type Covalent Organic Frameworks with Extended π-Conjugation as Superior Cathode for Lithium-Ion Batteries[J]. Advanced Functional Materials, 2025, 35(39): 2506111.</ns0:t>
            </ns0:r>
          </ns0:p>
          <ns1:p xmlns:ns1="http://schemas.openxmlformats.org/drawingml/2006/main">
            <ns1:pPr algn="l">
              <ns1:def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defRPr>
              <ns1:spcBef>
                <ns1:spcPts val="0"/>
              </ns1:spcBef>
              <ns1:spcAft>
                <ns1:spcPts val="0"/>
              </ns1:spcAft>
              <ns1:lnSpc>
                <ns1:spcPct val="105000"/>
              </ns1:lnSpc>
            </ns1:pPr>
            <ns1:r>
              <ns1: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rPr>
              <ns1:t>DOI: 10.1002/adfm.202506111. 图源：文献[1]图1(b)（公开图注相符，原图待复核）。</ns1:t>
            </ns1:r>
          </ns1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D36303-D64C-4220-8360-B2E494DD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研究主题：COF电池正极的结构对照，比较Np与噻吩基骨架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B4A6A-547C-4051-BC6D-3B35A4927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6e7098f404057"/>
          <a:stretch xmlns:a="http://schemas.openxmlformats.org/drawingml/2006/main"/>
        </p:blipFill>
        <p:spPr>
          <a:xfrm xmlns:a="http://schemas.openxmlformats.org/drawingml/2006/main">
            <a:off x="1315915" y="1352550"/>
            <a:ext cx="4035669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0CDE599-0434-4E97-947D-BB3E0FD1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Experimental：实验数据；Pawley Refined：全谱拟合</ns0:t>
            </ns0:r>
          </ns0:p>
          <ns1:p xmlns:ns1="http://schemas.openxmlformats.org/drawingml/2006/main">
            <ns1:pPr algn="l">
              <ns1:def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Simulated：模拟图谱；Bragg Positions：理论峰位</ns1:t>
            </ns1:r>
          </ns1:p>
          <ns2:p xmlns:ns2="http://schemas.openxmlformats.org/drawingml/2006/main">
            <ns2:pPr algn="l">
              <ns2:def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Difference：实验与拟合差值</ns2:t>
            </ns2:r>
          </ns2:p>
          <ns3:p xmlns:ns3="http://schemas.openxmlformats.org/drawingml/2006/main">
            <ns3:pPr algn="l">
              <ns3:def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Intensity (a.u.)：相对强度；2θ (degree)：衍射角（°）</ns3:t>
            </ns3:r>
          </ns3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6653DE9-3158-4093-9107-789631CE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对照样品的衍射特征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9CC847B-D170-437C-8210-1BB48CC2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实验曲线与拟合曲线基本吻合，</a:t>
            </a:r>
          </a:p>
          <a:p xmlns:a="http://schemas.openxmlformats.org/drawingml/2006/main"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较弱衍射峰也与理论峰位相对应。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34C2225-2950-49EC-962E-A012A314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3BEE86E-2C32-4839-B55D-9679445B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4:p xmlns:ns4="http://schemas.openxmlformats.org/drawingml/2006/main">
            <ns4:pPr algn="l">
              <ns4:def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rPr>
              <ns4:t>Rp = 3.47%，Rwp = 4.98%（拟合残差）</ns4:t>
            </ns4:r>
          </ns4:p>
          <ns5:p xmlns:ns5="http://schemas.openxmlformats.org/drawingml/2006/main">
            <ns5:pPr algn="l">
              <ns5:def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两种COF的峰位与各自模型对应。</ns5:t>
            </ns5:r>
          </ns5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C5301CE3-2D6E-4243-AEB5-AAD517D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ns6:p xmlns:ns6="http://schemas.openxmlformats.org/drawingml/2006/main">
            <ns6:pPr algn="l">
              <ns6:def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950" b="1">
                <ns6:solidFill>
                  <ns6:srgbClr val="005B94"/>
                </ns6:solidFill>
                <ns6:latin typeface="微软雅黑"/>
                <ns6:ea typeface="微软雅黑"/>
                <ns6:cs typeface="微软雅黑"/>
              </ns6:rPr>
              <ns6:t>对照分析</ns6:t>
            </ns6:r>
          </ns6:p>
          <ns7:p xmlns:ns7="http://schemas.openxmlformats.org/drawingml/2006/main">
            <ns7:pPr algn="l">
              <ns7:def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725" b="1">
                <ns7:solidFill>
                  <ns7:srgbClr val="B37328"/>
                </ns7:solidFill>
                <ns7:latin typeface="微软雅黑"/>
                <ns7:ea typeface="微软雅黑"/>
                <ns7:cs typeface="微软雅黑"/>
              </ns7:rPr>
              <ns7:t>拟合残差较低，不代表结晶度更高。</ns7:t>
            </ns7:r>
          </ns7:p>
          <ns8:p xmlns:ns8="http://schemas.openxmlformats.org/drawingml/2006/main">
            <ns8:pPr algn="l">
              <ns8:def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725" b="1">
                <ns8:solidFill>
                  <ns8:srgbClr val="B37328"/>
                </ns8:solidFill>
                <ns8:latin typeface="微软雅黑"/>
                <ns8:ea typeface="微软雅黑"/>
                <ns8:cs typeface="微软雅黑"/>
              </ns8:rPr>
              <ns8:t>性能差异还需结合电化学测试解释。</ns8:t>
            </ns8:r>
          </ns8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192A4EAA-DCFF-4A62-8FDD-91068E36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 MOF案例：UiO-66的尺寸与峰宽变化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A29D83-1752-41AA-8454-5F779A6B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24778D-6008-41AD-B64B-7227986F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F22F7D-68C5-462E-BCF9-6129A86C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674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defRPr>
              <ns0:spcBef>
                <ns0:spcPts val="0"/>
              </ns0:spcBef>
              <ns0:spcAft>
                <ns0:spcPts val="0"/>
              </ns0:spcAft>
              <ns0:lnSpc>
                <ns0:spcPct val="105000"/>
              </ns0:lnSpc>
            </ns0:pPr>
            <ns0:r>
              <ns0: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rPr>
              <ns0:t>[2] DAI S, SIMMS C, PATRIARCHE G, et al. Highly defective ultra-small tetravalent MOF nanocrystals[J]. Nature Communications, 2024, 15(1): 3434.</ns0:t>
            </ns0:r>
          </ns0:p>
          <ns1:p xmlns:ns1="http://schemas.openxmlformats.org/drawingml/2006/main">
            <ns1:pPr algn="l">
              <ns1:def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defRPr>
              <ns1:spcBef>
                <ns1:spcPts val="0"/>
              </ns1:spcBef>
              <ns1:spcAft>
                <ns1:spcPts val="0"/>
              </ns1:spcAft>
              <ns1:lnSpc>
                <ns1:spcPct val="105000"/>
              </ns1:lnSpc>
            </ns1:pPr>
            <ns1:r>
              <ns1: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rPr>
              <ns1:t>DOI: 10.1038/s41467-024-47426-x. 图源：文献[2]图2(b)，裁剪，CC BY 4.0；TEM粒径数据见图2(c)。</ns1:t>
            </ns1:r>
          </ns1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ED7F82-32CB-43A0-A185-52CE4F48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研究主题：高缺陷超小UiO-66纳米晶的制备及催化应用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8A606-05A4-4727-A7F2-F731CB01B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eace9fe5c4fe9"/>
          <a:stretch xmlns:a="http://schemas.openxmlformats.org/drawingml/2006/main"/>
        </p:blipFill>
        <p:spPr>
          <a:xfrm xmlns:a="http://schemas.openxmlformats.org/drawingml/2006/main">
            <a:off x="1689135" y="1352550"/>
            <a:ext cx="3289231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C7AB515-2FE2-49BF-AB40-2FABE56B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350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Simulated：UiO-66模拟图谱</ns0:t>
            </ns0:r>
          </ns0:p>
          <ns1:p xmlns:ns1="http://schemas.openxmlformats.org/drawingml/2006/main">
            <ns1:pPr algn="l">
              <ns1:def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350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10–80 mL：合成时的乙醇用量</ns1:t>
            </ns1:r>
          </ns1:p>
          <ns2:p xmlns:ns2="http://schemas.openxmlformats.org/drawingml/2006/main">
            <ns2:pPr algn="l">
              <ns2:def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350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（111）、（200）等：晶面编号</ns2:t>
            </ns2:r>
          </ns2:p>
          <ns3:p xmlns:ns3="http://schemas.openxmlformats.org/drawingml/2006/main">
            <ns3:pPr algn="l">
              <ns3:def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350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2θ / °：衍射角，单位为度</ns3:t>
            </ns3:r>
          </ns3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33DDBEC-31DF-44CD-8644-3F219FD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衍射峰展宽现象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1AC870D-D040-4816-AB08-235D3596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4:p xmlns:ns4="http://schemas.openxmlformats.org/drawingml/2006/main">
            <ns4:pPr algn="l">
              <ns4:def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800" b="0">
                <ns4:solidFill>
                  <ns4:srgbClr val="203746"/>
                </ns4:solidFill>
                <ns4:latin typeface="微软雅黑"/>
                <ns4:ea typeface="微软雅黑"/>
                <ns4:cs typeface="微软雅黑"/>
              </ns4:rPr>
              <ns4:t>随着乙醇用量增加，衍射峰逐渐展宽。</ns4:t>
            </ns4:r>
          </ns4:p>
          <ns5:p xmlns:ns5="http://schemas.openxmlformats.org/drawingml/2006/main">
            <ns5:pPr algn="l">
              <ns5:def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8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80 mL样品的相邻峰明显重叠。</ns5:t>
            </ns5:r>
          </ns5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59951FCB-1108-419F-A068-A99D39D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透射电子显微镜（TEM）验证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5B3F67B8-AFCB-4A21-A7A4-E82884FE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6:p xmlns:ns6="http://schemas.openxmlformats.org/drawingml/2006/main">
            <ns6:pPr algn="l">
              <ns6:defRPr sz="18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8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rPr>
              <ns6:t>TEM平均粒径：40、14、9、5 nm。</ns6:t>
            </ns6:r>
          </ns6:p>
          <ns7:p xmlns:ns7="http://schemas.openxmlformats.org/drawingml/2006/main">
            <ns7:pPr algn="l">
              <ns7:def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rPr>
              <ns7:t>超小颗粒中仍可观察到局部晶格。</ns7:t>
            </ns7:r>
          </ns7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BA8C4BAB-0AB1-49A1-968D-24148F5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图谱分析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峰展宽与有序区域尺度减小相一致。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仅凭宽峰不能判定样品完全无定形。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FBF5ACBE-9356-427E-B098-CFFCAC41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"/>
            <a:ext cx="809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 COF案例：ACOF-1的层间堆积结构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11EFB1-F056-42B9-A7F8-EDACEE27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722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F56081-D045-458A-8951-55D0258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FE24DC-AACF-4177-9FB5-83C65101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6740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defRPr>
              <ns0:spcBef>
                <ns0:spcPts val="0"/>
              </ns0:spcBef>
              <ns0:spcAft>
                <ns0:spcPts val="0"/>
              </ns0:spcAft>
              <ns0:lnSpc>
                <ns0:spcPct val="105000"/>
              </ns0:lnSpc>
            </ns0:pPr>
            <ns0:r>
              <ns0:rPr sz="975" b="0">
                <ns0:solidFill>
                  <ns0:srgbClr val="52636D"/>
                </ns0:solidFill>
                <ns0:latin typeface="微软雅黑"/>
                <ns0:ea typeface="微软雅黑"/>
                <ns0:cs typeface="微软雅黑"/>
              </ns0:rPr>
              <ns0:t>[3] XIE Y, RONG Q, MAO F, et al. Engineering the pore environment of antiparallel stacked covalent organic frameworks for capture of iodine pollutants[J]. Nature Communications, 2024, 15(1): 2671.</ns0:t>
            </ns0:r>
          </ns0:p>
          <ns1:p xmlns:ns1="http://schemas.openxmlformats.org/drawingml/2006/main">
            <ns1:pPr algn="l">
              <ns1:def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defRPr>
              <ns1:spcBef>
                <ns1:spcPts val="0"/>
              </ns1:spcBef>
              <ns1:spcAft>
                <ns1:spcPts val="0"/>
              </ns1:spcAft>
              <ns1:lnSpc>
                <ns1:spcPct val="105000"/>
              </ns1:lnSpc>
            </ns1:pPr>
            <ns1:r>
              <ns1:rPr sz="975" b="0">
                <ns1:solidFill>
                  <ns1:srgbClr val="52636D"/>
                </ns1:solidFill>
                <ns1:latin typeface="微软雅黑"/>
                <ns1:ea typeface="微软雅黑"/>
                <ns1:cs typeface="微软雅黑"/>
              </ns1:rPr>
              <ns1:t>DOI: 10.1038/s41467-024-46942-0. 图源：文献[3]图2(d)，裁剪，CC BY 4.0。</ns1:t>
            </ns1:r>
          </ns1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E47292-C899-4E28-BFAE-C1FE120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研究主题：反平行堆积COF的孔道调控及碘污染物捕获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B4677-DDC9-44CC-8AF9-CEF0D0246D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7c837a643471f"/>
          <a:stretch xmlns:a="http://schemas.openxmlformats.org/drawingml/2006/main"/>
        </p:blipFill>
        <p:spPr>
          <a:xfrm xmlns:a="http://schemas.openxmlformats.org/drawingml/2006/main">
            <a:off x="1420878" y="1352550"/>
            <a:ext cx="3825744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CFC28B3-EDF1-46D6-9FA4-270711E1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ns0:p xmlns:ns0="http://schemas.openxmlformats.org/drawingml/2006/main">
            <ns0:pPr algn="l">
              <ns0:defRPr sz="1275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defRPr>
            </ns0:pPr>
            <ns0:r>
              <ns0:rPr sz="1275" b="0">
                <ns0:solidFill>
                  <ns0:srgbClr val="005B94"/>
                </ns0:solidFill>
                <ns0:latin typeface="微软雅黑"/>
                <ns0:ea typeface="微软雅黑"/>
                <ns0:cs typeface="微软雅黑"/>
              </ns0:rPr>
              <ns0:t>antiparallel AA stacking：反平行AA堆积</ns0:t>
            </ns0:r>
          </ns0:p>
          <ns1:p xmlns:ns1="http://schemas.openxmlformats.org/drawingml/2006/main">
            <ns1:pPr algn="l">
              <ns1:defRPr sz="1275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defRPr>
            </ns1:pPr>
            <ns1:r>
              <ns1:rPr sz="1275" b="0">
                <ns1:solidFill>
                  <ns1:srgbClr val="005B94"/>
                </ns1:solidFill>
                <ns1:latin typeface="微软雅黑"/>
                <ns1:ea typeface="微软雅黑"/>
                <ns1:cs typeface="微软雅黑"/>
              </ns1:rPr>
              <ns1:t>相邻层方向相反，位置大致上下对应</ns1:t>
            </ns1:r>
          </ns1:p>
          <ns2:p xmlns:ns2="http://schemas.openxmlformats.org/drawingml/2006/main">
            <ns2:pPr algn="l">
              <ns2:defRPr sz="1275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defRPr>
            </ns2:pPr>
            <ns2:r>
              <ns2:rPr sz="1275" b="0">
                <ns2:solidFill>
                  <ns2:srgbClr val="005B94"/>
                </ns2:solidFill>
                <ns2:latin typeface="微软雅黑"/>
                <ns2:ea typeface="微软雅黑"/>
                <ns2:cs typeface="微软雅黑"/>
              </ns2:rPr>
              <ns2:t>黑：实验；红：拟合；蓝：模拟</ns2:t>
            </ns2:r>
          </ns2:p>
          <ns3:p xmlns:ns3="http://schemas.openxmlformats.org/drawingml/2006/main">
            <ns3:pPr algn="l">
              <ns3:defRPr sz="1275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defRPr>
            </ns3:pPr>
            <ns3:r>
              <ns3:rPr sz="1275" b="0">
                <ns3:solidFill>
                  <ns3:srgbClr val="005B94"/>
                </ns3:solidFill>
                <ns3:latin typeface="微软雅黑"/>
                <ns3:ea typeface="微软雅黑"/>
                <ns3:cs typeface="微软雅黑"/>
              </ns3:rPr>
              <ns3:t>绿：理论峰位；灰：实验与拟合差值</ns3:t>
            </ns3:r>
          </ns3:p>
          <ns4:p xmlns:ns4="http://schemas.openxmlformats.org/drawingml/2006/main">
            <ns4:pPr algn="l">
              <ns4:defRPr sz="1275" b="0">
                <ns4:solidFill>
                  <ns4:srgbClr val="005B94"/>
                </ns4:solidFill>
                <ns4:latin typeface="微软雅黑"/>
                <ns4:ea typeface="微软雅黑"/>
                <ns4:cs typeface="微软雅黑"/>
              </ns4:defRPr>
            </ns4:pPr>
            <ns4:r>
              <ns4:rPr sz="1275" b="0">
                <ns4:solidFill>
                  <ns4:srgbClr val="005B94"/>
                </ns4:solidFill>
                <ns4:latin typeface="微软雅黑"/>
                <ns4:ea typeface="微软雅黑"/>
                <ns4:cs typeface="微软雅黑"/>
              </ns4:rPr>
              <ns4:t>（100）等为晶面编号；2θ为衍射角</ns4:t>
            </ns4:r>
          </ns4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791F37D-A3A6-4AA8-AE67-5F54A5A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峰位与晶面归属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CB383BE-5E9D-4468-8F49-049C4C2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5:p xmlns:ns5="http://schemas.openxmlformats.org/drawingml/2006/main">
            <ns5:pPr algn="l">
              <ns5:defRPr sz="17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defRPr>
            </ns5:pPr>
            <ns5:r>
              <ns5:rPr sz="1700" b="0">
                <ns5:solidFill>
                  <ns5:srgbClr val="203746"/>
                </ns5:solidFill>
                <ns5:latin typeface="微软雅黑"/>
                <ns5:ea typeface="微软雅黑"/>
                <ns5:cs typeface="微软雅黑"/>
              </ns5:rPr>
              <ns5:t>2θ约2.5°、4.2°、4.9°、6.5°、8.4°。</ns5:t>
            </ns5:r>
          </ns5:p>
          <ns6:p xmlns:ns6="http://schemas.openxmlformats.org/drawingml/2006/main">
            <ns6:pPr algn="l">
              <ns6:defRPr sz="17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defRPr>
            </ns6:pPr>
            <ns6:r>
              <ns6:rPr sz="1700" b="0">
                <ns6:solidFill>
                  <ns6:srgbClr val="203746"/>
                </ns6:solidFill>
                <ns6:latin typeface="微软雅黑"/>
                <ns6:ea typeface="微软雅黑"/>
                <ns6:cs typeface="微软雅黑"/>
              </ns6:rPr>
              <ns6:t>对应(100)、(110)、(200)、(210)、(310)。</ns6:t>
            </ns6:r>
          </ns6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E05A513-0E2B-4CCA-982D-5D938EC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1942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结构拟合与辅助表征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5162807-3E59-4B4A-948E-23C1FF7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90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ns7:p xmlns:ns7="http://schemas.openxmlformats.org/drawingml/2006/main">
            <ns7:pPr algn="l">
              <ns7:def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defRPr>
            </ns7:pPr>
            <ns7:r>
              <ns7:rPr sz="1800" b="0">
                <ns7:solidFill>
                  <ns7:srgbClr val="203746"/>
                </ns7:solidFill>
                <ns7:latin typeface="微软雅黑"/>
                <ns7:ea typeface="微软雅黑"/>
                <ns7:cs typeface="微软雅黑"/>
              </ns7:rPr>
              <ns7:t>Rwp = 5.71%（Pawley全谱拟合）。</ns7:t>
            </ns7:r>
          </ns7:p>
          <ns8:p xmlns:ns8="http://schemas.openxmlformats.org/drawingml/2006/main">
            <ns8:pPr algn="l">
              <ns8:defRPr sz="1800" b="0">
                <ns8:solidFill>
                  <ns8:srgbClr val="203746"/>
                </ns8:solidFill>
                <ns8:latin typeface="微软雅黑"/>
                <ns8:ea typeface="微软雅黑"/>
                <ns8:cs typeface="微软雅黑"/>
              </ns8:defRPr>
            </ns8:pPr>
            <ns8:r>
              <ns8:rPr sz="1800" b="0">
                <ns8:solidFill>
                  <ns8:srgbClr val="203746"/>
                </ns8:solidFill>
                <ns8:latin typeface="微软雅黑"/>
                <ns8:ea typeface="微软雅黑"/>
                <ns8:cs typeface="微软雅黑"/>
              </ns8:rPr>
              <ns8:t>X射线散射及高分辨TEM提供补充证据。</ns8:t>
            </ns8:r>
          </ns8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41704B7C-8155-4381-83AB-6DEA9D4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4905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图谱分析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多种证据支持反平行AA堆积模型。</a:t>
            </a:r>
          </a:p>
          <a:p xmlns:a="http://schemas.openxmlformats.org/drawingml/2006/main"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拟合良好并不代表结构模型唯一。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</p:sld>
</file>

<file path=ppt/theme/theme1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4</ap:Slides>
  <ap:Notes>4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2026-10-15T13:18:15.0800000Z</dcterms:created>
  <dcterms:modified xsi:type="dcterms:W3CDTF">2026-10-15T13:18:15.0800000Z</dcterms:modified>
</coreProperties>
</file>